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715000" type="screen16x10"/>
  <p:notesSz cx="6858000" cy="9144000"/>
  <p:defaultTextStyle>
    <a:defPPr>
      <a:defRPr lang="es-MX"/>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6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E7CF5B-3379-F255-0847-D516DCE04B94}"/>
              </a:ext>
            </a:extLst>
          </p:cNvPr>
          <p:cNvSpPr>
            <a:spLocks noGrp="1"/>
          </p:cNvSpPr>
          <p:nvPr>
            <p:ph type="ctrTitle"/>
          </p:nvPr>
        </p:nvSpPr>
        <p:spPr>
          <a:xfrm>
            <a:off x="1143000" y="935302"/>
            <a:ext cx="6858000" cy="1989667"/>
          </a:xfrm>
        </p:spPr>
        <p:txBody>
          <a:bodyPr anchor="b"/>
          <a:lstStyle>
            <a:lvl1pPr algn="ctr">
              <a:defRPr sz="45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7B1C6FB-AE8D-B611-B772-E2C448E38B77}"/>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4C45827-159B-CF6E-339B-0EA07C13A8A2}"/>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0350C880-2DAA-6692-D969-6ABA21E4EB6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DA0F86E-7DC4-BB85-5839-A2086278CA62}"/>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094783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A52D73-84B5-6947-0B67-8164B61C165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942F3F4-885A-8DCC-E166-51CE269E900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BA26713-53B3-C0C3-4DA3-812000347E6D}"/>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55CC6599-BE87-8023-5658-68B6FDD93AE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D511D07-8BAF-7102-73E9-32BA93BEA52D}"/>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498003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FADD66-904C-34F5-7EA0-41837E2000EB}"/>
              </a:ext>
            </a:extLst>
          </p:cNvPr>
          <p:cNvSpPr>
            <a:spLocks noGrp="1"/>
          </p:cNvSpPr>
          <p:nvPr>
            <p:ph type="title"/>
          </p:nvPr>
        </p:nvSpPr>
        <p:spPr>
          <a:xfrm>
            <a:off x="623888" y="1424782"/>
            <a:ext cx="7886700" cy="2377281"/>
          </a:xfrm>
        </p:spPr>
        <p:txBody>
          <a:bodyPr anchor="b"/>
          <a:lstStyle>
            <a:lvl1pPr>
              <a:defRPr sz="45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2539063-8D6B-E43E-E5D3-681FF89CA996}"/>
              </a:ext>
            </a:extLst>
          </p:cNvPr>
          <p:cNvSpPr>
            <a:spLocks noGrp="1"/>
          </p:cNvSpPr>
          <p:nvPr>
            <p:ph type="body" idx="1"/>
          </p:nvPr>
        </p:nvSpPr>
        <p:spPr>
          <a:xfrm>
            <a:off x="623888" y="3824553"/>
            <a:ext cx="7886700" cy="1250156"/>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EBA7892-6897-15F1-E20F-2849708BFFC2}"/>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702ECB5B-0335-1D8B-0504-805778A1274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B087A63-F089-3442-516E-AB42D2847BEC}"/>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374521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72FA0-DE8E-84AA-9415-C3B4B2E43AB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32938EB-ED83-1736-EA9D-70084FE73A9B}"/>
              </a:ext>
            </a:extLst>
          </p:cNvPr>
          <p:cNvSpPr>
            <a:spLocks noGrp="1"/>
          </p:cNvSpPr>
          <p:nvPr>
            <p:ph sz="half" idx="1"/>
          </p:nvPr>
        </p:nvSpPr>
        <p:spPr>
          <a:xfrm>
            <a:off x="6286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17B6FA0-D1BE-2A3F-834F-7A66E42ACA1E}"/>
              </a:ext>
            </a:extLst>
          </p:cNvPr>
          <p:cNvSpPr>
            <a:spLocks noGrp="1"/>
          </p:cNvSpPr>
          <p:nvPr>
            <p:ph sz="half" idx="2"/>
          </p:nvPr>
        </p:nvSpPr>
        <p:spPr>
          <a:xfrm>
            <a:off x="4629150" y="1521354"/>
            <a:ext cx="3886200" cy="362611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7E609D6-55C1-A2EF-E86F-FA899F1155DA}"/>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6" name="Marcador de pie de página 5">
            <a:extLst>
              <a:ext uri="{FF2B5EF4-FFF2-40B4-BE49-F238E27FC236}">
                <a16:creationId xmlns:a16="http://schemas.microsoft.com/office/drawing/2014/main" id="{1BFE7959-4BAE-1542-BDDE-4DACC335F73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371CACA-9A3F-0764-22D3-E989EC6EC5B7}"/>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181040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787E9F-EBB9-187C-7CAA-6B79AF241540}"/>
              </a:ext>
            </a:extLst>
          </p:cNvPr>
          <p:cNvSpPr>
            <a:spLocks noGrp="1"/>
          </p:cNvSpPr>
          <p:nvPr>
            <p:ph type="title"/>
          </p:nvPr>
        </p:nvSpPr>
        <p:spPr>
          <a:xfrm>
            <a:off x="629841" y="304271"/>
            <a:ext cx="7886700" cy="1104636"/>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FAC7C3F-70AD-88F4-398E-B208CBDB9FA6}"/>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AB7361F-2A79-FA18-1141-D49543F58196}"/>
              </a:ext>
            </a:extLst>
          </p:cNvPr>
          <p:cNvSpPr>
            <a:spLocks noGrp="1"/>
          </p:cNvSpPr>
          <p:nvPr>
            <p:ph sz="half" idx="2"/>
          </p:nvPr>
        </p:nvSpPr>
        <p:spPr>
          <a:xfrm>
            <a:off x="629842" y="2087563"/>
            <a:ext cx="3868340"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5AA3838-A66D-B97D-FD3A-50E672086C0A}"/>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B49DE1E-C4A2-A09E-9DC5-70500ACF4936}"/>
              </a:ext>
            </a:extLst>
          </p:cNvPr>
          <p:cNvSpPr>
            <a:spLocks noGrp="1"/>
          </p:cNvSpPr>
          <p:nvPr>
            <p:ph sz="quarter" idx="4"/>
          </p:nvPr>
        </p:nvSpPr>
        <p:spPr>
          <a:xfrm>
            <a:off x="4629150" y="2087563"/>
            <a:ext cx="3887391" cy="307049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1228FC9-9772-4488-B30C-D8D0FDB93E2B}"/>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8" name="Marcador de pie de página 7">
            <a:extLst>
              <a:ext uri="{FF2B5EF4-FFF2-40B4-BE49-F238E27FC236}">
                <a16:creationId xmlns:a16="http://schemas.microsoft.com/office/drawing/2014/main" id="{FE667AFA-5881-7EFF-4E93-2280D2E61E3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9CA15CE-180F-8B95-9F84-CBC02337123B}"/>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019815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D2FC1A-7E58-E60B-A680-C84E63822B8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4C64DEBB-4702-CB73-2EF9-0C12BD15B231}"/>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4" name="Marcador de pie de página 3">
            <a:extLst>
              <a:ext uri="{FF2B5EF4-FFF2-40B4-BE49-F238E27FC236}">
                <a16:creationId xmlns:a16="http://schemas.microsoft.com/office/drawing/2014/main" id="{26C5528F-AC19-0BD6-E372-8D8F9C5F9C8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E290AAF-4DB7-F116-29B7-15794DC59E9F}"/>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4649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EB6D237-45D9-6011-D268-78D62D3670BF}"/>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3" name="Marcador de pie de página 2">
            <a:extLst>
              <a:ext uri="{FF2B5EF4-FFF2-40B4-BE49-F238E27FC236}">
                <a16:creationId xmlns:a16="http://schemas.microsoft.com/office/drawing/2014/main" id="{1E0D6D93-173A-59C6-6CE3-CA099818B78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0EDC027-A2B3-E097-13BC-5682522D2AB1}"/>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948237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BA7230-EC3B-5560-792A-35DEDC704E11}"/>
              </a:ext>
            </a:extLst>
          </p:cNvPr>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2B20422-8667-97F9-2605-B69F565DE477}"/>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D3C48F2-6E09-022D-13E0-F27DBA40F24A}"/>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0DD599-30C8-2BF7-15DF-7FF560522016}"/>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6" name="Marcador de pie de página 5">
            <a:extLst>
              <a:ext uri="{FF2B5EF4-FFF2-40B4-BE49-F238E27FC236}">
                <a16:creationId xmlns:a16="http://schemas.microsoft.com/office/drawing/2014/main" id="{33A6A83E-7E98-A8FB-A885-FBEEDA43BE8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C8A0756-BB2B-F6C1-94C0-CE906CA43A84}"/>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3510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B73AF-6929-B7EA-6E08-FC225AB2B7C1}"/>
              </a:ext>
            </a:extLst>
          </p:cNvPr>
          <p:cNvSpPr>
            <a:spLocks noGrp="1"/>
          </p:cNvSpPr>
          <p:nvPr>
            <p:ph type="title"/>
          </p:nvPr>
        </p:nvSpPr>
        <p:spPr>
          <a:xfrm>
            <a:off x="629841" y="381000"/>
            <a:ext cx="2949178" cy="1333500"/>
          </a:xfrm>
        </p:spPr>
        <p:txBody>
          <a:bodyPr anchor="b"/>
          <a:lstStyle>
            <a:lvl1pPr>
              <a:defRPr sz="24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D64743E-D2E3-4659-80DE-E9D5CE4D220A}"/>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MX"/>
          </a:p>
        </p:txBody>
      </p:sp>
      <p:sp>
        <p:nvSpPr>
          <p:cNvPr id="4" name="Marcador de texto 3">
            <a:extLst>
              <a:ext uri="{FF2B5EF4-FFF2-40B4-BE49-F238E27FC236}">
                <a16:creationId xmlns:a16="http://schemas.microsoft.com/office/drawing/2014/main" id="{17761C4B-D975-A92F-89C6-DB4F1AC41720}"/>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5528CA8-F6CB-6CD6-447B-F1BB96213EA5}"/>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6" name="Marcador de pie de página 5">
            <a:extLst>
              <a:ext uri="{FF2B5EF4-FFF2-40B4-BE49-F238E27FC236}">
                <a16:creationId xmlns:a16="http://schemas.microsoft.com/office/drawing/2014/main" id="{E3C5490F-71C6-1CEE-BE9F-14EE332C881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4E42639-9E5C-1341-67F3-A3E97138ABF3}"/>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1304549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BD541D-9EB1-55C9-C5FE-536D47B7F16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F00AD5D-CF39-EB92-843B-806C9906E5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7B15646-1424-FBDB-E395-EB6B6E88D775}"/>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0C890F96-7FA0-06E6-30DF-E2B5E9B62D8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63969FA-8FE1-B601-DC21-F2FAE6C621C0}"/>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2850627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AF8FB91-23C8-14F1-5156-B304F2C8A564}"/>
              </a:ext>
            </a:extLst>
          </p:cNvPr>
          <p:cNvSpPr>
            <a:spLocks noGrp="1"/>
          </p:cNvSpPr>
          <p:nvPr>
            <p:ph type="title" orient="vert"/>
          </p:nvPr>
        </p:nvSpPr>
        <p:spPr>
          <a:xfrm>
            <a:off x="6543675" y="304271"/>
            <a:ext cx="1971675" cy="484319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8847DED-E0C3-EE98-71EC-BC0F36061596}"/>
              </a:ext>
            </a:extLst>
          </p:cNvPr>
          <p:cNvSpPr>
            <a:spLocks noGrp="1"/>
          </p:cNvSpPr>
          <p:nvPr>
            <p:ph type="body" orient="vert" idx="1"/>
          </p:nvPr>
        </p:nvSpPr>
        <p:spPr>
          <a:xfrm>
            <a:off x="628650" y="304271"/>
            <a:ext cx="5800725" cy="484319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37C5BE9-B236-6577-C353-C6175A9558F8}"/>
              </a:ext>
            </a:extLst>
          </p:cNvPr>
          <p:cNvSpPr>
            <a:spLocks noGrp="1"/>
          </p:cNvSpPr>
          <p:nvPr>
            <p:ph type="dt" sz="half" idx="10"/>
          </p:nvPr>
        </p:nvSpPr>
        <p:spPr/>
        <p:txBody>
          <a:body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46D04F01-E1AB-982A-A820-8070D5B677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B586CB1-DF96-C4CD-6B98-B2D09734FB54}"/>
              </a:ext>
            </a:extLst>
          </p:cNvPr>
          <p:cNvSpPr>
            <a:spLocks noGrp="1"/>
          </p:cNvSpPr>
          <p:nvPr>
            <p:ph type="sldNum" sz="quarter" idx="12"/>
          </p:nvPr>
        </p:nvSpPr>
        <p:spPr/>
        <p:txBody>
          <a:bodyPr/>
          <a:lstStyle/>
          <a:p>
            <a:fld id="{2EF005B9-D4F8-4FAB-A457-E894A3F0BEC7}" type="slidenum">
              <a:rPr lang="es-MX" smtClean="0"/>
              <a:t>‹Nº›</a:t>
            </a:fld>
            <a:endParaRPr lang="es-MX"/>
          </a:p>
        </p:txBody>
      </p:sp>
    </p:spTree>
    <p:extLst>
      <p:ext uri="{BB962C8B-B14F-4D97-AF65-F5344CB8AC3E}">
        <p14:creationId xmlns:p14="http://schemas.microsoft.com/office/powerpoint/2010/main" val="518231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0E377A8-08B1-41D3-0CB7-4E3598889F39}"/>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E3618C3-B6DC-1240-86D9-DB20134EE31E}"/>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94E407-7253-B9AF-C502-BDC9E62DB47E}"/>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82000"/>
                  </a:schemeClr>
                </a:solidFill>
              </a:defRPr>
            </a:lvl1pPr>
          </a:lstStyle>
          <a:p>
            <a:fld id="{C73BAF6D-8684-4C07-8715-A92C594E6475}" type="datetimeFigureOut">
              <a:rPr lang="es-MX" smtClean="0"/>
              <a:t>09/02/2026</a:t>
            </a:fld>
            <a:endParaRPr lang="es-MX"/>
          </a:p>
        </p:txBody>
      </p:sp>
      <p:sp>
        <p:nvSpPr>
          <p:cNvPr id="5" name="Marcador de pie de página 4">
            <a:extLst>
              <a:ext uri="{FF2B5EF4-FFF2-40B4-BE49-F238E27FC236}">
                <a16:creationId xmlns:a16="http://schemas.microsoft.com/office/drawing/2014/main" id="{DBB05CD3-3E96-ACA1-4B1C-5F2ADD959F33}"/>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D0D3BFE7-9E75-C184-A960-59B8197369A6}"/>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82000"/>
                  </a:schemeClr>
                </a:solidFill>
              </a:defRPr>
            </a:lvl1pPr>
          </a:lstStyle>
          <a:p>
            <a:fld id="{2EF005B9-D4F8-4FAB-A457-E894A3F0BEC7}" type="slidenum">
              <a:rPr lang="es-MX" smtClean="0"/>
              <a:t>‹Nº›</a:t>
            </a:fld>
            <a:endParaRPr lang="es-MX"/>
          </a:p>
        </p:txBody>
      </p:sp>
    </p:spTree>
    <p:extLst>
      <p:ext uri="{BB962C8B-B14F-4D97-AF65-F5344CB8AC3E}">
        <p14:creationId xmlns:p14="http://schemas.microsoft.com/office/powerpoint/2010/main" val="138199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MX"/>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84F4C9-763A-4C80-B7B4-B3CC6B45A0BA}"/>
              </a:ext>
            </a:extLst>
          </p:cNvPr>
          <p:cNvSpPr>
            <a:spLocks noGrp="1"/>
          </p:cNvSpPr>
          <p:nvPr>
            <p:ph type="title"/>
          </p:nvPr>
        </p:nvSpPr>
        <p:spPr/>
        <p:txBody>
          <a:bodyPr>
            <a:noAutofit/>
          </a:bodyPr>
          <a:lstStyle/>
          <a:p>
            <a:r>
              <a:rPr lang="es-MX" sz="5400" b="1">
                <a:solidFill>
                  <a:srgbClr val="000000"/>
                </a:solidFill>
              </a:rPr>
              <a:t>SummaCham - PanelAMCHAM</a:t>
            </a:r>
          </a:p>
        </p:txBody>
      </p:sp>
      <p:sp>
        <p:nvSpPr>
          <p:cNvPr id="3" name="CuadroTexto 2">
            <a:extLst>
              <a:ext uri="{FF2B5EF4-FFF2-40B4-BE49-F238E27FC236}">
                <a16:creationId xmlns:a16="http://schemas.microsoft.com/office/drawing/2014/main" id="{663DB1CE-0C25-0646-7C40-FD6420C37B1B}"/>
              </a:ext>
            </a:extLst>
          </p:cNvPr>
          <p:cNvSpPr txBox="1"/>
          <p:nvPr/>
        </p:nvSpPr>
        <p:spPr>
          <a:xfrm>
            <a:off x="1270000" y="3175000"/>
            <a:ext cx="10160000" cy="584775"/>
          </a:xfrm>
          <a:prstGeom prst="rect">
            <a:avLst/>
          </a:prstGeom>
          <a:noFill/>
        </p:spPr>
        <p:txBody>
          <a:bodyPr vert="horz" wrap="square" rtlCol="0">
            <a:spAutoFit/>
          </a:bodyPr>
          <a:lstStyle/>
          <a:p>
            <a:r>
              <a:rPr lang="es-ES" sz="3200" b="1">
                <a:latin typeface="Calibri" panose="020F0502020204030204" pitchFamily="34" charset="0"/>
              </a:rPr>
              <a:t>Documentacion Tecnica Completa y Unificada</a:t>
            </a:r>
            <a:endParaRPr lang="es-MX" sz="3200" b="1">
              <a:latin typeface="Calibri" panose="020F0502020204030204" pitchFamily="34" charset="0"/>
            </a:endParaRPr>
          </a:p>
        </p:txBody>
      </p:sp>
      <p:sp>
        <p:nvSpPr>
          <p:cNvPr id="4" name="CuadroTexto 3">
            <a:extLst>
              <a:ext uri="{FF2B5EF4-FFF2-40B4-BE49-F238E27FC236}">
                <a16:creationId xmlns:a16="http://schemas.microsoft.com/office/drawing/2014/main" id="{9412C894-674E-1CB2-C988-E2B0307652F3}"/>
              </a:ext>
            </a:extLst>
          </p:cNvPr>
          <p:cNvSpPr txBox="1"/>
          <p:nvPr/>
        </p:nvSpPr>
        <p:spPr>
          <a:xfrm>
            <a:off x="1270000" y="4191000"/>
            <a:ext cx="10160000" cy="461665"/>
          </a:xfrm>
          <a:prstGeom prst="rect">
            <a:avLst/>
          </a:prstGeom>
          <a:noFill/>
        </p:spPr>
        <p:txBody>
          <a:bodyPr vert="horz" wrap="square" rtlCol="0">
            <a:spAutoFit/>
          </a:bodyPr>
          <a:lstStyle/>
          <a:p>
            <a:r>
              <a:rPr lang="es-MX" sz="2400">
                <a:latin typeface="Calibri" panose="020F0502020204030204" pitchFamily="34" charset="0"/>
              </a:rPr>
              <a:t>Sistema de Gestion Financiera Empresarial</a:t>
            </a:r>
          </a:p>
        </p:txBody>
      </p:sp>
      <p:sp>
        <p:nvSpPr>
          <p:cNvPr id="5" name="CuadroTexto 4">
            <a:extLst>
              <a:ext uri="{FF2B5EF4-FFF2-40B4-BE49-F238E27FC236}">
                <a16:creationId xmlns:a16="http://schemas.microsoft.com/office/drawing/2014/main" id="{3718D3EE-3D5E-AF77-B4BB-4DC19EB7075F}"/>
              </a:ext>
            </a:extLst>
          </p:cNvPr>
          <p:cNvSpPr txBox="1"/>
          <p:nvPr/>
        </p:nvSpPr>
        <p:spPr>
          <a:xfrm>
            <a:off x="1270000" y="4953000"/>
            <a:ext cx="10160000" cy="400110"/>
          </a:xfrm>
          <a:prstGeom prst="rect">
            <a:avLst/>
          </a:prstGeom>
          <a:noFill/>
        </p:spPr>
        <p:txBody>
          <a:bodyPr vert="horz" wrap="square" rtlCol="0">
            <a:spAutoFit/>
          </a:bodyPr>
          <a:lstStyle/>
          <a:p>
            <a:r>
              <a:rPr lang="es-MX" sz="2000">
                <a:latin typeface="Calibri" panose="020F0502020204030204" pitchFamily="34" charset="0"/>
              </a:rPr>
              <a:t>Version 4.1.0 | Febrero 2026</a:t>
            </a:r>
          </a:p>
        </p:txBody>
      </p:sp>
      <p:sp>
        <p:nvSpPr>
          <p:cNvPr id="6" name="CuadroTexto 5">
            <a:extLst>
              <a:ext uri="{FF2B5EF4-FFF2-40B4-BE49-F238E27FC236}">
                <a16:creationId xmlns:a16="http://schemas.microsoft.com/office/drawing/2014/main" id="{225C26C1-96A5-70A5-EB5D-0BB8C2BDE98D}"/>
              </a:ext>
            </a:extLst>
          </p:cNvPr>
          <p:cNvSpPr txBox="1"/>
          <p:nvPr/>
        </p:nvSpPr>
        <p:spPr>
          <a:xfrm>
            <a:off x="1270000" y="5715000"/>
            <a:ext cx="10160000" cy="338554"/>
          </a:xfrm>
          <a:prstGeom prst="rect">
            <a:avLst/>
          </a:prstGeom>
          <a:noFill/>
        </p:spPr>
        <p:txBody>
          <a:bodyPr vert="horz" wrap="square" rtlCol="0">
            <a:spAutoFit/>
          </a:bodyPr>
          <a:lstStyle/>
          <a:p>
            <a:r>
              <a:rPr lang="es-MX" sz="1600">
                <a:latin typeface="Calibri" panose="020F0502020204030204" pitchFamily="34" charset="0"/>
              </a:rPr>
              <a:t>Desarrollado por: Iustus Renidet &amp; J02V4N</a:t>
            </a:r>
          </a:p>
        </p:txBody>
      </p:sp>
    </p:spTree>
    <p:extLst>
      <p:ext uri="{BB962C8B-B14F-4D97-AF65-F5344CB8AC3E}">
        <p14:creationId xmlns:p14="http://schemas.microsoft.com/office/powerpoint/2010/main" val="2657388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E66-6D8E-0082-AECE-BC96BF5F255E}"/>
              </a:ext>
            </a:extLst>
          </p:cNvPr>
          <p:cNvSpPr>
            <a:spLocks noGrp="1"/>
          </p:cNvSpPr>
          <p:nvPr>
            <p:ph type="title"/>
          </p:nvPr>
        </p:nvSpPr>
        <p:spPr/>
        <p:txBody>
          <a:bodyPr>
            <a:normAutofit/>
          </a:bodyPr>
          <a:lstStyle/>
          <a:p>
            <a:r>
              <a:rPr lang="es-MX" sz="3800" b="1">
                <a:solidFill>
                  <a:srgbClr val="000000"/>
                </a:solidFill>
              </a:rPr>
              <a:t>Que es SummaCham?</a:t>
            </a:r>
          </a:p>
        </p:txBody>
      </p:sp>
      <p:sp>
        <p:nvSpPr>
          <p:cNvPr id="3" name="CuadroTexto 2">
            <a:extLst>
              <a:ext uri="{FF2B5EF4-FFF2-40B4-BE49-F238E27FC236}">
                <a16:creationId xmlns:a16="http://schemas.microsoft.com/office/drawing/2014/main" id="{E1E59A13-FE13-368E-4409-7210A518F4A9}"/>
              </a:ext>
            </a:extLst>
          </p:cNvPr>
          <p:cNvSpPr txBox="1"/>
          <p:nvPr/>
        </p:nvSpPr>
        <p:spPr>
          <a:xfrm>
            <a:off x="762000" y="1651000"/>
            <a:ext cx="11430000" cy="5016758"/>
          </a:xfrm>
          <a:prstGeom prst="rect">
            <a:avLst/>
          </a:prstGeom>
          <a:noFill/>
        </p:spPr>
        <p:txBody>
          <a:bodyPr vert="horz" wrap="square" rtlCol="0">
            <a:spAutoFit/>
          </a:bodyPr>
          <a:lstStyle/>
          <a:p>
            <a:r>
              <a:rPr lang="es-ES" sz="1600">
                <a:latin typeface="Calibri" panose="020F0502020204030204" pitchFamily="34" charset="0"/>
              </a:rPr>
              <a:t>SummaCham es una aplicacion de escritorio que ayuda a gestionar
los presupuestos financieros de una organizacion (AMCHAM).
EN PALABRAS SIMPLES:
  Es como un Excel inteligente que:
  - Se conecta al sistema contable (Aspel COI) para leer saldos reales
  - Permite a multiples usuarios trabajar al mismo tiempo
  - Tiene un sistema de aprobacion (cargar -&gt; revisar -&gt; aprobar)
  - Genera reportes consolidados automaticamente
  - Tiene graficas interactivas
USUARIOS TIPICOS:
  - Analistas: Cargan datos de presupuesto por modulo (RH, Finanzas, etc.)
  - Supervisores: Revisan que los datos esten correctos
  - Directores: Aprueban los presupuestos finales
  - Administradores: Configuran usuarios, permisos y conexiones
ACCESO:
  - Local: http://localhost:3005 (en la misma computadora)
  - Remoto: via tunel HTTPS (desde cualquier lugar)</a:t>
            </a:r>
            <a:endParaRPr lang="es-MX" sz="1600">
              <a:latin typeface="Calibri" panose="020F0502020204030204" pitchFamily="34" charset="0"/>
            </a:endParaRPr>
          </a:p>
        </p:txBody>
      </p:sp>
    </p:spTree>
    <p:extLst>
      <p:ext uri="{BB962C8B-B14F-4D97-AF65-F5344CB8AC3E}">
        <p14:creationId xmlns:p14="http://schemas.microsoft.com/office/powerpoint/2010/main" val="1355914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BE958C-6D6A-B855-8692-D4D9A22F8321}"/>
              </a:ext>
            </a:extLst>
          </p:cNvPr>
          <p:cNvSpPr>
            <a:spLocks noGrp="1"/>
          </p:cNvSpPr>
          <p:nvPr>
            <p:ph type="title"/>
          </p:nvPr>
        </p:nvSpPr>
        <p:spPr/>
        <p:txBody>
          <a:bodyPr>
            <a:normAutofit/>
          </a:bodyPr>
          <a:lstStyle/>
          <a:p>
            <a:r>
              <a:rPr lang="es-MX" sz="3800" b="1">
                <a:solidFill>
                  <a:srgbClr val="000000"/>
                </a:solidFill>
              </a:rPr>
              <a:t>Contenido de esta Presentacion</a:t>
            </a:r>
          </a:p>
        </p:txBody>
      </p:sp>
      <p:sp>
        <p:nvSpPr>
          <p:cNvPr id="3" name="CuadroTexto 2">
            <a:extLst>
              <a:ext uri="{FF2B5EF4-FFF2-40B4-BE49-F238E27FC236}">
                <a16:creationId xmlns:a16="http://schemas.microsoft.com/office/drawing/2014/main" id="{BF1360C5-48D4-AAC6-52F9-B956E2485B5F}"/>
              </a:ext>
            </a:extLst>
          </p:cNvPr>
          <p:cNvSpPr txBox="1"/>
          <p:nvPr/>
        </p:nvSpPr>
        <p:spPr>
          <a:xfrm>
            <a:off x="762000" y="1524000"/>
            <a:ext cx="11430000" cy="5401479"/>
          </a:xfrm>
          <a:prstGeom prst="rect">
            <a:avLst/>
          </a:prstGeom>
          <a:noFill/>
        </p:spPr>
        <p:txBody>
          <a:bodyPr vert="horz" wrap="square" rtlCol="0">
            <a:spAutoFit/>
          </a:bodyPr>
          <a:lstStyle/>
          <a:p>
            <a:r>
              <a:rPr lang="es-ES" sz="1500">
                <a:latin typeface="Calibri" panose="020F0502020204030204" pitchFamily="34" charset="0"/>
              </a:rPr>
              <a:t>PARTE 1 - ARQUITECTURA
   1. Tecnologias utilizadas (Frontend y Backend)
   2. Como esta organizado el proyecto (carpetas y archivos)
   3. Arquitectura general (como se comunican las partes)
PARTE 2 - SEGURIDAD
   4. Como funciona el Login (autenticacion)
   5. Cookies y Sesiones (como se mantiene la sesion activa)
   6. Rate Limiting (proteccion contra ataques)
   7. Sistema de Permisos (quien puede hacer que)
PARTE 3 - DATOS
   8. Base de Datos SQLite (donde se guarda todo localmente)
   9. Conexion con Firebird/Aspel COI (datos contables)
   10. Sistema de Layouts (plantillas de estructura contable)
PARTE 4 - LOGICA DE NEGOCIO
   11. Algoritmos de calculo (operaciones consolidadas)
   12. Modulos del sistema (RH, Finanzas, RESUMEN, etc.)
   13. Flujo de aprobacion de presupuestos
PARTE 5 - OPERACION
   14. Backups automaticos, Actualizaciones y Deployment</a:t>
            </a:r>
            <a:endParaRPr lang="es-MX" sz="1500">
              <a:latin typeface="Calibri" panose="020F0502020204030204" pitchFamily="34" charset="0"/>
            </a:endParaRPr>
          </a:p>
        </p:txBody>
      </p:sp>
    </p:spTree>
    <p:extLst>
      <p:ext uri="{BB962C8B-B14F-4D97-AF65-F5344CB8AC3E}">
        <p14:creationId xmlns:p14="http://schemas.microsoft.com/office/powerpoint/2010/main" val="232049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B23AAA-9351-2540-3D6C-230BB411E7C3}"/>
              </a:ext>
            </a:extLst>
          </p:cNvPr>
          <p:cNvSpPr>
            <a:spLocks noGrp="1"/>
          </p:cNvSpPr>
          <p:nvPr>
            <p:ph type="title"/>
          </p:nvPr>
        </p:nvSpPr>
        <p:spPr/>
        <p:txBody>
          <a:bodyPr>
            <a:noAutofit/>
          </a:bodyPr>
          <a:lstStyle/>
          <a:p>
            <a:r>
              <a:rPr lang="es-ES" sz="3800" b="1">
                <a:solidFill>
                  <a:srgbClr val="000000"/>
                </a:solidFill>
              </a:rPr>
              <a:t>Tecnologias: Frontend (lo que ve el usuario)</a:t>
            </a:r>
            <a:endParaRPr lang="es-MX" sz="3800" b="1">
              <a:solidFill>
                <a:srgbClr val="000000"/>
              </a:solidFill>
            </a:endParaRPr>
          </a:p>
        </p:txBody>
      </p:sp>
      <p:sp>
        <p:nvSpPr>
          <p:cNvPr id="3" name="Rectángulo: esquinas redondeadas 2">
            <a:extLst>
              <a:ext uri="{FF2B5EF4-FFF2-40B4-BE49-F238E27FC236}">
                <a16:creationId xmlns:a16="http://schemas.microsoft.com/office/drawing/2014/main" id="{E7C56BC0-630B-06FC-82E9-83C5EF515480}"/>
              </a:ext>
            </a:extLst>
          </p:cNvPr>
          <p:cNvSpPr/>
          <p:nvPr/>
        </p:nvSpPr>
        <p:spPr>
          <a:xfrm>
            <a:off x="762000" y="1778000"/>
            <a:ext cx="33020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800" b="1">
                <a:latin typeface="Calibri" panose="020F0502020204030204" pitchFamily="34" charset="0"/>
              </a:rPr>
              <a:t>Electron 39.2.7</a:t>
            </a:r>
          </a:p>
        </p:txBody>
      </p:sp>
      <p:sp>
        <p:nvSpPr>
          <p:cNvPr id="4" name="CuadroTexto 3">
            <a:extLst>
              <a:ext uri="{FF2B5EF4-FFF2-40B4-BE49-F238E27FC236}">
                <a16:creationId xmlns:a16="http://schemas.microsoft.com/office/drawing/2014/main" id="{CC306443-DDF1-E011-0546-0E8EA4D861DA}"/>
              </a:ext>
            </a:extLst>
          </p:cNvPr>
          <p:cNvSpPr txBox="1"/>
          <p:nvPr/>
        </p:nvSpPr>
        <p:spPr>
          <a:xfrm>
            <a:off x="762000" y="2540000"/>
            <a:ext cx="3302000" cy="692497"/>
          </a:xfrm>
          <a:prstGeom prst="rect">
            <a:avLst/>
          </a:prstGeom>
          <a:noFill/>
        </p:spPr>
        <p:txBody>
          <a:bodyPr vert="horz" wrap="square" rtlCol="0">
            <a:spAutoFit/>
          </a:bodyPr>
          <a:lstStyle/>
          <a:p>
            <a:r>
              <a:rPr lang="es-ES" sz="1300">
                <a:latin typeface="Calibri" panose="020F0502020204030204" pitchFamily="34" charset="0"/>
              </a:rPr>
              <a:t>Convierte la app web en una app de escritorio para Windows. Es como un navegador Chrome integrado.</a:t>
            </a:r>
            <a:endParaRPr lang="es-MX" sz="1300">
              <a:latin typeface="Calibri" panose="020F0502020204030204" pitchFamily="34" charset="0"/>
            </a:endParaRPr>
          </a:p>
        </p:txBody>
      </p:sp>
      <p:sp>
        <p:nvSpPr>
          <p:cNvPr id="5" name="Rectángulo: esquinas redondeadas 4">
            <a:extLst>
              <a:ext uri="{FF2B5EF4-FFF2-40B4-BE49-F238E27FC236}">
                <a16:creationId xmlns:a16="http://schemas.microsoft.com/office/drawing/2014/main" id="{0D544E5B-EDEA-58E9-8044-8BF3B24AD11B}"/>
              </a:ext>
            </a:extLst>
          </p:cNvPr>
          <p:cNvSpPr/>
          <p:nvPr/>
        </p:nvSpPr>
        <p:spPr>
          <a:xfrm>
            <a:off x="4699000" y="1778000"/>
            <a:ext cx="33020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800" b="1">
                <a:latin typeface="Calibri" panose="020F0502020204030204" pitchFamily="34" charset="0"/>
              </a:rPr>
              <a:t>Bootstrap 5</a:t>
            </a:r>
          </a:p>
        </p:txBody>
      </p:sp>
      <p:sp>
        <p:nvSpPr>
          <p:cNvPr id="6" name="CuadroTexto 5">
            <a:extLst>
              <a:ext uri="{FF2B5EF4-FFF2-40B4-BE49-F238E27FC236}">
                <a16:creationId xmlns:a16="http://schemas.microsoft.com/office/drawing/2014/main" id="{6A4F61DD-5304-A1AE-9AB9-6B25C46F3A4F}"/>
              </a:ext>
            </a:extLst>
          </p:cNvPr>
          <p:cNvSpPr txBox="1"/>
          <p:nvPr/>
        </p:nvSpPr>
        <p:spPr>
          <a:xfrm>
            <a:off x="4699000" y="2540000"/>
            <a:ext cx="3302000" cy="692497"/>
          </a:xfrm>
          <a:prstGeom prst="rect">
            <a:avLst/>
          </a:prstGeom>
          <a:noFill/>
        </p:spPr>
        <p:txBody>
          <a:bodyPr vert="horz" wrap="square" rtlCol="0">
            <a:spAutoFit/>
          </a:bodyPr>
          <a:lstStyle/>
          <a:p>
            <a:r>
              <a:rPr lang="es-ES" sz="1300">
                <a:latin typeface="Calibri" panose="020F0502020204030204" pitchFamily="34" charset="0"/>
              </a:rPr>
              <a:t>Framework CSS que hace que la interfaz se vea profesional y funcione bien en diferentes pantallas.</a:t>
            </a:r>
            <a:endParaRPr lang="es-MX" sz="1300">
              <a:latin typeface="Calibri" panose="020F0502020204030204" pitchFamily="34" charset="0"/>
            </a:endParaRPr>
          </a:p>
        </p:txBody>
      </p:sp>
      <p:sp>
        <p:nvSpPr>
          <p:cNvPr id="7" name="Rectángulo: esquinas redondeadas 6">
            <a:extLst>
              <a:ext uri="{FF2B5EF4-FFF2-40B4-BE49-F238E27FC236}">
                <a16:creationId xmlns:a16="http://schemas.microsoft.com/office/drawing/2014/main" id="{E3963D35-FBC7-C867-C269-2AC994D7ED96}"/>
              </a:ext>
            </a:extLst>
          </p:cNvPr>
          <p:cNvSpPr/>
          <p:nvPr/>
        </p:nvSpPr>
        <p:spPr>
          <a:xfrm>
            <a:off x="8636000" y="1778000"/>
            <a:ext cx="3302000" cy="698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800" b="1">
                <a:latin typeface="Calibri" panose="020F0502020204030204" pitchFamily="34" charset="0"/>
              </a:rPr>
              <a:t>Chart.js 4.3</a:t>
            </a:r>
          </a:p>
        </p:txBody>
      </p:sp>
      <p:sp>
        <p:nvSpPr>
          <p:cNvPr id="8" name="CuadroTexto 7">
            <a:extLst>
              <a:ext uri="{FF2B5EF4-FFF2-40B4-BE49-F238E27FC236}">
                <a16:creationId xmlns:a16="http://schemas.microsoft.com/office/drawing/2014/main" id="{C935BE36-0D82-810E-9D3C-FB0088905115}"/>
              </a:ext>
            </a:extLst>
          </p:cNvPr>
          <p:cNvSpPr txBox="1"/>
          <p:nvPr/>
        </p:nvSpPr>
        <p:spPr>
          <a:xfrm>
            <a:off x="8636000" y="2540000"/>
            <a:ext cx="3302000" cy="492443"/>
          </a:xfrm>
          <a:prstGeom prst="rect">
            <a:avLst/>
          </a:prstGeom>
          <a:noFill/>
        </p:spPr>
        <p:txBody>
          <a:bodyPr vert="horz" wrap="square" rtlCol="0">
            <a:spAutoFit/>
          </a:bodyPr>
          <a:lstStyle/>
          <a:p>
            <a:r>
              <a:rPr lang="es-MX" sz="1300">
                <a:latin typeface="Calibri" panose="020F0502020204030204" pitchFamily="34" charset="0"/>
              </a:rPr>
              <a:t>Libreria para crear graficas interactivas: barras, lineas, pie, dona, radar, etc.</a:t>
            </a:r>
          </a:p>
        </p:txBody>
      </p:sp>
      <p:sp>
        <p:nvSpPr>
          <p:cNvPr id="9" name="CuadroTexto 8">
            <a:extLst>
              <a:ext uri="{FF2B5EF4-FFF2-40B4-BE49-F238E27FC236}">
                <a16:creationId xmlns:a16="http://schemas.microsoft.com/office/drawing/2014/main" id="{A9643862-1A34-27DE-5FC0-12CE181F1BE6}"/>
              </a:ext>
            </a:extLst>
          </p:cNvPr>
          <p:cNvSpPr txBox="1"/>
          <p:nvPr/>
        </p:nvSpPr>
        <p:spPr>
          <a:xfrm>
            <a:off x="762000" y="3556000"/>
            <a:ext cx="11176000" cy="1938992"/>
          </a:xfrm>
          <a:prstGeom prst="rect">
            <a:avLst/>
          </a:prstGeom>
          <a:noFill/>
        </p:spPr>
        <p:txBody>
          <a:bodyPr vert="horz" wrap="square" rtlCol="0">
            <a:spAutoFit/>
          </a:bodyPr>
          <a:lstStyle/>
          <a:p>
            <a:r>
              <a:rPr lang="es-MX" sz="1500">
                <a:latin typeface="Calibri" panose="020F0502020204030204" pitchFamily="34" charset="0"/>
              </a:rPr>
              <a:t>OTRAS LIBRERIAS FRONTEND:
  - HTML5 + CSS3 + JavaScript puro (sin frameworks como React/Angular)
  - Font Awesome 6.4 para iconos
  - DataTables 1.13 para tablas interactivas con busqueda y filtros
  - SweetAlert2 para notificaciones y dialogos bonitos
  - Moment.js para manejo de fechas
  - ExcelJS / XLSX para exportar a Excel desde el navegador
  - jsPDF para exportar a PDF</a:t>
            </a:r>
          </a:p>
        </p:txBody>
      </p:sp>
    </p:spTree>
    <p:extLst>
      <p:ext uri="{BB962C8B-B14F-4D97-AF65-F5344CB8AC3E}">
        <p14:creationId xmlns:p14="http://schemas.microsoft.com/office/powerpoint/2010/main" val="369277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659B0-C55B-172E-BC13-8E5788C678D6}"/>
              </a:ext>
            </a:extLst>
          </p:cNvPr>
          <p:cNvSpPr>
            <a:spLocks noGrp="1"/>
          </p:cNvSpPr>
          <p:nvPr>
            <p:ph type="title"/>
          </p:nvPr>
        </p:nvSpPr>
        <p:spPr/>
        <p:txBody>
          <a:bodyPr>
            <a:noAutofit/>
          </a:bodyPr>
          <a:lstStyle/>
          <a:p>
            <a:r>
              <a:rPr lang="es-ES" sz="3800" b="1">
                <a:solidFill>
                  <a:srgbClr val="000000"/>
                </a:solidFill>
              </a:rPr>
              <a:t>Tecnologias: Backend (lo que no ve el usuario)</a:t>
            </a:r>
            <a:endParaRPr lang="es-MX" sz="3800" b="1">
              <a:solidFill>
                <a:srgbClr val="000000"/>
              </a:solidFill>
            </a:endParaRPr>
          </a:p>
        </p:txBody>
      </p:sp>
      <p:sp>
        <p:nvSpPr>
          <p:cNvPr id="3" name="CuadroTexto 2">
            <a:extLst>
              <a:ext uri="{FF2B5EF4-FFF2-40B4-BE49-F238E27FC236}">
                <a16:creationId xmlns:a16="http://schemas.microsoft.com/office/drawing/2014/main" id="{36BBFDB5-67DC-4AFF-BAB6-DA34D4B95BEB}"/>
              </a:ext>
            </a:extLst>
          </p:cNvPr>
          <p:cNvSpPr txBox="1"/>
          <p:nvPr/>
        </p:nvSpPr>
        <p:spPr>
          <a:xfrm>
            <a:off x="762000" y="1524000"/>
            <a:ext cx="11430000" cy="5710538"/>
          </a:xfrm>
          <a:prstGeom prst="rect">
            <a:avLst/>
          </a:prstGeom>
          <a:noFill/>
        </p:spPr>
        <p:txBody>
          <a:bodyPr vert="horz" wrap="square" rtlCol="0">
            <a:spAutoFit/>
          </a:bodyPr>
          <a:lstStyle/>
          <a:p>
            <a:r>
              <a:rPr lang="es-ES" sz="1400">
                <a:latin typeface="Calibri" panose="020F0502020204030204" pitchFamily="34" charset="0"/>
              </a:rPr>
              <a:t>Node.js + Express.js (El servidor)
  Que hace: Recibe peticiones del navegador, procesa datos, responde
  Puerto: 3005 (http://localhost:3005)
  Es como: Un mesero que lleva pedidos entre el cliente y la cocina
Better-SQLite3 (Base de datos local)
  Que hace: Guarda usuarios, permisos, layouts, borradores, configuracion
  Archivo: datos/panel.sqlite
  Es como: Un archivero donde se guarda toda la info local
node-firebird (Conexion al sistema contable)
  Que hace: Lee saldos y cuentas del sistema Aspel COI (Firebird)
  Puerto: 3050
  Es como: Un traductor que habla con el sistema contable externo
bcryptjs + jsonwebtoken (Seguridad)
  Que hace: Encripta contrasenas y genera tokens de acceso
  bcrypt: Convierte "miPassword123" en un hash irreversible
  JWT: Genera un "pase" temporal que identifica al usuario
Joi (Validacion)
  Que hace: Verifica que los datos que manda el usuario sean correctos
  Ejemplo: "El usuario debe tener minimo 2 caracteres"
Helmet (Proteccion HTTP)
  Que hace: Agrega cabeceras de seguridad a todas las respuestas</a:t>
            </a:r>
            <a:endParaRPr lang="es-MX" sz="1400">
              <a:latin typeface="Calibri" panose="020F0502020204030204" pitchFamily="34" charset="0"/>
            </a:endParaRPr>
          </a:p>
        </p:txBody>
      </p:sp>
    </p:spTree>
    <p:extLst>
      <p:ext uri="{BB962C8B-B14F-4D97-AF65-F5344CB8AC3E}">
        <p14:creationId xmlns:p14="http://schemas.microsoft.com/office/powerpoint/2010/main" val="703488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F37910-D92B-790E-DD9F-D0136E81F0C0}"/>
              </a:ext>
            </a:extLst>
          </p:cNvPr>
          <p:cNvSpPr>
            <a:spLocks noGrp="1"/>
          </p:cNvSpPr>
          <p:nvPr>
            <p:ph type="title"/>
          </p:nvPr>
        </p:nvSpPr>
        <p:spPr/>
        <p:txBody>
          <a:bodyPr>
            <a:normAutofit/>
          </a:bodyPr>
          <a:lstStyle/>
          <a:p>
            <a:r>
              <a:rPr lang="es-MX" sz="3800" b="1">
                <a:solidFill>
                  <a:srgbClr val="000000"/>
                </a:solidFill>
              </a:rPr>
              <a:t>Organizacion del Proyecto</a:t>
            </a:r>
          </a:p>
        </p:txBody>
      </p:sp>
      <p:sp>
        <p:nvSpPr>
          <p:cNvPr id="3" name="CuadroTexto 2">
            <a:extLst>
              <a:ext uri="{FF2B5EF4-FFF2-40B4-BE49-F238E27FC236}">
                <a16:creationId xmlns:a16="http://schemas.microsoft.com/office/drawing/2014/main" id="{ABB230E4-BC07-1239-FF20-BE8D1767E412}"/>
              </a:ext>
            </a:extLst>
          </p:cNvPr>
          <p:cNvSpPr txBox="1"/>
          <p:nvPr/>
        </p:nvSpPr>
        <p:spPr>
          <a:xfrm>
            <a:off x="635000" y="1524000"/>
            <a:ext cx="11684000" cy="5447645"/>
          </a:xfrm>
          <a:prstGeom prst="rect">
            <a:avLst/>
          </a:prstGeom>
          <a:noFill/>
        </p:spPr>
        <p:txBody>
          <a:bodyPr vert="horz" wrap="square" rtlCol="0">
            <a:spAutoFit/>
          </a:bodyPr>
          <a:lstStyle/>
          <a:p>
            <a:r>
              <a:rPr lang="es-MX" sz="1200">
                <a:latin typeface="Consolas" panose="020B0609020204030204" pitchFamily="49" charset="0"/>
              </a:rPr>
              <a:t>SummaCham/
  main.js                  Punto de entrada de Electron (la app de escritorio)
  package.json             Configuracion y dependencias del proyecto
  .env                     Variables secretas (NO se sube a Git)
  src/                     CODIGO DEL BACKEND (servidor)
    server.js                Servidor Express (arranca todo)
    db/sqlite.js             Conexion y esquemas de SQLite
    middleware/auth.js       Verificacion de sesion en cada peticion
    routes/                  Endpoints de la API:
      auth.js                  Login, logout, refresh token
      usuarios.js              CRUD de usuarios
      presupuestos.js          Manejo de presupuestos
      reportes.js              Generacion de reportes
      layouts.js               Plantillas contables
    services/                Logica de negocio:
      firebirdService.js       Conexion con Aspel COI
      layoutService.js         Operaciones con layouts
      permisosService.js       Verificacion de permisos
      backupService.js         Backups automaticos
  vistas/                  FRONTEND (lo que ve el usuario)
    login.html, app.html, RESUMEN.html, plantillas.html, etc.
    js/                    JavaScript del frontend
    css/                   Estilos
  datos/                   DATOS PERSISTENTES
    panel.sqlite             Base de datos principal
    backups/                 Copias de seguridad</a:t>
            </a:r>
          </a:p>
        </p:txBody>
      </p:sp>
    </p:spTree>
    <p:extLst>
      <p:ext uri="{BB962C8B-B14F-4D97-AF65-F5344CB8AC3E}">
        <p14:creationId xmlns:p14="http://schemas.microsoft.com/office/powerpoint/2010/main" val="1574530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45CEDF-15FE-AD95-D552-5479FD138877}"/>
              </a:ext>
            </a:extLst>
          </p:cNvPr>
          <p:cNvSpPr>
            <a:spLocks noGrp="1"/>
          </p:cNvSpPr>
          <p:nvPr>
            <p:ph type="title"/>
          </p:nvPr>
        </p:nvSpPr>
        <p:spPr/>
        <p:txBody>
          <a:bodyPr>
            <a:noAutofit/>
          </a:bodyPr>
          <a:lstStyle/>
          <a:p>
            <a:r>
              <a:rPr lang="es-MX" sz="3800" b="1">
                <a:solidFill>
                  <a:srgbClr val="000000"/>
                </a:solidFill>
              </a:rPr>
              <a:t>Arquitectura: Como se comunican las partes</a:t>
            </a:r>
          </a:p>
        </p:txBody>
      </p:sp>
      <p:sp>
        <p:nvSpPr>
          <p:cNvPr id="3" name="Rectángulo: esquinas redondeadas 2">
            <a:extLst>
              <a:ext uri="{FF2B5EF4-FFF2-40B4-BE49-F238E27FC236}">
                <a16:creationId xmlns:a16="http://schemas.microsoft.com/office/drawing/2014/main" id="{60083BEA-1A22-C30C-5A83-0149E1B23520}"/>
              </a:ext>
            </a:extLst>
          </p:cNvPr>
          <p:cNvSpPr/>
          <p:nvPr/>
        </p:nvSpPr>
        <p:spPr>
          <a:xfrm>
            <a:off x="762000" y="1778000"/>
            <a:ext cx="3175000" cy="889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Calibri" panose="020F0502020204030204" pitchFamily="34" charset="0"/>
              </a:rPr>
              <a:t>ELECTRON
App de Escritorio</a:t>
            </a:r>
          </a:p>
        </p:txBody>
      </p:sp>
      <p:sp>
        <p:nvSpPr>
          <p:cNvPr id="4" name="Cilindro 3">
            <a:extLst>
              <a:ext uri="{FF2B5EF4-FFF2-40B4-BE49-F238E27FC236}">
                <a16:creationId xmlns:a16="http://schemas.microsoft.com/office/drawing/2014/main" id="{955ECAA4-7F07-9BD8-72FD-3D0187E829E3}"/>
              </a:ext>
            </a:extLst>
          </p:cNvPr>
          <p:cNvSpPr/>
          <p:nvPr/>
        </p:nvSpPr>
        <p:spPr>
          <a:xfrm>
            <a:off x="4064000" y="2032000"/>
            <a:ext cx="635000" cy="3810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Rectángulo: esquinas redondeadas 4">
            <a:extLst>
              <a:ext uri="{FF2B5EF4-FFF2-40B4-BE49-F238E27FC236}">
                <a16:creationId xmlns:a16="http://schemas.microsoft.com/office/drawing/2014/main" id="{3DBF08E1-BCBE-758A-0CE6-FE67C5CC25E5}"/>
              </a:ext>
            </a:extLst>
          </p:cNvPr>
          <p:cNvSpPr/>
          <p:nvPr/>
        </p:nvSpPr>
        <p:spPr>
          <a:xfrm>
            <a:off x="4826000" y="1778000"/>
            <a:ext cx="3175000" cy="889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latin typeface="Calibri" panose="020F0502020204030204" pitchFamily="34" charset="0"/>
              </a:rPr>
              <a:t>EXPRESS SERVER
Puerto 3005</a:t>
            </a:r>
          </a:p>
        </p:txBody>
      </p:sp>
      <p:sp>
        <p:nvSpPr>
          <p:cNvPr id="6" name="Cilindro 5">
            <a:extLst>
              <a:ext uri="{FF2B5EF4-FFF2-40B4-BE49-F238E27FC236}">
                <a16:creationId xmlns:a16="http://schemas.microsoft.com/office/drawing/2014/main" id="{BDAE520F-1D71-BF01-27CB-159E35F54FF4}"/>
              </a:ext>
            </a:extLst>
          </p:cNvPr>
          <p:cNvSpPr/>
          <p:nvPr/>
        </p:nvSpPr>
        <p:spPr>
          <a:xfrm>
            <a:off x="8128000" y="1841500"/>
            <a:ext cx="508000" cy="3175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esquinas redondeadas 6">
            <a:extLst>
              <a:ext uri="{FF2B5EF4-FFF2-40B4-BE49-F238E27FC236}">
                <a16:creationId xmlns:a16="http://schemas.microsoft.com/office/drawing/2014/main" id="{2751BC0E-7CA1-ADBF-FE72-FB830AA292B3}"/>
              </a:ext>
            </a:extLst>
          </p:cNvPr>
          <p:cNvSpPr/>
          <p:nvPr/>
        </p:nvSpPr>
        <p:spPr>
          <a:xfrm>
            <a:off x="8763000" y="1651000"/>
            <a:ext cx="3175000" cy="444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a:latin typeface="Calibri" panose="020F0502020204030204" pitchFamily="34" charset="0"/>
              </a:rPr>
              <a:t>SQLite (Local)</a:t>
            </a:r>
          </a:p>
        </p:txBody>
      </p:sp>
      <p:sp>
        <p:nvSpPr>
          <p:cNvPr id="8" name="Cilindro 7">
            <a:extLst>
              <a:ext uri="{FF2B5EF4-FFF2-40B4-BE49-F238E27FC236}">
                <a16:creationId xmlns:a16="http://schemas.microsoft.com/office/drawing/2014/main" id="{B66CCE5D-5597-0F47-55FC-0F38272D04B4}"/>
              </a:ext>
            </a:extLst>
          </p:cNvPr>
          <p:cNvSpPr/>
          <p:nvPr/>
        </p:nvSpPr>
        <p:spPr>
          <a:xfrm>
            <a:off x="8128000" y="2286000"/>
            <a:ext cx="508000" cy="31750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esquinas redondeadas 8">
            <a:extLst>
              <a:ext uri="{FF2B5EF4-FFF2-40B4-BE49-F238E27FC236}">
                <a16:creationId xmlns:a16="http://schemas.microsoft.com/office/drawing/2014/main" id="{DD786F7C-05FB-2FEF-8157-17988CB4094C}"/>
              </a:ext>
            </a:extLst>
          </p:cNvPr>
          <p:cNvSpPr/>
          <p:nvPr/>
        </p:nvSpPr>
        <p:spPr>
          <a:xfrm>
            <a:off x="8763000" y="2222500"/>
            <a:ext cx="3175000" cy="444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300" b="1">
                <a:latin typeface="Calibri" panose="020F0502020204030204" pitchFamily="34" charset="0"/>
              </a:rPr>
              <a:t>Firebird / Aspel COI</a:t>
            </a:r>
          </a:p>
        </p:txBody>
      </p:sp>
      <p:sp>
        <p:nvSpPr>
          <p:cNvPr id="10" name="CuadroTexto 9">
            <a:extLst>
              <a:ext uri="{FF2B5EF4-FFF2-40B4-BE49-F238E27FC236}">
                <a16:creationId xmlns:a16="http://schemas.microsoft.com/office/drawing/2014/main" id="{CED0AB9A-F1FB-3D6E-93E2-39A3ED8B659E}"/>
              </a:ext>
            </a:extLst>
          </p:cNvPr>
          <p:cNvSpPr txBox="1"/>
          <p:nvPr/>
        </p:nvSpPr>
        <p:spPr>
          <a:xfrm>
            <a:off x="762000" y="2857500"/>
            <a:ext cx="11176000" cy="5062283"/>
          </a:xfrm>
          <a:prstGeom prst="rect">
            <a:avLst/>
          </a:prstGeom>
          <a:noFill/>
        </p:spPr>
        <p:txBody>
          <a:bodyPr vert="horz" wrap="square" rtlCol="0">
            <a:spAutoFit/>
          </a:bodyPr>
          <a:lstStyle/>
          <a:p>
            <a:r>
              <a:rPr lang="es-ES" sz="1400">
                <a:latin typeface="Calibri" panose="020F0502020204030204" pitchFamily="34" charset="0"/>
              </a:rPr>
              <a:t>COMO FUNCIONA (paso a paso):
1. Electron abre una ventana y carga http://localhost:3005
2. El servidor Express recibe las peticiones del navegador
3. Cada peticion pasa por middleware de seguridad:
   - Se verifica que el usuario tenga sesion activa
   - Se verifican sus permisos para esa accion
4. El servidor consulta los datos necesarios:
   - SQLite: usuarios, permisos, layouts, borradores
   - Firebird: saldos contables reales del sistema Aspel COI
5. El servidor responde con datos en formato JSON
6. El frontend muestra los datos en tablas, graficas, etc.
ACCESO MULTI-USUARIO:
  Varios usuarios pueden trabajar al mismo tiempo porque:
  - Cada uno tiene su propia sesion (cookie unica)
  - SQLite soporta acceso concurrente (modo WAL)
  - Los permisos se validan por cada peticion
ACCESO REMOTO:
  - Se puede acceder desde otras computadoras via tunel HTTPS
  - Ejemplo: https://panelamcham.iconetcloud.com.mx
  - Las cookies se configuran automaticamente segun el entorno</a:t>
            </a:r>
            <a:endParaRPr lang="es-MX" sz="1400">
              <a:latin typeface="Calibri" panose="020F0502020204030204" pitchFamily="34" charset="0"/>
            </a:endParaRPr>
          </a:p>
        </p:txBody>
      </p:sp>
    </p:spTree>
    <p:extLst>
      <p:ext uri="{BB962C8B-B14F-4D97-AF65-F5344CB8AC3E}">
        <p14:creationId xmlns:p14="http://schemas.microsoft.com/office/powerpoint/2010/main" val="260100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5C6E8-89A2-7AA8-13AD-B8D120BD5053}"/>
              </a:ext>
            </a:extLst>
          </p:cNvPr>
          <p:cNvSpPr>
            <a:spLocks noGrp="1"/>
          </p:cNvSpPr>
          <p:nvPr>
            <p:ph type="title"/>
          </p:nvPr>
        </p:nvSpPr>
        <p:spPr/>
        <p:txBody>
          <a:bodyPr>
            <a:normAutofit/>
          </a:bodyPr>
          <a:lstStyle/>
          <a:p>
            <a:r>
              <a:rPr lang="es-MX" sz="3800" b="1">
                <a:solidFill>
                  <a:srgbClr val="000000"/>
                </a:solidFill>
              </a:rPr>
              <a:t>Arquitectura en Capas</a:t>
            </a:r>
          </a:p>
        </p:txBody>
      </p:sp>
      <p:sp>
        <p:nvSpPr>
          <p:cNvPr id="3" name="Rectángulo: esquinas redondeadas 2">
            <a:extLst>
              <a:ext uri="{FF2B5EF4-FFF2-40B4-BE49-F238E27FC236}">
                <a16:creationId xmlns:a16="http://schemas.microsoft.com/office/drawing/2014/main" id="{EE1FB003-D45A-9F14-414A-F586D6DA5079}"/>
              </a:ext>
            </a:extLst>
          </p:cNvPr>
          <p:cNvSpPr/>
          <p:nvPr/>
        </p:nvSpPr>
        <p:spPr>
          <a:xfrm>
            <a:off x="1524000" y="1651000"/>
            <a:ext cx="9652000" cy="63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500" b="1">
                <a:latin typeface="Calibri" panose="020F0502020204030204" pitchFamily="34" charset="0"/>
              </a:rPr>
              <a:t>CAPA 1: Presentacion (HTML + JS) - Lo que ve el usuario</a:t>
            </a:r>
            <a:endParaRPr lang="es-MX" sz="1500" b="1">
              <a:latin typeface="Calibri" panose="020F0502020204030204" pitchFamily="34" charset="0"/>
            </a:endParaRPr>
          </a:p>
        </p:txBody>
      </p:sp>
      <p:sp>
        <p:nvSpPr>
          <p:cNvPr id="4" name="CuadroTexto 3">
            <a:extLst>
              <a:ext uri="{FF2B5EF4-FFF2-40B4-BE49-F238E27FC236}">
                <a16:creationId xmlns:a16="http://schemas.microsoft.com/office/drawing/2014/main" id="{49F0359F-F4A7-4228-95CC-97D21CE6BABE}"/>
              </a:ext>
            </a:extLst>
          </p:cNvPr>
          <p:cNvSpPr txBox="1"/>
          <p:nvPr/>
        </p:nvSpPr>
        <p:spPr>
          <a:xfrm>
            <a:off x="1524000" y="2324100"/>
            <a:ext cx="9652000" cy="276999"/>
          </a:xfrm>
          <a:prstGeom prst="rect">
            <a:avLst/>
          </a:prstGeom>
          <a:noFill/>
        </p:spPr>
        <p:txBody>
          <a:bodyPr vert="horz" wrap="square" rtlCol="0">
            <a:spAutoFit/>
          </a:bodyPr>
          <a:lstStyle/>
          <a:p>
            <a:r>
              <a:rPr lang="es-MX" sz="1200">
                <a:latin typeface="Calibri" panose="020F0502020204030204" pitchFamily="34" charset="0"/>
              </a:rPr>
              <a:t>login.html, usuarios.html, RESUMEN.html, Graficas.html, plantillas.html...</a:t>
            </a:r>
          </a:p>
        </p:txBody>
      </p:sp>
      <p:sp>
        <p:nvSpPr>
          <p:cNvPr id="5" name="Rectángulo: esquinas redondeadas 4">
            <a:extLst>
              <a:ext uri="{FF2B5EF4-FFF2-40B4-BE49-F238E27FC236}">
                <a16:creationId xmlns:a16="http://schemas.microsoft.com/office/drawing/2014/main" id="{00D03DE4-FE8E-23DA-98E6-4F70B2DBFF5A}"/>
              </a:ext>
            </a:extLst>
          </p:cNvPr>
          <p:cNvSpPr/>
          <p:nvPr/>
        </p:nvSpPr>
        <p:spPr>
          <a:xfrm>
            <a:off x="1524000" y="2730500"/>
            <a:ext cx="9652000" cy="63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500" b="1">
                <a:latin typeface="Calibri" panose="020F0502020204030204" pitchFamily="34" charset="0"/>
              </a:rPr>
              <a:t>CAPA 2: Controladores (Routes) - Reciben peticiones</a:t>
            </a:r>
          </a:p>
        </p:txBody>
      </p:sp>
      <p:sp>
        <p:nvSpPr>
          <p:cNvPr id="6" name="CuadroTexto 5">
            <a:extLst>
              <a:ext uri="{FF2B5EF4-FFF2-40B4-BE49-F238E27FC236}">
                <a16:creationId xmlns:a16="http://schemas.microsoft.com/office/drawing/2014/main" id="{40508433-BFB9-49CE-3D72-9C650621ECEF}"/>
              </a:ext>
            </a:extLst>
          </p:cNvPr>
          <p:cNvSpPr txBox="1"/>
          <p:nvPr/>
        </p:nvSpPr>
        <p:spPr>
          <a:xfrm>
            <a:off x="1524000" y="3403600"/>
            <a:ext cx="9652000" cy="276999"/>
          </a:xfrm>
          <a:prstGeom prst="rect">
            <a:avLst/>
          </a:prstGeom>
          <a:noFill/>
        </p:spPr>
        <p:txBody>
          <a:bodyPr vert="horz" wrap="square" rtlCol="0">
            <a:spAutoFit/>
          </a:bodyPr>
          <a:lstStyle/>
          <a:p>
            <a:r>
              <a:rPr lang="es-MX" sz="1200">
                <a:latin typeface="Calibri" panose="020F0502020204030204" pitchFamily="34" charset="0"/>
              </a:rPr>
              <a:t>auth.js, usuarios.js, presupuestos.js, reportes.js, layouts.js, insercion.js...</a:t>
            </a:r>
          </a:p>
        </p:txBody>
      </p:sp>
      <p:sp>
        <p:nvSpPr>
          <p:cNvPr id="7" name="Rectángulo: esquinas redondeadas 6">
            <a:extLst>
              <a:ext uri="{FF2B5EF4-FFF2-40B4-BE49-F238E27FC236}">
                <a16:creationId xmlns:a16="http://schemas.microsoft.com/office/drawing/2014/main" id="{8B8A1AB6-5E5F-937A-F4B8-6A88EF9E11EE}"/>
              </a:ext>
            </a:extLst>
          </p:cNvPr>
          <p:cNvSpPr/>
          <p:nvPr/>
        </p:nvSpPr>
        <p:spPr>
          <a:xfrm>
            <a:off x="1524000" y="3810000"/>
            <a:ext cx="9652000" cy="63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500" b="1">
                <a:latin typeface="Calibri" panose="020F0502020204030204" pitchFamily="34" charset="0"/>
              </a:rPr>
              <a:t>CAPA 3: Middleware (Seguridad) - Filtro de acceso</a:t>
            </a:r>
            <a:endParaRPr lang="es-MX" sz="1500" b="1">
              <a:latin typeface="Calibri" panose="020F0502020204030204" pitchFamily="34" charset="0"/>
            </a:endParaRPr>
          </a:p>
        </p:txBody>
      </p:sp>
      <p:sp>
        <p:nvSpPr>
          <p:cNvPr id="8" name="CuadroTexto 7">
            <a:extLst>
              <a:ext uri="{FF2B5EF4-FFF2-40B4-BE49-F238E27FC236}">
                <a16:creationId xmlns:a16="http://schemas.microsoft.com/office/drawing/2014/main" id="{DD443A22-190F-A478-8890-E8325B389F7E}"/>
              </a:ext>
            </a:extLst>
          </p:cNvPr>
          <p:cNvSpPr txBox="1"/>
          <p:nvPr/>
        </p:nvSpPr>
        <p:spPr>
          <a:xfrm>
            <a:off x="1524000" y="4483100"/>
            <a:ext cx="9652000" cy="276999"/>
          </a:xfrm>
          <a:prstGeom prst="rect">
            <a:avLst/>
          </a:prstGeom>
          <a:noFill/>
        </p:spPr>
        <p:txBody>
          <a:bodyPr vert="horz" wrap="square" rtlCol="0">
            <a:spAutoFit/>
          </a:bodyPr>
          <a:lstStyle/>
          <a:p>
            <a:r>
              <a:rPr lang="en-US" sz="1200">
                <a:latin typeface="Calibri" panose="020F0502020204030204" pitchFamily="34" charset="0"/>
              </a:rPr>
              <a:t>requireAuth, permisos, rate limiting, CORS, helmet, validaciones Joi</a:t>
            </a:r>
            <a:endParaRPr lang="es-MX" sz="1200">
              <a:latin typeface="Calibri" panose="020F0502020204030204" pitchFamily="34" charset="0"/>
            </a:endParaRPr>
          </a:p>
        </p:txBody>
      </p:sp>
      <p:sp>
        <p:nvSpPr>
          <p:cNvPr id="9" name="Rectángulo: esquinas redondeadas 8">
            <a:extLst>
              <a:ext uri="{FF2B5EF4-FFF2-40B4-BE49-F238E27FC236}">
                <a16:creationId xmlns:a16="http://schemas.microsoft.com/office/drawing/2014/main" id="{B23BE4D0-3EE3-296D-FD5B-A7A9AC6783CD}"/>
              </a:ext>
            </a:extLst>
          </p:cNvPr>
          <p:cNvSpPr/>
          <p:nvPr/>
        </p:nvSpPr>
        <p:spPr>
          <a:xfrm>
            <a:off x="1524000" y="4889500"/>
            <a:ext cx="4635500" cy="63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500" b="1">
                <a:latin typeface="Calibri" panose="020F0502020204030204" pitchFamily="34" charset="0"/>
              </a:rPr>
              <a:t>CAPA 4a: Servicios (Logica)</a:t>
            </a:r>
          </a:p>
        </p:txBody>
      </p:sp>
      <p:sp>
        <p:nvSpPr>
          <p:cNvPr id="10" name="CuadroTexto 9">
            <a:extLst>
              <a:ext uri="{FF2B5EF4-FFF2-40B4-BE49-F238E27FC236}">
                <a16:creationId xmlns:a16="http://schemas.microsoft.com/office/drawing/2014/main" id="{A8D7DF90-718E-282F-B852-250710A5E018}"/>
              </a:ext>
            </a:extLst>
          </p:cNvPr>
          <p:cNvSpPr txBox="1"/>
          <p:nvPr/>
        </p:nvSpPr>
        <p:spPr>
          <a:xfrm>
            <a:off x="1524000" y="5562600"/>
            <a:ext cx="4635500" cy="261610"/>
          </a:xfrm>
          <a:prstGeom prst="rect">
            <a:avLst/>
          </a:prstGeom>
          <a:noFill/>
        </p:spPr>
        <p:txBody>
          <a:bodyPr vert="horz" wrap="square" rtlCol="0">
            <a:spAutoFit/>
          </a:bodyPr>
          <a:lstStyle/>
          <a:p>
            <a:r>
              <a:rPr lang="es-MX" sz="1100">
                <a:latin typeface="Calibri" panose="020F0502020204030204" pitchFamily="34" charset="0"/>
              </a:rPr>
              <a:t>permisosService, layoutService, firebirdService</a:t>
            </a:r>
          </a:p>
        </p:txBody>
      </p:sp>
      <p:sp>
        <p:nvSpPr>
          <p:cNvPr id="11" name="Rectángulo: esquinas redondeadas 10">
            <a:extLst>
              <a:ext uri="{FF2B5EF4-FFF2-40B4-BE49-F238E27FC236}">
                <a16:creationId xmlns:a16="http://schemas.microsoft.com/office/drawing/2014/main" id="{FB38089D-B583-4A87-B6AC-33E373010FD7}"/>
              </a:ext>
            </a:extLst>
          </p:cNvPr>
          <p:cNvSpPr/>
          <p:nvPr/>
        </p:nvSpPr>
        <p:spPr>
          <a:xfrm>
            <a:off x="6540500" y="4889500"/>
            <a:ext cx="4635500" cy="635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500" b="1">
                <a:latin typeface="Calibri" panose="020F0502020204030204" pitchFamily="34" charset="0"/>
              </a:rPr>
              <a:t>CAPA 4b: Datos (Persistencia)</a:t>
            </a:r>
          </a:p>
        </p:txBody>
      </p:sp>
      <p:sp>
        <p:nvSpPr>
          <p:cNvPr id="12" name="CuadroTexto 11">
            <a:extLst>
              <a:ext uri="{FF2B5EF4-FFF2-40B4-BE49-F238E27FC236}">
                <a16:creationId xmlns:a16="http://schemas.microsoft.com/office/drawing/2014/main" id="{C169EB30-C010-8C29-C4B1-22D4103220F5}"/>
              </a:ext>
            </a:extLst>
          </p:cNvPr>
          <p:cNvSpPr txBox="1"/>
          <p:nvPr/>
        </p:nvSpPr>
        <p:spPr>
          <a:xfrm>
            <a:off x="6540500" y="5562600"/>
            <a:ext cx="4635500" cy="261610"/>
          </a:xfrm>
          <a:prstGeom prst="rect">
            <a:avLst/>
          </a:prstGeom>
          <a:noFill/>
        </p:spPr>
        <p:txBody>
          <a:bodyPr vert="horz" wrap="square" rtlCol="0">
            <a:spAutoFit/>
          </a:bodyPr>
          <a:lstStyle/>
          <a:p>
            <a:r>
              <a:rPr lang="es-MX" sz="1100">
                <a:latin typeface="Calibri" panose="020F0502020204030204" pitchFamily="34" charset="0"/>
              </a:rPr>
              <a:t>SQLite (local) + Firebird (externa)</a:t>
            </a:r>
          </a:p>
        </p:txBody>
      </p:sp>
      <p:sp>
        <p:nvSpPr>
          <p:cNvPr id="13" name="CuadroTexto 12">
            <a:extLst>
              <a:ext uri="{FF2B5EF4-FFF2-40B4-BE49-F238E27FC236}">
                <a16:creationId xmlns:a16="http://schemas.microsoft.com/office/drawing/2014/main" id="{6EDB21B1-382D-AF5F-0253-2B6CA2C9021E}"/>
              </a:ext>
            </a:extLst>
          </p:cNvPr>
          <p:cNvSpPr txBox="1"/>
          <p:nvPr/>
        </p:nvSpPr>
        <p:spPr>
          <a:xfrm>
            <a:off x="762000" y="6032500"/>
            <a:ext cx="11430000" cy="492443"/>
          </a:xfrm>
          <a:prstGeom prst="rect">
            <a:avLst/>
          </a:prstGeom>
          <a:noFill/>
        </p:spPr>
        <p:txBody>
          <a:bodyPr vert="horz" wrap="square" rtlCol="0">
            <a:spAutoFit/>
          </a:bodyPr>
          <a:lstStyle/>
          <a:p>
            <a:r>
              <a:rPr lang="es-ES" sz="1300" b="1">
                <a:latin typeface="Calibri" panose="020F0502020204030204" pitchFamily="34" charset="0"/>
              </a:rPr>
              <a:t>Cada peticion baja por las capas: Presentacion -&gt; Controlador -&gt; Middleware -&gt; Servicio -&gt; Datos
Si la seguridad falla en cualquier capa, la peticion se rechaza inmediatamente (401 o 403)</a:t>
            </a:r>
            <a:endParaRPr lang="es-MX" sz="1300" b="1">
              <a:latin typeface="Calibri" panose="020F0502020204030204" pitchFamily="34" charset="0"/>
            </a:endParaRPr>
          </a:p>
        </p:txBody>
      </p:sp>
    </p:spTree>
    <p:extLst>
      <p:ext uri="{BB962C8B-B14F-4D97-AF65-F5344CB8AC3E}">
        <p14:creationId xmlns:p14="http://schemas.microsoft.com/office/powerpoint/2010/main" val="49695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04782F-258E-6CA9-ECFE-932728899BC3}"/>
              </a:ext>
            </a:extLst>
          </p:cNvPr>
          <p:cNvSpPr>
            <a:spLocks noGrp="1"/>
          </p:cNvSpPr>
          <p:nvPr>
            <p:ph type="title"/>
          </p:nvPr>
        </p:nvSpPr>
        <p:spPr/>
        <p:txBody>
          <a:bodyPr>
            <a:normAutofit fontScale="90000"/>
          </a:bodyPr>
          <a:lstStyle/>
          <a:p>
            <a:r>
              <a:rPr lang="es-ES" sz="3800" b="1">
                <a:solidFill>
                  <a:srgbClr val="000000"/>
                </a:solidFill>
              </a:rPr>
              <a:t>Como Funciona el Login (paso a paso)</a:t>
            </a:r>
            <a:endParaRPr lang="es-MX" sz="3800" b="1">
              <a:solidFill>
                <a:srgbClr val="000000"/>
              </a:solidFill>
            </a:endParaRPr>
          </a:p>
        </p:txBody>
      </p:sp>
      <p:sp>
        <p:nvSpPr>
          <p:cNvPr id="3" name="CuadroTexto 2">
            <a:extLst>
              <a:ext uri="{FF2B5EF4-FFF2-40B4-BE49-F238E27FC236}">
                <a16:creationId xmlns:a16="http://schemas.microsoft.com/office/drawing/2014/main" id="{5EA9BBD6-D1B6-DF3D-FEEE-814D446B04AE}"/>
              </a:ext>
            </a:extLst>
          </p:cNvPr>
          <p:cNvSpPr txBox="1"/>
          <p:nvPr/>
        </p:nvSpPr>
        <p:spPr>
          <a:xfrm>
            <a:off x="635000" y="1460500"/>
            <a:ext cx="11684000" cy="6555641"/>
          </a:xfrm>
          <a:prstGeom prst="rect">
            <a:avLst/>
          </a:prstGeom>
          <a:noFill/>
        </p:spPr>
        <p:txBody>
          <a:bodyPr vert="horz" wrap="square" rtlCol="0">
            <a:spAutoFit/>
          </a:bodyPr>
          <a:lstStyle/>
          <a:p>
            <a:r>
              <a:rPr lang="es-ES" sz="1200">
                <a:latin typeface="Calibri" panose="020F0502020204030204" pitchFamily="34" charset="0"/>
              </a:rPr>
              <a:t>Cuando un usuario quiere entrar al sistema, pasa esto:
PASO 1: El usuario escribe su nombre y contrasena
  -&gt; POST /api/auth/login con { usuario: "JPEREZ", contrasena: "miClave" }
PASO 2: Validacion basica (Joi)
  -&gt; Se verifica que el usuario tenga minimo 2 caracteres
  -&gt; Se verifica que la contrasena tenga minimo 6 caracteres
  -&gt; Si no cumple: Error 400 "Datos invalidos"
PASO 3: Rate Limiting (proteccion contra ataques)
  -&gt; Se revisa cuantos intentos fallidos tiene esa IP
  -&gt; Si tiene 10+ intentos en 10 minutos: BLOQUEADO 5 minutos
  -&gt; Error 429 "Demasiados intentos"
PASO 4: Buscar usuario en la base de datos
  -&gt; SELECT * FROM usuarios WHERE usuario = 'JPEREZ'
  -&gt; Si no existe: Error 401 "Credenciales incorrectas"
PASO 5: Verificar contrasena con bcrypt
  -&gt; bcrypt.compare("miClave", "...")
  -&gt; Compara el texto plano con el hash almacenado
  -&gt; Si no coincide: Error 401 "Credenciales incorrectas"
PASO 6: Crear sesion y tokens
  -&gt; Se genera un JWT (Access Token) valido por 1 hora
  -&gt; Se genera un Refresh Token valido por 7 dias
  -&gt; Se crea una sesion en el servidor (req.session.userId = 5)
  -&gt; Se envia una cookie segura al navegador
PASO 7: Cargar permisos del usuario
  -&gt; Se consultan sus permisos por empresa y modulo
  -&gt; Se envian al frontend para mostrar solo lo que puede ver
RESULTADO EXITOSO: El usuario entra al sistema con sus permisos cargados</a:t>
            </a:r>
            <a:endParaRPr lang="es-MX" sz="1200">
              <a:latin typeface="Calibri" panose="020F0502020204030204" pitchFamily="34" charset="0"/>
            </a:endParaRPr>
          </a:p>
        </p:txBody>
      </p:sp>
    </p:spTree>
    <p:extLst>
      <p:ext uri="{BB962C8B-B14F-4D97-AF65-F5344CB8AC3E}">
        <p14:creationId xmlns:p14="http://schemas.microsoft.com/office/powerpoint/2010/main" val="990325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47299E-2E52-E34D-2378-7906FE66E3A2}"/>
              </a:ext>
            </a:extLst>
          </p:cNvPr>
          <p:cNvSpPr>
            <a:spLocks noGrp="1"/>
          </p:cNvSpPr>
          <p:nvPr>
            <p:ph type="title"/>
          </p:nvPr>
        </p:nvSpPr>
        <p:spPr/>
        <p:txBody>
          <a:bodyPr>
            <a:noAutofit/>
          </a:bodyPr>
          <a:lstStyle/>
          <a:p>
            <a:r>
              <a:rPr lang="es-ES" sz="3800" b="1">
                <a:solidFill>
                  <a:srgbClr val="000000"/>
                </a:solidFill>
              </a:rPr>
              <a:t>Cookies y Sesiones - Como se mantiene la sesion</a:t>
            </a:r>
            <a:endParaRPr lang="es-MX" sz="3800" b="1">
              <a:solidFill>
                <a:srgbClr val="000000"/>
              </a:solidFill>
            </a:endParaRPr>
          </a:p>
        </p:txBody>
      </p:sp>
      <p:sp>
        <p:nvSpPr>
          <p:cNvPr id="3" name="CuadroTexto 2">
            <a:extLst>
              <a:ext uri="{FF2B5EF4-FFF2-40B4-BE49-F238E27FC236}">
                <a16:creationId xmlns:a16="http://schemas.microsoft.com/office/drawing/2014/main" id="{6628CCEF-6EAF-3B88-CED1-9244587E1255}"/>
              </a:ext>
            </a:extLst>
          </p:cNvPr>
          <p:cNvSpPr txBox="1"/>
          <p:nvPr/>
        </p:nvSpPr>
        <p:spPr>
          <a:xfrm>
            <a:off x="635000" y="1460500"/>
            <a:ext cx="11684000" cy="6894195"/>
          </a:xfrm>
          <a:prstGeom prst="rect">
            <a:avLst/>
          </a:prstGeom>
          <a:noFill/>
        </p:spPr>
        <p:txBody>
          <a:bodyPr vert="horz" wrap="square" rtlCol="0">
            <a:spAutoFit/>
          </a:bodyPr>
          <a:lstStyle/>
          <a:p>
            <a:r>
              <a:rPr lang="es-ES" sz="1300">
                <a:latin typeface="Calibri" panose="020F0502020204030204" pitchFamily="34" charset="0"/>
              </a:rPr>
              <a:t>QUE ES UNA COOKIE?
  Es un pequeno dato que el servidor envia al navegador. El navegador
  lo guarda y lo envia de vuelta en cada peticion siguiente.
  Es como una pulsera de acceso en un evento.
CONFIGURACION DE LA COOKIE EN SUMMACHAM:
  Nombre: "panelamcham.sid"
    Identifica esta cookie como perteneciente a SummaCham
  httpOnly: true
    La cookie NO puede leerse desde JavaScript del navegador
    Protege contra ataques XSS (Cross-Site Scripting)
  secure: depende del entorno
    En produccion: solo funciona con HTTPS (conexion encriptada)
    En desarrollo: funciona con HTTP normal
  maxAge: 30 minutos
    La sesion expira despues de 30 minutos SIN actividad
    Si el usuario sigue trabajando, se renueva automaticamente
  rolling: true (se renueva con cada peticion)
    Ejemplo: Login a las 09:00, expira 09:30
    Si hace algo a las 09:15, se extiende a 09:45
    Si no hace nada en 30 min, se cierra la sesion
  sameSite: depende del entorno
    Produccion: 'none' (permite acceso desde tuneles HTTPS)
    Desarrollo: 'lax' (solo mismo sitio)
DONDE SE GUARDA LA SESION?
  En SQLite (tabla de sesiones), NO en memoria del servidor
  Esto permite que la sesion sobreviva a reinicios del servidor</a:t>
            </a:r>
            <a:endParaRPr lang="es-MX" sz="1300">
              <a:latin typeface="Calibri" panose="020F0502020204030204" pitchFamily="34" charset="0"/>
            </a:endParaRPr>
          </a:p>
        </p:txBody>
      </p:sp>
    </p:spTree>
    <p:extLst>
      <p:ext uri="{BB962C8B-B14F-4D97-AF65-F5344CB8AC3E}">
        <p14:creationId xmlns:p14="http://schemas.microsoft.com/office/powerpoint/2010/main" val="151403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2565D6-4F40-977E-0CB8-73C51B271F29}"/>
              </a:ext>
            </a:extLst>
          </p:cNvPr>
          <p:cNvSpPr>
            <a:spLocks noGrp="1"/>
          </p:cNvSpPr>
          <p:nvPr>
            <p:ph type="title"/>
          </p:nvPr>
        </p:nvSpPr>
        <p:spPr/>
        <p:txBody>
          <a:bodyPr>
            <a:noAutofit/>
          </a:bodyPr>
          <a:lstStyle/>
          <a:p>
            <a:r>
              <a:rPr lang="es-MX" sz="3800" b="1">
                <a:solidFill>
                  <a:srgbClr val="000000"/>
                </a:solidFill>
              </a:rPr>
              <a:t>Rate Limiting - Proteccion contra ataques</a:t>
            </a:r>
          </a:p>
        </p:txBody>
      </p:sp>
      <p:sp>
        <p:nvSpPr>
          <p:cNvPr id="3" name="CuadroTexto 2">
            <a:extLst>
              <a:ext uri="{FF2B5EF4-FFF2-40B4-BE49-F238E27FC236}">
                <a16:creationId xmlns:a16="http://schemas.microsoft.com/office/drawing/2014/main" id="{B390E96B-B64A-2C7E-0623-7D5AC387A5E5}"/>
              </a:ext>
            </a:extLst>
          </p:cNvPr>
          <p:cNvSpPr txBox="1"/>
          <p:nvPr/>
        </p:nvSpPr>
        <p:spPr>
          <a:xfrm>
            <a:off x="635000" y="1460500"/>
            <a:ext cx="11684000" cy="6740307"/>
          </a:xfrm>
          <a:prstGeom prst="rect">
            <a:avLst/>
          </a:prstGeom>
          <a:noFill/>
        </p:spPr>
        <p:txBody>
          <a:bodyPr vert="horz" wrap="square" rtlCol="0">
            <a:spAutoFit/>
          </a:bodyPr>
          <a:lstStyle/>
          <a:p>
            <a:r>
              <a:rPr lang="es-ES" sz="1200">
                <a:latin typeface="Calibri" panose="020F0502020204030204" pitchFamily="34" charset="0"/>
              </a:rPr>
              <a:t>QUE ES?
  Un mecanismo que limita cuantos intentos de login puede hacer una IP.
  Previene ataques de "fuerza bruta" (probar miles de contrasenas).
COMO FUNCIONA?
  CONFIGURACION:
    Ventana de tiempo: 10 minutos
    Maximo de intentos: 10
    Tiempo de bloqueo: 5 minutos
  EJEMPLO REAL:
    09:00 - Intento 1 fallido    (count: 1)
    09:01 - Intento 2 fallido    (count: 2)
    09:02 - Intento 3 fallido    (count: 3)
    ...
    09:08 - Intento 9 fallido    (count: 9)
    09:09 - Intento 10 fallido   (count: 10)
             BLOQUEADO HASTA 09:14 (5 minutos)
    09:10 - Intento 11 -&gt; RECHAZADO (429 Too Many Requests)
    09:12 - Intento 12 -&gt; RECHAZADO (429 Too Many Requests)
    09:15 - Intento 13 -&gt; PERMITIDO (bloqueo ya expiro)
  SI EL LOGIN ES EXITOSO:
    Se borran todos los intentos de esa IP
    El contador vuelve a cero
  LIMPIEZA AUTOMATICA:
    Cada peticion ejecuta pruneAttempts() que elimina
    registros de intentos mayores a 10 minutos
DONDE SE GUARDA?
  En memoria (Map de JavaScript), se reinicia si el servidor se reinicia.
  No necesita base de datos, es rapido y eficiente.</a:t>
            </a:r>
            <a:endParaRPr lang="es-MX" sz="1200">
              <a:latin typeface="Calibri" panose="020F0502020204030204" pitchFamily="34" charset="0"/>
            </a:endParaRPr>
          </a:p>
        </p:txBody>
      </p:sp>
    </p:spTree>
    <p:extLst>
      <p:ext uri="{BB962C8B-B14F-4D97-AF65-F5344CB8AC3E}">
        <p14:creationId xmlns:p14="http://schemas.microsoft.com/office/powerpoint/2010/main" val="397556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915518-0CFF-51A1-5E9B-30FB2C104BE1}"/>
              </a:ext>
            </a:extLst>
          </p:cNvPr>
          <p:cNvSpPr>
            <a:spLocks noGrp="1"/>
          </p:cNvSpPr>
          <p:nvPr>
            <p:ph type="title"/>
          </p:nvPr>
        </p:nvSpPr>
        <p:spPr/>
        <p:txBody>
          <a:bodyPr>
            <a:noAutofit/>
          </a:bodyPr>
          <a:lstStyle/>
          <a:p>
            <a:r>
              <a:rPr lang="es-ES" sz="3800" b="1">
                <a:solidFill>
                  <a:srgbClr val="000000"/>
                </a:solidFill>
              </a:rPr>
              <a:t>Sistema de Permisos - Quien puede hacer que</a:t>
            </a:r>
            <a:endParaRPr lang="es-MX" sz="3800" b="1">
              <a:solidFill>
                <a:srgbClr val="000000"/>
              </a:solidFill>
            </a:endParaRPr>
          </a:p>
        </p:txBody>
      </p:sp>
      <p:sp>
        <p:nvSpPr>
          <p:cNvPr id="3" name="CuadroTexto 2">
            <a:extLst>
              <a:ext uri="{FF2B5EF4-FFF2-40B4-BE49-F238E27FC236}">
                <a16:creationId xmlns:a16="http://schemas.microsoft.com/office/drawing/2014/main" id="{CE7D1812-8A72-8262-5708-E27B595491A7}"/>
              </a:ext>
            </a:extLst>
          </p:cNvPr>
          <p:cNvSpPr txBox="1"/>
          <p:nvPr/>
        </p:nvSpPr>
        <p:spPr>
          <a:xfrm>
            <a:off x="635000" y="1460500"/>
            <a:ext cx="11684000" cy="6894195"/>
          </a:xfrm>
          <a:prstGeom prst="rect">
            <a:avLst/>
          </a:prstGeom>
          <a:noFill/>
        </p:spPr>
        <p:txBody>
          <a:bodyPr vert="horz" wrap="square" rtlCol="0">
            <a:spAutoFit/>
          </a:bodyPr>
          <a:lstStyle/>
          <a:p>
            <a:r>
              <a:rPr lang="es-ES" sz="1300">
                <a:latin typeface="Calibri" panose="020F0502020204030204" pitchFamily="34" charset="0"/>
              </a:rPr>
              <a:t>EL SISTEMA TIENE 3 NIVELES DE PERMISOS:
NIVEL 1: USUARIO
  Cada usuario tiene permisos generales:
  - es_admin_global: Si es 1, tiene acceso TOTAL a todo
  - puede_agregar: Puede crear registros nuevos
  - puede_modificar: Puede editar registros existentes
  - puede_eliminar: Puede borrar registros
NIVEL 2: EMPRESA
  Un usuario puede tener acceso a una o varias empresas:
  - empresa1 (Ciudad de Mexico)
  - empresa2 (Guadalajara)
  - empresa3 (Monterrey)
  - empresa4 (Queretaro)
NIVEL 3: MODULO + ACCION
  Dentro de cada empresa, el usuario tiene permisos por modulo:
  Ejemplo: Juan Perez en empresa1:
  | Modulo      | Ver | Cargar | Revisar | Aprobar |
  |-------------|-----|--------|---------|---------|
  | RH          |  SI |   SI   |   NO    |   NO    |
  | Finanzas    |  SI |   NO   |   SI    |   NO    |
  | RESUMEN     |  SI |   NO   |   NO    |   NO    |
  Esto significa:
  - En RH: puede ver datos Y cargar/guardar nuevos
  - En Finanzas: puede ver datos Y marcar como revisado
  - En RESUMEN: solo puede ver (lectura)
USUARIO ESPECIAL: ICONET
  Siempre es admin global, tiene acceso total a todo.</a:t>
            </a:r>
            <a:endParaRPr lang="es-MX" sz="1300">
              <a:latin typeface="Calibri" panose="020F0502020204030204" pitchFamily="34" charset="0"/>
            </a:endParaRPr>
          </a:p>
        </p:txBody>
      </p:sp>
    </p:spTree>
    <p:extLst>
      <p:ext uri="{BB962C8B-B14F-4D97-AF65-F5344CB8AC3E}">
        <p14:creationId xmlns:p14="http://schemas.microsoft.com/office/powerpoint/2010/main" val="4069967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223997-3987-11DE-93A9-4649E2277089}"/>
              </a:ext>
            </a:extLst>
          </p:cNvPr>
          <p:cNvSpPr>
            <a:spLocks noGrp="1"/>
          </p:cNvSpPr>
          <p:nvPr>
            <p:ph type="title"/>
          </p:nvPr>
        </p:nvSpPr>
        <p:spPr/>
        <p:txBody>
          <a:bodyPr>
            <a:normAutofit/>
          </a:bodyPr>
          <a:lstStyle/>
          <a:p>
            <a:r>
              <a:rPr lang="es-ES" sz="3800" b="1">
                <a:solidFill>
                  <a:srgbClr val="000000"/>
                </a:solidFill>
              </a:rPr>
              <a:t>Como se Validan los Permisos</a:t>
            </a:r>
            <a:endParaRPr lang="es-MX" sz="3800" b="1">
              <a:solidFill>
                <a:srgbClr val="000000"/>
              </a:solidFill>
            </a:endParaRPr>
          </a:p>
        </p:txBody>
      </p:sp>
      <p:sp>
        <p:nvSpPr>
          <p:cNvPr id="3" name="CuadroTexto 2">
            <a:extLst>
              <a:ext uri="{FF2B5EF4-FFF2-40B4-BE49-F238E27FC236}">
                <a16:creationId xmlns:a16="http://schemas.microsoft.com/office/drawing/2014/main" id="{B7F1EC25-4F47-C55E-72AC-70E02596F60B}"/>
              </a:ext>
            </a:extLst>
          </p:cNvPr>
          <p:cNvSpPr txBox="1"/>
          <p:nvPr/>
        </p:nvSpPr>
        <p:spPr>
          <a:xfrm>
            <a:off x="635000" y="1460500"/>
            <a:ext cx="11684000" cy="6494085"/>
          </a:xfrm>
          <a:prstGeom prst="rect">
            <a:avLst/>
          </a:prstGeom>
          <a:noFill/>
        </p:spPr>
        <p:txBody>
          <a:bodyPr vert="horz" wrap="square" rtlCol="0">
            <a:spAutoFit/>
          </a:bodyPr>
          <a:lstStyle/>
          <a:p>
            <a:r>
              <a:rPr lang="es-ES" sz="1300">
                <a:latin typeface="Calibri" panose="020F0502020204030204" pitchFamily="34" charset="0"/>
              </a:rPr>
              <a:t>CADA VEZ QUE EL USUARIO HACE UNA PETICION, PASA ESTO:
1. El middleware requireAuth verifica la sesion:
   -&gt; Busca token en: sesion del servidor, cookie, o header Authorization
   -&gt; Si no hay token valido: Error 401 "Sesion no valida"
2. Carga la informacion del usuario desde SQLite:
   -&gt; Nombre, permisos generales, mapa de permisos por empresa
3. Construye el "mapa de permisos" en memoria:
   {
     empresa1: {
       'RH': { Ver: true, 'Cargar y guardar': true, Revisar: false, Aprobar: false },
       'Finanzas': { Ver: true, 'Cargar y guardar': false, Revisar: true, Aprobar: false }
     }
   }
4. Cada ruta protegida verifica el permiso especifico:
   Ejemplo: El usuario quiere GUARDAR datos en el modulo RH de empresa1
   -&gt; Se verifica: tienePermisoModulo(mapa, 'empresa1', 'RH', 'Cargar y guardar')
   -&gt; Si tiene permiso: la peticion continua
   -&gt; Si NO tiene permiso: Error 403 "No tienes permiso"
MODULOS UNIVERSALES (acceso especial):
  SUMMARY, RESUMEN y PRESUPUESTOS permiten lectura a todos
  los usuarios autenticados. Las demas acciones SI requieren
  permisos explicitos.
ADMIN GLOBAL (es_admin_global = 1):
  Salta TODAS las verificaciones de permisos.
  Puede hacer todo en todas las empresas y modulos.</a:t>
            </a:r>
            <a:endParaRPr lang="es-MX" sz="1300">
              <a:latin typeface="Calibri" panose="020F0502020204030204" pitchFamily="34" charset="0"/>
            </a:endParaRPr>
          </a:p>
        </p:txBody>
      </p:sp>
    </p:spTree>
    <p:extLst>
      <p:ext uri="{BB962C8B-B14F-4D97-AF65-F5344CB8AC3E}">
        <p14:creationId xmlns:p14="http://schemas.microsoft.com/office/powerpoint/2010/main" val="503469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9679BD-3F2C-EF82-548F-E716A70C5BFB}"/>
              </a:ext>
            </a:extLst>
          </p:cNvPr>
          <p:cNvSpPr>
            <a:spLocks noGrp="1"/>
          </p:cNvSpPr>
          <p:nvPr>
            <p:ph type="title"/>
          </p:nvPr>
        </p:nvSpPr>
        <p:spPr/>
        <p:txBody>
          <a:bodyPr>
            <a:noAutofit/>
          </a:bodyPr>
          <a:lstStyle/>
          <a:p>
            <a:r>
              <a:rPr lang="es-ES" sz="3800" b="1">
                <a:solidFill>
                  <a:srgbClr val="000000"/>
                </a:solidFill>
              </a:rPr>
              <a:t>Base de Datos SQLite - Tablas Principales</a:t>
            </a:r>
            <a:endParaRPr lang="es-MX" sz="3800" b="1">
              <a:solidFill>
                <a:srgbClr val="000000"/>
              </a:solidFill>
            </a:endParaRPr>
          </a:p>
        </p:txBody>
      </p:sp>
      <p:sp>
        <p:nvSpPr>
          <p:cNvPr id="3" name="CuadroTexto 2">
            <a:extLst>
              <a:ext uri="{FF2B5EF4-FFF2-40B4-BE49-F238E27FC236}">
                <a16:creationId xmlns:a16="http://schemas.microsoft.com/office/drawing/2014/main" id="{0416FA0D-C318-A0EE-F18E-2A33B4CD4E41}"/>
              </a:ext>
            </a:extLst>
          </p:cNvPr>
          <p:cNvSpPr txBox="1"/>
          <p:nvPr/>
        </p:nvSpPr>
        <p:spPr>
          <a:xfrm>
            <a:off x="635000" y="1460500"/>
            <a:ext cx="11684000" cy="5816977"/>
          </a:xfrm>
          <a:prstGeom prst="rect">
            <a:avLst/>
          </a:prstGeom>
          <a:noFill/>
        </p:spPr>
        <p:txBody>
          <a:bodyPr vert="horz" wrap="square" rtlCol="0">
            <a:spAutoFit/>
          </a:bodyPr>
          <a:lstStyle/>
          <a:p>
            <a:r>
              <a:rPr lang="es-ES" sz="1200">
                <a:latin typeface="Calibri" panose="020F0502020204030204" pitchFamily="34" charset="0"/>
              </a:rPr>
              <a:t>Archivo: datos/panel.sqlite
Es la base de datos LOCAL donde se guarda toda la configuracion.
TABLAS DE SEGURIDAD:
  1. usuarios - Datos de cada usuario (nombre, hash de contrasena, rol)
  2. permisos_modulo - Que puede hacer cada usuario en cada empresa/modulo
  3. permisos_edicion_capitulo - Permisos especificos por capitulo
TABLAS DE PRESUPUESTOS:
  4. presupuestos_estado - Estado actual (sin-cargar, cargado, revisado, aprobado)
  5. presupuestos_estado_historial - Registro de todos los cambios de estado
  6. presupuestos_guardados - Datos guardados oficialmente
  7. PLAN_BORRADORES - Guardado automatico mientras el usuario trabaja
TABLAS DE LAYOUTS (estructura contable):
  8. layout_cuentas - Catalogo de cuentas por ano/empresa
  9. layout_operaciones - Formulas de calculo (totales, consolidados)
  10. layout_secciones - Agrupaciones (Income, Expense, etc.)
  11. layout_bitacora - Registro de cambios en layouts
TABLAS DE COLABORACION:
  12. comentarios_celdas - Comentarios en celdas especificas
  13. notificaciones - Alertas para los usuarios
TABLAS DE CONFIGURACION:
  14. graficas_config - Configuracion de graficas guardadas
  15. sesiones - Sesiones activas de usuarios (express-session store)
MODO DE ACCESO:
  SQLite usa modo WAL (Write-Ahead Logging) que permite que
  multiples usuarios lean al mismo tiempo sin bloquearse.</a:t>
            </a:r>
            <a:endParaRPr lang="es-MX" sz="1200">
              <a:latin typeface="Calibri" panose="020F0502020204030204" pitchFamily="34" charset="0"/>
            </a:endParaRPr>
          </a:p>
        </p:txBody>
      </p:sp>
    </p:spTree>
    <p:extLst>
      <p:ext uri="{BB962C8B-B14F-4D97-AF65-F5344CB8AC3E}">
        <p14:creationId xmlns:p14="http://schemas.microsoft.com/office/powerpoint/2010/main" val="381997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6A0322-6710-4946-67DD-D8B0B70CB2A9}"/>
              </a:ext>
            </a:extLst>
          </p:cNvPr>
          <p:cNvSpPr>
            <a:spLocks noGrp="1"/>
          </p:cNvSpPr>
          <p:nvPr>
            <p:ph type="title"/>
          </p:nvPr>
        </p:nvSpPr>
        <p:spPr/>
        <p:txBody>
          <a:bodyPr>
            <a:noAutofit/>
          </a:bodyPr>
          <a:lstStyle/>
          <a:p>
            <a:r>
              <a:rPr lang="es-ES" sz="3800" b="1">
                <a:solidFill>
                  <a:srgbClr val="000000"/>
                </a:solidFill>
              </a:rPr>
              <a:t>Tabla: usuarios - Cada columna explicada</a:t>
            </a:r>
            <a:endParaRPr lang="es-MX" sz="3800" b="1">
              <a:solidFill>
                <a:srgbClr val="000000"/>
              </a:solidFill>
            </a:endParaRPr>
          </a:p>
        </p:txBody>
      </p:sp>
      <p:sp>
        <p:nvSpPr>
          <p:cNvPr id="3" name="CuadroTexto 2">
            <a:extLst>
              <a:ext uri="{FF2B5EF4-FFF2-40B4-BE49-F238E27FC236}">
                <a16:creationId xmlns:a16="http://schemas.microsoft.com/office/drawing/2014/main" id="{50BEE62D-E5AB-DCFD-9ED7-1DE5A8B5FD03}"/>
              </a:ext>
            </a:extLst>
          </p:cNvPr>
          <p:cNvSpPr txBox="1"/>
          <p:nvPr/>
        </p:nvSpPr>
        <p:spPr>
          <a:xfrm>
            <a:off x="635000" y="1460500"/>
            <a:ext cx="11684000" cy="5509200"/>
          </a:xfrm>
          <a:prstGeom prst="rect">
            <a:avLst/>
          </a:prstGeom>
          <a:noFill/>
        </p:spPr>
        <p:txBody>
          <a:bodyPr vert="horz" wrap="square" rtlCol="0">
            <a:spAutoFit/>
          </a:bodyPr>
          <a:lstStyle/>
          <a:p>
            <a:r>
              <a:rPr lang="es-ES" sz="1100">
                <a:latin typeface="Calibri" panose="020F0502020204030204" pitchFamily="34" charset="0"/>
              </a:rPr>
              <a:t>CREATE TABLE usuarios (
  id INTEGER PRIMARY KEY      - Numero unico, se genera solo (1, 2, 3...)
  usuario TEXT UNIQUE          - Nombre de login, ejemplo: "JPEREZ" (no se repite)
  nombres TEXT                 - Nombre(s), ejemplo: "Juan Carlos"
  apellido_primero TEXT        - Apellido paterno, ejemplo: "Perez"
  apellido_segundo TEXT        - Apellido materno, ejemplo: "Lopez"
  correo TEXT                  - Email, ejemplo: "juan@empresa.com"
  contrasena TEXT              - Hash bcrypt (NUNCA texto plano)
                                 Ejemplo: "..."
  es_admin_global INTEGER      - 0 = normal, 1 = administrador total
  puede_agregar INTEGER        - 0 = no, 1 = puede crear registros
  puede_modificar INTEGER      - 0 = no, 1 = puede editar registros
  puede_eliminar INTEGER       - 0 = no, 1 = puede borrar registros
  creado_en TEXT               - Fecha de creacion automatica
)
EJEMPLO DE UN REGISTRO REAL:
  id: 5
  usuario: 'JPEREZ'
  nombres: 'Juan Carlos'
  apellido_primero: 'Perez'
  apellido_segundo: 'Lopez'
  correo: 'juan.perez@empresa.com'
  contrasena: '...' (60 caracteres)
  es_admin_global: 0 (usuario normal)
  puede_agregar: 1 (si puede)
  puede_modificar: 1 (si puede)
  puede_eliminar: 0 (no puede)
  creado_en: '2026-01-15 10:30:00'
IMPORTANTE: La contrasena se encripta con bcrypt (saltRounds=10).
Nadie puede ver la contrasena original, ni siquiera el administrador.</a:t>
            </a:r>
            <a:endParaRPr lang="es-MX" sz="1100">
              <a:latin typeface="Calibri" panose="020F0502020204030204" pitchFamily="34" charset="0"/>
            </a:endParaRPr>
          </a:p>
        </p:txBody>
      </p:sp>
    </p:spTree>
    <p:extLst>
      <p:ext uri="{BB962C8B-B14F-4D97-AF65-F5344CB8AC3E}">
        <p14:creationId xmlns:p14="http://schemas.microsoft.com/office/powerpoint/2010/main" val="342199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4A26EC-D953-FDAD-01F7-1418AEDDCC92}"/>
              </a:ext>
            </a:extLst>
          </p:cNvPr>
          <p:cNvSpPr>
            <a:spLocks noGrp="1"/>
          </p:cNvSpPr>
          <p:nvPr>
            <p:ph type="title"/>
          </p:nvPr>
        </p:nvSpPr>
        <p:spPr/>
        <p:txBody>
          <a:bodyPr>
            <a:noAutofit/>
          </a:bodyPr>
          <a:lstStyle/>
          <a:p>
            <a:r>
              <a:rPr lang="es-ES" sz="3800" b="1">
                <a:solidFill>
                  <a:srgbClr val="000000"/>
                </a:solidFill>
              </a:rPr>
              <a:t>Tabla: permisos_modulo - Permisos detallados</a:t>
            </a:r>
            <a:endParaRPr lang="es-MX" sz="3800" b="1">
              <a:solidFill>
                <a:srgbClr val="000000"/>
              </a:solidFill>
            </a:endParaRPr>
          </a:p>
        </p:txBody>
      </p:sp>
      <p:sp>
        <p:nvSpPr>
          <p:cNvPr id="3" name="CuadroTexto 2">
            <a:extLst>
              <a:ext uri="{FF2B5EF4-FFF2-40B4-BE49-F238E27FC236}">
                <a16:creationId xmlns:a16="http://schemas.microsoft.com/office/drawing/2014/main" id="{8560D174-EE96-D8A0-8CE1-F6EEB7DFBC6B}"/>
              </a:ext>
            </a:extLst>
          </p:cNvPr>
          <p:cNvSpPr txBox="1"/>
          <p:nvPr/>
        </p:nvSpPr>
        <p:spPr>
          <a:xfrm>
            <a:off x="635000" y="1460500"/>
            <a:ext cx="11684000" cy="5847755"/>
          </a:xfrm>
          <a:prstGeom prst="rect">
            <a:avLst/>
          </a:prstGeom>
          <a:noFill/>
        </p:spPr>
        <p:txBody>
          <a:bodyPr vert="horz" wrap="square" rtlCol="0">
            <a:spAutoFit/>
          </a:bodyPr>
          <a:lstStyle/>
          <a:p>
            <a:r>
              <a:rPr lang="es-ES" sz="1100">
                <a:latin typeface="Calibri" panose="020F0502020204030204" pitchFamily="34" charset="0"/>
              </a:rPr>
              <a:t>Esta tabla define QUE puede hacer cada usuario en cada empresa y modulo.
CREATE TABLE permisos_modulo (
  id INTEGER PRIMARY KEY
  usuario_id INTEGER         - A que usuario (FK a usuarios.id)
  empresa_id TEXT            - En que empresa ('empresa1', 'empresa2'...)
  modulo TEXT                - En que modulo ('RH', 'Finanzas', 'RESUMEN'...)
  puede_leer INTEGER         - 0/1: Puede ver datos?
  puede_cargar_guardar INTEGER - 0/1: Puede ingresar y guardar datos?
  puede_revisar INTEGER      - 0/1: Puede marcar como revisado?
  puede_aprobar INTEGER      - 0/1: Puede dar aprobacion final?
  UNIQUE(usuario_id, empresa_id, modulo)
    Solo puede haber UN registro por combinacion usuario-empresa-modulo
  FOREIGN KEY(usuario_id) REFERENCES usuarios(id) ON DELETE CASCADE
    Si se elimina el usuario, se eliminan sus permisos automaticamente
)
EJEMPLO - Permisos de Juan Perez (id=5) en empresa1:
  | modulo     | leer | cargar | revisar | aprobar |
  |------------|------|--------|---------|---------|
  | RH         |  1   |   1    |    0    |    0    |
  | Finanzas   |  1   |   0    |    1    |    0    |
  | RESUMEN    |  1   |   0    |    0    |    0    |
  En RH: Puede ver Y escribir datos
  En Finanzas: Puede ver Y revisar (pero no escribir)
  En RESUMEN: Solo puede ver (lectura)
MODULOS DISPONIBLES:
  RH, Finanzas, Gastos Generales, VPE, T&amp;IC, Eventos,
  Membresia, Servicios Membresia, Nomina, RESUMEN, SUMMARY, PRESUPUESTOS</a:t>
            </a:r>
            <a:endParaRPr lang="es-MX" sz="1100">
              <a:latin typeface="Calibri" panose="020F0502020204030204" pitchFamily="34" charset="0"/>
            </a:endParaRPr>
          </a:p>
        </p:txBody>
      </p:sp>
    </p:spTree>
    <p:extLst>
      <p:ext uri="{BB962C8B-B14F-4D97-AF65-F5344CB8AC3E}">
        <p14:creationId xmlns:p14="http://schemas.microsoft.com/office/powerpoint/2010/main" val="716925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85B48-52FE-2352-D6F0-0FF6A931850F}"/>
              </a:ext>
            </a:extLst>
          </p:cNvPr>
          <p:cNvSpPr>
            <a:spLocks noGrp="1"/>
          </p:cNvSpPr>
          <p:nvPr>
            <p:ph type="title"/>
          </p:nvPr>
        </p:nvSpPr>
        <p:spPr/>
        <p:txBody>
          <a:bodyPr>
            <a:noAutofit/>
          </a:bodyPr>
          <a:lstStyle/>
          <a:p>
            <a:r>
              <a:rPr lang="es-ES" sz="3800" b="1">
                <a:solidFill>
                  <a:srgbClr val="000000"/>
                </a:solidFill>
              </a:rPr>
              <a:t>Tabla: layout_cuentas - Estructura contable</a:t>
            </a:r>
            <a:endParaRPr lang="es-MX" sz="3800" b="1">
              <a:solidFill>
                <a:srgbClr val="000000"/>
              </a:solidFill>
            </a:endParaRPr>
          </a:p>
        </p:txBody>
      </p:sp>
      <p:sp>
        <p:nvSpPr>
          <p:cNvPr id="3" name="CuadroTexto 2">
            <a:extLst>
              <a:ext uri="{FF2B5EF4-FFF2-40B4-BE49-F238E27FC236}">
                <a16:creationId xmlns:a16="http://schemas.microsoft.com/office/drawing/2014/main" id="{4178DDD6-F75A-69EB-2C5D-52F92B32498D}"/>
              </a:ext>
            </a:extLst>
          </p:cNvPr>
          <p:cNvSpPr txBox="1"/>
          <p:nvPr/>
        </p:nvSpPr>
        <p:spPr>
          <a:xfrm>
            <a:off x="635000" y="1460500"/>
            <a:ext cx="11684000" cy="5632311"/>
          </a:xfrm>
          <a:prstGeom prst="rect">
            <a:avLst/>
          </a:prstGeom>
          <a:noFill/>
        </p:spPr>
        <p:txBody>
          <a:bodyPr vert="horz" wrap="square" rtlCol="0">
            <a:spAutoFit/>
          </a:bodyPr>
          <a:lstStyle/>
          <a:p>
            <a:r>
              <a:rPr lang="es-ES" sz="1200">
                <a:latin typeface="Calibri" panose="020F0502020204030204" pitchFamily="34" charset="0"/>
              </a:rPr>
              <a:t>Esta tabla define las CUENTAS CONTABLES que se usan en cada modulo/ano.
Es como el "catalogo" de cuentas para construir los reportes.
COLUMNAS PRINCIPALES:
  empresa_id          - 'empresa1', 'empresa2', etc.
  modulo              - 'RESUMEN', 'RH', 'Finanzas', etc.
  anio                - 2024, 2025, 2026... (layouts son por ano)
  cuenta              - Numero de cuenta: '4100', '5200', '1100-001'
  nombre              - Descripcion: 'Membership Renewals', 'Salaries'
  capitulo            - Region/division: 'CDMX', 'GDL', 'MTY', 'QRO'
  seccion_principal   - Agrupacion: 'Income (CDMX)', 'Expense (CDMX)'
  seccion_secundaria  - Sub-agrupacion opcional: 'Membership', 'Events'
  operacion_factor    - Multiplicador: 1 = suma, -1 = resta, 0.5 = mitad
  orden               - Orden de visualizacion (legacy)
  orden_presentacion  - Orden PRINCIPAL de visualizacion (el que se usa)
  visible             - 0 = oculta, 1 = visible en la interfaz
EJEMPLO DE REGISTRO:
  empresa_id: 'empresa1', modulo: 'RESUMEN', anio: 2025
  cuenta: '4100', nombre: 'Membership Renewals'
  capitulo: 'CDMX', seccion_principal: 'Income (CDMX)'
  seccion_secundaria: 'Membership'
  operacion_factor: 1, orden_presentacion: 10, visible: 1
COMO SE USA:
  1. Se cargan las cuentas del layout para un modulo/ano/empresa
  2. Se agrupan por seccion_principal (Income, Expense...)
  3. Se consultan los saldos de cada cuenta en Firebird
  4. Se calculan los totales por seccion usando operacion_factor
  5. Se muestran en orden de orden_presentacion</a:t>
            </a:r>
            <a:endParaRPr lang="es-MX" sz="1200">
              <a:latin typeface="Calibri" panose="020F0502020204030204" pitchFamily="34" charset="0"/>
            </a:endParaRPr>
          </a:p>
        </p:txBody>
      </p:sp>
    </p:spTree>
    <p:extLst>
      <p:ext uri="{BB962C8B-B14F-4D97-AF65-F5344CB8AC3E}">
        <p14:creationId xmlns:p14="http://schemas.microsoft.com/office/powerpoint/2010/main" val="3801253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856A76-71A2-239B-0A8F-3B418830D3A1}"/>
              </a:ext>
            </a:extLst>
          </p:cNvPr>
          <p:cNvSpPr>
            <a:spLocks noGrp="1"/>
          </p:cNvSpPr>
          <p:nvPr>
            <p:ph type="title"/>
          </p:nvPr>
        </p:nvSpPr>
        <p:spPr/>
        <p:txBody>
          <a:bodyPr>
            <a:normAutofit/>
          </a:bodyPr>
          <a:lstStyle/>
          <a:p>
            <a:r>
              <a:rPr lang="es-ES" sz="3800" b="1">
                <a:solidFill>
                  <a:srgbClr val="000000"/>
                </a:solidFill>
              </a:rPr>
              <a:t>Integracion con Firebird (Aspel COI)</a:t>
            </a:r>
            <a:endParaRPr lang="es-MX" sz="3800" b="1">
              <a:solidFill>
                <a:srgbClr val="000000"/>
              </a:solidFill>
            </a:endParaRPr>
          </a:p>
        </p:txBody>
      </p:sp>
      <p:sp>
        <p:nvSpPr>
          <p:cNvPr id="3" name="CuadroTexto 2">
            <a:extLst>
              <a:ext uri="{FF2B5EF4-FFF2-40B4-BE49-F238E27FC236}">
                <a16:creationId xmlns:a16="http://schemas.microsoft.com/office/drawing/2014/main" id="{B3A8D8FB-54EF-DCA7-1F2F-0799363845B6}"/>
              </a:ext>
            </a:extLst>
          </p:cNvPr>
          <p:cNvSpPr txBox="1"/>
          <p:nvPr/>
        </p:nvSpPr>
        <p:spPr>
          <a:xfrm>
            <a:off x="635000" y="1460500"/>
            <a:ext cx="11684000" cy="6894195"/>
          </a:xfrm>
          <a:prstGeom prst="rect">
            <a:avLst/>
          </a:prstGeom>
          <a:noFill/>
        </p:spPr>
        <p:txBody>
          <a:bodyPr vert="horz" wrap="square" rtlCol="0">
            <a:spAutoFit/>
          </a:bodyPr>
          <a:lstStyle/>
          <a:p>
            <a:r>
              <a:rPr lang="es-ES" sz="1300">
                <a:latin typeface="Calibri" panose="020F0502020204030204" pitchFamily="34" charset="0"/>
              </a:rPr>
              <a:t>QUE ES FIREBIRD / ASPEL COI?
  Aspel COI es un sistema contable mexicano que guarda sus datos en
  una base de datos Firebird. SummaCham LEE esos datos para mostrar
  los saldos reales de las cuentas contables.
COMO SE CONECTA?
  Archivo de config: datos/firebird-connections.json
  - host: direccion del servidor (127.0.0.1 o remoto)
  - port: 3050 (puerto de Firebird)
  - user: sysdba
  - password: (configurada)
  - database: ruta al archivo .FDB por empresa
TABLAS DE FIREBIRD QUE SE CONSULTAN:
  Por cada ano (ej: 2025) existen tablas separadas:
  - CUENTAS25: Catalogo de cuentas contables del ano 2025
  - SALDOS25: Movimientos mensuales (cargos y abonos) del ano 2025
COMO SE OBTIENEN LOS SALDOS:
  1. Se buscan las cuentas del layout en la tabla CUENTASyy
  2. Se hace LEFT JOIN con SALDOSyy para obtener los movimientos
  3. Cada cuenta tiene 12 columnas de cargo y 12 de abono (una por mes)
  4. Se calcula: Para cuentas Acreedoras -&gt; saldo = abono - cargo
                 Para cuentas Deudoras   -&gt; saldo = cargo - abono
TIMEOUTS:
  - Conexion local: 3 segundos (rapido)
  - Conexion remota: 120 segundos (da mas tiempo por la red)
  - Si es remota: 3 reintentos automaticos
SEGURIDAD:
  - Credenciales en archivo separado (no en codigo)
  - Queries parametrizadas (prevencion de SQL injection)
  - Log de queries lentas (mayores a 2 segundos)</a:t>
            </a:r>
            <a:endParaRPr lang="es-MX" sz="1300">
              <a:latin typeface="Calibri" panose="020F0502020204030204" pitchFamily="34" charset="0"/>
            </a:endParaRPr>
          </a:p>
        </p:txBody>
      </p:sp>
    </p:spTree>
    <p:extLst>
      <p:ext uri="{BB962C8B-B14F-4D97-AF65-F5344CB8AC3E}">
        <p14:creationId xmlns:p14="http://schemas.microsoft.com/office/powerpoint/2010/main" val="2064197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F93CDC-0F5C-E55A-C9F4-98FD9CA55BE8}"/>
              </a:ext>
            </a:extLst>
          </p:cNvPr>
          <p:cNvSpPr>
            <a:spLocks noGrp="1"/>
          </p:cNvSpPr>
          <p:nvPr>
            <p:ph type="title"/>
          </p:nvPr>
        </p:nvSpPr>
        <p:spPr/>
        <p:txBody>
          <a:bodyPr>
            <a:noAutofit/>
          </a:bodyPr>
          <a:lstStyle/>
          <a:p>
            <a:r>
              <a:rPr lang="es-ES" sz="3800" b="1">
                <a:solidFill>
                  <a:srgbClr val="000000"/>
                </a:solidFill>
              </a:rPr>
              <a:t>Query SQL a Firebird - Obtencion de Saldos</a:t>
            </a:r>
            <a:endParaRPr lang="es-MX" sz="3800" b="1">
              <a:solidFill>
                <a:srgbClr val="000000"/>
              </a:solidFill>
            </a:endParaRPr>
          </a:p>
        </p:txBody>
      </p:sp>
      <p:sp>
        <p:nvSpPr>
          <p:cNvPr id="3" name="CuadroTexto 2">
            <a:extLst>
              <a:ext uri="{FF2B5EF4-FFF2-40B4-BE49-F238E27FC236}">
                <a16:creationId xmlns:a16="http://schemas.microsoft.com/office/drawing/2014/main" id="{C61D7AE6-4D8C-3080-B210-80E1070556E0}"/>
              </a:ext>
            </a:extLst>
          </p:cNvPr>
          <p:cNvSpPr txBox="1"/>
          <p:nvPr/>
        </p:nvSpPr>
        <p:spPr>
          <a:xfrm>
            <a:off x="635000" y="1460500"/>
            <a:ext cx="11684000" cy="6370975"/>
          </a:xfrm>
          <a:prstGeom prst="rect">
            <a:avLst/>
          </a:prstGeom>
          <a:noFill/>
        </p:spPr>
        <p:txBody>
          <a:bodyPr vert="horz" wrap="square" rtlCol="0">
            <a:spAutoFit/>
          </a:bodyPr>
          <a:lstStyle/>
          <a:p>
            <a:r>
              <a:rPr lang="es-ES" sz="1200">
                <a:latin typeface="Calibri" panose="020F0502020204030204" pitchFamily="34" charset="0"/>
              </a:rPr>
              <a:t>ESTA ES LA CONSULTA QUE OBTIENE LOS SALDOS DE FIREBIRD:
SELECT
  c.num_cta AS CUENTA,          -- Numero de cuenta: '4100'
  c.nombre  AS NOMBRE,          -- Nombre: 'Membership Renewals'
  c.naturaleza AS NATURALEZA,   -- 'A' = Acreedora, 'D' = Deudora
  s.cargo01, s.abono01,         -- Enero: cargos y abonos
  s.cargo02, s.abono02,         -- Febrero
  ...                           -- (12 meses)
  s.cargo12, s.abono12          -- Diciembre
FROM CUENTAS25 c
LEFT JOIN SALDOS25 s ON s.num_cta = c.num_cta
WHERE c.status = 'A'            -- Solo cuentas activas
  AND c.num_cta IN ('4100', '4200', '5100')  -- Cuentas del layout
DESPUES DE OBTENER LOS DATOS, SE CALCULAN LOS SALDOS:
  Para cuenta ACREEDORA (ingresos: 2xxx, 3xxx, 4xxx):
    saldo del mes = abono - cargo
    Si en enero: abono01=150,000 y cargo01=15,000
    Saldo enero = 150,000 - 15,000 = 135,000
  Para cuenta DEUDORA (gastos: 5xxx-9xxx, activos: 1xxx):
    saldo del mes = cargo - abono
    Si en enero: cargo01=120,000 y abono01=5,000
    Saldo enero = 120,000 - 5,000 = 115,000
RESULTADO FINAL POR CUENTA:
  {
    cuenta: '4100',
    nombre: 'Membership Renewals',
    ene: 135,000,  feb: 108,000, ... dic: 162,000,
    anual: 1,800,000  (suma de todos los meses)
  }</a:t>
            </a:r>
            <a:endParaRPr lang="es-MX" sz="1200">
              <a:latin typeface="Calibri" panose="020F0502020204030204" pitchFamily="34" charset="0"/>
            </a:endParaRPr>
          </a:p>
        </p:txBody>
      </p:sp>
    </p:spTree>
    <p:extLst>
      <p:ext uri="{BB962C8B-B14F-4D97-AF65-F5344CB8AC3E}">
        <p14:creationId xmlns:p14="http://schemas.microsoft.com/office/powerpoint/2010/main" val="2902973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99861-DC23-9750-3368-6000FD4637F0}"/>
              </a:ext>
            </a:extLst>
          </p:cNvPr>
          <p:cNvSpPr>
            <a:spLocks noGrp="1"/>
          </p:cNvSpPr>
          <p:nvPr>
            <p:ph type="title"/>
          </p:nvPr>
        </p:nvSpPr>
        <p:spPr/>
        <p:txBody>
          <a:bodyPr>
            <a:noAutofit/>
          </a:bodyPr>
          <a:lstStyle/>
          <a:p>
            <a:r>
              <a:rPr lang="es-ES" sz="3800" b="1">
                <a:solidFill>
                  <a:srgbClr val="000000"/>
                </a:solidFill>
              </a:rPr>
              <a:t>Sistema de Layouts (Plantillas Contables)</a:t>
            </a:r>
            <a:endParaRPr lang="es-MX" sz="3800" b="1">
              <a:solidFill>
                <a:srgbClr val="000000"/>
              </a:solidFill>
            </a:endParaRPr>
          </a:p>
        </p:txBody>
      </p:sp>
      <p:sp>
        <p:nvSpPr>
          <p:cNvPr id="3" name="CuadroTexto 2">
            <a:extLst>
              <a:ext uri="{FF2B5EF4-FFF2-40B4-BE49-F238E27FC236}">
                <a16:creationId xmlns:a16="http://schemas.microsoft.com/office/drawing/2014/main" id="{55408D91-768E-28AA-7473-977C3D413FDB}"/>
              </a:ext>
            </a:extLst>
          </p:cNvPr>
          <p:cNvSpPr txBox="1"/>
          <p:nvPr/>
        </p:nvSpPr>
        <p:spPr>
          <a:xfrm>
            <a:off x="635000" y="1460500"/>
            <a:ext cx="11684000" cy="6694140"/>
          </a:xfrm>
          <a:prstGeom prst="rect">
            <a:avLst/>
          </a:prstGeom>
          <a:noFill/>
        </p:spPr>
        <p:txBody>
          <a:bodyPr vert="horz" wrap="square" rtlCol="0">
            <a:spAutoFit/>
          </a:bodyPr>
          <a:lstStyle/>
          <a:p>
            <a:r>
              <a:rPr lang="es-ES" sz="1300">
                <a:latin typeface="Calibri" panose="020F0502020204030204" pitchFamily="34" charset="0"/>
              </a:rPr>
              <a:t>QUE ES UN LAYOUT?
  Es una PLANTILLA que define la estructura de un reporte financiero.
  Dice cuales cuentas se muestran, en que orden, y como se calculan los totales.
COMPONENTES DE UN LAYOUT:
  1. CUENTAS (layout_cuentas)
     Son las filas individuales del reporte.
     Ejemplo: cuenta '4100' - 'Membership Renewals'
  2. SECCIONES (layout_secciones)
     Agrupan las cuentas en bloques logicos.
     Ejemplo: 'Income (CDMX)' agrupa todas las cuentas de ingreso de CDMX
  3. OPERACIONES (layout_operaciones)
     Son filas de CALCULO que suman, restan o combinan cuentas/secciones.
     Ejemplo: 'Total Income' = suma de todas las cuentas en 'Income (CDMX)'
CADA LAYOUT ES ESPECIFICO POR:
  - Empresa (empresa1, empresa2...)
  - Modulo (RESUMEN, RH, Finanzas...)
  - Ano (2024, 2025, 2026...)
  - Capitulo (CDMX, GDL, MTY, QRO, DEFAULT)
GESTOR DE PLANTILLAS (plantillas.html):
  Interfaz visual para administrar los layouts:
  - Crear, editar y eliminar cuentas y operaciones
  - Importar estructura desde archivos Excel
  - Exportar a JSON
  - Clonar layouts de un ano a otro
  - Reordenar cuentas con drag-and-drop
  - Diagnosticar problemas en formulas
  - Registro de cambios (bitacora)</a:t>
            </a:r>
            <a:endParaRPr lang="es-MX" sz="1300">
              <a:latin typeface="Calibri" panose="020F0502020204030204" pitchFamily="34" charset="0"/>
            </a:endParaRPr>
          </a:p>
        </p:txBody>
      </p:sp>
    </p:spTree>
    <p:extLst>
      <p:ext uri="{BB962C8B-B14F-4D97-AF65-F5344CB8AC3E}">
        <p14:creationId xmlns:p14="http://schemas.microsoft.com/office/powerpoint/2010/main" val="491062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E067E4-982D-5509-58F8-5BBAEF99CDE3}"/>
              </a:ext>
            </a:extLst>
          </p:cNvPr>
          <p:cNvSpPr>
            <a:spLocks noGrp="1"/>
          </p:cNvSpPr>
          <p:nvPr>
            <p:ph type="title"/>
          </p:nvPr>
        </p:nvSpPr>
        <p:spPr/>
        <p:txBody>
          <a:bodyPr>
            <a:normAutofit fontScale="90000"/>
          </a:bodyPr>
          <a:lstStyle/>
          <a:p>
            <a:r>
              <a:rPr lang="es-MX" sz="3800" b="1">
                <a:solidFill>
                  <a:srgbClr val="000000"/>
                </a:solidFill>
              </a:rPr>
              <a:t>Algoritmo: Operaciones Consolidadas</a:t>
            </a:r>
          </a:p>
        </p:txBody>
      </p:sp>
      <p:sp>
        <p:nvSpPr>
          <p:cNvPr id="3" name="CuadroTexto 2">
            <a:extLst>
              <a:ext uri="{FF2B5EF4-FFF2-40B4-BE49-F238E27FC236}">
                <a16:creationId xmlns:a16="http://schemas.microsoft.com/office/drawing/2014/main" id="{F49BE584-7A91-23E5-CC68-5D09A6CAD35D}"/>
              </a:ext>
            </a:extLst>
          </p:cNvPr>
          <p:cNvSpPr txBox="1"/>
          <p:nvPr/>
        </p:nvSpPr>
        <p:spPr>
          <a:xfrm>
            <a:off x="635000" y="1460500"/>
            <a:ext cx="11684000" cy="7294305"/>
          </a:xfrm>
          <a:prstGeom prst="rect">
            <a:avLst/>
          </a:prstGeom>
          <a:noFill/>
        </p:spPr>
        <p:txBody>
          <a:bodyPr vert="horz" wrap="square" rtlCol="0">
            <a:spAutoFit/>
          </a:bodyPr>
          <a:lstStyle/>
          <a:p>
            <a:r>
              <a:rPr lang="es-ES" sz="1200">
                <a:latin typeface="Calibri" panose="020F0502020204030204" pitchFamily="34" charset="0"/>
              </a:rPr>
              <a:t>QUE SON LAS OPERACIONES CONSOLIDADAS?
  Son calculos que suman TODAS las secciones del mismo tipo.
  Ejemplo: "CONSOLIDATED INCOME" = suma de Income de todas las ciudades.
COMO FUNCIONA LA AUTO-CONSTRUCCION:
  PASO 1: Detectar operaciones consolidadas
    El sistema busca operaciones cuyo nombre contenga:
    - "CONSOLIDATED" o "CONSOLIDADO" o "TOTAL"
    - + "INCOME" o "EXPENSE" o "INGRESO" o "GASTO"
    Si encuentra "CONSOLIDATED INCOME" -&gt; sabe que debe sumar todo el income
  PASO 2: Buscar secciones relevantes
    Recorre todas las cuentas del layout y encuentra las secciones:
    - Income (CDMX)
    - Income (Guadalajara)
    - Income (Monterrey)
    - Income (Queretaro)    &lt;- Si se agrego una ciudad nueva, SE DETECTA SOLA
  PASO 3: Construir la formula automaticamente
    CONSOLIDATED INCOME =
      + Income (CDMX)
      + Income (Guadalajara)
      + Income (Monterrey)
      + Income (Queretaro)
  PASO 4: Guardar la formula en base de datos
    Se guarda como JSON en layout_operaciones.formula_json
VENTAJA PRINCIPAL:
  Si agregas una nueva seccion (ej: Income (Merida)), el sistema
  la detecta AUTOMATICAMENTE y la incluye en el consolidado.
  No necesitas editar manualmente ninguna formula.
CALCULO RECURSIVO:
  NET INCOME = CONSOLIDATED INCOME - CONSOLIDATED EXPENSE
  Primero calcula INCOME, luego EXPENSE, luego resta.
  Las operaciones pueden referirse a otras operaciones (recursion).</a:t>
            </a:r>
            <a:endParaRPr lang="es-MX" sz="1200">
              <a:latin typeface="Calibri" panose="020F0502020204030204" pitchFamily="34" charset="0"/>
            </a:endParaRPr>
          </a:p>
        </p:txBody>
      </p:sp>
    </p:spTree>
    <p:extLst>
      <p:ext uri="{BB962C8B-B14F-4D97-AF65-F5344CB8AC3E}">
        <p14:creationId xmlns:p14="http://schemas.microsoft.com/office/powerpoint/2010/main" val="3157931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FE8519-356D-D99F-059D-E3A70D7983AB}"/>
              </a:ext>
            </a:extLst>
          </p:cNvPr>
          <p:cNvSpPr>
            <a:spLocks noGrp="1"/>
          </p:cNvSpPr>
          <p:nvPr>
            <p:ph type="title"/>
          </p:nvPr>
        </p:nvSpPr>
        <p:spPr/>
        <p:txBody>
          <a:bodyPr>
            <a:noAutofit/>
          </a:bodyPr>
          <a:lstStyle/>
          <a:p>
            <a:r>
              <a:rPr lang="es-ES" sz="3800" b="1">
                <a:solidFill>
                  <a:srgbClr val="000000"/>
                </a:solidFill>
              </a:rPr>
              <a:t>Motor de Calculo - Como se calculan los totales</a:t>
            </a:r>
            <a:endParaRPr lang="es-MX" sz="3800" b="1">
              <a:solidFill>
                <a:srgbClr val="000000"/>
              </a:solidFill>
            </a:endParaRPr>
          </a:p>
        </p:txBody>
      </p:sp>
      <p:sp>
        <p:nvSpPr>
          <p:cNvPr id="3" name="CuadroTexto 2">
            <a:extLst>
              <a:ext uri="{FF2B5EF4-FFF2-40B4-BE49-F238E27FC236}">
                <a16:creationId xmlns:a16="http://schemas.microsoft.com/office/drawing/2014/main" id="{A759563B-3BC9-21A6-1381-3CBE233C963F}"/>
              </a:ext>
            </a:extLst>
          </p:cNvPr>
          <p:cNvSpPr txBox="1"/>
          <p:nvPr/>
        </p:nvSpPr>
        <p:spPr>
          <a:xfrm>
            <a:off x="635000" y="1460500"/>
            <a:ext cx="11684000" cy="8217634"/>
          </a:xfrm>
          <a:prstGeom prst="rect">
            <a:avLst/>
          </a:prstGeom>
          <a:noFill/>
        </p:spPr>
        <p:txBody>
          <a:bodyPr vert="horz" wrap="square" rtlCol="0">
            <a:spAutoFit/>
          </a:bodyPr>
          <a:lstStyle/>
          <a:p>
            <a:r>
              <a:rPr lang="es-MX" sz="1200">
                <a:latin typeface="Calibri" panose="020F0502020204030204" pitchFamily="34" charset="0"/>
              </a:rPr>
              <a:t>Cada operacion tiene una "formula" compuesta por "terminos":
  formula_terms = [
    { operator: '+', type: 'section', value: 'Income (CDMX)' },
    { operator: '+', type: 'cuenta',  value: '4100' },
    { operator: '-', type: 'operation', value: 'CONSOLIDATED EXPENSE' }
  ]
TIPOS DE TERMINOS:
  1. type: 'section' -&gt; Suma TODAS las cuentas de esa seccion
     Ejemplo: 'Income (CDMX)' suma cuentas 4100 + 4200 + 4300
  2. type: 'cuenta' -&gt; Usa el valor de UNA cuenta especifica
     Ejemplo: '4100' toma solo el valor de esa cuenta
  3. type: 'operation' -&gt; Usa el resultado de OTRA operacion (RECURSION)
     Ejemplo: 'CONSOLIDATED EXPENSE' calcula primero esa operacion
OPERADORES:
  '+' suma el valor al resultado
  '-' resta el valor del resultado
EJEMPLO COMPLETO:
  Operacion: NET INCOME (Resultado Neto)
  Formula: CONSOLIDATED INCOME - CONSOLIDATED EXPENSE
  Paso 1: Calcular CONSOLIDATED INCOME
    Income (CDMX) = 4100(150K) + 4200(80K) + 4300(60K) = 290K
    Income (GDL)  = 4100(100K) + 4200(50K)              = 150K
    TOTAL INCOME = 290K + 150K = 440K
  Paso 2: Calcular CONSOLIDATED EXPENSE
    Expense (CDMX) = 5100(120K) + 5200(80K) = 200K
    Expense (GDL)  = 5100(90K)  + 5200(60K) = 150K
    TOTAL EXPENSE = 200K + 150K = 350K
  Paso 3: Calcular NET INCOME
    NET INCOME = 440K - 350K = 90K
PROTECCIONES:
  - Cache de operaciones ya calculadas (no recalcular)
  - Deteccion de dependencias circulares (evitar loops infinitos)</a:t>
            </a:r>
          </a:p>
        </p:txBody>
      </p:sp>
    </p:spTree>
    <p:extLst>
      <p:ext uri="{BB962C8B-B14F-4D97-AF65-F5344CB8AC3E}">
        <p14:creationId xmlns:p14="http://schemas.microsoft.com/office/powerpoint/2010/main" val="2230466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DB1933-76BF-C3D4-9F44-15DC7F3B45FE}"/>
              </a:ext>
            </a:extLst>
          </p:cNvPr>
          <p:cNvSpPr>
            <a:spLocks noGrp="1"/>
          </p:cNvSpPr>
          <p:nvPr>
            <p:ph type="title"/>
          </p:nvPr>
        </p:nvSpPr>
        <p:spPr/>
        <p:txBody>
          <a:bodyPr>
            <a:normAutofit/>
          </a:bodyPr>
          <a:lstStyle/>
          <a:p>
            <a:r>
              <a:rPr lang="es-MX" sz="3800" b="1">
                <a:solidFill>
                  <a:srgbClr val="000000"/>
                </a:solidFill>
              </a:rPr>
              <a:t>Modulos del Sistema</a:t>
            </a:r>
          </a:p>
        </p:txBody>
      </p:sp>
      <p:sp>
        <p:nvSpPr>
          <p:cNvPr id="3" name="CuadroTexto 2">
            <a:extLst>
              <a:ext uri="{FF2B5EF4-FFF2-40B4-BE49-F238E27FC236}">
                <a16:creationId xmlns:a16="http://schemas.microsoft.com/office/drawing/2014/main" id="{D77223E1-5FC7-C2A5-05DE-E9E959478B6C}"/>
              </a:ext>
            </a:extLst>
          </p:cNvPr>
          <p:cNvSpPr txBox="1"/>
          <p:nvPr/>
        </p:nvSpPr>
        <p:spPr>
          <a:xfrm>
            <a:off x="635000" y="1460500"/>
            <a:ext cx="11684000" cy="6694140"/>
          </a:xfrm>
          <a:prstGeom prst="rect">
            <a:avLst/>
          </a:prstGeom>
          <a:noFill/>
        </p:spPr>
        <p:txBody>
          <a:bodyPr vert="horz" wrap="square" rtlCol="0">
            <a:spAutoFit/>
          </a:bodyPr>
          <a:lstStyle/>
          <a:p>
            <a:r>
              <a:rPr lang="es-ES" sz="1300">
                <a:latin typeface="Calibri" panose="020F0502020204030204" pitchFamily="34" charset="0"/>
              </a:rPr>
              <a:t>MODULOS OPERATIVOS (cada uno maneja presupuesto de un area):
  1. RH (Recursos Humanos)        - Nomina, salarios, prestaciones
  2. Finanzas                     - Ingresos y gastos financieros
  3. Gastos Generales             - Gastos administrativos, servicios
  4. Nomina                       - Detalle de nomina por empleado
  5. VPE (Vicepresidencia)        - Gastos de direccion
  6. T&amp;IC (Tecnologia)            - Presupuesto de TI
  7. Eventos                      - Ingresos y gastos de eventos
  8. Membresia                    - Ingresos por membresias
  9. Servicios Membresia          - Servicios adicionales a miembros
MODULOS CONSOLIDADOS (agrupan datos de todos los modulos):
  10. RESUMEN   - Consolidado de todos los modulos (espanol)
  11. SUMMARY   - Resumen ejecutivo (ingles)
  12. PRESUPUESTOS - Gestion centralizada y aprobaciones
CADA MODULO TIENE:
  - Sus propias cuentas contables (layout_cuentas)
  - Sus propias operaciones de calculo (layout_operaciones)
  - Su propio estado de aprobacion (sin-cargar -&gt; cargado -&gt; revisado -&gt; aprobado)
  - Borradores de guardado automatico
  - Comentarios en celdas especificas
  - Permisos independientes por usuario
  - Exportacion a Excel
INTERFACES ADICIONALES:
  - Graficas: Visualizaciones interactivas con Chart.js
  - Gestor de Plantillas: Administracion de layouts
  - Configuracion Firebird: Conexiones a bases de datos
  - Perfil: Informacion del usuario y cambio de contrasena
  - Usuarios: CRUD de usuarios y asignacion de permisos</a:t>
            </a:r>
            <a:endParaRPr lang="es-MX" sz="1300">
              <a:latin typeface="Calibri" panose="020F0502020204030204" pitchFamily="34" charset="0"/>
            </a:endParaRPr>
          </a:p>
        </p:txBody>
      </p:sp>
    </p:spTree>
    <p:extLst>
      <p:ext uri="{BB962C8B-B14F-4D97-AF65-F5344CB8AC3E}">
        <p14:creationId xmlns:p14="http://schemas.microsoft.com/office/powerpoint/2010/main" val="2891658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5D48BF-4D4B-488A-47DF-AB6371EB54A1}"/>
              </a:ext>
            </a:extLst>
          </p:cNvPr>
          <p:cNvSpPr>
            <a:spLocks noGrp="1"/>
          </p:cNvSpPr>
          <p:nvPr>
            <p:ph type="title"/>
          </p:nvPr>
        </p:nvSpPr>
        <p:spPr/>
        <p:txBody>
          <a:bodyPr>
            <a:normAutofit/>
          </a:bodyPr>
          <a:lstStyle/>
          <a:p>
            <a:r>
              <a:rPr lang="es-ES" sz="3800" b="1">
                <a:solidFill>
                  <a:srgbClr val="000000"/>
                </a:solidFill>
              </a:rPr>
              <a:t>Flujo de Aprobacion de Presupuestos</a:t>
            </a:r>
            <a:endParaRPr lang="es-MX" sz="3800" b="1">
              <a:solidFill>
                <a:srgbClr val="000000"/>
              </a:solidFill>
            </a:endParaRPr>
          </a:p>
        </p:txBody>
      </p:sp>
      <p:sp>
        <p:nvSpPr>
          <p:cNvPr id="3" name="CuadroTexto 2">
            <a:extLst>
              <a:ext uri="{FF2B5EF4-FFF2-40B4-BE49-F238E27FC236}">
                <a16:creationId xmlns:a16="http://schemas.microsoft.com/office/drawing/2014/main" id="{AB9BA601-F9D8-8340-C047-B76211D55C2B}"/>
              </a:ext>
            </a:extLst>
          </p:cNvPr>
          <p:cNvSpPr txBox="1"/>
          <p:nvPr/>
        </p:nvSpPr>
        <p:spPr>
          <a:xfrm>
            <a:off x="635000" y="1460500"/>
            <a:ext cx="11684000" cy="7894469"/>
          </a:xfrm>
          <a:prstGeom prst="rect">
            <a:avLst/>
          </a:prstGeom>
          <a:noFill/>
        </p:spPr>
        <p:txBody>
          <a:bodyPr vert="horz" wrap="square" rtlCol="0">
            <a:spAutoFit/>
          </a:bodyPr>
          <a:lstStyle/>
          <a:p>
            <a:r>
              <a:rPr lang="es-ES" sz="1300">
                <a:latin typeface="Calibri" panose="020F0502020204030204" pitchFamily="34" charset="0"/>
              </a:rPr>
              <a:t>Cada presupuesto pasa por 4 estados en orden:
  SIN CARGAR  --&gt;  CARGADO  --&gt;  REVISADO  --&gt;  APROBADO
EJEMPLO DE FLUJO REAL:
  PASO 1: Maria (Analista Financiero)
    Permiso: Lectura + Cargar y guardar
    - Ingresa los datos del presupuesto de RH 2025
    - Guarda los cambios
    - Estado cambia: SIN CARGAR -&gt; CARGADO
  PASO 2: Juan (Supervisor)
    Permiso: Lectura + Revisar
    - Revisa los datos que ingreso Maria
    - Valida que los numeros esten correctos
    - Marca como "Revisado"
    - Estado cambia: CARGADO -&gt; REVISADO
  PASO 3: Karla (Directora)
    Permiso: Lectura + Aprobar
    - Revisa el presupuesto ya revisado
    - Da su aprobacion final
    - Estado cambia: REVISADO -&gt; APROBADO
NOTIFICACIONES AUTOMATICAS:
  - Cuando cambia el estado, se notifica a los usuarios involucrados
  - Si hay comentarios en celdas, se notifica al responsable
AUDITORIA COMPLETA:
  Cada cambio de estado se registra en presupuestos_estado_historial:
  - Quien lo cambio
  - Cuando lo cambio
  - De que estado a que estado
API:
  POST /api/presupuestos/estado  -&gt; Cambiar estado
  GET /api/presupuestos/estado/:empresa/:modulo/:anio  -&gt; Ver estado actual
  GET /api/presupuestos/historial/:empresa/:modulo/:anio  -&gt; Ver historial</a:t>
            </a:r>
            <a:endParaRPr lang="es-MX" sz="1300">
              <a:latin typeface="Calibri" panose="020F0502020204030204" pitchFamily="34" charset="0"/>
            </a:endParaRPr>
          </a:p>
        </p:txBody>
      </p:sp>
    </p:spTree>
    <p:extLst>
      <p:ext uri="{BB962C8B-B14F-4D97-AF65-F5344CB8AC3E}">
        <p14:creationId xmlns:p14="http://schemas.microsoft.com/office/powerpoint/2010/main" val="854200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83366F-8C6F-FE66-9BBA-96AA4BCA0A9E}"/>
              </a:ext>
            </a:extLst>
          </p:cNvPr>
          <p:cNvSpPr>
            <a:spLocks noGrp="1"/>
          </p:cNvSpPr>
          <p:nvPr>
            <p:ph type="title"/>
          </p:nvPr>
        </p:nvSpPr>
        <p:spPr/>
        <p:txBody>
          <a:bodyPr>
            <a:normAutofit/>
          </a:bodyPr>
          <a:lstStyle/>
          <a:p>
            <a:r>
              <a:rPr lang="es-MX" sz="3800" b="1">
                <a:solidFill>
                  <a:srgbClr val="000000"/>
                </a:solidFill>
              </a:rPr>
              <a:t>Interfaces de Usuario (Vistas)</a:t>
            </a:r>
          </a:p>
        </p:txBody>
      </p:sp>
      <p:sp>
        <p:nvSpPr>
          <p:cNvPr id="3" name="CuadroTexto 2">
            <a:extLst>
              <a:ext uri="{FF2B5EF4-FFF2-40B4-BE49-F238E27FC236}">
                <a16:creationId xmlns:a16="http://schemas.microsoft.com/office/drawing/2014/main" id="{0619B14D-5F4B-6309-96D3-99280C66B809}"/>
              </a:ext>
            </a:extLst>
          </p:cNvPr>
          <p:cNvSpPr txBox="1"/>
          <p:nvPr/>
        </p:nvSpPr>
        <p:spPr>
          <a:xfrm>
            <a:off x="635000" y="1460500"/>
            <a:ext cx="11684000" cy="5078313"/>
          </a:xfrm>
          <a:prstGeom prst="rect">
            <a:avLst/>
          </a:prstGeom>
          <a:noFill/>
        </p:spPr>
        <p:txBody>
          <a:bodyPr vert="horz" wrap="square" rtlCol="0">
            <a:spAutoFit/>
          </a:bodyPr>
          <a:lstStyle/>
          <a:p>
            <a:r>
              <a:rPr lang="es-MX" sz="1200">
                <a:latin typeface="Calibri" panose="020F0502020204030204" pitchFamily="34" charset="0"/>
              </a:rPr>
              <a:t>VISTA              | ARCHIVO              | QUE HACE
--------------------|----------------------|------------------------------
Login               | login.html           | Autenticacion de usuarios
Panel Principal     | app.html             | Menu lateral, selector empresa
Usuarios            | usuarios.html        | CRUD de usuarios y permisos
Crear Usuario       | crear_usuario.html   | Formulario nuevo/editar usuario
Presupuestos        | Presupuestos.html    | Vista principal de modulos
Modulo (RH, etc.)   | RH.html, etc.        | Carga y edicion de datos
RESUMEN             | RESUMEN.html         | Dashboard consolidado
Graficas            | Graficas-Mejoradas   | Graficas interactivas
Gestor Plantillas   | plantillas.html      | Administracion de layouts
Config Firebird     | firebird-config      | Conexiones a BD contables
Perfil              | perfil.html          | Datos del usuario, password
CARACTERISTICAS COMUNES EN TODAS LAS VISTAS:
  - Bootstrap 5: Diseno responsivo y profesional
  - Font Awesome: Iconos en botones y menus
  - DataTables: Tablas con busqueda, filtros y paginacion
  - SweetAlert2: Notificaciones y dialogos elegantes
  - Guardado automatico: Los datos se guardan como borrador
  - Validacion en tiempo real: Se valida mientras el usuario escribe
  - Indicadores de carga: Spinners mientras se procesan datos
  - Exportacion: A Excel (XLSX) y PDF
COMUNICACION CON EL BACKEND:
  Todas las vistas usan fetch() con credenciales para comunicarse
  con el servidor Express en http://localhost:3005/api/*</a:t>
            </a:r>
          </a:p>
        </p:txBody>
      </p:sp>
    </p:spTree>
    <p:extLst>
      <p:ext uri="{BB962C8B-B14F-4D97-AF65-F5344CB8AC3E}">
        <p14:creationId xmlns:p14="http://schemas.microsoft.com/office/powerpoint/2010/main" val="316912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437A69-F12B-2DF8-CBFC-1C604DB5E07C}"/>
              </a:ext>
            </a:extLst>
          </p:cNvPr>
          <p:cNvSpPr>
            <a:spLocks noGrp="1"/>
          </p:cNvSpPr>
          <p:nvPr>
            <p:ph type="title"/>
          </p:nvPr>
        </p:nvSpPr>
        <p:spPr/>
        <p:txBody>
          <a:bodyPr>
            <a:normAutofit/>
          </a:bodyPr>
          <a:lstStyle/>
          <a:p>
            <a:r>
              <a:rPr lang="es-MX" sz="3800" b="1">
                <a:solidFill>
                  <a:srgbClr val="000000"/>
                </a:solidFill>
              </a:rPr>
              <a:t>Sistema de Backups Automaticos</a:t>
            </a:r>
          </a:p>
        </p:txBody>
      </p:sp>
      <p:sp>
        <p:nvSpPr>
          <p:cNvPr id="3" name="CuadroTexto 2">
            <a:extLst>
              <a:ext uri="{FF2B5EF4-FFF2-40B4-BE49-F238E27FC236}">
                <a16:creationId xmlns:a16="http://schemas.microsoft.com/office/drawing/2014/main" id="{39394F8C-4898-DCBC-50C9-A12DBB80784F}"/>
              </a:ext>
            </a:extLst>
          </p:cNvPr>
          <p:cNvSpPr txBox="1"/>
          <p:nvPr/>
        </p:nvSpPr>
        <p:spPr>
          <a:xfrm>
            <a:off x="635000" y="1460500"/>
            <a:ext cx="11684000" cy="6894195"/>
          </a:xfrm>
          <a:prstGeom prst="rect">
            <a:avLst/>
          </a:prstGeom>
          <a:noFill/>
        </p:spPr>
        <p:txBody>
          <a:bodyPr vert="horz" wrap="square" rtlCol="0">
            <a:spAutoFit/>
          </a:bodyPr>
          <a:lstStyle/>
          <a:p>
            <a:r>
              <a:rPr lang="es-MX" sz="1300">
                <a:latin typeface="Calibri" panose="020F0502020204030204" pitchFamily="34" charset="0"/>
              </a:rPr>
              <a:t>QUE HACE?
  Copia automaticamente la base de datos SQLite a intervalos regulares
  para proteger los datos contra perdida accidental.
COMO FUNCIONA:
  1. Al iniciar la aplicacion, se hace el primer backup
  2. Cada 60 minutos (configurable), se crea otro backup
  3. El backup es una copia exacta de panel.sqlite
  4. Se nombra con fecha y hora: panel.sqlite.bak_20260209_143022
  5. Se guarda en: datos/backups/
  6. Se conservan los ultimos 24 backups (configurable)
  7. Los backups mas antiguos se eliminan automaticamente
CONFIGURACION (variables de entorno):
  BACKUP_ENABLED = true            Activar/desactivar
  BACKUP_INTERVAL_MINUTES = 60     Cada cuantos minutos
  BACKUP_MAX_BACKUPS = 24          Cuantos backups guardar
  BACKUP_PATH = ./datos/backups    Donde guardarlos
VERIFICACION DE INTEGRIDAD:
  Cada backup incluye un checksum SHA256 para verificar
  que la copia no se corrompio.
RESTAURACION:
  Si algo sale mal, se puede restaurar desde un backup:
  POST /api/backups/restaurar/:filename
  - Se crea un .bak de seguridad del archivo actual
  - Se reemplaza panel.sqlite con el backup seleccionado
API:
  POST /api/backups/crear    -&gt; Crear backup manual
  GET  /api/backups/lista    -&gt; Listar backups disponibles
  POST /api/backups/restaurar/:filename -&gt; Restaurar</a:t>
            </a:r>
          </a:p>
        </p:txBody>
      </p:sp>
    </p:spTree>
    <p:extLst>
      <p:ext uri="{BB962C8B-B14F-4D97-AF65-F5344CB8AC3E}">
        <p14:creationId xmlns:p14="http://schemas.microsoft.com/office/powerpoint/2010/main" val="3694962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3CC28-80D0-5DA7-66C4-98E1F321B155}"/>
              </a:ext>
            </a:extLst>
          </p:cNvPr>
          <p:cNvSpPr>
            <a:spLocks noGrp="1"/>
          </p:cNvSpPr>
          <p:nvPr>
            <p:ph type="title"/>
          </p:nvPr>
        </p:nvSpPr>
        <p:spPr/>
        <p:txBody>
          <a:bodyPr>
            <a:normAutofit/>
          </a:bodyPr>
          <a:lstStyle/>
          <a:p>
            <a:r>
              <a:rPr lang="es-MX" sz="3800" b="1">
                <a:solidFill>
                  <a:srgbClr val="000000"/>
                </a:solidFill>
              </a:rPr>
              <a:t>Sistema de Actualizacion Automatica</a:t>
            </a:r>
          </a:p>
        </p:txBody>
      </p:sp>
      <p:sp>
        <p:nvSpPr>
          <p:cNvPr id="3" name="CuadroTexto 2">
            <a:extLst>
              <a:ext uri="{FF2B5EF4-FFF2-40B4-BE49-F238E27FC236}">
                <a16:creationId xmlns:a16="http://schemas.microsoft.com/office/drawing/2014/main" id="{FE26CBBD-F58B-8ED7-A99F-2DBBEFC814D3}"/>
              </a:ext>
            </a:extLst>
          </p:cNvPr>
          <p:cNvSpPr txBox="1"/>
          <p:nvPr/>
        </p:nvSpPr>
        <p:spPr>
          <a:xfrm>
            <a:off x="635000" y="1460500"/>
            <a:ext cx="11684000" cy="6894195"/>
          </a:xfrm>
          <a:prstGeom prst="rect">
            <a:avLst/>
          </a:prstGeom>
          <a:noFill/>
        </p:spPr>
        <p:txBody>
          <a:bodyPr vert="horz" wrap="square" rtlCol="0">
            <a:spAutoFit/>
          </a:bodyPr>
          <a:lstStyle/>
          <a:p>
            <a:r>
              <a:rPr lang="es-ES" sz="1300">
                <a:latin typeface="Calibri" panose="020F0502020204030204" pitchFamily="34" charset="0"/>
              </a:rPr>
              <a:t>COMO SE ACTUALIZA LA APLICACION SIN REINSTALAR?
  1. El usuario abre la app normalmente
  2. Despues de 5 segundos, el sistema verifica en GitHub Releases
     si hay una version mas nueva
  3. Si hay nueva version:
     - Le pregunta al usuario: "Nueva version X.Y.Z disponible. Descargar?"
     - El usuario decide si descargar ahora o mas tarde
  4. Si acepta descargar:
     - Se descarga en segundo plano (no interrumpe el trabajo)
     - Muestra progreso: "Descargando: 45%..."
  5. Cuando termina la descarga:
     - Pregunta: "Reiniciar para instalar?"
     - Si acepta: cierra la app, instala y reinicia
     - Si no acepta: se instala automaticamente cuando cierre la app
  6. Los DATOS DEL USUARIO se conservan (solo se actualiza el programa)
CONFIGURACION IMPORTANTE:
  autoDownload = false   (no descarga sin preguntar)
  autoInstallOnAppQuit = true  (instala al cerrar si hay update)
REQUISITOS PARA PUBLICAR UNA ACTUALIZACION:
  1. Crear un Release en GitHub con estos archivos:
     - SummaCham Setup X.Y.Z.exe (instalador)
     - SummaCham X.Y.Z.exe (portable)
     - latest.yml (archivo de metadatos OBLIGATORIO)
  2. El Release debe ser publico (o tener token configurado)
NOTA: Solo funciona en la app empaquetada (no en modo desarrollo).</a:t>
            </a:r>
            <a:endParaRPr lang="es-MX" sz="1300">
              <a:latin typeface="Calibri" panose="020F0502020204030204" pitchFamily="34" charset="0"/>
            </a:endParaRPr>
          </a:p>
        </p:txBody>
      </p:sp>
    </p:spTree>
    <p:extLst>
      <p:ext uri="{BB962C8B-B14F-4D97-AF65-F5344CB8AC3E}">
        <p14:creationId xmlns:p14="http://schemas.microsoft.com/office/powerpoint/2010/main" val="4091242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BA239-B70D-EA70-E67B-2479C19421A2}"/>
              </a:ext>
            </a:extLst>
          </p:cNvPr>
          <p:cNvSpPr>
            <a:spLocks noGrp="1"/>
          </p:cNvSpPr>
          <p:nvPr>
            <p:ph type="title"/>
          </p:nvPr>
        </p:nvSpPr>
        <p:spPr/>
        <p:txBody>
          <a:bodyPr>
            <a:normAutofit/>
          </a:bodyPr>
          <a:lstStyle/>
          <a:p>
            <a:r>
              <a:rPr lang="es-MX" sz="3800" b="1">
                <a:solidFill>
                  <a:srgbClr val="000000"/>
                </a:solidFill>
              </a:rPr>
              <a:t>Seguridad - Todas las protecciones</a:t>
            </a:r>
          </a:p>
        </p:txBody>
      </p:sp>
      <p:sp>
        <p:nvSpPr>
          <p:cNvPr id="3" name="CuadroTexto 2">
            <a:extLst>
              <a:ext uri="{FF2B5EF4-FFF2-40B4-BE49-F238E27FC236}">
                <a16:creationId xmlns:a16="http://schemas.microsoft.com/office/drawing/2014/main" id="{3CD4007B-144F-CA31-1A98-F8876C331EA8}"/>
              </a:ext>
            </a:extLst>
          </p:cNvPr>
          <p:cNvSpPr txBox="1"/>
          <p:nvPr/>
        </p:nvSpPr>
        <p:spPr>
          <a:xfrm>
            <a:off x="635000" y="1460500"/>
            <a:ext cx="11684000" cy="6924973"/>
          </a:xfrm>
          <a:prstGeom prst="rect">
            <a:avLst/>
          </a:prstGeom>
          <a:noFill/>
        </p:spPr>
        <p:txBody>
          <a:bodyPr vert="horz" wrap="square" rtlCol="0">
            <a:spAutoFit/>
          </a:bodyPr>
          <a:lstStyle/>
          <a:p>
            <a:r>
              <a:rPr lang="es-MX" sz="1200">
                <a:latin typeface="Calibri" panose="020F0502020204030204" pitchFamily="34" charset="0"/>
              </a:rPr>
              <a:t>1. CONTRASENAS: bcrypt con 10 rondas de sal
   Nunca se guardan en texto plano. Nadie puede recuperarlas.
2. TOKENS JWT: Access token (1 hora) + Refresh token (7 dias)
   El access token expira rapido para limitar el dano si se roba.
3. SESIONES: express-session con SQLite store
   Sesion del lado del servidor, cookies httpOnly (no accesibles desde JS).
4. RATE LIMITING: Max 10 intentos cada 10 min, bloqueo 5 min
   Previene ataques de fuerza bruta contra el login.
5. HELMET: Cabeceras HTTP de seguridad automaticas
   X-Content-Type-Options, X-Frame-Options, HSTS, X-XSS-Protection.
6. CORS: Lista blanca de origenes permitidos
   Solo origenes autorizados pueden hacer peticiones al servidor.
7. VALIDACION: Joi verifica todos los datos de entrada
   Previene inyecciones y datos malformados.
8. SQL PARAMETRIZADO: Queries con ? en lugar de concatenacion
   Previene SQL injection tanto en SQLite como en Firebird.
9. COOKIES SEGURAS:
   httpOnly (no accesible desde JS), secure (solo HTTPS en prod),
   sameSite (proteccion CSRF), maxAge (expiracion automatica).
10. AUDITORIA: Se registra TODO
    Intentos de login, cambios de estado, modificaciones a layouts,
    queries lentas. Todo queda en la bitacora.
11. BACKUPS: Copias automaticas cada 60 minutos
    Proteccion contra perdida de datos accidental.
12. SECRETOS: Variables de entorno, no hardcoded
    JWT_SECRET y SESSION_SECRET se generan automaticamente.</a:t>
            </a:r>
          </a:p>
        </p:txBody>
      </p:sp>
    </p:spTree>
    <p:extLst>
      <p:ext uri="{BB962C8B-B14F-4D97-AF65-F5344CB8AC3E}">
        <p14:creationId xmlns:p14="http://schemas.microsoft.com/office/powerpoint/2010/main" val="1434909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5DB49C-4B31-AFA2-3A19-EA6C34B6EB04}"/>
              </a:ext>
            </a:extLst>
          </p:cNvPr>
          <p:cNvSpPr>
            <a:spLocks noGrp="1"/>
          </p:cNvSpPr>
          <p:nvPr>
            <p:ph type="title"/>
          </p:nvPr>
        </p:nvSpPr>
        <p:spPr/>
        <p:txBody>
          <a:bodyPr>
            <a:normAutofit/>
          </a:bodyPr>
          <a:lstStyle/>
          <a:p>
            <a:r>
              <a:rPr lang="es-MX" sz="3800" b="1">
                <a:solidFill>
                  <a:srgbClr val="000000"/>
                </a:solidFill>
              </a:rPr>
              <a:t>Compilacion y Distribucion</a:t>
            </a:r>
          </a:p>
        </p:txBody>
      </p:sp>
      <p:sp>
        <p:nvSpPr>
          <p:cNvPr id="3" name="CuadroTexto 2">
            <a:extLst>
              <a:ext uri="{FF2B5EF4-FFF2-40B4-BE49-F238E27FC236}">
                <a16:creationId xmlns:a16="http://schemas.microsoft.com/office/drawing/2014/main" id="{A305E49E-5470-1264-7F14-71B1E7A9709E}"/>
              </a:ext>
            </a:extLst>
          </p:cNvPr>
          <p:cNvSpPr txBox="1"/>
          <p:nvPr/>
        </p:nvSpPr>
        <p:spPr>
          <a:xfrm>
            <a:off x="635000" y="1460500"/>
            <a:ext cx="11684000" cy="7894469"/>
          </a:xfrm>
          <a:prstGeom prst="rect">
            <a:avLst/>
          </a:prstGeom>
          <a:noFill/>
        </p:spPr>
        <p:txBody>
          <a:bodyPr vert="horz" wrap="square" rtlCol="0">
            <a:spAutoFit/>
          </a:bodyPr>
          <a:lstStyle/>
          <a:p>
            <a:r>
              <a:rPr lang="es-MX" sz="1300">
                <a:latin typeface="Calibri" panose="020F0502020204030204" pitchFamily="34" charset="0"/>
              </a:rPr>
              <a:t>COMO SE COMPILA LA APLICACION:
  1. Instalar dependencias:
     npm install
     npm run rebuild-native-electron
  2. Crear archivos de distribucion:
     npm run dist           -&gt; Crear instalador (NSIS)
     npm run build:portable -&gt; Crear version portable
     npm run build:all      -&gt; Ambos formatos
  3. Archivos generados en ./dist/:
     - SummaCham Setup 4.1.0.exe    (Instalador Windows)
     - SummaCham 4.1.0.exe          (Portable, no requiere instalacion)
     - latest.yml                   (Metadatos para auto-update)
COMO SE PUBLICA:
  1. Crear tag en Git: git tag -a v4.1.0 -m "Release 4.1.0"
  2. Subir tag: git push origin v4.1.0
  3. Crear Release en GitHub y subir los archivos de dist/
  4. Los usuarios existentes reciben notificacion de actualizacion
DOS MODOS DE DISTRIBUCION:
  INSTALADOR (NSIS):
  - Requiere permisos de administrador
  - Se instala en Program Files
  - Crea shortcuts en escritorio y menu
  - Incluye desinstalador
  PORTABLE:
  - No requiere instalacion
  - Ejecutable unico
  - Ideal para USB o pruebas
ELECTRON-BUILDER CONFIGURACION:
  appId: "com.summa.cham.panelamcham"
  Compresion maxima, asar empaquetado
  Publica en GitHub (owner: IustusRenidet, repo: SummaCham)</a:t>
            </a:r>
          </a:p>
        </p:txBody>
      </p:sp>
    </p:spTree>
    <p:extLst>
      <p:ext uri="{BB962C8B-B14F-4D97-AF65-F5344CB8AC3E}">
        <p14:creationId xmlns:p14="http://schemas.microsoft.com/office/powerpoint/2010/main" val="223193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5EE35A-6C12-1508-3A2E-A6488AE494A3}"/>
              </a:ext>
            </a:extLst>
          </p:cNvPr>
          <p:cNvSpPr>
            <a:spLocks noGrp="1"/>
          </p:cNvSpPr>
          <p:nvPr>
            <p:ph type="title"/>
          </p:nvPr>
        </p:nvSpPr>
        <p:spPr/>
        <p:txBody>
          <a:bodyPr>
            <a:normAutofit fontScale="90000"/>
          </a:bodyPr>
          <a:lstStyle/>
          <a:p>
            <a:r>
              <a:rPr lang="es-MX" sz="4800" b="1">
                <a:solidFill>
                  <a:srgbClr val="000000"/>
                </a:solidFill>
              </a:rPr>
              <a:t>SummaCham - PanelAMCHAM</a:t>
            </a:r>
          </a:p>
        </p:txBody>
      </p:sp>
      <p:sp>
        <p:nvSpPr>
          <p:cNvPr id="3" name="CuadroTexto 2">
            <a:extLst>
              <a:ext uri="{FF2B5EF4-FFF2-40B4-BE49-F238E27FC236}">
                <a16:creationId xmlns:a16="http://schemas.microsoft.com/office/drawing/2014/main" id="{69E5BE0B-60FF-B7A7-742D-5DA4A64CFA70}"/>
              </a:ext>
            </a:extLst>
          </p:cNvPr>
          <p:cNvSpPr txBox="1"/>
          <p:nvPr/>
        </p:nvSpPr>
        <p:spPr>
          <a:xfrm>
            <a:off x="1270000" y="1905000"/>
            <a:ext cx="10160000" cy="523220"/>
          </a:xfrm>
          <a:prstGeom prst="rect">
            <a:avLst/>
          </a:prstGeom>
          <a:noFill/>
        </p:spPr>
        <p:txBody>
          <a:bodyPr vert="horz" wrap="square" rtlCol="0">
            <a:spAutoFit/>
          </a:bodyPr>
          <a:lstStyle/>
          <a:p>
            <a:r>
              <a:rPr lang="es-MX" sz="2800" b="1">
                <a:latin typeface="Calibri" panose="020F0502020204030204" pitchFamily="34" charset="0"/>
              </a:rPr>
              <a:t>Resumen de Fortalezas</a:t>
            </a:r>
          </a:p>
        </p:txBody>
      </p:sp>
      <p:sp>
        <p:nvSpPr>
          <p:cNvPr id="4" name="CuadroTexto 3">
            <a:extLst>
              <a:ext uri="{FF2B5EF4-FFF2-40B4-BE49-F238E27FC236}">
                <a16:creationId xmlns:a16="http://schemas.microsoft.com/office/drawing/2014/main" id="{57CDA040-91E6-F397-7DC3-6B55B5A0B6E3}"/>
              </a:ext>
            </a:extLst>
          </p:cNvPr>
          <p:cNvSpPr txBox="1"/>
          <p:nvPr/>
        </p:nvSpPr>
        <p:spPr>
          <a:xfrm>
            <a:off x="1016000" y="2667000"/>
            <a:ext cx="10922000" cy="2400657"/>
          </a:xfrm>
          <a:prstGeom prst="rect">
            <a:avLst/>
          </a:prstGeom>
          <a:noFill/>
        </p:spPr>
        <p:txBody>
          <a:bodyPr vert="horz" wrap="square" rtlCol="0">
            <a:spAutoFit/>
          </a:bodyPr>
          <a:lstStyle/>
          <a:p>
            <a:r>
              <a:rPr lang="es-ES" sz="1500">
                <a:latin typeface="Calibri" panose="020F0502020204030204" pitchFamily="34" charset="0"/>
              </a:rPr>
              <a:t>  Arquitectura en capas bien definida (Presentacion, Controladores, Middleware, Servicios, Datos)
  Sistema de permisos granular: usuario -&gt; empresa -&gt; modulo -&gt; accion
  Seguridad multicapa: bcrypt, JWT, rate limiting, helmet, CORS, validacion
  Integracion dual: SQLite (config local) + Firebird (datos contables)
  Algoritmos inteligentes: operaciones consolidadas auto-construidas
  Multi-usuario real: sesiones independientes, trabajo colaborativo
  Auto-actualizacion sin downtime via GitHub Releases
  Backups automaticos con verificacion de integridad
  Flujo de aprobacion: cargar -&gt; revisar -&gt; aprobar con auditoria completa
  Graficas interactivas exportables a imagen, Excel y PDF</a:t>
            </a:r>
            <a:endParaRPr lang="es-MX" sz="1500">
              <a:latin typeface="Calibri" panose="020F0502020204030204" pitchFamily="34" charset="0"/>
            </a:endParaRPr>
          </a:p>
        </p:txBody>
      </p:sp>
      <p:sp>
        <p:nvSpPr>
          <p:cNvPr id="5" name="CuadroTexto 4">
            <a:extLst>
              <a:ext uri="{FF2B5EF4-FFF2-40B4-BE49-F238E27FC236}">
                <a16:creationId xmlns:a16="http://schemas.microsoft.com/office/drawing/2014/main" id="{6F3260BD-8B63-6053-6308-6DFE4B7C6D9B}"/>
              </a:ext>
            </a:extLst>
          </p:cNvPr>
          <p:cNvSpPr txBox="1"/>
          <p:nvPr/>
        </p:nvSpPr>
        <p:spPr>
          <a:xfrm>
            <a:off x="1905000" y="5842000"/>
            <a:ext cx="8890000" cy="369332"/>
          </a:xfrm>
          <a:prstGeom prst="rect">
            <a:avLst/>
          </a:prstGeom>
          <a:noFill/>
        </p:spPr>
        <p:txBody>
          <a:bodyPr vert="horz" wrap="square" rtlCol="0">
            <a:spAutoFit/>
          </a:bodyPr>
          <a:lstStyle/>
          <a:p>
            <a:r>
              <a:rPr lang="es-MX" sz="1800" b="1">
                <a:latin typeface="Calibri" panose="020F0502020204030204" pitchFamily="34" charset="0"/>
              </a:rPr>
              <a:t>Version 4.1.0 | Febrero 2026</a:t>
            </a:r>
          </a:p>
        </p:txBody>
      </p:sp>
      <p:sp>
        <p:nvSpPr>
          <p:cNvPr id="6" name="CuadroTexto 5">
            <a:extLst>
              <a:ext uri="{FF2B5EF4-FFF2-40B4-BE49-F238E27FC236}">
                <a16:creationId xmlns:a16="http://schemas.microsoft.com/office/drawing/2014/main" id="{66715561-DE06-694F-3519-C494901FB390}"/>
              </a:ext>
            </a:extLst>
          </p:cNvPr>
          <p:cNvSpPr txBox="1"/>
          <p:nvPr/>
        </p:nvSpPr>
        <p:spPr>
          <a:xfrm>
            <a:off x="1905000" y="6286500"/>
            <a:ext cx="8890000" cy="338554"/>
          </a:xfrm>
          <a:prstGeom prst="rect">
            <a:avLst/>
          </a:prstGeom>
          <a:noFill/>
        </p:spPr>
        <p:txBody>
          <a:bodyPr vert="horz" wrap="square" rtlCol="0">
            <a:spAutoFit/>
          </a:bodyPr>
          <a:lstStyle/>
          <a:p>
            <a:r>
              <a:rPr lang="es-MX" sz="1600">
                <a:latin typeface="Calibri" panose="020F0502020204030204" pitchFamily="34" charset="0"/>
              </a:rPr>
              <a:t>Desarrollado por: Iustus Renidet &amp; J02V4N</a:t>
            </a:r>
          </a:p>
        </p:txBody>
      </p:sp>
    </p:spTree>
    <p:extLst>
      <p:ext uri="{BB962C8B-B14F-4D97-AF65-F5344CB8AC3E}">
        <p14:creationId xmlns:p14="http://schemas.microsoft.com/office/powerpoint/2010/main" val="21722021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8219</Words>
  <Application>Microsoft Office PowerPoint</Application>
  <PresentationFormat>Presentación en pantalla (16:10)</PresentationFormat>
  <Paragraphs>86</Paragraphs>
  <Slides>30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Aptos Display</vt:lpstr>
      <vt:lpstr>Arial</vt:lpstr>
      <vt:lpstr>Calibri</vt:lpstr>
      <vt:lpstr>Consolas</vt:lpstr>
      <vt:lpstr>Tema de Office</vt:lpstr>
      <vt:lpstr>SummaCham - PanelAMCHAM</vt:lpstr>
      <vt:lpstr>Que es SummaCham?</vt:lpstr>
      <vt:lpstr>Contenido de esta Presentacion</vt:lpstr>
      <vt:lpstr>Tecnologias: Frontend (lo que ve el usuario)</vt:lpstr>
      <vt:lpstr>Tecnologias: Backend (lo que no ve el usuario)</vt:lpstr>
      <vt:lpstr>Organizacion del Proyecto</vt:lpstr>
      <vt:lpstr>Arquitectura: Como se comunican las partes</vt:lpstr>
      <vt:lpstr>Arquitectura en Capas</vt:lpstr>
      <vt:lpstr>Como Funciona el Login (paso a paso)</vt:lpstr>
      <vt:lpstr>Cookies y Sesiones - Como se mantiene la sesion</vt:lpstr>
      <vt:lpstr>Rate Limiting - Proteccion contra ataques</vt:lpstr>
      <vt:lpstr>Sistema de Permisos - Quien puede hacer que</vt:lpstr>
      <vt:lpstr>Como se Validan los Permisos</vt:lpstr>
      <vt:lpstr>Base de Datos SQLite - Tablas Principales</vt:lpstr>
      <vt:lpstr>Tabla: usuarios - Cada columna explicada</vt:lpstr>
      <vt:lpstr>Tabla: permisos_modulo - Permisos detallados</vt:lpstr>
      <vt:lpstr>Tabla: layout_cuentas - Estructura contable</vt:lpstr>
      <vt:lpstr>Integracion con Firebird (Aspel COI)</vt:lpstr>
      <vt:lpstr>Query SQL a Firebird - Obtencion de Saldos</vt:lpstr>
      <vt:lpstr>Sistema de Layouts (Plantillas Contables)</vt:lpstr>
      <vt:lpstr>Algoritmo: Operaciones Consolidadas</vt:lpstr>
      <vt:lpstr>Motor de Calculo - Como se calculan los totales</vt:lpstr>
      <vt:lpstr>Modulos del Sistema</vt:lpstr>
      <vt:lpstr>Flujo de Aprobacion de Presupuestos</vt:lpstr>
      <vt:lpstr>Interfaces de Usuario (Vistas)</vt:lpstr>
      <vt:lpstr>Sistema de Backups Automaticos</vt:lpstr>
      <vt:lpstr>Sistema de Actualizacion Automatica</vt:lpstr>
      <vt:lpstr>Seguridad - Todas las protecciones</vt:lpstr>
      <vt:lpstr>Compilacion y Distribucion</vt:lpstr>
      <vt:lpstr>SummaCham - PanelAMCHAM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sophie guevara</dc:creator>
  <cp:lastModifiedBy>sophie guevara</cp:lastModifiedBy>
  <cp:revision>1</cp:revision>
  <dcterms:created xsi:type="dcterms:W3CDTF">2026-02-09T15:23:45Z</dcterms:created>
  <dcterms:modified xsi:type="dcterms:W3CDTF">2026-02-09T15:23:45Z</dcterms:modified>
</cp:coreProperties>
</file>