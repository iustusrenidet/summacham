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7DCC1-C174-4D5E-95A4-207FC2BB90A0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6186D-771A-468E-B61B-B41604E1D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6762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70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174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68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1929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4268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3697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047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0927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6376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0523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6907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8721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1846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1070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8216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2711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9002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1069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3527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7733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3884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9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2361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5973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55030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86843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2828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60689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95455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56292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1700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4212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84649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38979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28877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95163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3914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6186D-771A-468E-B61B-B41604E1D98A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7445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887FB-7B86-6B0F-90CE-E7C9C7A6B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8DAA98-B7FE-78AA-3259-5D0519E6A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2C255-D59B-54AB-A5AA-E7B4D3E2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0450F5-4395-BF51-97E9-D072D7D4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86B590-8E44-94FC-A0FF-0DEF477F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92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3E1F4-913A-ABBB-0D32-80F21423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E69D6B-90D9-3FD2-C1C4-20A25E55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655A33-0980-F330-B784-8A5C6F44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FB10B-6776-A343-A66C-B0C40BD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26C18E-2A4C-C744-BF0A-36542F6B9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818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7C217-8874-51F8-CAE4-01B15CE0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AEE968-2E83-79CB-CEDD-AC7E8FD66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4F3B3C-B75B-17FC-2B12-EEE714BC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5C4C4F-AF5B-E31A-63CA-4E5D02DF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B2E11E-0575-4EBA-3746-89475A97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466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A555-E65F-ADA2-AC38-FF0E096A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1A7726-CDE8-7D12-A27C-2E78349FE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BB06F9-9A69-DFAB-CB42-9A29A0297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BB6C7-C96B-48F0-90C0-C9D4AADA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048D62-A41F-E2B7-6326-2587E023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BAD866-937F-03EB-8D0F-8A06EB44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850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51C4E-F678-5F7C-1D59-600B690A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AB8F7-39EF-2122-71DB-DE73CBD85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4E8C60-75E4-9385-E342-4AEEE7D0A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279E4E-F477-61E2-3885-F65CD586B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806E3-97B7-1447-E2E5-5F24F2537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2F3B5E-1EB2-558F-7B0B-9D33C8F1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A92444-FF25-0728-FEFC-4A89B44D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EC2C21-E023-44A8-6D49-191A3DFD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323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9E0AA-E049-5C55-2B94-656F1179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1FC187-339A-80B2-2024-C3017969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3B4CE7-27FB-5BAD-BB86-0F8E08BC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1789F0-8F36-0BBE-ADA9-EE19E868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943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303B84-797E-74B3-2988-EEB024A2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30C754-4291-70E3-1E5B-FEF4CF5A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172C9E-0312-6E38-1E7B-FFE61C78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728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F0C79-2AFE-052B-0F2B-A6E349F5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20C8A9-978A-7FC8-AB73-70E914C1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575EAD-1E4B-3095-BF13-91754FCCA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8A7385-1622-98C0-6FD3-448E0984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048249-A3E2-A58F-7FF4-6BEF9786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5D8464-39B4-9040-8373-AAAF2DC2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265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14DF7-45CF-E690-F269-AFB706D3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EA3F2A-BED1-8A6B-D74D-09CE163E4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653F05-4BB2-4B9F-8275-96E8BCF20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BF82C5-7A2F-38D5-8184-45D1ADC2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18C408-2FCE-58B0-A76A-9B83D761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76608C-F8D0-2CFE-C676-3DD2EA0C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825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EBD7F-41FE-226F-58C0-F2610A12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B8827A-955C-9D42-0B12-305456810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A99306-5828-997E-30CD-6D071874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5CBA80-2610-246A-974C-D96754F2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4FBBB7-3EF9-D82E-0E49-2FCE7595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132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7ED414-EFCD-496C-FF72-EF7B37EA0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32B88D-4671-ACC4-524E-6A879123E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53C397-2DFC-7EA3-30A9-94BB3C475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85A2F0-7433-2515-CA91-0F11ABD2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B2FCE8-BF0F-A14C-4220-BF405939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888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F2E53E-2234-283C-B326-3A918F7B3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3DF053-6574-BA2B-BD46-514C19EE9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F91BE-394B-FC14-1E38-AEDD56AFA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EE65F-3AFA-4BDF-97B6-A2FB4B5DAB5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42AFA-1516-DA51-9A8B-7B83F2260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1B969-547B-009F-C4EE-366D2C114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37488-1553-406D-8EE0-4BE156E69E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4200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5B7C9-D7E9-5180-25AB-629F6B4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400" b="1">
                <a:solidFill>
                  <a:srgbClr val="FF5722"/>
                </a:solidFill>
              </a:rPr>
              <a:t>SummaCham
Guía Técnica Simplificada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525417-2CC3-328D-D701-3255AC8E7985}"/>
              </a:ext>
            </a:extLst>
          </p:cNvPr>
          <p:cNvSpPr txBox="1"/>
          <p:nvPr/>
        </p:nvSpPr>
        <p:spPr>
          <a:xfrm>
            <a:off x="1270000" y="3556000"/>
            <a:ext cx="6604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2000">
                <a:latin typeface="Segoe UI" panose="020B0502040204020203" pitchFamily="34" charset="0"/>
              </a:rPr>
              <a:t>Sistema de Gestión Presupuestaria
Explicación técnica clara para todos
Con ejemplos reales del sistema</a:t>
            </a:r>
            <a:endParaRPr lang="es-MX" sz="20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1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A12DD9-792B-7804-20FD-20E7804DF4FC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¿Qué es SummaCham?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53948-B4A3-385B-0900-DE0D8A97E0B3}"/>
              </a:ext>
            </a:extLst>
          </p:cNvPr>
          <p:cNvSpPr txBox="1"/>
          <p:nvPr/>
        </p:nvSpPr>
        <p:spPr>
          <a:xfrm>
            <a:off x="508000" y="1143000"/>
            <a:ext cx="8128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SummaCham es como un **Excel inteligente** que ayuda a: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🏢  Gestionar presupuestos de varias empresas</a:t>
            </a:r>
          </a:p>
          <a:p>
            <a:r>
              <a:rPr lang="es-ES" sz="1600">
                <a:latin typeface="Segoe UI" panose="020B0502040204020203" pitchFamily="34" charset="0"/>
              </a:rPr>
              <a:t>📊  Ver información financiera en tiempo real</a:t>
            </a:r>
          </a:p>
          <a:p>
            <a:r>
              <a:rPr lang="es-ES" sz="1600">
                <a:latin typeface="Segoe UI" panose="020B0502040204020203" pitchFamily="34" charset="0"/>
              </a:rPr>
              <a:t>👥  Controlar quién puede ver o modificar datos</a:t>
            </a:r>
          </a:p>
          <a:p>
            <a:r>
              <a:rPr lang="es-ES" sz="1600">
                <a:latin typeface="Segoe UI" panose="020B0502040204020203" pitchFamily="34" charset="0"/>
              </a:rPr>
              <a:t>📈  Generar reportes automáticos</a:t>
            </a:r>
          </a:p>
          <a:p>
            <a:r>
              <a:rPr lang="es-ES" sz="1600">
                <a:latin typeface="Segoe UI" panose="020B0502040204020203" pitchFamily="34" charset="0"/>
              </a:rPr>
              <a:t>💾  Guardar cambios de forma segura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**Analogía:**</a:t>
            </a:r>
          </a:p>
          <a:p>
            <a:r>
              <a:rPr lang="es-ES" sz="1600">
                <a:latin typeface="Segoe UI" panose="020B0502040204020203" pitchFamily="34" charset="0"/>
              </a:rPr>
              <a:t>Imagina una oficina donde cada empresa tiene su archivero.</a:t>
            </a:r>
          </a:p>
          <a:p>
            <a:r>
              <a:rPr lang="es-ES" sz="1600">
                <a:latin typeface="Segoe UI" panose="020B0502040204020203" pitchFamily="34" charset="0"/>
              </a:rPr>
              <a:t>SummaCham es el sistema que organiza todos esos archiveros,</a:t>
            </a:r>
          </a:p>
          <a:p>
            <a:r>
              <a:rPr lang="es-ES" sz="1600">
                <a:latin typeface="Segoe UI" panose="020B0502040204020203" pitchFamily="34" charset="0"/>
              </a:rPr>
              <a:t>controla quién puede abrir cada cajón, y mantiene todo ordenado.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48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721EDEC-173E-02A2-BAD8-4DA752EE514F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Conceptos Básicos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56214D-03C7-A8EE-8D98-D349B848F71F}"/>
              </a:ext>
            </a:extLst>
          </p:cNvPr>
          <p:cNvSpPr txBox="1"/>
          <p:nvPr/>
        </p:nvSpPr>
        <p:spPr>
          <a:xfrm>
            <a:off x="508000" y="1143000"/>
            <a:ext cx="8128000" cy="40318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**API (Interfaz de Programación)**</a:t>
            </a:r>
          </a:p>
          <a:p>
            <a:r>
              <a:rPr lang="es-ES" sz="1600">
                <a:latin typeface="Segoe UI" panose="020B0502040204020203" pitchFamily="34" charset="0"/>
              </a:rPr>
              <a:t>Como un menú de restaurante: lista de acciones disponibles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**Ruta (URL)**</a:t>
            </a:r>
          </a:p>
          <a:p>
            <a:r>
              <a:rPr lang="es-ES" sz="1600">
                <a:latin typeface="Segoe UI" panose="020B0502040204020203" pitchFamily="34" charset="0"/>
              </a:rPr>
              <a:t>La dirección para hacer algo específico</a:t>
            </a:r>
          </a:p>
          <a:p>
            <a:r>
              <a:rPr lang="es-ES" sz="1600">
                <a:latin typeface="Segoe UI" panose="020B0502040204020203" pitchFamily="34" charset="0"/>
              </a:rPr>
              <a:t>Ejemplo: /api/empresas/empresa1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**Base de Datos**</a:t>
            </a:r>
          </a:p>
          <a:p>
            <a:r>
              <a:rPr lang="es-ES" sz="1600">
                <a:latin typeface="Segoe UI" panose="020B0502040204020203" pitchFamily="34" charset="0"/>
              </a:rPr>
              <a:t>Un archivero digital organizado en tablas</a:t>
            </a:r>
          </a:p>
          <a:p>
            <a:r>
              <a:rPr lang="es-ES" sz="1600">
                <a:latin typeface="Segoe UI" panose="020B0502040204020203" pitchFamily="34" charset="0"/>
              </a:rPr>
              <a:t>Guarda usuarios, presupuestos, permisos, etc.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**Servidor**</a:t>
            </a:r>
          </a:p>
          <a:p>
            <a:r>
              <a:rPr lang="es-ES" sz="1600">
                <a:latin typeface="Segoe UI" panose="020B0502040204020203" pitchFamily="34" charset="0"/>
              </a:rPr>
              <a:t>La computadora que responde a las peticiones</a:t>
            </a:r>
          </a:p>
          <a:p>
            <a:r>
              <a:rPr lang="es-ES" sz="1600">
                <a:latin typeface="Segoe UI" panose="020B0502040204020203" pitchFamily="34" charset="0"/>
              </a:rPr>
              <a:t>Está siempre escuchando en el puerto 3005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97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142E5DA-78F1-DFCE-8D53-A90B8A791D59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¿Cómo Funciona el Sistema?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4523A0-2F09-26BF-7861-AEE8FE9E9EA8}"/>
              </a:ext>
            </a:extLst>
          </p:cNvPr>
          <p:cNvSpPr txBox="1"/>
          <p:nvPr/>
        </p:nvSpPr>
        <p:spPr>
          <a:xfrm>
            <a:off x="508000" y="1143000"/>
            <a:ext cx="8128000" cy="42780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El sistema tiene 3 partes principales: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**1. INTERFAZ (Lo que ve el usuario)**</a:t>
            </a:r>
          </a:p>
          <a:p>
            <a:r>
              <a:rPr lang="es-ES" sz="1600">
                <a:latin typeface="Segoe UI" panose="020B0502040204020203" pitchFamily="34" charset="0"/>
              </a:rPr>
              <a:t>   • Ventanas, botones, tablas</a:t>
            </a:r>
          </a:p>
          <a:p>
            <a:r>
              <a:rPr lang="es-ES" sz="1600">
                <a:latin typeface="Segoe UI" panose="020B0502040204020203" pitchFamily="34" charset="0"/>
              </a:rPr>
              <a:t>   • Se comunica con el servidor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**2. SERVIDOR (El cerebro)**</a:t>
            </a:r>
          </a:p>
          <a:p>
            <a:r>
              <a:rPr lang="es-ES" sz="1600">
                <a:latin typeface="Segoe UI" panose="020B0502040204020203" pitchFamily="34" charset="0"/>
              </a:rPr>
              <a:t>   • Puerto: http://localhost:3005</a:t>
            </a:r>
          </a:p>
          <a:p>
            <a:r>
              <a:rPr lang="es-ES" sz="1600">
                <a:latin typeface="Segoe UI" panose="020B0502040204020203" pitchFamily="34" charset="0"/>
              </a:rPr>
              <a:t>   • Recibe peticiones y responde</a:t>
            </a:r>
          </a:p>
          <a:p>
            <a:r>
              <a:rPr lang="es-ES" sz="1600">
                <a:latin typeface="Segoe UI" panose="020B0502040204020203" pitchFamily="34" charset="0"/>
              </a:rPr>
              <a:t>   • Ubicación: src/server.js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**3. BASE DE DATOS (El archivero)**</a:t>
            </a:r>
          </a:p>
          <a:p>
            <a:r>
              <a:rPr lang="es-ES" sz="1600">
                <a:latin typeface="Segoe UI" panose="020B0502040204020203" pitchFamily="34" charset="0"/>
              </a:rPr>
              <a:t>   • Archivo: datos/panel.sqlite</a:t>
            </a:r>
          </a:p>
          <a:p>
            <a:r>
              <a:rPr lang="es-ES" sz="1600">
                <a:latin typeface="Segoe UI" panose="020B0502040204020203" pitchFamily="34" charset="0"/>
              </a:rPr>
              <a:t>   • Guarda toda la información de forma permanente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E51ECF4-79F7-C27C-64E3-B9733B2E8795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FF5722"/>
                </a:solidFill>
                <a:latin typeface="Segoe UI" panose="020B0502040204020203" pitchFamily="34" charset="0"/>
              </a:rPr>
              <a:t>Flujo: Cómo se procesa una petición</a:t>
            </a:r>
            <a:endParaRPr lang="es-MX" sz="3200" b="1">
              <a:solidFill>
                <a:srgbClr val="FF5722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CC9F088-DB4E-73CE-979C-5AFF8F4EE79D}"/>
              </a:ext>
            </a:extLst>
          </p:cNvPr>
          <p:cNvSpPr txBox="1"/>
          <p:nvPr/>
        </p:nvSpPr>
        <p:spPr>
          <a:xfrm>
            <a:off x="508000" y="1143000"/>
            <a:ext cx="8128000" cy="40318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**Ejemplo:** Usuario quiere ver empresas disponibles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1️⃣  Usuario hace clic en "Ver Empresas"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2️⃣  Interfaz envía petición:</a:t>
            </a:r>
          </a:p>
          <a:p>
            <a:r>
              <a:rPr lang="es-ES" sz="1600">
                <a:latin typeface="Segoe UI" panose="020B0502040204020203" pitchFamily="34" charset="0"/>
              </a:rPr>
              <a:t>    GET http://localhost:3005/api/empresas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3️⃣  Servidor recibe petición:</a:t>
            </a:r>
          </a:p>
          <a:p>
            <a:r>
              <a:rPr lang="es-ES" sz="1600">
                <a:latin typeface="Segoe UI" panose="020B0502040204020203" pitchFamily="34" charset="0"/>
              </a:rPr>
              <a:t>    • Verifica que el usuario está autenticado</a:t>
            </a:r>
          </a:p>
          <a:p>
            <a:r>
              <a:rPr lang="es-ES" sz="1600">
                <a:latin typeface="Segoe UI" panose="020B0502040204020203" pitchFamily="34" charset="0"/>
              </a:rPr>
              <a:t>    • Revisa qué empresas puede ver el usuario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4️⃣  Servidor responde con datos:</a:t>
            </a:r>
          </a:p>
          <a:p>
            <a:r>
              <a:rPr lang="es-ES" sz="1600">
                <a:latin typeface="Segoe UI" panose="020B0502040204020203" pitchFamily="34" charset="0"/>
              </a:rPr>
              <a:t>    { "empresas": ["empresa1", "empresa2"] }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5️⃣  Interfaz muestra las empresas en pantalla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71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F4BA8AB-52F2-6D34-238F-78B9B834A341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Empresas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28B57A-3BD0-3A99-7511-F94063C35883}"/>
              </a:ext>
            </a:extLst>
          </p:cNvPr>
          <p:cNvSpPr txBox="1"/>
          <p:nvPr/>
        </p:nvSpPr>
        <p:spPr>
          <a:xfrm>
            <a:off x="508000" y="1143000"/>
            <a:ext cx="8128000" cy="40318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**Obtener todas las empresas**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📍 Ruta:  GET /api/empresas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Archivo:  src/routes/empresas.js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📋 Ejemplo de respuesta:</a:t>
            </a:r>
          </a:p>
          <a:p>
            <a:r>
              <a:rPr lang="es-MX" sz="1600">
                <a:latin typeface="Segoe UI" panose="020B0502040204020203" pitchFamily="34" charset="0"/>
              </a:rPr>
              <a:t>{</a:t>
            </a:r>
          </a:p>
          <a:p>
            <a:r>
              <a:rPr lang="es-MX" sz="1600">
                <a:latin typeface="Segoe UI" panose="020B0502040204020203" pitchFamily="34" charset="0"/>
              </a:rPr>
              <a:t>  "empresas": [</a:t>
            </a:r>
          </a:p>
          <a:p>
            <a:r>
              <a:rPr lang="es-MX" sz="1600">
                <a:latin typeface="Segoe UI" panose="020B0502040204020203" pitchFamily="34" charset="0"/>
              </a:rPr>
              <a:t>    { "id": "empresa1", "nombre": "CDMX", "etiqueta": "Ciudad de México" },</a:t>
            </a:r>
          </a:p>
          <a:p>
            <a:r>
              <a:rPr lang="es-MX" sz="1600">
                <a:latin typeface="Segoe UI" panose="020B0502040204020203" pitchFamily="34" charset="0"/>
              </a:rPr>
              <a:t>    { "id": "empresa2", "nombre": "Morelos", "etiqueta": "Estado de Morelos" },</a:t>
            </a:r>
          </a:p>
          <a:p>
            <a:r>
              <a:rPr lang="es-MX" sz="1600">
                <a:latin typeface="Segoe UI" panose="020B0502040204020203" pitchFamily="34" charset="0"/>
              </a:rPr>
              <a:t>    { "id": "empresa3", "nombre": "Guadalajara", "etiqueta": "Jalisco" }</a:t>
            </a:r>
          </a:p>
          <a:p>
            <a:r>
              <a:rPr lang="es-MX" sz="1600">
                <a:latin typeface="Segoe UI" panose="020B0502040204020203" pitchFamily="34" charset="0"/>
              </a:rPr>
              <a:t>  ]</a:t>
            </a:r>
          </a:p>
          <a:p>
            <a:r>
              <a:rPr lang="es-MX" sz="1600">
                <a:latin typeface="Segoe UI" panose="020B0502040204020203" pitchFamily="34" charset="0"/>
              </a:rPr>
              <a:t>}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✅ Nota: Solo muestra empresas que el usuario tiene permiso de ver</a:t>
            </a:r>
          </a:p>
        </p:txBody>
      </p:sp>
    </p:spTree>
    <p:extLst>
      <p:ext uri="{BB962C8B-B14F-4D97-AF65-F5344CB8AC3E}">
        <p14:creationId xmlns:p14="http://schemas.microsoft.com/office/powerpoint/2010/main" val="328823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CA65EFD-E4FD-9142-3772-F2F9F6596BEB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Detalle de Empresa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135006-587B-EF6A-A6BD-8621E40FFA35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**Obtener información de una empresa específica**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📍 Ruta:  GET /api/empresas/:id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🔧 Ejemplo real:  GET /api/empresas/empresa1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Archivo:  src/routes/empresas.js (línea 21)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📋 Respuesta:</a:t>
            </a:r>
          </a:p>
          <a:p>
            <a:r>
              <a:rPr lang="es-MX" sz="1600">
                <a:latin typeface="Segoe UI" panose="020B0502040204020203" pitchFamily="34" charset="0"/>
              </a:rPr>
              <a:t>{</a:t>
            </a:r>
          </a:p>
          <a:p>
            <a:r>
              <a:rPr lang="es-MX" sz="1600">
                <a:latin typeface="Segoe UI" panose="020B0502040204020203" pitchFamily="34" charset="0"/>
              </a:rPr>
              <a:t>  "empresa": {</a:t>
            </a:r>
          </a:p>
          <a:p>
            <a:r>
              <a:rPr lang="es-MX" sz="1600">
                <a:latin typeface="Segoe UI" panose="020B0502040204020203" pitchFamily="34" charset="0"/>
              </a:rPr>
              <a:t>    "id": "empresa1",</a:t>
            </a:r>
          </a:p>
          <a:p>
            <a:r>
              <a:rPr lang="es-MX" sz="1600">
                <a:latin typeface="Segoe UI" panose="020B0502040204020203" pitchFamily="34" charset="0"/>
              </a:rPr>
              <a:t>    "nombre": "CDMX",</a:t>
            </a:r>
          </a:p>
          <a:p>
            <a:r>
              <a:rPr lang="es-MX" sz="1600">
                <a:latin typeface="Segoe UI" panose="020B0502040204020203" pitchFamily="34" charset="0"/>
              </a:rPr>
              <a:t>    "etiqueta": "Ciudad de México",</a:t>
            </a:r>
          </a:p>
          <a:p>
            <a:r>
              <a:rPr lang="es-MX" sz="1600">
                <a:latin typeface="Segoe UI" panose="020B0502040204020203" pitchFamily="34" charset="0"/>
              </a:rPr>
              <a:t>    "config": { ... configuración Firebird ... }</a:t>
            </a:r>
          </a:p>
          <a:p>
            <a:r>
              <a:rPr lang="es-MX" sz="1600">
                <a:latin typeface="Segoe UI" panose="020B0502040204020203" pitchFamily="34" charset="0"/>
              </a:rPr>
              <a:t>  }</a:t>
            </a:r>
          </a:p>
          <a:p>
            <a:r>
              <a:rPr lang="es-MX" sz="1600">
                <a:latin typeface="Segoe UI" panose="020B0502040204020203" pitchFamily="34" charset="0"/>
              </a:rPr>
              <a:t>}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🔒 Seguridad: Solo si el usuario tiene permiso para empresa1</a:t>
            </a:r>
          </a:p>
        </p:txBody>
      </p:sp>
    </p:spTree>
    <p:extLst>
      <p:ext uri="{BB962C8B-B14F-4D97-AF65-F5344CB8AC3E}">
        <p14:creationId xmlns:p14="http://schemas.microsoft.com/office/powerpoint/2010/main" val="3880917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8C5883-BE6A-426A-1670-3F58782CE73E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Consultar Presupuestos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089A5F-0384-5CB8-BEB3-086656213C11}"/>
              </a:ext>
            </a:extLst>
          </p:cNvPr>
          <p:cNvSpPr txBox="1"/>
          <p:nvPr/>
        </p:nvSpPr>
        <p:spPr>
          <a:xfrm>
            <a:off x="508000" y="1143000"/>
            <a:ext cx="8128000" cy="45243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**Obtener presupuestos de una empresa y año**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📍 Ruta:  GET /api/presupuestos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🔧 Parámetros:</a:t>
            </a:r>
          </a:p>
          <a:p>
            <a:r>
              <a:rPr lang="es-ES" sz="1600">
                <a:latin typeface="Segoe UI" panose="020B0502040204020203" pitchFamily="34" charset="0"/>
              </a:rPr>
              <a:t>   • empresaId = empresa1</a:t>
            </a:r>
          </a:p>
          <a:p>
            <a:r>
              <a:rPr lang="es-ES" sz="1600">
                <a:latin typeface="Segoe UI" panose="020B0502040204020203" pitchFamily="34" charset="0"/>
              </a:rPr>
              <a:t>   • anio = 2025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📝 Ejemplo completo:</a:t>
            </a:r>
          </a:p>
          <a:p>
            <a:r>
              <a:rPr lang="es-ES" sz="1600">
                <a:latin typeface="Segoe UI" panose="020B0502040204020203" pitchFamily="34" charset="0"/>
              </a:rPr>
              <a:t>   GET /api/presupuestos?empresaId=empresa1&amp;anio=2025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📁 Archivo:  src/routes/presupuestos.js (línea 232)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📋 Respuesta incluye:</a:t>
            </a:r>
          </a:p>
          <a:p>
            <a:r>
              <a:rPr lang="es-ES" sz="1600">
                <a:latin typeface="Segoe UI" panose="020B0502040204020203" pitchFamily="34" charset="0"/>
              </a:rPr>
              <a:t>   • Lista de cuentas con presupuestos</a:t>
            </a:r>
          </a:p>
          <a:p>
            <a:r>
              <a:rPr lang="es-ES" sz="1600">
                <a:latin typeface="Segoe UI" panose="020B0502040204020203" pitchFamily="34" charset="0"/>
              </a:rPr>
              <a:t>   • Montos por periodo (enero-diciembre)</a:t>
            </a:r>
          </a:p>
          <a:p>
            <a:r>
              <a:rPr lang="es-ES" sz="1600">
                <a:latin typeface="Segoe UI" panose="020B0502040204020203" pitchFamily="34" charset="0"/>
              </a:rPr>
              <a:t>   • Estado actual (EDITANDO, APROBADO, etc.)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381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729926-E644-EF95-5B4F-FDACDA203D86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Estados de Presupuestos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98E93A4-E747-0FAB-A57B-C10912E286FA}"/>
              </a:ext>
            </a:extLst>
          </p:cNvPr>
          <p:cNvSpPr txBox="1"/>
          <p:nvPr/>
        </p:nvSpPr>
        <p:spPr>
          <a:xfrm>
            <a:off x="508000" y="1143000"/>
            <a:ext cx="8128000" cy="47705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Un presupuesto puede estar en diferentes estados: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**SIN_CARGAR**  →  No se ha cargado aún</a:t>
            </a:r>
          </a:p>
          <a:p>
            <a:r>
              <a:rPr lang="es-ES" sz="1600">
                <a:latin typeface="Segoe UI" panose="020B0502040204020203" pitchFamily="34" charset="0"/>
              </a:rPr>
              <a:t>**EDITANDO**    →  Se está modificando</a:t>
            </a:r>
          </a:p>
          <a:p>
            <a:r>
              <a:rPr lang="es-ES" sz="1600">
                <a:latin typeface="Segoe UI" panose="020B0502040204020203" pitchFamily="34" charset="0"/>
              </a:rPr>
              <a:t>**REVISADO**    →  Ya fue revisado por supervisor</a:t>
            </a:r>
          </a:p>
          <a:p>
            <a:r>
              <a:rPr lang="es-ES" sz="1600">
                <a:latin typeface="Segoe UI" panose="020B0502040204020203" pitchFamily="34" charset="0"/>
              </a:rPr>
              <a:t>**APROBADO**    →  Autorizado y guardado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**API para ver estado:**</a:t>
            </a:r>
          </a:p>
          <a:p>
            <a:r>
              <a:rPr lang="es-ES" sz="1600">
                <a:latin typeface="Segoe UI" panose="020B0502040204020203" pitchFamily="34" charset="0"/>
              </a:rPr>
              <a:t>📍 GET /api/presupuestos/estado</a:t>
            </a:r>
          </a:p>
          <a:p>
            <a:r>
              <a:rPr lang="es-ES" sz="1600">
                <a:latin typeface="Segoe UI" panose="020B0502040204020203" pitchFamily="34" charset="0"/>
              </a:rPr>
              <a:t>   ?empresaId=empresa1&amp;modulo=CUENTAS&amp;anio=2025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📁 Archivo: src/routes/presupuestos.js (línea 313)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**API para cambiar estado:**</a:t>
            </a:r>
          </a:p>
          <a:p>
            <a:r>
              <a:rPr lang="es-ES" sz="1600">
                <a:latin typeface="Segoe UI" panose="020B0502040204020203" pitchFamily="34" charset="0"/>
              </a:rPr>
              <a:t>📍 POST /api/presupuestos/estado</a:t>
            </a:r>
          </a:p>
          <a:p>
            <a:r>
              <a:rPr lang="es-ES" sz="1600">
                <a:latin typeface="Segoe UI" panose="020B0502040204020203" pitchFamily="34" charset="0"/>
              </a:rPr>
              <a:t>📁 Archivo: src/routes/presupuestos.js (línea 337)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69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154A2A-1174-0DFB-3EC1-B8A7D866F31C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Saldos (Datos Reales)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93F064-0B3A-C908-9510-87A0EB6742F6}"/>
              </a:ext>
            </a:extLst>
          </p:cNvPr>
          <p:cNvSpPr txBox="1"/>
          <p:nvPr/>
        </p:nvSpPr>
        <p:spPr>
          <a:xfrm>
            <a:off x="508000" y="1143000"/>
            <a:ext cx="8128000" cy="47705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**Obtener saldos reales desde Firebird**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📍 Ruta:  GET /api/saldos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🔧 Parámetros requeridos:</a:t>
            </a:r>
          </a:p>
          <a:p>
            <a:r>
              <a:rPr lang="es-MX" sz="1600">
                <a:latin typeface="Segoe UI" panose="020B0502040204020203" pitchFamily="34" charset="0"/>
              </a:rPr>
              <a:t>   • empresaId = empresa1</a:t>
            </a:r>
          </a:p>
          <a:p>
            <a:r>
              <a:rPr lang="es-MX" sz="1600">
                <a:latin typeface="Segoe UI" panose="020B0502040204020203" pitchFamily="34" charset="0"/>
              </a:rPr>
              <a:t>   • anio = 2024</a:t>
            </a:r>
          </a:p>
          <a:p>
            <a:r>
              <a:rPr lang="es-MX" sz="1600">
                <a:latin typeface="Segoe UI" panose="020B0502040204020203" pitchFamily="34" charset="0"/>
              </a:rPr>
              <a:t>   • cuentas = 1101010000000000000001 (21 dígitos)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📝 Ejemplo:</a:t>
            </a:r>
          </a:p>
          <a:p>
            <a:r>
              <a:rPr lang="es-MX" sz="1600">
                <a:latin typeface="Segoe UI" panose="020B0502040204020203" pitchFamily="34" charset="0"/>
              </a:rPr>
              <a:t>   GET /api/saldos?empresaId=empresa1&amp;anio=2024</a:t>
            </a:r>
          </a:p>
          <a:p>
            <a:r>
              <a:rPr lang="es-MX" sz="1600">
                <a:latin typeface="Segoe UI" panose="020B0502040204020203" pitchFamily="34" charset="0"/>
              </a:rPr>
              <a:t>       &amp;cuentas=1101010000000000000001,1102010000000000000001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Archivo:  src/routes/saldos.js (línea 25)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📋 Respuesta:</a:t>
            </a:r>
          </a:p>
          <a:p>
            <a:r>
              <a:rPr lang="es-MX" sz="1600">
                <a:latin typeface="Segoe UI" panose="020B0502040204020203" pitchFamily="34" charset="0"/>
              </a:rPr>
              <a:t>   • Saldos mensuales (enero-diciembre)</a:t>
            </a:r>
          </a:p>
          <a:p>
            <a:r>
              <a:rPr lang="es-MX" sz="1600">
                <a:latin typeface="Segoe UI" panose="020B0502040204020203" pitchFamily="34" charset="0"/>
              </a:rPr>
              <a:t>   • Totales anuales por cuenta</a:t>
            </a:r>
          </a:p>
        </p:txBody>
      </p:sp>
    </p:spTree>
    <p:extLst>
      <p:ext uri="{BB962C8B-B14F-4D97-AF65-F5344CB8AC3E}">
        <p14:creationId xmlns:p14="http://schemas.microsoft.com/office/powerpoint/2010/main" val="2991527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026FD0-13AC-798B-8F1F-5D69964F7678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Layouts (Plantillas)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F5879C-8074-9B77-A965-24C430D1394A}"/>
              </a:ext>
            </a:extLst>
          </p:cNvPr>
          <p:cNvSpPr txBox="1"/>
          <p:nvPr/>
        </p:nvSpPr>
        <p:spPr>
          <a:xfrm>
            <a:off x="508000" y="1143000"/>
            <a:ext cx="8128000" cy="5262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**Los layouts son plantillas de configuración**</a:t>
            </a:r>
          </a:p>
          <a:p>
            <a:r>
              <a:rPr lang="es-MX" sz="1600">
                <a:latin typeface="Segoe UI" panose="020B0502040204020203" pitchFamily="34" charset="0"/>
              </a:rPr>
              <a:t>Define qué cuentas aparecen, fórmulas, orden, etc.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**Obtener layout:**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/api/layouts</a:t>
            </a:r>
          </a:p>
          <a:p>
            <a:r>
              <a:rPr lang="es-MX" sz="1600">
                <a:latin typeface="Segoe UI" panose="020B0502040204020203" pitchFamily="34" charset="0"/>
              </a:rPr>
              <a:t>   ?empresaId=empresa1&amp;modulo=SUMMARY&amp;anio=2025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Archivo: src/routes/layouts.js (línea 16)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**Guardar layout:**</a:t>
            </a:r>
          </a:p>
          <a:p>
            <a:r>
              <a:rPr lang="es-MX" sz="1600">
                <a:latin typeface="Segoe UI" panose="020B0502040204020203" pitchFamily="34" charset="0"/>
              </a:rPr>
              <a:t>📍 POST /api/layouts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src/routes/layouts.js (línea 29)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Body: {</a:t>
            </a:r>
          </a:p>
          <a:p>
            <a:r>
              <a:rPr lang="es-MX" sz="1600">
                <a:latin typeface="Segoe UI" panose="020B0502040204020203" pitchFamily="34" charset="0"/>
              </a:rPr>
              <a:t>  "empresaId": "empresa1",</a:t>
            </a:r>
          </a:p>
          <a:p>
            <a:r>
              <a:rPr lang="es-MX" sz="1600">
                <a:latin typeface="Segoe UI" panose="020B0502040204020203" pitchFamily="34" charset="0"/>
              </a:rPr>
              <a:t>  "modulo": "SUMMARY",</a:t>
            </a:r>
          </a:p>
          <a:p>
            <a:r>
              <a:rPr lang="es-MX" sz="1600">
                <a:latin typeface="Segoe UI" panose="020B0502040204020203" pitchFamily="34" charset="0"/>
              </a:rPr>
              <a:t>  "anio": 2025,</a:t>
            </a:r>
          </a:p>
          <a:p>
            <a:r>
              <a:rPr lang="es-MX" sz="1600">
                <a:latin typeface="Segoe UI" panose="020B0502040204020203" pitchFamily="34" charset="0"/>
              </a:rPr>
              <a:t>  "datos": { ... configuración completa ... }</a:t>
            </a:r>
          </a:p>
          <a:p>
            <a:r>
              <a:rPr lang="es-MX" sz="1600">
                <a:latin typeface="Segoe UI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425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EE2A24-A36B-414E-9A9D-6CF17C0731A1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Layouts Avanzados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16F493-DBBD-961B-BBD4-2F3DC04752CF}"/>
              </a:ext>
            </a:extLst>
          </p:cNvPr>
          <p:cNvSpPr txBox="1"/>
          <p:nvPr/>
        </p:nvSpPr>
        <p:spPr>
          <a:xfrm>
            <a:off x="508000" y="1143000"/>
            <a:ext cx="8128000" cy="42780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**Sistema de layouts por año y capítulo**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📍 Ruta base:  /api/layoutsporanio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**Ejemplos reales:**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1️⃣  Obtener años disponibles:</a:t>
            </a:r>
          </a:p>
          <a:p>
            <a:r>
              <a:rPr lang="es-MX" sz="1600">
                <a:latin typeface="Segoe UI" panose="020B0502040204020203" pitchFamily="34" charset="0"/>
              </a:rPr>
              <a:t>    GET /api/layoutsporanio/SUMMARY/anios?empresaId=empresa1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2️⃣  Obtener capítulos de un año:</a:t>
            </a:r>
          </a:p>
          <a:p>
            <a:r>
              <a:rPr lang="es-MX" sz="1600">
                <a:latin typeface="Segoe UI" panose="020B0502040204020203" pitchFamily="34" charset="0"/>
              </a:rPr>
              <a:t>    GET /api/layoutsporanio/SUMMARY/2025/capitulos?empresaId=empresa1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3️⃣  Obtener datos de un capítulo:</a:t>
            </a:r>
          </a:p>
          <a:p>
            <a:r>
              <a:rPr lang="es-MX" sz="1600">
                <a:latin typeface="Segoe UI" panose="020B0502040204020203" pitchFamily="34" charset="0"/>
              </a:rPr>
              <a:t>    GET /api/layoutsporanio/SUMMARY/2025/1000?empresaId=empresa1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Archivo: src/routes/layoutRoutes.js</a:t>
            </a:r>
          </a:p>
        </p:txBody>
      </p:sp>
    </p:spTree>
    <p:extLst>
      <p:ext uri="{BB962C8B-B14F-4D97-AF65-F5344CB8AC3E}">
        <p14:creationId xmlns:p14="http://schemas.microsoft.com/office/powerpoint/2010/main" val="4117416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598418B-C5C1-79D4-E253-29EAAB3B37C4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Usuarios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BEB7CBD-578A-B069-43E7-A1996BAD741D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**Sistema de usuarios y permisos**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**Login (Iniciar sesión):**</a:t>
            </a:r>
          </a:p>
          <a:p>
            <a:r>
              <a:rPr lang="es-MX" sz="1600">
                <a:latin typeface="Segoe UI" panose="020B0502040204020203" pitchFamily="34" charset="0"/>
              </a:rPr>
              <a:t>📍 POST /api/auth/login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src/routes/auth.js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Body: {</a:t>
            </a:r>
          </a:p>
          <a:p>
            <a:r>
              <a:rPr lang="es-MX" sz="1600">
                <a:latin typeface="Segoe UI" panose="020B0502040204020203" pitchFamily="34" charset="0"/>
              </a:rPr>
              <a:t>  "username": "Iconet",</a:t>
            </a:r>
          </a:p>
          <a:p>
            <a:r>
              <a:rPr lang="es-MX" sz="1600">
                <a:latin typeface="Segoe UI" panose="020B0502040204020203" pitchFamily="34" charset="0"/>
              </a:rPr>
              <a:t>  "password": "tu-contraseña"</a:t>
            </a:r>
          </a:p>
          <a:p>
            <a:r>
              <a:rPr lang="es-MX" sz="1600">
                <a:latin typeface="Segoe UI" panose="020B0502040204020203" pitchFamily="34" charset="0"/>
              </a:rPr>
              <a:t>}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**Logout (Cerrar sesión):**</a:t>
            </a:r>
          </a:p>
          <a:p>
            <a:r>
              <a:rPr lang="es-MX" sz="1600">
                <a:latin typeface="Segoe UI" panose="020B0502040204020203" pitchFamily="34" charset="0"/>
              </a:rPr>
              <a:t>📍 POST /api/auth/logout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**Ver mi perfil:**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/api/perfil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src/routes/perfil.js</a:t>
            </a:r>
          </a:p>
        </p:txBody>
      </p:sp>
    </p:spTree>
    <p:extLst>
      <p:ext uri="{BB962C8B-B14F-4D97-AF65-F5344CB8AC3E}">
        <p14:creationId xmlns:p14="http://schemas.microsoft.com/office/powerpoint/2010/main" val="2425687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E30EDA-818B-C96E-18F1-5897303D17F3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Gestión de Usuarios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E34FB2-7514-F5CC-1C94-6504DC2C6541}"/>
              </a:ext>
            </a:extLst>
          </p:cNvPr>
          <p:cNvSpPr txBox="1"/>
          <p:nvPr/>
        </p:nvSpPr>
        <p:spPr>
          <a:xfrm>
            <a:off x="508000" y="1143000"/>
            <a:ext cx="8128000" cy="5262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**Operaciones CRUD de usuarios**</a:t>
            </a:r>
          </a:p>
          <a:p>
            <a:r>
              <a:rPr lang="es-MX" sz="1600">
                <a:latin typeface="Segoe UI" panose="020B0502040204020203" pitchFamily="34" charset="0"/>
              </a:rPr>
              <a:t>(Crear, Leer, Actualizar, Eliminar)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**Ver todos los usuarios:**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/api/usuarios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src/routes/usuarios.js (línea 278)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**Ver un usuario específico:**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/api/usuarios/5</a:t>
            </a:r>
          </a:p>
          <a:p>
            <a:r>
              <a:rPr lang="es-MX" sz="1600">
                <a:latin typeface="Segoe UI" panose="020B0502040204020203" pitchFamily="34" charset="0"/>
              </a:rPr>
              <a:t>(donde 5 es el ID del usuario)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**Crear usuario:**</a:t>
            </a:r>
          </a:p>
          <a:p>
            <a:r>
              <a:rPr lang="es-MX" sz="1600">
                <a:latin typeface="Segoe UI" panose="020B0502040204020203" pitchFamily="34" charset="0"/>
              </a:rPr>
              <a:t>📍 POST /api/usuarios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src/routes/usuarios.js (línea 349)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**Actualizar usuario:**</a:t>
            </a:r>
          </a:p>
          <a:p>
            <a:r>
              <a:rPr lang="es-MX" sz="1600">
                <a:latin typeface="Segoe UI" panose="020B0502040204020203" pitchFamily="34" charset="0"/>
              </a:rPr>
              <a:t>📍 PUT /api/usuarios/5</a:t>
            </a:r>
          </a:p>
        </p:txBody>
      </p:sp>
    </p:spTree>
    <p:extLst>
      <p:ext uri="{BB962C8B-B14F-4D97-AF65-F5344CB8AC3E}">
        <p14:creationId xmlns:p14="http://schemas.microsoft.com/office/powerpoint/2010/main" val="3916630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496D45-6DFC-CC19-4175-FEE2486C9764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Sistema de Permisos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05C42F-31C8-7EA4-8B47-8176D6D69130}"/>
              </a:ext>
            </a:extLst>
          </p:cNvPr>
          <p:cNvSpPr txBox="1"/>
          <p:nvPr/>
        </p:nvSpPr>
        <p:spPr>
          <a:xfrm>
            <a:off x="508000" y="1143000"/>
            <a:ext cx="8128000" cy="45243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**Cada usuario tiene permisos específicos**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**Estructura de permisos:**</a:t>
            </a:r>
          </a:p>
          <a:p>
            <a:r>
              <a:rPr lang="es-ES" sz="1600">
                <a:latin typeface="Segoe UI" panose="020B0502040204020203" pitchFamily="34" charset="0"/>
              </a:rPr>
              <a:t>empresa1 → CUENTAS → "Cargar y guardar"</a:t>
            </a:r>
          </a:p>
          <a:p>
            <a:r>
              <a:rPr lang="es-ES" sz="1600">
                <a:latin typeface="Segoe UI" panose="020B0502040204020203" pitchFamily="34" charset="0"/>
              </a:rPr>
              <a:t>empresa1 → SUMMARY → "Lectura"</a:t>
            </a:r>
          </a:p>
          <a:p>
            <a:r>
              <a:rPr lang="es-ES" sz="1600">
                <a:latin typeface="Segoe UI" panose="020B0502040204020203" pitchFamily="34" charset="0"/>
              </a:rPr>
              <a:t>empresa2 → RESUMEN → "Aprobar"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**Niveles de permiso:**</a:t>
            </a:r>
          </a:p>
          <a:p>
            <a:r>
              <a:rPr lang="es-ES" sz="1600">
                <a:latin typeface="Segoe UI" panose="020B0502040204020203" pitchFamily="34" charset="0"/>
              </a:rPr>
              <a:t>• **Lectura:**  Solo ver datos</a:t>
            </a:r>
          </a:p>
          <a:p>
            <a:r>
              <a:rPr lang="es-ES" sz="1600">
                <a:latin typeface="Segoe UI" panose="020B0502040204020203" pitchFamily="34" charset="0"/>
              </a:rPr>
              <a:t>• **Cargar y guardar:**  Modificar presupuestos</a:t>
            </a:r>
          </a:p>
          <a:p>
            <a:r>
              <a:rPr lang="es-ES" sz="1600">
                <a:latin typeface="Segoe UI" panose="020B0502040204020203" pitchFamily="34" charset="0"/>
              </a:rPr>
              <a:t>• **Revisar:**  Revisar presupuestos</a:t>
            </a:r>
          </a:p>
          <a:p>
            <a:r>
              <a:rPr lang="es-ES" sz="1600">
                <a:latin typeface="Segoe UI" panose="020B0502040204020203" pitchFamily="34" charset="0"/>
              </a:rPr>
              <a:t>• **Aprobar:**  Autorizar presupuestos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**Administradores:**  </a:t>
            </a:r>
          </a:p>
          <a:p>
            <a:r>
              <a:rPr lang="es-ES" sz="1600">
                <a:latin typeface="Segoe UI" panose="020B0502040204020203" pitchFamily="34" charset="0"/>
              </a:rPr>
              <a:t>Tienen todos los permisos en todas las empresas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36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468EB5-84B7-5761-A0F3-C4304BBEAFDB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API: Reportes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653465-FFE6-327E-CE35-22A617442BA1}"/>
              </a:ext>
            </a:extLst>
          </p:cNvPr>
          <p:cNvSpPr txBox="1"/>
          <p:nvPr/>
        </p:nvSpPr>
        <p:spPr>
          <a:xfrm>
            <a:off x="508000" y="1143000"/>
            <a:ext cx="8128000" cy="47705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**Generar reportes automáticos**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**Reporte Summary:**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/api/reportes/summary</a:t>
            </a:r>
          </a:p>
          <a:p>
            <a:r>
              <a:rPr lang="es-MX" sz="1600">
                <a:latin typeface="Segoe UI" panose="020B0502040204020203" pitchFamily="34" charset="0"/>
              </a:rPr>
              <a:t>   ?empresaId=empresa1&amp;anio=2025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src/routes/reportes.js (línea 74)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**Reporte Resumen:**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/api/reportes/resumen</a:t>
            </a:r>
          </a:p>
          <a:p>
            <a:r>
              <a:rPr lang="es-MX" sz="1600">
                <a:latin typeface="Segoe UI" panose="020B0502040204020203" pitchFamily="34" charset="0"/>
              </a:rPr>
              <a:t>   ?empresaId=empresa1&amp;anio=2025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src/routes/reportes.js (línea 103)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**Diagnóstico Firebird:**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/api/reportes/diagnostico-firebird</a:t>
            </a:r>
          </a:p>
          <a:p>
            <a:r>
              <a:rPr lang="es-MX" sz="1600">
                <a:latin typeface="Segoe UI" panose="020B0502040204020203" pitchFamily="34" charset="0"/>
              </a:rPr>
              <a:t>   ?empresaId=empresa1</a:t>
            </a:r>
          </a:p>
          <a:p>
            <a:r>
              <a:rPr lang="es-MX" sz="1600">
                <a:latin typeface="Segoe UI" panose="020B0502040204020203" pitchFamily="34" charset="0"/>
              </a:rPr>
              <a:t>📁 Archivo: src/routes/reportes.js (línea 138)</a:t>
            </a:r>
          </a:p>
        </p:txBody>
      </p:sp>
    </p:spTree>
    <p:extLst>
      <p:ext uri="{BB962C8B-B14F-4D97-AF65-F5344CB8AC3E}">
        <p14:creationId xmlns:p14="http://schemas.microsoft.com/office/powerpoint/2010/main" val="16658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8706EC-16F1-C5DB-3B8E-B5B37295644A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FF5722"/>
                </a:solidFill>
                <a:latin typeface="Segoe UI" panose="020B0502040204020203" pitchFamily="34" charset="0"/>
              </a:rPr>
              <a:t>Base de Datos: Tablas Principales</a:t>
            </a:r>
            <a:endParaRPr lang="es-MX" sz="3200" b="1">
              <a:solidFill>
                <a:srgbClr val="FF5722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5D0572A-CBD6-CAE3-D34E-C97CA40FDF47}"/>
              </a:ext>
            </a:extLst>
          </p:cNvPr>
          <p:cNvSpPr txBox="1"/>
          <p:nvPr/>
        </p:nvSpPr>
        <p:spPr>
          <a:xfrm>
            <a:off x="508000" y="1143000"/>
            <a:ext cx="8128000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**Archivo:**  datos/panel.sqlite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**Tablas más importantes:**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📊 **usuarios**</a:t>
            </a:r>
          </a:p>
          <a:p>
            <a:r>
              <a:rPr lang="es-ES" sz="1600">
                <a:latin typeface="Segoe UI" panose="020B0502040204020203" pitchFamily="34" charset="0"/>
              </a:rPr>
              <a:t>   Guarda información de cada usuario del sistema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🔒 **permisos**</a:t>
            </a:r>
          </a:p>
          <a:p>
            <a:r>
              <a:rPr lang="es-ES" sz="1600">
                <a:latin typeface="Segoe UI" panose="020B0502040204020203" pitchFamily="34" charset="0"/>
              </a:rPr>
              <a:t>   Define qué puede hacer cada usuario en cada empresa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📋 **presupuestos_estado**</a:t>
            </a:r>
          </a:p>
          <a:p>
            <a:r>
              <a:rPr lang="es-ES" sz="1600">
                <a:latin typeface="Segoe UI" panose="020B0502040204020203" pitchFamily="34" charset="0"/>
              </a:rPr>
              <a:t>   Estado actual de cada presupuesto (EDITANDO, APROBADO, etc.)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📝 **presupuestos_guardados**</a:t>
            </a:r>
          </a:p>
          <a:p>
            <a:r>
              <a:rPr lang="es-ES" sz="1600">
                <a:latin typeface="Segoe UI" panose="020B0502040204020203" pitchFamily="34" charset="0"/>
              </a:rPr>
              <a:t>   Historial de presupuestos guardados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🔔 **notificaciones**</a:t>
            </a:r>
          </a:p>
          <a:p>
            <a:r>
              <a:rPr lang="es-ES" sz="1600">
                <a:latin typeface="Segoe UI" panose="020B0502040204020203" pitchFamily="34" charset="0"/>
              </a:rPr>
              <a:t>   Alertas y mensajes para usuarios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📦 **layouts_guardados**</a:t>
            </a:r>
          </a:p>
          <a:p>
            <a:r>
              <a:rPr lang="es-ES" sz="1600">
                <a:latin typeface="Segoe UI" panose="020B0502040204020203" pitchFamily="34" charset="0"/>
              </a:rPr>
              <a:t>   Configuraciones de plantillas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20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A0CF73-8AE4-A6B9-52FE-B8280D51BE98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Tabla: usuarios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7907EF-665C-FF54-7616-26D5EA7FCB39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**Estructura:**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• id:  Número único de usuario</a:t>
            </a:r>
          </a:p>
          <a:p>
            <a:r>
              <a:rPr lang="es-ES" sz="1600">
                <a:latin typeface="Segoe UI" panose="020B0502040204020203" pitchFamily="34" charset="0"/>
              </a:rPr>
              <a:t>• username:  Nombre de usuario (ejemplo: "Iconet")</a:t>
            </a:r>
          </a:p>
          <a:p>
            <a:r>
              <a:rPr lang="es-ES" sz="1600">
                <a:latin typeface="Segoe UI" panose="020B0502040204020203" pitchFamily="34" charset="0"/>
              </a:rPr>
              <a:t>• password_hash:  Contraseña encriptada (no se guarda en texto plano)</a:t>
            </a:r>
          </a:p>
          <a:p>
            <a:r>
              <a:rPr lang="es-ES" sz="1600">
                <a:latin typeface="Segoe UI" panose="020B0502040204020203" pitchFamily="34" charset="0"/>
              </a:rPr>
              <a:t>• nombre_completo:  Nombre real del usuario</a:t>
            </a:r>
          </a:p>
          <a:p>
            <a:r>
              <a:rPr lang="es-ES" sz="1600">
                <a:latin typeface="Segoe UI" panose="020B0502040204020203" pitchFamily="34" charset="0"/>
              </a:rPr>
              <a:t>• es_admin:  1 si es administrador, 0 si no</a:t>
            </a:r>
          </a:p>
          <a:p>
            <a:r>
              <a:rPr lang="es-ES" sz="1600">
                <a:latin typeface="Segoe UI" panose="020B0502040204020203" pitchFamily="34" charset="0"/>
              </a:rPr>
              <a:t>• activo:  1 si puede entrar, 0 si está deshabilitado</a:t>
            </a:r>
          </a:p>
          <a:p>
            <a:r>
              <a:rPr lang="es-ES" sz="1600">
                <a:latin typeface="Segoe UI" panose="020B0502040204020203" pitchFamily="34" charset="0"/>
              </a:rPr>
              <a:t>• creado_en:  Fecha de creación</a:t>
            </a:r>
          </a:p>
          <a:p>
            <a:r>
              <a:rPr lang="es-ES" sz="1600">
                <a:latin typeface="Segoe UI" panose="020B0502040204020203" pitchFamily="34" charset="0"/>
              </a:rPr>
              <a:t>• actualizado_en:  Última modificación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**Ejemplo de registro:**</a:t>
            </a:r>
          </a:p>
          <a:p>
            <a:r>
              <a:rPr lang="es-ES" sz="1600">
                <a:latin typeface="Segoe UI" panose="020B0502040204020203" pitchFamily="34" charset="0"/>
              </a:rPr>
              <a:t>{</a:t>
            </a:r>
          </a:p>
          <a:p>
            <a:r>
              <a:rPr lang="es-ES" sz="1600">
                <a:latin typeface="Segoe UI" panose="020B0502040204020203" pitchFamily="34" charset="0"/>
              </a:rPr>
              <a:t>  "id": 1,</a:t>
            </a:r>
          </a:p>
          <a:p>
            <a:r>
              <a:rPr lang="es-ES" sz="1600">
                <a:latin typeface="Segoe UI" panose="020B0502040204020203" pitchFamily="34" charset="0"/>
              </a:rPr>
              <a:t>  "username": "Iconet",</a:t>
            </a:r>
          </a:p>
          <a:p>
            <a:r>
              <a:rPr lang="es-ES" sz="1600">
                <a:latin typeface="Segoe UI" panose="020B0502040204020203" pitchFamily="34" charset="0"/>
              </a:rPr>
              <a:t>  "nombre_completo": "Administrador Principal",</a:t>
            </a:r>
          </a:p>
          <a:p>
            <a:r>
              <a:rPr lang="es-ES" sz="1600">
                <a:latin typeface="Segoe UI" panose="020B0502040204020203" pitchFamily="34" charset="0"/>
              </a:rPr>
              <a:t>  "es_admin": 1,</a:t>
            </a:r>
          </a:p>
          <a:p>
            <a:r>
              <a:rPr lang="es-ES" sz="1600">
                <a:latin typeface="Segoe UI" panose="020B0502040204020203" pitchFamily="34" charset="0"/>
              </a:rPr>
              <a:t>  "activo": 1</a:t>
            </a:r>
          </a:p>
          <a:p>
            <a:r>
              <a:rPr lang="es-ES" sz="1600">
                <a:latin typeface="Segoe UI" panose="020B0502040204020203" pitchFamily="34" charset="0"/>
              </a:rPr>
              <a:t>}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1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135140-DDE0-E766-CDED-13AC96795C5E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Tabla: permisos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78FF61-B104-A8B0-BDB0-A05FEBADC638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**Relaciona usuarios con empresas y módulos**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**Estructura:**</a:t>
            </a:r>
          </a:p>
          <a:p>
            <a:r>
              <a:rPr lang="es-ES" sz="1600">
                <a:latin typeface="Segoe UI" panose="020B0502040204020203" pitchFamily="34" charset="0"/>
              </a:rPr>
              <a:t>• id:  Identificador único</a:t>
            </a:r>
          </a:p>
          <a:p>
            <a:r>
              <a:rPr lang="es-ES" sz="1600">
                <a:latin typeface="Segoe UI" panose="020B0502040204020203" pitchFamily="34" charset="0"/>
              </a:rPr>
              <a:t>• usuario_id:  ¿Quién? (FK a usuarios.id)</a:t>
            </a:r>
          </a:p>
          <a:p>
            <a:r>
              <a:rPr lang="es-ES" sz="1600">
                <a:latin typeface="Segoe UI" panose="020B0502040204020203" pitchFamily="34" charset="0"/>
              </a:rPr>
              <a:t>• empresa_id:  ¿Dónde? (empresa1, empresa2, etc.)</a:t>
            </a:r>
          </a:p>
          <a:p>
            <a:r>
              <a:rPr lang="es-ES" sz="1600">
                <a:latin typeface="Segoe UI" panose="020B0502040204020203" pitchFamily="34" charset="0"/>
              </a:rPr>
              <a:t>• modulo:  ¿Qué módulo? (CUENTAS, SUMMARY, RESUMEN, etc.)</a:t>
            </a:r>
          </a:p>
          <a:p>
            <a:r>
              <a:rPr lang="es-ES" sz="1600">
                <a:latin typeface="Segoe UI" panose="020B0502040204020203" pitchFamily="34" charset="0"/>
              </a:rPr>
              <a:t>• permiso:  ¿Qué puede hacer?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**Tipos de permiso:**</a:t>
            </a:r>
          </a:p>
          <a:p>
            <a:r>
              <a:rPr lang="es-ES" sz="1600">
                <a:latin typeface="Segoe UI" panose="020B0502040204020203" pitchFamily="34" charset="0"/>
              </a:rPr>
              <a:t>• "Lectura"</a:t>
            </a:r>
          </a:p>
          <a:p>
            <a:r>
              <a:rPr lang="es-ES" sz="1600">
                <a:latin typeface="Segoe UI" panose="020B0502040204020203" pitchFamily="34" charset="0"/>
              </a:rPr>
              <a:t>• "Cargar y guardar"</a:t>
            </a:r>
          </a:p>
          <a:p>
            <a:r>
              <a:rPr lang="es-ES" sz="1600">
                <a:latin typeface="Segoe UI" panose="020B0502040204020203" pitchFamily="34" charset="0"/>
              </a:rPr>
              <a:t>• "Revisar"</a:t>
            </a:r>
          </a:p>
          <a:p>
            <a:r>
              <a:rPr lang="es-ES" sz="1600">
                <a:latin typeface="Segoe UI" panose="020B0502040204020203" pitchFamily="34" charset="0"/>
              </a:rPr>
              <a:t>• "Aprobar"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**Ejemplo:**</a:t>
            </a:r>
          </a:p>
          <a:p>
            <a:r>
              <a:rPr lang="es-ES" sz="1600">
                <a:latin typeface="Segoe UI" panose="020B0502040204020203" pitchFamily="34" charset="0"/>
              </a:rPr>
              <a:t>Usuario 5 tiene permiso "Cargar y guardar" en empresa1, módulo CUENTAS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586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87DB46-BCFA-7F47-8F97-085D7D7E2606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Tabla: presupuestos_estado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326940-2A2F-164B-6397-E6AFCD92DEBC}"/>
              </a:ext>
            </a:extLst>
          </p:cNvPr>
          <p:cNvSpPr txBox="1"/>
          <p:nvPr/>
        </p:nvSpPr>
        <p:spPr>
          <a:xfrm>
            <a:off x="508000" y="1143000"/>
            <a:ext cx="8128000" cy="45243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**Controla el estado de cada presupuesto**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**Columnas importantes:**</a:t>
            </a:r>
          </a:p>
          <a:p>
            <a:r>
              <a:rPr lang="es-ES" sz="1600">
                <a:latin typeface="Segoe UI" panose="020B0502040204020203" pitchFamily="34" charset="0"/>
              </a:rPr>
              <a:t>• empresa_id:  empresa1, empresa2, empresa3</a:t>
            </a:r>
          </a:p>
          <a:p>
            <a:r>
              <a:rPr lang="es-ES" sz="1600">
                <a:latin typeface="Segoe UI" panose="020B0502040204020203" pitchFamily="34" charset="0"/>
              </a:rPr>
              <a:t>• modulo:  CUENTAS, SUMMARY, RESUMEN, etc.</a:t>
            </a:r>
          </a:p>
          <a:p>
            <a:r>
              <a:rPr lang="es-ES" sz="1600">
                <a:latin typeface="Segoe UI" panose="020B0502040204020203" pitchFamily="34" charset="0"/>
              </a:rPr>
              <a:t>• anio:  2024, 2025, 2026...</a:t>
            </a:r>
          </a:p>
          <a:p>
            <a:r>
              <a:rPr lang="es-ES" sz="1600">
                <a:latin typeface="Segoe UI" panose="020B0502040204020203" pitchFamily="34" charset="0"/>
              </a:rPr>
              <a:t>• estado:  SIN_CARGAR, EDITANDO, REVISADO, APROBADO</a:t>
            </a:r>
          </a:p>
          <a:p>
            <a:r>
              <a:rPr lang="es-ES" sz="1600">
                <a:latin typeface="Segoe UI" panose="020B0502040204020203" pitchFamily="34" charset="0"/>
              </a:rPr>
              <a:t>• usuario_id:  Quién hizo el último cambio</a:t>
            </a:r>
          </a:p>
          <a:p>
            <a:r>
              <a:rPr lang="es-ES" sz="1600">
                <a:latin typeface="Segoe UI" panose="020B0502040204020203" pitchFamily="34" charset="0"/>
              </a:rPr>
              <a:t>• actualizado_en:  Cuándo fue el último cambio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**Ejemplo real:**</a:t>
            </a:r>
          </a:p>
          <a:p>
            <a:r>
              <a:rPr lang="es-ES" sz="1600">
                <a:latin typeface="Segoe UI" panose="020B0502040204020203" pitchFamily="34" charset="0"/>
              </a:rPr>
              <a:t>empresa1 + CUENTAS + 2025 → estado: APROBADO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**Restricción:**</a:t>
            </a:r>
          </a:p>
          <a:p>
            <a:r>
              <a:rPr lang="es-ES" sz="1600">
                <a:latin typeface="Segoe UI" panose="020B0502040204020203" pitchFamily="34" charset="0"/>
              </a:rPr>
              <a:t>Solo puede haber UN estado por combinación empresa+modulo+anio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28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9D03BC-26C8-23C1-674D-15C0E606A9AE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Seguridad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7D5112-AC6D-30FB-7EC3-612A2F22919E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**Medidas de protección implementadas:**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🔐 **Autenticación obligatoria**</a:t>
            </a:r>
          </a:p>
          <a:p>
            <a:r>
              <a:rPr lang="es-ES" sz="1600">
                <a:latin typeface="Segoe UI" panose="020B0502040204020203" pitchFamily="34" charset="0"/>
              </a:rPr>
              <a:t>   Todas las APIs requieren estar logueado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🔒 **Contraseñas encriptadas**</a:t>
            </a:r>
          </a:p>
          <a:p>
            <a:r>
              <a:rPr lang="es-ES" sz="1600">
                <a:latin typeface="Segoe UI" panose="020B0502040204020203" pitchFamily="34" charset="0"/>
              </a:rPr>
              <a:t>   Nunca se guardan contraseñas en texto plano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🛡️ **Validación de permisos**</a:t>
            </a:r>
          </a:p>
          <a:p>
            <a:r>
              <a:rPr lang="es-ES" sz="1600">
                <a:latin typeface="Segoe UI" panose="020B0502040204020203" pitchFamily="34" charset="0"/>
              </a:rPr>
              <a:t>   Se verifica en cada petición si el usuario puede hacer la acción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🚫 **Prevención de SQL Injection**</a:t>
            </a:r>
          </a:p>
          <a:p>
            <a:r>
              <a:rPr lang="es-ES" sz="1600">
                <a:latin typeface="Segoe UI" panose="020B0502040204020203" pitchFamily="34" charset="0"/>
              </a:rPr>
              <a:t>   Uso de consultas preparadas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⏱️ **Sesiones con expiración**</a:t>
            </a:r>
          </a:p>
          <a:p>
            <a:r>
              <a:rPr lang="es-ES" sz="1600">
                <a:latin typeface="Segoe UI" panose="020B0502040204020203" pitchFamily="34" charset="0"/>
              </a:rPr>
              <a:t>   Las sesiones se invalidan después de inactividad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📝 **Registro de acciones**</a:t>
            </a:r>
          </a:p>
          <a:p>
            <a:r>
              <a:rPr lang="es-ES" sz="1600">
                <a:latin typeface="Segoe UI" panose="020B0502040204020203" pitchFamily="34" charset="0"/>
              </a:rPr>
              <a:t>   Se guarda quién hizo qué y cuándo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22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366326-C60C-25F1-B1D2-58C242AF466C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Ejemplo Completo: Modificar Presupuesto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383F39-24E7-6DE4-7915-FD8DA6092D7F}"/>
              </a:ext>
            </a:extLst>
          </p:cNvPr>
          <p:cNvSpPr txBox="1"/>
          <p:nvPr/>
        </p:nvSpPr>
        <p:spPr>
          <a:xfrm>
            <a:off x="508000" y="1143000"/>
            <a:ext cx="8128000" cy="57554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**Historia: Usuario Iconet quiere modificar presupuesto de CDMX 2025**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1️⃣  Iconet hace login</a:t>
            </a:r>
          </a:p>
          <a:p>
            <a:r>
              <a:rPr lang="es-MX" sz="1600">
                <a:latin typeface="Segoe UI" panose="020B0502040204020203" pitchFamily="34" charset="0"/>
              </a:rPr>
              <a:t>    POST /api/auth/login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2️⃣  Selecciona empresa CDMX (empresa1)</a:t>
            </a:r>
          </a:p>
          <a:p>
            <a:r>
              <a:rPr lang="es-MX" sz="1600">
                <a:latin typeface="Segoe UI" panose="020B0502040204020203" pitchFamily="34" charset="0"/>
              </a:rPr>
              <a:t>    GET /api/empresas/empresa1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3️⃣  Sistema verifica permisos</a:t>
            </a:r>
          </a:p>
          <a:p>
            <a:r>
              <a:rPr lang="es-MX" sz="1600">
                <a:latin typeface="Segoe UI" panose="020B0502040204020203" pitchFamily="34" charset="0"/>
              </a:rPr>
              <a:t>    ¿Iconet puede modificar CUENTAS en empresa1? → SÍ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4️⃣  Carga presupuesto actual</a:t>
            </a:r>
          </a:p>
          <a:p>
            <a:r>
              <a:rPr lang="es-MX" sz="1600">
                <a:latin typeface="Segoe UI" panose="020B0502040204020203" pitchFamily="34" charset="0"/>
              </a:rPr>
              <a:t>    GET /api/presupuestos?empresaId=empresa1&amp;anio=2025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5️⃣  Iconet modifica valores</a:t>
            </a:r>
          </a:p>
          <a:p>
            <a:r>
              <a:rPr lang="es-MX" sz="1600">
                <a:latin typeface="Segoe UI" panose="020B0502040204020203" pitchFamily="34" charset="0"/>
              </a:rPr>
              <a:t>    [Edición en interfaz]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6️⃣  Guarda cambios</a:t>
            </a:r>
          </a:p>
          <a:p>
            <a:r>
              <a:rPr lang="es-MX" sz="1600">
                <a:latin typeface="Segoe UI" panose="020B0502040204020203" pitchFamily="34" charset="0"/>
              </a:rPr>
              <a:t>    POST /api/presupuestos/guardar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7️⃣  Sistema actualiza estado</a:t>
            </a:r>
          </a:p>
          <a:p>
            <a:r>
              <a:rPr lang="es-MX" sz="1600">
                <a:latin typeface="Segoe UI" panose="020B0502040204020203" pitchFamily="34" charset="0"/>
              </a:rPr>
              <a:t>    estado: EDITANDO → Tabla presupuestos_estado</a:t>
            </a:r>
          </a:p>
        </p:txBody>
      </p:sp>
    </p:spTree>
    <p:extLst>
      <p:ext uri="{BB962C8B-B14F-4D97-AF65-F5344CB8AC3E}">
        <p14:creationId xmlns:p14="http://schemas.microsoft.com/office/powerpoint/2010/main" val="2199191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A8C900-8A05-DB97-F08B-A63C19B9A9FD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Conexión con Firebird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6A8B9E-A99A-1051-4DFE-5FB438EEE794}"/>
              </a:ext>
            </a:extLst>
          </p:cNvPr>
          <p:cNvSpPr txBox="1"/>
          <p:nvPr/>
        </p:nvSpPr>
        <p:spPr>
          <a:xfrm>
            <a:off x="508000" y="1143000"/>
            <a:ext cx="8128000" cy="47705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**SummaCham obtiene datos reales desde Firebird**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**¿Qué es Firebird?**</a:t>
            </a:r>
          </a:p>
          <a:p>
            <a:r>
              <a:rPr lang="es-MX" sz="1600">
                <a:latin typeface="Segoe UI" panose="020B0502040204020203" pitchFamily="34" charset="0"/>
              </a:rPr>
              <a:t>Base de datos externa que tiene la información contable real</a:t>
            </a:r>
          </a:p>
          <a:p>
            <a:r>
              <a:rPr lang="es-MX" sz="1600">
                <a:latin typeface="Segoe UI" panose="020B0502040204020203" pitchFamily="34" charset="0"/>
              </a:rPr>
              <a:t>(saldos, movimientos, catálogo de cuentas)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**Flujo:**</a:t>
            </a:r>
          </a:p>
          <a:p>
            <a:r>
              <a:rPr lang="es-MX" sz="1600">
                <a:latin typeface="Segoe UI" panose="020B0502040204020203" pitchFamily="34" charset="0"/>
              </a:rPr>
              <a:t>1️⃣  Usuario pide saldos de empresa1</a:t>
            </a:r>
          </a:p>
          <a:p>
            <a:r>
              <a:rPr lang="es-MX" sz="1600">
                <a:latin typeface="Segoe UI" panose="020B0502040204020203" pitchFamily="34" charset="0"/>
              </a:rPr>
              <a:t>2️⃣  SummaCham lee configuración de conexión</a:t>
            </a:r>
          </a:p>
          <a:p>
            <a:r>
              <a:rPr lang="es-MX" sz="1600">
                <a:latin typeface="Segoe UI" panose="020B0502040204020203" pitchFamily="34" charset="0"/>
              </a:rPr>
              <a:t>3️⃣  Se conecta a Firebird de empresa1</a:t>
            </a:r>
          </a:p>
          <a:p>
            <a:r>
              <a:rPr lang="es-MX" sz="1600">
                <a:latin typeface="Segoe UI" panose="020B0502040204020203" pitchFamily="34" charset="0"/>
              </a:rPr>
              <a:t>4️⃣  Ejecuta query SQL</a:t>
            </a:r>
          </a:p>
          <a:p>
            <a:r>
              <a:rPr lang="es-MX" sz="1600">
                <a:latin typeface="Segoe UI" panose="020B0502040204020203" pitchFamily="34" charset="0"/>
              </a:rPr>
              <a:t>5️⃣  Procesa y formatea datos</a:t>
            </a:r>
          </a:p>
          <a:p>
            <a:r>
              <a:rPr lang="es-MX" sz="1600">
                <a:latin typeface="Segoe UI" panose="020B0502040204020203" pitchFamily="34" charset="0"/>
              </a:rPr>
              <a:t>6️⃣  Devuelve respuesta a usuario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**Archivo configuración:**</a:t>
            </a:r>
          </a:p>
          <a:p>
            <a:r>
              <a:rPr lang="es-MX" sz="1600">
                <a:latin typeface="Segoe UI" panose="020B0502040204020203" pitchFamily="34" charset="0"/>
              </a:rPr>
              <a:t>datos/firebird-connections.json</a:t>
            </a:r>
          </a:p>
        </p:txBody>
      </p:sp>
    </p:spTree>
    <p:extLst>
      <p:ext uri="{BB962C8B-B14F-4D97-AF65-F5344CB8AC3E}">
        <p14:creationId xmlns:p14="http://schemas.microsoft.com/office/powerpoint/2010/main" val="2467554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B07CE7A-C19E-5F99-6F53-58FD19F25841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Estructura de Archivos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10FDCD-A4FB-117E-4CB7-D793BBD15A81}"/>
              </a:ext>
            </a:extLst>
          </p:cNvPr>
          <p:cNvSpPr txBox="1"/>
          <p:nvPr/>
        </p:nvSpPr>
        <p:spPr>
          <a:xfrm>
            <a:off x="508000" y="1143000"/>
            <a:ext cx="8128000" cy="47705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**Organización del código:**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**src/**</a:t>
            </a:r>
          </a:p>
          <a:p>
            <a:r>
              <a:rPr lang="es-MX" sz="1600">
                <a:latin typeface="Segoe UI" panose="020B0502040204020203" pitchFamily="34" charset="0"/>
              </a:rPr>
              <a:t>   ├── server.js  →  Servidor principal</a:t>
            </a:r>
          </a:p>
          <a:p>
            <a:r>
              <a:rPr lang="es-MX" sz="1600">
                <a:latin typeface="Segoe UI" panose="020B0502040204020203" pitchFamily="34" charset="0"/>
              </a:rPr>
              <a:t>   ├── routes/  →  Rutas API (empresas, usuarios, presupuestos...)</a:t>
            </a:r>
          </a:p>
          <a:p>
            <a:r>
              <a:rPr lang="es-MX" sz="1600">
                <a:latin typeface="Segoe UI" panose="020B0502040204020203" pitchFamily="34" charset="0"/>
              </a:rPr>
              <a:t>   ├── services/  →  Lógica de negocio</a:t>
            </a:r>
          </a:p>
          <a:p>
            <a:r>
              <a:rPr lang="es-MX" sz="1600">
                <a:latin typeface="Segoe UI" panose="020B0502040204020203" pitchFamily="34" charset="0"/>
              </a:rPr>
              <a:t>   ├── db/  →  Conexión a SQLite</a:t>
            </a:r>
          </a:p>
          <a:p>
            <a:r>
              <a:rPr lang="es-MX" sz="1600">
                <a:latin typeface="Segoe UI" panose="020B0502040204020203" pitchFamily="34" charset="0"/>
              </a:rPr>
              <a:t>   └── middleware/  →  Verificación de permisos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**datos/**</a:t>
            </a:r>
          </a:p>
          <a:p>
            <a:r>
              <a:rPr lang="es-MX" sz="1600">
                <a:latin typeface="Segoe UI" panose="020B0502040204020203" pitchFamily="34" charset="0"/>
              </a:rPr>
              <a:t>   ├── panel.sqlite  →  Base de datos</a:t>
            </a:r>
          </a:p>
          <a:p>
            <a:r>
              <a:rPr lang="es-MX" sz="1600">
                <a:latin typeface="Segoe UI" panose="020B0502040204020203" pitchFamily="34" charset="0"/>
              </a:rPr>
              <a:t>   └── firebird-connections.json  →  Configuración Firebird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**vistas/**</a:t>
            </a:r>
          </a:p>
          <a:p>
            <a:r>
              <a:rPr lang="es-MX" sz="1600">
                <a:latin typeface="Segoe UI" panose="020B0502040204020203" pitchFamily="34" charset="0"/>
              </a:rPr>
              <a:t>   └── Archivos HTML de la interfaz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**config/**</a:t>
            </a:r>
          </a:p>
          <a:p>
            <a:r>
              <a:rPr lang="es-MX" sz="1600">
                <a:latin typeface="Segoe UI" panose="020B0502040204020203" pitchFamily="34" charset="0"/>
              </a:rPr>
              <a:t>   └── Configuraciones del sistema</a:t>
            </a:r>
          </a:p>
        </p:txBody>
      </p:sp>
    </p:spTree>
    <p:extLst>
      <p:ext uri="{BB962C8B-B14F-4D97-AF65-F5344CB8AC3E}">
        <p14:creationId xmlns:p14="http://schemas.microsoft.com/office/powerpoint/2010/main" val="869722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E4010C-D632-03F6-B5F1-334E8A44D1EF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Queries SQL Más Usados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D8A6F3-5520-8386-6E4D-E1F7AF582F3A}"/>
              </a:ext>
            </a:extLst>
          </p:cNvPr>
          <p:cNvSpPr txBox="1"/>
          <p:nvPr/>
        </p:nvSpPr>
        <p:spPr>
          <a:xfrm>
            <a:off x="508000" y="1143000"/>
            <a:ext cx="8128000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**1. Obtener permisos de un usuario:**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SELECT empresa_id, modulo, permiso</a:t>
            </a:r>
          </a:p>
          <a:p>
            <a:r>
              <a:rPr lang="es-MX" sz="1600">
                <a:latin typeface="Segoe UI" panose="020B0502040204020203" pitchFamily="34" charset="0"/>
              </a:rPr>
              <a:t>FROM permisos</a:t>
            </a:r>
          </a:p>
          <a:p>
            <a:r>
              <a:rPr lang="es-MX" sz="1600">
                <a:latin typeface="Segoe UI" panose="020B0502040204020203" pitchFamily="34" charset="0"/>
              </a:rPr>
              <a:t>WHERE usuario_id = 5 AND activo = 1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**2. Verificar estado de presupuesto:**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SELECT estado, usuario_id, actualizado_en</a:t>
            </a:r>
          </a:p>
          <a:p>
            <a:r>
              <a:rPr lang="es-MX" sz="1600">
                <a:latin typeface="Segoe UI" panose="020B0502040204020203" pitchFamily="34" charset="0"/>
              </a:rPr>
              <a:t>FROM presupuestos_estado</a:t>
            </a:r>
          </a:p>
          <a:p>
            <a:r>
              <a:rPr lang="es-MX" sz="1600">
                <a:latin typeface="Segoe UI" panose="020B0502040204020203" pitchFamily="34" charset="0"/>
              </a:rPr>
              <a:t>WHERE empresa_id = 'empresa1'</a:t>
            </a:r>
          </a:p>
          <a:p>
            <a:r>
              <a:rPr lang="es-MX" sz="1600">
                <a:latin typeface="Segoe UI" panose="020B0502040204020203" pitchFamily="34" charset="0"/>
              </a:rPr>
              <a:t>  AND modulo = 'CUENTAS'</a:t>
            </a:r>
          </a:p>
          <a:p>
            <a:r>
              <a:rPr lang="es-MX" sz="1600">
                <a:latin typeface="Segoe UI" panose="020B0502040204020203" pitchFamily="34" charset="0"/>
              </a:rPr>
              <a:t>  AND anio = 2025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**3. Obtener usuarios activos:**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SELECT id, username, nombre_completo</a:t>
            </a:r>
          </a:p>
          <a:p>
            <a:r>
              <a:rPr lang="es-MX" sz="1600">
                <a:latin typeface="Segoe UI" panose="020B0502040204020203" pitchFamily="34" charset="0"/>
              </a:rPr>
              <a:t>FROM usuarios</a:t>
            </a:r>
          </a:p>
          <a:p>
            <a:r>
              <a:rPr lang="es-MX" sz="1600">
                <a:latin typeface="Segoe UI" panose="020B0502040204020203" pitchFamily="34" charset="0"/>
              </a:rPr>
              <a:t>WHERE activo = 1</a:t>
            </a:r>
          </a:p>
          <a:p>
            <a:r>
              <a:rPr lang="es-MX" sz="1600">
                <a:latin typeface="Segoe UI" panose="020B0502040204020203" pitchFamily="34" charset="0"/>
              </a:rPr>
              <a:t>ORDER BY nombre_completo</a:t>
            </a:r>
          </a:p>
        </p:txBody>
      </p:sp>
    </p:spTree>
    <p:extLst>
      <p:ext uri="{BB962C8B-B14F-4D97-AF65-F5344CB8AC3E}">
        <p14:creationId xmlns:p14="http://schemas.microsoft.com/office/powerpoint/2010/main" val="212378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480B79-90B3-2A63-03F1-6AC4CC9FD65F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Logs y Monitoreo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CA446A-89EC-BF9E-42F2-2338FAB1FA7E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**El sistema registra eventos importantes:**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**Inicio/cierre de sesión**</a:t>
            </a:r>
          </a:p>
          <a:p>
            <a:r>
              <a:rPr lang="es-ES" sz="1600">
                <a:latin typeface="Segoe UI" panose="020B0502040204020203" pitchFamily="34" charset="0"/>
              </a:rPr>
              <a:t>   Quién entró y cuándo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📝 **Cambios en presupuestos**</a:t>
            </a:r>
          </a:p>
          <a:p>
            <a:r>
              <a:rPr lang="es-ES" sz="1600">
                <a:latin typeface="Segoe UI" panose="020B0502040204020203" pitchFamily="34" charset="0"/>
              </a:rPr>
              <a:t>   Quién modificó qué presupuesto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⚠️ **Errores**</a:t>
            </a:r>
          </a:p>
          <a:p>
            <a:r>
              <a:rPr lang="es-ES" sz="1600">
                <a:latin typeface="Segoe UI" panose="020B0502040204020203" pitchFamily="34" charset="0"/>
              </a:rPr>
              <a:t>   Problemas de conexión, fallos en queries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🔄 **Operaciones importantes**</a:t>
            </a:r>
          </a:p>
          <a:p>
            <a:r>
              <a:rPr lang="es-ES" sz="1600">
                <a:latin typeface="Segoe UI" panose="020B0502040204020203" pitchFamily="34" charset="0"/>
              </a:rPr>
              <a:t>   Aprobaciones, cambios de estado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**Dónde se ven:**</a:t>
            </a:r>
          </a:p>
          <a:p>
            <a:r>
              <a:rPr lang="es-ES" sz="1600">
                <a:latin typeface="Segoe UI" panose="020B0502040204020203" pitchFamily="34" charset="0"/>
              </a:rPr>
              <a:t>• Consola del servidor (tiempo real)</a:t>
            </a:r>
          </a:p>
          <a:p>
            <a:r>
              <a:rPr lang="es-ES" sz="1600">
                <a:latin typeface="Segoe UI" panose="020B0502040204020203" pitchFamily="34" charset="0"/>
              </a:rPr>
              <a:t>• Archivos de log (si están configurados)</a:t>
            </a:r>
          </a:p>
          <a:p>
            <a:r>
              <a:rPr lang="es-ES" sz="1600">
                <a:latin typeface="Segoe UI" panose="020B0502040204020203" pitchFamily="34" charset="0"/>
              </a:rPr>
              <a:t>• Tabla notificaciones (para usuarios)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23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788A1EE-B708-7102-1247-2ED11A077D29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Sistema de Respaldos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3910F0-EB13-E81A-CF28-D8D8D202CC45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**Backups automáticos de la base de datos**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⏰ **Frecuencia:**</a:t>
            </a:r>
          </a:p>
          <a:p>
            <a:r>
              <a:rPr lang="es-MX" sz="1600">
                <a:latin typeface="Segoe UI" panose="020B0502040204020203" pitchFamily="34" charset="0"/>
              </a:rPr>
              <a:t>   Cada 60 minutos automáticamente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**Ubicación:**</a:t>
            </a:r>
          </a:p>
          <a:p>
            <a:r>
              <a:rPr lang="es-MX" sz="1600">
                <a:latin typeface="Segoe UI" panose="020B0502040204020203" pitchFamily="34" charset="0"/>
              </a:rPr>
              <a:t>   datos/backups/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📋 **Nombre:**</a:t>
            </a:r>
          </a:p>
          <a:p>
            <a:r>
              <a:rPr lang="es-MX" sz="1600">
                <a:latin typeface="Segoe UI" panose="020B0502040204020203" pitchFamily="34" charset="0"/>
              </a:rPr>
              <a:t>   panel.sqlite.backup-YYYYMMDD-HHMMSS.db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**API de backups:**</a:t>
            </a:r>
          </a:p>
          <a:p>
            <a:r>
              <a:rPr lang="es-MX" sz="1600">
                <a:latin typeface="Segoe UI" panose="020B0502040204020203" pitchFamily="34" charset="0"/>
              </a:rPr>
              <a:t>📍 GET /api/backups  →  Lista backups disponibles</a:t>
            </a:r>
          </a:p>
          <a:p>
            <a:r>
              <a:rPr lang="es-MX" sz="1600">
                <a:latin typeface="Segoe UI" panose="020B0502040204020203" pitchFamily="34" charset="0"/>
              </a:rPr>
              <a:t>📍 POST /api/backups/manual  →  Crear backup ahora</a:t>
            </a:r>
          </a:p>
          <a:p>
            <a:r>
              <a:rPr lang="es-MX" sz="1600">
                <a:latin typeface="Segoe UI" panose="020B0502040204020203" pitchFamily="34" charset="0"/>
              </a:rPr>
              <a:t>📍 POST /api/backups/restore  →  Restaurar backup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📁 Archivo: src/routes/backups.js</a:t>
            </a:r>
          </a:p>
        </p:txBody>
      </p:sp>
    </p:spTree>
    <p:extLst>
      <p:ext uri="{BB962C8B-B14F-4D97-AF65-F5344CB8AC3E}">
        <p14:creationId xmlns:p14="http://schemas.microsoft.com/office/powerpoint/2010/main" val="1925332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92165E-26A7-D905-6794-4651A5EC57F2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Sistema de Notificaciones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2E5F26-782A-12B4-445A-DEC6441791FB}"/>
              </a:ext>
            </a:extLst>
          </p:cNvPr>
          <p:cNvSpPr txBox="1"/>
          <p:nvPr/>
        </p:nvSpPr>
        <p:spPr>
          <a:xfrm>
            <a:off x="508000" y="1143000"/>
            <a:ext cx="8128000" cy="5262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**Alertas para usuarios**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**Tipos de notificaciones:**</a:t>
            </a:r>
          </a:p>
          <a:p>
            <a:r>
              <a:rPr lang="es-ES" sz="1600">
                <a:latin typeface="Segoe UI" panose="020B0502040204020203" pitchFamily="34" charset="0"/>
              </a:rPr>
              <a:t>• Presupuesto listo para revisar</a:t>
            </a:r>
          </a:p>
          <a:p>
            <a:r>
              <a:rPr lang="es-ES" sz="1600">
                <a:latin typeface="Segoe UI" panose="020B0502040204020203" pitchFamily="34" charset="0"/>
              </a:rPr>
              <a:t>• Presupuesto aprobado</a:t>
            </a:r>
          </a:p>
          <a:p>
            <a:r>
              <a:rPr lang="es-ES" sz="1600">
                <a:latin typeface="Segoe UI" panose="020B0502040204020203" pitchFamily="34" charset="0"/>
              </a:rPr>
              <a:t>• Cambio de permisos</a:t>
            </a:r>
          </a:p>
          <a:p>
            <a:r>
              <a:rPr lang="es-ES" sz="1600">
                <a:latin typeface="Segoe UI" panose="020B0502040204020203" pitchFamily="34" charset="0"/>
              </a:rPr>
              <a:t>• Alertas del sistema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**API:**</a:t>
            </a:r>
          </a:p>
          <a:p>
            <a:r>
              <a:rPr lang="es-ES" sz="1600">
                <a:latin typeface="Segoe UI" panose="020B0502040204020203" pitchFamily="34" charset="0"/>
              </a:rPr>
              <a:t>📍 GET /api/notificaciones  →  Ver mis notificaciones</a:t>
            </a:r>
          </a:p>
          <a:p>
            <a:r>
              <a:rPr lang="es-ES" sz="1600">
                <a:latin typeface="Segoe UI" panose="020B0502040204020203" pitchFamily="34" charset="0"/>
              </a:rPr>
              <a:t>📁 Archivo: src/routes/notificaciones.js (línea 13)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**Tabla:**</a:t>
            </a:r>
          </a:p>
          <a:p>
            <a:r>
              <a:rPr lang="es-ES" sz="1600">
                <a:latin typeface="Segoe UI" panose="020B0502040204020203" pitchFamily="34" charset="0"/>
              </a:rPr>
              <a:t>📊 notificaciones</a:t>
            </a:r>
          </a:p>
          <a:p>
            <a:r>
              <a:rPr lang="es-ES" sz="1600">
                <a:latin typeface="Segoe UI" panose="020B0502040204020203" pitchFamily="34" charset="0"/>
              </a:rPr>
              <a:t>   • usuario_id:  Para quién</a:t>
            </a:r>
          </a:p>
          <a:p>
            <a:r>
              <a:rPr lang="es-ES" sz="1600">
                <a:latin typeface="Segoe UI" panose="020B0502040204020203" pitchFamily="34" charset="0"/>
              </a:rPr>
              <a:t>   • tipo:  info, warning, success, error</a:t>
            </a:r>
          </a:p>
          <a:p>
            <a:r>
              <a:rPr lang="es-ES" sz="1600">
                <a:latin typeface="Segoe UI" panose="020B0502040204020203" pitchFamily="34" charset="0"/>
              </a:rPr>
              <a:t>   • mensaje:  Texto de la notificación</a:t>
            </a:r>
          </a:p>
          <a:p>
            <a:r>
              <a:rPr lang="es-ES" sz="1600">
                <a:latin typeface="Segoe UI" panose="020B0502040204020203" pitchFamily="34" charset="0"/>
              </a:rPr>
              <a:t>   • leido:  0 (no leído) o 1 (leído)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667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0F2EEAF-F5B3-7486-D9F9-20EA9F8FF8C4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Módulos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D05590-5E64-3203-4ED6-8FCD5B2A4822}"/>
              </a:ext>
            </a:extLst>
          </p:cNvPr>
          <p:cNvSpPr txBox="1"/>
          <p:nvPr/>
        </p:nvSpPr>
        <p:spPr>
          <a:xfrm>
            <a:off x="508000" y="1143000"/>
            <a:ext cx="8128000" cy="57554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**SummaCham tiene varios módulos:**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📊 **CUENTAS**</a:t>
            </a:r>
          </a:p>
          <a:p>
            <a:r>
              <a:rPr lang="es-ES" sz="1600">
                <a:latin typeface="Segoe UI" panose="020B0502040204020203" pitchFamily="34" charset="0"/>
              </a:rPr>
              <a:t>   Presupuesto por cuenta contable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📈 **SUMMARY**</a:t>
            </a:r>
          </a:p>
          <a:p>
            <a:r>
              <a:rPr lang="es-ES" sz="1600">
                <a:latin typeface="Segoe UI" panose="020B0502040204020203" pitchFamily="34" charset="0"/>
              </a:rPr>
              <a:t>   Resumen ejecutivo de presupuestos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📋 **RESUMEN**</a:t>
            </a:r>
          </a:p>
          <a:p>
            <a:r>
              <a:rPr lang="es-ES" sz="1600">
                <a:latin typeface="Segoe UI" panose="020B0502040204020203" pitchFamily="34" charset="0"/>
              </a:rPr>
              <a:t>   Consolidado general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💼 **OPERATIVO**</a:t>
            </a:r>
          </a:p>
          <a:p>
            <a:r>
              <a:rPr lang="es-ES" sz="1600">
                <a:latin typeface="Segoe UI" panose="020B0502040204020203" pitchFamily="34" charset="0"/>
              </a:rPr>
              <a:t>   Presupuesto operativo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🏢 **RH** (Recursos Humanos)</a:t>
            </a:r>
          </a:p>
          <a:p>
            <a:r>
              <a:rPr lang="es-ES" sz="1600">
                <a:latin typeface="Segoe UI" panose="020B0502040204020203" pitchFamily="34" charset="0"/>
              </a:rPr>
              <a:t>   Presupuesto de personal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**Cada módulo tiene:**</a:t>
            </a:r>
          </a:p>
          <a:p>
            <a:r>
              <a:rPr lang="es-ES" sz="1600">
                <a:latin typeface="Segoe UI" panose="020B0502040204020203" pitchFamily="34" charset="0"/>
              </a:rPr>
              <a:t>• Sus propias plantillas (layouts)</a:t>
            </a:r>
          </a:p>
          <a:p>
            <a:r>
              <a:rPr lang="es-ES" sz="1600">
                <a:latin typeface="Segoe UI" panose="020B0502040204020203" pitchFamily="34" charset="0"/>
              </a:rPr>
              <a:t>• Sus propios permisos</a:t>
            </a:r>
          </a:p>
          <a:p>
            <a:r>
              <a:rPr lang="es-ES" sz="1600">
                <a:latin typeface="Segoe UI" panose="020B0502040204020203" pitchFamily="34" charset="0"/>
              </a:rPr>
              <a:t>• Su propio estado por empresa y año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870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B78BB6D-97CB-DEEC-0F5B-7FD8246F763C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Configuración: Variables de Entorno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E44133-BB94-B732-EC12-4F93840890E0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**Variables importantes del sistema:**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🌐 **PORT**</a:t>
            </a:r>
          </a:p>
          <a:p>
            <a:r>
              <a:rPr lang="es-MX" sz="1600">
                <a:latin typeface="Segoe UI" panose="020B0502040204020203" pitchFamily="34" charset="0"/>
              </a:rPr>
              <a:t>   Puerto del servidor (default: 3005)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🔐 **PANELAMCHAM_JWT_SECRET**</a:t>
            </a:r>
          </a:p>
          <a:p>
            <a:r>
              <a:rPr lang="es-MX" sz="1600">
                <a:latin typeface="Segoe UI" panose="020B0502040204020203" pitchFamily="34" charset="0"/>
              </a:rPr>
              <a:t>   Clave secreta para tokens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🔑 **SESSION_SECRET**</a:t>
            </a:r>
          </a:p>
          <a:p>
            <a:r>
              <a:rPr lang="es-MX" sz="1600">
                <a:latin typeface="Segoe UI" panose="020B0502040204020203" pitchFamily="34" charset="0"/>
              </a:rPr>
              <a:t>   Clave secreta para sesiones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⚙️ **NODE_ENV**</a:t>
            </a:r>
          </a:p>
          <a:p>
            <a:r>
              <a:rPr lang="es-MX" sz="1600">
                <a:latin typeface="Segoe UI" panose="020B0502040204020203" pitchFamily="34" charset="0"/>
              </a:rPr>
              <a:t>   Entorno: development o production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💾 **BACKUP_ENABLED**</a:t>
            </a:r>
          </a:p>
          <a:p>
            <a:r>
              <a:rPr lang="es-MX" sz="1600">
                <a:latin typeface="Segoe UI" panose="020B0502040204020203" pitchFamily="34" charset="0"/>
              </a:rPr>
              <a:t>   Activar/desactivar backups automáticos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⏱️ **BACKUP_INTERVAL_MINUTES**</a:t>
            </a:r>
          </a:p>
          <a:p>
            <a:r>
              <a:rPr lang="es-MX" sz="1600">
                <a:latin typeface="Segoe UI" panose="020B0502040204020203" pitchFamily="34" charset="0"/>
              </a:rPr>
              <a:t>   Cada cuántos minutos hacer backup (default: 60)</a:t>
            </a:r>
          </a:p>
        </p:txBody>
      </p:sp>
    </p:spTree>
    <p:extLst>
      <p:ext uri="{BB962C8B-B14F-4D97-AF65-F5344CB8AC3E}">
        <p14:creationId xmlns:p14="http://schemas.microsoft.com/office/powerpoint/2010/main" val="2675700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7D0AE29-1C40-8771-E56B-8256E990884A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Tecnologías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9FC1F91-D9A6-521C-9280-FD47B5363C61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**Stack tecnológico:**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⚙️ **Backend:**</a:t>
            </a:r>
          </a:p>
          <a:p>
            <a:r>
              <a:rPr lang="es-MX" sz="1600">
                <a:latin typeface="Segoe UI" panose="020B0502040204020203" pitchFamily="34" charset="0"/>
              </a:rPr>
              <a:t>   • Node.js:  Entorno de ejecución</a:t>
            </a:r>
          </a:p>
          <a:p>
            <a:r>
              <a:rPr lang="es-MX" sz="1600">
                <a:latin typeface="Segoe UI" panose="020B0502040204020203" pitchFamily="34" charset="0"/>
              </a:rPr>
              <a:t>   • Express:  Framework web</a:t>
            </a:r>
          </a:p>
          <a:p>
            <a:r>
              <a:rPr lang="es-MX" sz="1600">
                <a:latin typeface="Segoe UI" panose="020B0502040204020203" pitchFamily="34" charset="0"/>
              </a:rPr>
              <a:t>   • SQLite:  Base de datos local</a:t>
            </a:r>
          </a:p>
          <a:p>
            <a:r>
              <a:rPr lang="es-MX" sz="1600">
                <a:latin typeface="Segoe UI" panose="020B0502040204020203" pitchFamily="34" charset="0"/>
              </a:rPr>
              <a:t>   • node-firebird:  Conexión a Firebird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🔒 **Seguridad:**</a:t>
            </a:r>
          </a:p>
          <a:p>
            <a:r>
              <a:rPr lang="es-MX" sz="1600">
                <a:latin typeface="Segoe UI" panose="020B0502040204020203" pitchFamily="34" charset="0"/>
              </a:rPr>
              <a:t>   • bcrypt:  Encriptación de contraseñas</a:t>
            </a:r>
          </a:p>
          <a:p>
            <a:r>
              <a:rPr lang="es-MX" sz="1600">
                <a:latin typeface="Segoe UI" panose="020B0502040204020203" pitchFamily="34" charset="0"/>
              </a:rPr>
              <a:t>   • express-session:  Manejo de sesiones</a:t>
            </a:r>
          </a:p>
          <a:p>
            <a:r>
              <a:rPr lang="es-MX" sz="1600">
                <a:latin typeface="Segoe UI" panose="020B0502040204020203" pitchFamily="34" charset="0"/>
              </a:rPr>
              <a:t>   • helmet:  Protección de headers HTTP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📊 **Utilidades:**</a:t>
            </a:r>
          </a:p>
          <a:p>
            <a:r>
              <a:rPr lang="es-MX" sz="1600">
                <a:latin typeface="Segoe UI" panose="020B0502040204020203" pitchFamily="34" charset="0"/>
              </a:rPr>
              <a:t>   • Joi:  Validación de datos</a:t>
            </a:r>
          </a:p>
          <a:p>
            <a:r>
              <a:rPr lang="es-MX" sz="1600">
                <a:latin typeface="Segoe UI" panose="020B0502040204020203" pitchFamily="34" charset="0"/>
              </a:rPr>
              <a:t>   • date-fns:  Manejo de fechas</a:t>
            </a:r>
          </a:p>
          <a:p>
            <a:r>
              <a:rPr lang="es-MX" sz="1600">
                <a:latin typeface="Segoe UI" panose="020B0502040204020203" pitchFamily="34" charset="0"/>
              </a:rPr>
              <a:t>   • xlsx:  Generación de Excel</a:t>
            </a:r>
          </a:p>
        </p:txBody>
      </p:sp>
    </p:spTree>
    <p:extLst>
      <p:ext uri="{BB962C8B-B14F-4D97-AF65-F5344CB8AC3E}">
        <p14:creationId xmlns:p14="http://schemas.microsoft.com/office/powerpoint/2010/main" val="770236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F014A75-7012-0A33-C2D1-986E09C69626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Flujo de Autorización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545579-3861-B96D-D8DD-993BDCA709F4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**Cómo se autoriza un presupuesto**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1️⃣  **Usuario carga presupuesto**</a:t>
            </a:r>
          </a:p>
          <a:p>
            <a:r>
              <a:rPr lang="es-ES" sz="1600">
                <a:latin typeface="Segoe UI" panose="020B0502040204020203" pitchFamily="34" charset="0"/>
              </a:rPr>
              <a:t>    Estado: SIN_CARGAR → EDITANDO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2️⃣  **Usuario guarda cambios**</a:t>
            </a:r>
          </a:p>
          <a:p>
            <a:r>
              <a:rPr lang="es-ES" sz="1600">
                <a:latin typeface="Segoe UI" panose="020B0502040204020203" pitchFamily="34" charset="0"/>
              </a:rPr>
              <a:t>    POST /api/presupuestos/guardar</a:t>
            </a:r>
          </a:p>
          <a:p>
            <a:r>
              <a:rPr lang="es-ES" sz="1600">
                <a:latin typeface="Segoe UI" panose="020B0502040204020203" pitchFamily="34" charset="0"/>
              </a:rPr>
              <a:t>    Estado: EDITANDO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3️⃣  **Supervisor revisa**</a:t>
            </a:r>
          </a:p>
          <a:p>
            <a:r>
              <a:rPr lang="es-ES" sz="1600">
                <a:latin typeface="Segoe UI" panose="020B0502040204020203" pitchFamily="34" charset="0"/>
              </a:rPr>
              <a:t>    Usuario con permiso "Revisar"</a:t>
            </a:r>
          </a:p>
          <a:p>
            <a:r>
              <a:rPr lang="es-ES" sz="1600">
                <a:latin typeface="Segoe UI" panose="020B0502040204020203" pitchFamily="34" charset="0"/>
              </a:rPr>
              <a:t>    Estado: EDITANDO → REVISADO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4️⃣  **Director aprueba**</a:t>
            </a:r>
          </a:p>
          <a:p>
            <a:r>
              <a:rPr lang="es-ES" sz="1600">
                <a:latin typeface="Segoe UI" panose="020B0502040204020203" pitchFamily="34" charset="0"/>
              </a:rPr>
              <a:t>    Usuario con permiso "Aprobar"</a:t>
            </a:r>
          </a:p>
          <a:p>
            <a:r>
              <a:rPr lang="es-ES" sz="1600">
                <a:latin typeface="Segoe UI" panose="020B0502040204020203" pitchFamily="34" charset="0"/>
              </a:rPr>
              <a:t>    Estado: REVISADO → APROBADO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5️⃣  **Sistema guarda en Firebird**</a:t>
            </a:r>
          </a:p>
          <a:p>
            <a:r>
              <a:rPr lang="es-ES" sz="1600">
                <a:latin typeface="Segoe UI" panose="020B0502040204020203" pitchFamily="34" charset="0"/>
              </a:rPr>
              <a:t>    Datos pasan a base de datos de producción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220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1FA3F2-288E-0E38-89DD-5B34386AD9E9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Manejo de Errores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F6D034-A1E8-FF58-3FE1-A6BF822EEF6D}"/>
              </a:ext>
            </a:extLst>
          </p:cNvPr>
          <p:cNvSpPr txBox="1"/>
          <p:nvPr/>
        </p:nvSpPr>
        <p:spPr>
          <a:xfrm>
            <a:off x="508000" y="1143000"/>
            <a:ext cx="8128000" cy="60016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**Tipos de errores comunes:**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❌ **400 - Bad Request**</a:t>
            </a:r>
          </a:p>
          <a:p>
            <a:r>
              <a:rPr lang="es-ES" sz="1600">
                <a:latin typeface="Segoe UI" panose="020B0502040204020203" pitchFamily="34" charset="0"/>
              </a:rPr>
              <a:t>   Parámetros incorrectos o faltantes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🔒 **401 - Unauthorized**</a:t>
            </a:r>
          </a:p>
          <a:p>
            <a:r>
              <a:rPr lang="es-ES" sz="1600">
                <a:latin typeface="Segoe UI" panose="020B0502040204020203" pitchFamily="34" charset="0"/>
              </a:rPr>
              <a:t>   No estás logueado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🚫 **403 - Forbidden**</a:t>
            </a:r>
          </a:p>
          <a:p>
            <a:r>
              <a:rPr lang="es-ES" sz="1600">
                <a:latin typeface="Segoe UI" panose="020B0502040204020203" pitchFamily="34" charset="0"/>
              </a:rPr>
              <a:t>   No tienes permisos para esta acción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❓ **404 - Not Found**</a:t>
            </a:r>
          </a:p>
          <a:p>
            <a:r>
              <a:rPr lang="es-ES" sz="1600">
                <a:latin typeface="Segoe UI" panose="020B0502040204020203" pitchFamily="34" charset="0"/>
              </a:rPr>
              <a:t>   Recurso no existe (empresa, usuario, etc.)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⚠️ **500 - Internal Server Error**</a:t>
            </a:r>
          </a:p>
          <a:p>
            <a:r>
              <a:rPr lang="es-ES" sz="1600">
                <a:latin typeface="Segoe UI" panose="020B0502040204020203" pitchFamily="34" charset="0"/>
              </a:rPr>
              <a:t>   Error del servidor (revisa logs)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**Ejemplo de respuesta de error:**</a:t>
            </a:r>
          </a:p>
          <a:p>
            <a:r>
              <a:rPr lang="es-ES" sz="1600">
                <a:latin typeface="Segoe UI" panose="020B0502040204020203" pitchFamily="34" charset="0"/>
              </a:rPr>
              <a:t>{</a:t>
            </a:r>
          </a:p>
          <a:p>
            <a:r>
              <a:rPr lang="es-ES" sz="1600">
                <a:latin typeface="Segoe UI" panose="020B0502040204020203" pitchFamily="34" charset="0"/>
              </a:rPr>
              <a:t>  "mensaje": "No cuentas con permisos para esta empresa.",</a:t>
            </a:r>
          </a:p>
          <a:p>
            <a:r>
              <a:rPr lang="es-ES" sz="1600">
                <a:latin typeface="Segoe UI" panose="020B0502040204020203" pitchFamily="34" charset="0"/>
              </a:rPr>
              <a:t>  "codigo": 403</a:t>
            </a:r>
          </a:p>
          <a:p>
            <a:r>
              <a:rPr lang="es-ES" sz="1600">
                <a:latin typeface="Segoe UI" panose="020B0502040204020203" pitchFamily="34" charset="0"/>
              </a:rPr>
              <a:t>}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8609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A70698-0677-AC9E-53F8-C70E416539A3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Pruebas y Verificación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02BCF6-1F42-EB21-2B72-ED01C28A5263}"/>
              </a:ext>
            </a:extLst>
          </p:cNvPr>
          <p:cNvSpPr txBox="1"/>
          <p:nvPr/>
        </p:nvSpPr>
        <p:spPr>
          <a:xfrm>
            <a:off x="508000" y="1143000"/>
            <a:ext cx="8128000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latin typeface="Segoe UI" panose="020B0502040204020203" pitchFamily="34" charset="0"/>
              </a:rPr>
              <a:t>**Scripts de verificación disponibles:**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🔍 **Verificar usuarios:**</a:t>
            </a:r>
          </a:p>
          <a:p>
            <a:r>
              <a:rPr lang="es-MX" sz="1600">
                <a:latin typeface="Segoe UI" panose="020B0502040204020203" pitchFamily="34" charset="0"/>
              </a:rPr>
              <a:t>   scripts/verify_seeding.js</a:t>
            </a:r>
          </a:p>
          <a:p>
            <a:r>
              <a:rPr lang="es-MX" sz="1600">
                <a:latin typeface="Segoe UI" panose="020B0502040204020203" pitchFamily="34" charset="0"/>
              </a:rPr>
              <a:t>   Revisa que usuarios existen en BD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🔍 **Verificar empresa específica:**</a:t>
            </a:r>
          </a:p>
          <a:p>
            <a:r>
              <a:rPr lang="es-MX" sz="1600">
                <a:latin typeface="Segoe UI" panose="020B0502040204020203" pitchFamily="34" charset="0"/>
              </a:rPr>
              <a:t>   scripts/verify_empresa3.js</a:t>
            </a:r>
          </a:p>
          <a:p>
            <a:r>
              <a:rPr lang="es-MX" sz="1600">
                <a:latin typeface="Segoe UI" panose="020B0502040204020203" pitchFamily="34" charset="0"/>
              </a:rPr>
              <a:t>   Prueba acceso a empresa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🔍 **Verificar layouts:**</a:t>
            </a:r>
          </a:p>
          <a:p>
            <a:r>
              <a:rPr lang="es-MX" sz="1600">
                <a:latin typeface="Segoe UI" panose="020B0502040204020203" pitchFamily="34" charset="0"/>
              </a:rPr>
              <a:t>   scripts/check-layout.js</a:t>
            </a:r>
          </a:p>
          <a:p>
            <a:r>
              <a:rPr lang="es-MX" sz="1600">
                <a:latin typeface="Segoe UI" panose="020B0502040204020203" pitchFamily="34" charset="0"/>
              </a:rPr>
              <a:t>   Revisa plantillas guardadas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🔍 **Verificar operaciones:**</a:t>
            </a:r>
          </a:p>
          <a:p>
            <a:r>
              <a:rPr lang="es-MX" sz="1600">
                <a:latin typeface="Segoe UI" panose="020B0502040204020203" pitchFamily="34" charset="0"/>
              </a:rPr>
              <a:t>   scripts/list-operations.js</a:t>
            </a:r>
          </a:p>
          <a:p>
            <a:r>
              <a:rPr lang="es-MX" sz="1600">
                <a:latin typeface="Segoe UI" panose="020B0502040204020203" pitchFamily="34" charset="0"/>
              </a:rPr>
              <a:t>   Lista operaciones en layouts</a:t>
            </a:r>
          </a:p>
          <a:p>
            <a:endParaRPr lang="es-MX" sz="1600">
              <a:latin typeface="Segoe UI" panose="020B0502040204020203" pitchFamily="34" charset="0"/>
            </a:endParaRPr>
          </a:p>
          <a:p>
            <a:endParaRPr lang="es-MX" sz="1600">
              <a:latin typeface="Segoe UI" panose="020B0502040204020203" pitchFamily="34" charset="0"/>
            </a:endParaRPr>
          </a:p>
          <a:p>
            <a:r>
              <a:rPr lang="es-MX" sz="1600">
                <a:latin typeface="Segoe UI" panose="020B0502040204020203" pitchFamily="34" charset="0"/>
              </a:rPr>
              <a:t>**Ejecutar:**</a:t>
            </a:r>
          </a:p>
          <a:p>
            <a:r>
              <a:rPr lang="es-MX" sz="1600">
                <a:latin typeface="Segoe UI" panose="020B0502040204020203" pitchFamily="34" charset="0"/>
              </a:rPr>
              <a:t>   node scripts/nombre-del-script.js</a:t>
            </a:r>
          </a:p>
        </p:txBody>
      </p:sp>
    </p:spTree>
    <p:extLst>
      <p:ext uri="{BB962C8B-B14F-4D97-AF65-F5344CB8AC3E}">
        <p14:creationId xmlns:p14="http://schemas.microsoft.com/office/powerpoint/2010/main" val="1993969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3C0853-B8D5-2E48-D228-16A1A5E6744C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Preguntas Frecuentes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3C143C-2CAC-BDFC-2F49-BF3596995B1A}"/>
              </a:ext>
            </a:extLst>
          </p:cNvPr>
          <p:cNvSpPr txBox="1"/>
          <p:nvPr/>
        </p:nvSpPr>
        <p:spPr>
          <a:xfrm>
            <a:off x="508000" y="1143000"/>
            <a:ext cx="8128000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**¿Por qué no veo una empresa?**</a:t>
            </a:r>
          </a:p>
          <a:p>
            <a:r>
              <a:rPr lang="es-ES" sz="1600">
                <a:latin typeface="Segoe UI" panose="020B0502040204020203" pitchFamily="34" charset="0"/>
              </a:rPr>
              <a:t>→ No tienes permisos. Contacta al administrador.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**¿Cómo cambio mi contraseña?**</a:t>
            </a:r>
          </a:p>
          <a:p>
            <a:r>
              <a:rPr lang="es-ES" sz="1600">
                <a:latin typeface="Segoe UI" panose="020B0502040204020203" pitchFamily="34" charset="0"/>
              </a:rPr>
              <a:t>→ API: POST /api/perfil/cambiar-password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**¿Puedo tener permisos diferentes en cada empresa?**</a:t>
            </a:r>
          </a:p>
          <a:p>
            <a:r>
              <a:rPr lang="es-ES" sz="1600">
                <a:latin typeface="Segoe UI" panose="020B0502040204020203" pitchFamily="34" charset="0"/>
              </a:rPr>
              <a:t>→ Sí, los permisos son por empresa y módulo.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**¿Qué pasa si dos usuarios editan a la vez?**</a:t>
            </a:r>
          </a:p>
          <a:p>
            <a:r>
              <a:rPr lang="es-ES" sz="1600">
                <a:latin typeface="Segoe UI" panose="020B0502040204020203" pitchFamily="34" charset="0"/>
              </a:rPr>
              <a:t>→ El último en guardar sobreescribe.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**¿Los cambios son inmediatos?**</a:t>
            </a:r>
          </a:p>
          <a:p>
            <a:r>
              <a:rPr lang="es-ES" sz="1600">
                <a:latin typeface="Segoe UI" panose="020B0502040204020203" pitchFamily="34" charset="0"/>
              </a:rPr>
              <a:t>→ En SQLite SÍ, en Firebird NO (hasta aprobar).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**¿Puedo ver quién modificó un presupuesto?**</a:t>
            </a:r>
          </a:p>
          <a:p>
            <a:r>
              <a:rPr lang="es-ES" sz="1600">
                <a:latin typeface="Segoe UI" panose="020B0502040204020203" pitchFamily="34" charset="0"/>
              </a:rPr>
              <a:t>→ Sí, en presupuestos_estado está el usuario_id.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70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B8758F-E884-3ABE-BCDA-B373C266446D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Mejores Prácticas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6B474C-0257-ED1C-1C61-58037507C108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**Para desarrolladores:**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**Siempre valida permisos**</a:t>
            </a:r>
          </a:p>
          <a:p>
            <a:r>
              <a:rPr lang="es-ES" sz="1600">
                <a:latin typeface="Segoe UI" panose="020B0502040204020203" pitchFamily="34" charset="0"/>
              </a:rPr>
              <a:t>   Verifica que el usuario puede hacer la acción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**Usa transacciones**</a:t>
            </a:r>
          </a:p>
          <a:p>
            <a:r>
              <a:rPr lang="es-ES" sz="1600">
                <a:latin typeface="Segoe UI" panose="020B0502040204020203" pitchFamily="34" charset="0"/>
              </a:rPr>
              <a:t>   Para operaciones que modifican varias tablas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**Registra cambios importantes**</a:t>
            </a:r>
          </a:p>
          <a:p>
            <a:r>
              <a:rPr lang="es-ES" sz="1600">
                <a:latin typeface="Segoe UI" panose="020B0502040204020203" pitchFamily="34" charset="0"/>
              </a:rPr>
              <a:t>   Agrega logs de acciones críticas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**Maneja errores apropiadamente**</a:t>
            </a:r>
          </a:p>
          <a:p>
            <a:r>
              <a:rPr lang="es-ES" sz="1600">
                <a:latin typeface="Segoe UI" panose="020B0502040204020203" pitchFamily="34" charset="0"/>
              </a:rPr>
              <a:t>   Devuelve códigos HTTP correctos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**Documenta tus cambios**</a:t>
            </a:r>
          </a:p>
          <a:p>
            <a:r>
              <a:rPr lang="es-ES" sz="1600">
                <a:latin typeface="Segoe UI" panose="020B0502040204020203" pitchFamily="34" charset="0"/>
              </a:rPr>
              <a:t>   Comenta código complejo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✅ **Prueba con datos reales**</a:t>
            </a:r>
          </a:p>
          <a:p>
            <a:r>
              <a:rPr lang="es-ES" sz="1600">
                <a:latin typeface="Segoe UI" panose="020B0502040204020203" pitchFamily="34" charset="0"/>
              </a:rPr>
              <a:t>   Usa scripts de verificación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128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1E2D4F-8B85-CC07-8DE8-2096F33D7AC2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Próximas Mejoras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F9719A-5F54-8386-3CBE-FF68D6CE39A1}"/>
              </a:ext>
            </a:extLst>
          </p:cNvPr>
          <p:cNvSpPr txBox="1"/>
          <p:nvPr/>
        </p:nvSpPr>
        <p:spPr>
          <a:xfrm>
            <a:off x="508000" y="1143000"/>
            <a:ext cx="8128000" cy="50167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**Funcionalidades planeadas:**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🔮 **Dashboard mejorado**</a:t>
            </a:r>
          </a:p>
          <a:p>
            <a:r>
              <a:rPr lang="es-ES" sz="1600">
                <a:latin typeface="Segoe UI" panose="020B0502040204020203" pitchFamily="34" charset="0"/>
              </a:rPr>
              <a:t>   Gráficas interactivas con datos en tiempo real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📱 **API REST completa**</a:t>
            </a:r>
          </a:p>
          <a:p>
            <a:r>
              <a:rPr lang="es-ES" sz="1600">
                <a:latin typeface="Segoe UI" panose="020B0502040204020203" pitchFamily="34" charset="0"/>
              </a:rPr>
              <a:t>   Permitir integraciones con otros sistemas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🔔 **Notificaciones en tiempo real**</a:t>
            </a:r>
          </a:p>
          <a:p>
            <a:r>
              <a:rPr lang="es-ES" sz="1600">
                <a:latin typeface="Segoe UI" panose="020B0502040204020203" pitchFamily="34" charset="0"/>
              </a:rPr>
              <a:t>   WebSockets para alertas instantáneas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📊 **Reportes avanzados**</a:t>
            </a:r>
          </a:p>
          <a:p>
            <a:r>
              <a:rPr lang="es-ES" sz="1600">
                <a:latin typeface="Segoe UI" panose="020B0502040204020203" pitchFamily="34" charset="0"/>
              </a:rPr>
              <a:t>   Más tipos de reportes y exportaciones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👥 **Gestión de equipos**</a:t>
            </a:r>
          </a:p>
          <a:p>
            <a:r>
              <a:rPr lang="es-ES" sz="1600">
                <a:latin typeface="Segoe UI" panose="020B0502040204020203" pitchFamily="34" charset="0"/>
              </a:rPr>
              <a:t>   Roles y permisos más granulares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🔍 **Auditoría completa**</a:t>
            </a:r>
          </a:p>
          <a:p>
            <a:r>
              <a:rPr lang="es-ES" sz="1600">
                <a:latin typeface="Segoe UI" panose="020B0502040204020203" pitchFamily="34" charset="0"/>
              </a:rPr>
              <a:t>   Historial detallado de todos los cambios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77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14433F-BE26-9C3A-FBA6-F3CB089870C9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Contacto y Soporte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D7D995-EC12-84FF-BDCA-447D2D76FCD1}"/>
              </a:ext>
            </a:extLst>
          </p:cNvPr>
          <p:cNvSpPr txBox="1"/>
          <p:nvPr/>
        </p:nvSpPr>
        <p:spPr>
          <a:xfrm>
            <a:off x="508000" y="1143000"/>
            <a:ext cx="8128000" cy="5262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**¿Necesitas ayuda?**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📖 **Documentación:**</a:t>
            </a:r>
          </a:p>
          <a:p>
            <a:r>
              <a:rPr lang="es-ES" sz="1600">
                <a:latin typeface="Segoe UI" panose="020B0502040204020203" pitchFamily="34" charset="0"/>
              </a:rPr>
              <a:t>   Ver archivos DOCS_*.md en la raíz del proyecto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🔧 **Soporte técnico:**</a:t>
            </a:r>
          </a:p>
          <a:p>
            <a:r>
              <a:rPr lang="es-ES" sz="1600">
                <a:latin typeface="Segoe UI" panose="020B0502040204020203" pitchFamily="34" charset="0"/>
              </a:rPr>
              <a:t>   Contacta al equipo de desarrollo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📊 **Reportar bugs:**</a:t>
            </a:r>
          </a:p>
          <a:p>
            <a:r>
              <a:rPr lang="es-ES" sz="1600">
                <a:latin typeface="Segoe UI" panose="020B0502040204020203" pitchFamily="34" charset="0"/>
              </a:rPr>
              <a:t>   Describe el error con pasos para reproducirlo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💡 **Sugerencias:**</a:t>
            </a:r>
          </a:p>
          <a:p>
            <a:r>
              <a:rPr lang="es-ES" sz="1600">
                <a:latin typeface="Segoe UI" panose="020B0502040204020203" pitchFamily="34" charset="0"/>
              </a:rPr>
              <a:t>   Toda idea de mejora es bienvenida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📁 **Código fuente:**</a:t>
            </a:r>
          </a:p>
          <a:p>
            <a:r>
              <a:rPr lang="es-ES" sz="1600">
                <a:latin typeface="Segoe UI" panose="020B0502040204020203" pitchFamily="34" charset="0"/>
              </a:rPr>
              <a:t>   Repositorio: IustusRenidet/SummaCham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05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0CBCBA0-38C6-6F11-59AD-65D5974B753A}"/>
              </a:ext>
            </a:extLst>
          </p:cNvPr>
          <p:cNvSpPr txBox="1"/>
          <p:nvPr/>
        </p:nvSpPr>
        <p:spPr>
          <a:xfrm>
            <a:off x="381000" y="254000"/>
            <a:ext cx="838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FF5722"/>
                </a:solidFill>
                <a:latin typeface="Segoe UI" panose="020B0502040204020203" pitchFamily="34" charset="0"/>
              </a:rPr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C8AD26-E9B4-E34A-F172-32E3AFA05C0E}"/>
              </a:ext>
            </a:extLst>
          </p:cNvPr>
          <p:cNvSpPr txBox="1"/>
          <p:nvPr/>
        </p:nvSpPr>
        <p:spPr>
          <a:xfrm>
            <a:off x="508000" y="1143000"/>
            <a:ext cx="8128000" cy="60016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>
                <a:latin typeface="Segoe UI" panose="020B0502040204020203" pitchFamily="34" charset="0"/>
              </a:rPr>
              <a:t>**Puntos clave:**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🎯 **SummaCham es un sistema web** que gestiona presupuestos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🔐 **Todo está protegido** con autenticación y permisos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📊 **Conecta múltiples fuentes:**</a:t>
            </a:r>
          </a:p>
          <a:p>
            <a:r>
              <a:rPr lang="es-ES" sz="1600">
                <a:latin typeface="Segoe UI" panose="020B0502040204020203" pitchFamily="34" charset="0"/>
              </a:rPr>
              <a:t>   • SQLite (datos locales)</a:t>
            </a:r>
          </a:p>
          <a:p>
            <a:r>
              <a:rPr lang="es-ES" sz="1600">
                <a:latin typeface="Segoe UI" panose="020B0502040204020203" pitchFamily="34" charset="0"/>
              </a:rPr>
              <a:t>   • Firebird (datos contables reales)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🚀 **APIs bien definidas** para cada operación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💾 **Backups automáticos** para seguridad de datos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👥 **Control granular** de quién puede hacer qué</a:t>
            </a:r>
          </a:p>
          <a:p>
            <a:endParaRPr lang="es-ES" sz="1600">
              <a:latin typeface="Segoe UI" panose="020B0502040204020203" pitchFamily="34" charset="0"/>
            </a:endParaRPr>
          </a:p>
          <a:p>
            <a:endParaRPr lang="es-ES" sz="1600">
              <a:latin typeface="Segoe UI" panose="020B0502040204020203" pitchFamily="34" charset="0"/>
            </a:endParaRPr>
          </a:p>
          <a:p>
            <a:r>
              <a:rPr lang="es-ES" sz="1600">
                <a:latin typeface="Segoe UI" panose="020B0502040204020203" pitchFamily="34" charset="0"/>
              </a:rPr>
              <a:t>📈 **Escalable** para agregar más empresas y módulos</a:t>
            </a:r>
            <a:endParaRPr lang="es-MX" sz="160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20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3713</Words>
  <Application>Microsoft Office PowerPoint</Application>
  <PresentationFormat>Personalizado</PresentationFormat>
  <Paragraphs>828</Paragraphs>
  <Slides>39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Segoe UI</vt:lpstr>
      <vt:lpstr>Tema de Office</vt:lpstr>
      <vt:lpstr>SummaCham
Guía Técnica Simplificada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guevara</dc:creator>
  <cp:lastModifiedBy>sophie guevara</cp:lastModifiedBy>
  <cp:revision>1</cp:revision>
  <dcterms:created xsi:type="dcterms:W3CDTF">2026-02-09T16:46:17Z</dcterms:created>
  <dcterms:modified xsi:type="dcterms:W3CDTF">2026-02-09T16:46:17Z</dcterms:modified>
</cp:coreProperties>
</file>