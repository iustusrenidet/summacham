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715000" type="screen16x10"/>
  <p:notesSz cx="6858000" cy="9144000"/>
  <p:defaultTextStyle>
    <a:defPPr>
      <a:defRPr lang="es-MX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03343-5E24-74F8-1CA8-742F0ADAF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A56C0D-692B-31C8-C7A5-14ABAFE9F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A289CA-AFB6-AA7A-DFC5-C40133533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BB66-AB3D-45D9-B2F0-B86DD014188C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11EB9D-E617-1E92-D163-BF9B922AD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C40AC6-73D1-C7AD-2EFA-708E6C660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E0EC-F19C-4445-8187-293FB30307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1823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9F8F34-6BF5-2DBF-7861-AF5D9CAF6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64009A-FD79-4137-9B37-587CDA8E6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287AA-9577-F30B-508E-288AD7A58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BB66-AB3D-45D9-B2F0-B86DD014188C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93460A-8244-45B0-142A-A5947BB9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652611-21A4-88A0-D9B9-17C18B2A3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E0EC-F19C-4445-8187-293FB30307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542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7A70E-D41B-7194-2601-EED6670B4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372399-1567-2AA6-5A3D-AA3C930B8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A923DB-7974-28F3-A631-70C0ABA95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BB66-AB3D-45D9-B2F0-B86DD014188C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34CB84-6FF5-5E4E-2FC6-A2CE66D78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957CA6-4565-247F-DF52-78BFF0E44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E0EC-F19C-4445-8187-293FB30307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0655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E153A-1299-81A7-61D0-948ED56B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096D88-D8B3-79FB-67CE-79C6ED111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0BC69E-D24A-E76C-4EF8-451A7DA6A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C95E51-4AA9-8B04-D4E8-B4191564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BB66-AB3D-45D9-B2F0-B86DD014188C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DC965C-6D3D-B177-E758-0BA28D198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3C65B8-9A25-18E5-CE7C-CFD23B5D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E0EC-F19C-4445-8187-293FB30307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5277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20E2A-433A-7D4A-529D-6F4D4F335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A91829-86FE-C150-93A5-4DCC458C0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2224B-72E4-A173-1195-F6CC75C48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0701C8-3263-F9D8-531E-AE87D2D6D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6AAD8B8-692F-0790-A52A-CE759DCFF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A4A2C28-4323-8F67-D79E-08AD045A9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BB66-AB3D-45D9-B2F0-B86DD014188C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56AA4C0-C428-9B14-C9D7-0CDCFF989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28555F1-9386-22A6-AC76-B28380D72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E0EC-F19C-4445-8187-293FB30307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2306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4D258B-C336-71D1-C6D8-35F4EB853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99D84C-AF85-D8D1-C5CF-85078A212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BB66-AB3D-45D9-B2F0-B86DD014188C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349172-F628-2336-326E-58CCC0B61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E6B385-3DF0-8F20-1788-C2FA9C15F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E0EC-F19C-4445-8187-293FB30307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761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216FC40-F983-7FF9-A83F-91AF7E31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BB66-AB3D-45D9-B2F0-B86DD014188C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259B4E1-245D-D30D-86E5-54414B97D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46B2E8-020E-C77C-EF77-293DC295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E0EC-F19C-4445-8187-293FB30307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4250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A5714-6372-B874-C4A7-3A0C2738C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633A48-6B55-AF23-3544-5F933B073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51D26E-B9E0-C6D7-668E-89BB0C739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226836-A5F7-2E44-5A62-469A12721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BB66-AB3D-45D9-B2F0-B86DD014188C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5437BA-BBC5-38ED-0B32-5049F5C42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4137C9-1647-C117-17C7-676BE61F1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E0EC-F19C-4445-8187-293FB30307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321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2FC1A4-CC19-1727-1161-F53F75DA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5434FAC-E009-9D53-874A-85B28FF1CE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E658B2-5DA1-9486-DB1A-8860D0FCF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CDBD29-9D41-6647-49E8-3DA278E77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BB66-AB3D-45D9-B2F0-B86DD014188C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F4F459-955B-E1AB-B627-F9A08F0A4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003C5D-2F2A-021B-D4E2-A02ED8BE1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E0EC-F19C-4445-8187-293FB30307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0330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112C74-2B5D-2A4C-0A32-064C77B2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CD2E12-F9AD-51D1-CBBE-F231B1872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D80B63-D584-EECC-D3D9-7BC72F3C4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BB66-AB3D-45D9-B2F0-B86DD014188C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C624C9-4CD8-CE13-FA56-03ED8930A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7E50B3-F00C-97B0-CC6A-41491D175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E0EC-F19C-4445-8187-293FB30307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3275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F5C974E-4DBC-D2F2-5546-C73C68255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65699E9-4404-006A-DE32-2409E90AE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F6E9B1-2F1B-BCB0-B868-096F7E69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BB66-AB3D-45D9-B2F0-B86DD014188C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A2FB88-196D-C9C8-743D-05465CA12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3096A3-8F03-1F83-31DC-A9E386EA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E0EC-F19C-4445-8187-293FB30307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6471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6DC2D7C-ABC7-ADE7-A087-D55136111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245B48-7D9A-7E55-ED71-2D03B0E80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E9C164-A371-38CE-4EA6-551825DDF0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8BB66-AB3D-45D9-B2F0-B86DD014188C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0B94E-1054-ADD7-3658-8FA4F1D54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0E5F0A-27C0-B835-53FD-5C65B8810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7E0EC-F19C-4445-8187-293FB30307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446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C23F940-9397-CC16-8277-77A2461F9285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6F497E9-84A6-7AD6-6590-EFBBF83EA2AC}"/>
              </a:ext>
            </a:extLst>
          </p:cNvPr>
          <p:cNvSpPr txBox="1"/>
          <p:nvPr/>
        </p:nvSpPr>
        <p:spPr>
          <a:xfrm>
            <a:off x="1016000" y="1524000"/>
            <a:ext cx="7112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4400" b="1">
                <a:solidFill>
                  <a:srgbClr val="FFFFFF"/>
                </a:solidFill>
                <a:latin typeface="Segoe UI" panose="020B0502040204020203" pitchFamily="34" charset="0"/>
              </a:rPr>
              <a:t>SummaCham - PanelAMCHAM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8BB6378-1CE2-E5B0-67C5-E94CDD8965E9}"/>
              </a:ext>
            </a:extLst>
          </p:cNvPr>
          <p:cNvSpPr txBox="1"/>
          <p:nvPr/>
        </p:nvSpPr>
        <p:spPr>
          <a:xfrm>
            <a:off x="1016000" y="2667000"/>
            <a:ext cx="7112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600">
                <a:solidFill>
                  <a:srgbClr val="FFFFFF"/>
                </a:solidFill>
                <a:latin typeface="Segoe UI" panose="020B0502040204020203" pitchFamily="34" charset="0"/>
              </a:rPr>
              <a:t>APIs, Queries, Gestor de Plantillas y Graficas</a:t>
            </a:r>
            <a:endParaRPr lang="es-MX" sz="26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7042954-5225-FB0A-AD12-6AFDCB564AC4}"/>
              </a:ext>
            </a:extLst>
          </p:cNvPr>
          <p:cNvSpPr txBox="1"/>
          <p:nvPr/>
        </p:nvSpPr>
        <p:spPr>
          <a:xfrm>
            <a:off x="1016000" y="3556000"/>
            <a:ext cx="711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600">
                <a:solidFill>
                  <a:srgbClr val="C8DCFF"/>
                </a:solidFill>
                <a:latin typeface="Segoe UI" panose="020B0502040204020203" pitchFamily="34" charset="0"/>
              </a:rPr>
              <a:t>Explicacion tecnica paso a paso | Version 4.1.0 | Febrero 2026</a:t>
            </a:r>
            <a:endParaRPr lang="es-MX" sz="1600">
              <a:solidFill>
                <a:srgbClr val="C8DC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EBE8140-D2AF-804A-40EF-99661E3B94F5}"/>
              </a:ext>
            </a:extLst>
          </p:cNvPr>
          <p:cNvSpPr/>
          <p:nvPr/>
        </p:nvSpPr>
        <p:spPr>
          <a:xfrm>
            <a:off x="1016000" y="3429000"/>
            <a:ext cx="3810000" cy="38100"/>
          </a:xfrm>
          <a:prstGeom prst="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0873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E718790-421D-72D1-E70C-C381AD403059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27000" rtlCol="0" anchor="ctr"/>
          <a:lstStyle/>
          <a:p>
            <a:pPr algn="ctr"/>
            <a:r>
              <a:rPr lang="es-ES" sz="2600" b="1">
                <a:solidFill>
                  <a:srgbClr val="FFFFFF"/>
                </a:solidFill>
                <a:latin typeface="Segoe UI" panose="020B0502040204020203" pitchFamily="34" charset="0"/>
              </a:rPr>
              <a:t>  Que es una API y como funciona en SummaCham</a:t>
            </a:r>
            <a:endParaRPr lang="es-MX" sz="2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375B80B-F8DC-ACF8-897C-BAE4D4100CB3}"/>
              </a:ext>
            </a:extLst>
          </p:cNvPr>
          <p:cNvSpPr txBox="1"/>
          <p:nvPr/>
        </p:nvSpPr>
        <p:spPr>
          <a:xfrm>
            <a:off x="508000" y="914400"/>
            <a:ext cx="8128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500">
                <a:solidFill>
                  <a:srgbClr val="111827"/>
                </a:solidFill>
                <a:latin typeface="Segoe UI" panose="020B0502040204020203" pitchFamily="34" charset="0"/>
              </a:rPr>
              <a:t>Una API (Application Programming Interface) es el PUENTE entre
lo que el usuario ve (frontend) y donde estan los datos (backend).
Piensa en un restaurante:</a:t>
            </a:r>
            <a:endParaRPr lang="es-MX" sz="15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56812D1-451B-F2EB-050A-288430CAA2ED}"/>
              </a:ext>
            </a:extLst>
          </p:cNvPr>
          <p:cNvSpPr/>
          <p:nvPr/>
        </p:nvSpPr>
        <p:spPr>
          <a:xfrm>
            <a:off x="762000" y="1968500"/>
            <a:ext cx="2032000" cy="6985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b="1">
                <a:solidFill>
                  <a:srgbClr val="FFFFFF"/>
                </a:solidFill>
                <a:latin typeface="Segoe UI" panose="020B0502040204020203" pitchFamily="34" charset="0"/>
              </a:rPr>
              <a:t>USUARIO
(Cliente)</a:t>
            </a:r>
          </a:p>
        </p:txBody>
      </p:sp>
      <p:sp>
        <p:nvSpPr>
          <p:cNvPr id="5" name="Cilindro 4">
            <a:extLst>
              <a:ext uri="{FF2B5EF4-FFF2-40B4-BE49-F238E27FC236}">
                <a16:creationId xmlns:a16="http://schemas.microsoft.com/office/drawing/2014/main" id="{A9789C9A-26E6-DD0A-37FC-FD1D49104C1E}"/>
              </a:ext>
            </a:extLst>
          </p:cNvPr>
          <p:cNvSpPr/>
          <p:nvPr/>
        </p:nvSpPr>
        <p:spPr>
          <a:xfrm>
            <a:off x="2895600" y="2159000"/>
            <a:ext cx="508000" cy="2540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F4E340D-227A-BB52-8B0E-712ECFBF6D5F}"/>
              </a:ext>
            </a:extLst>
          </p:cNvPr>
          <p:cNvSpPr/>
          <p:nvPr/>
        </p:nvSpPr>
        <p:spPr>
          <a:xfrm>
            <a:off x="3505200" y="1968500"/>
            <a:ext cx="2032000" cy="6985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b="1">
                <a:solidFill>
                  <a:srgbClr val="FFFFFF"/>
                </a:solidFill>
                <a:latin typeface="Segoe UI" panose="020B0502040204020203" pitchFamily="34" charset="0"/>
              </a:rPr>
              <a:t>API
(Mesero)</a:t>
            </a:r>
          </a:p>
        </p:txBody>
      </p:sp>
      <p:sp>
        <p:nvSpPr>
          <p:cNvPr id="7" name="Cilindro 6">
            <a:extLst>
              <a:ext uri="{FF2B5EF4-FFF2-40B4-BE49-F238E27FC236}">
                <a16:creationId xmlns:a16="http://schemas.microsoft.com/office/drawing/2014/main" id="{92180AE0-3DB7-E790-6248-2843F4D0B555}"/>
              </a:ext>
            </a:extLst>
          </p:cNvPr>
          <p:cNvSpPr/>
          <p:nvPr/>
        </p:nvSpPr>
        <p:spPr>
          <a:xfrm>
            <a:off x="5638800" y="2159000"/>
            <a:ext cx="508000" cy="2540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D980F7C-AC71-9A51-0A30-8BA07380D078}"/>
              </a:ext>
            </a:extLst>
          </p:cNvPr>
          <p:cNvSpPr/>
          <p:nvPr/>
        </p:nvSpPr>
        <p:spPr>
          <a:xfrm>
            <a:off x="6248400" y="1968500"/>
            <a:ext cx="2032000" cy="6985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b="1">
                <a:solidFill>
                  <a:srgbClr val="FFFFFF"/>
                </a:solidFill>
                <a:latin typeface="Segoe UI" panose="020B0502040204020203" pitchFamily="34" charset="0"/>
              </a:rPr>
              <a:t>SERVIDOR
(Cocina)</a:t>
            </a:r>
          </a:p>
        </p:txBody>
      </p:sp>
      <p:sp>
        <p:nvSpPr>
          <p:cNvPr id="9" name="Cilindro 8">
            <a:extLst>
              <a:ext uri="{FF2B5EF4-FFF2-40B4-BE49-F238E27FC236}">
                <a16:creationId xmlns:a16="http://schemas.microsoft.com/office/drawing/2014/main" id="{716853A2-2D66-2E63-51E1-62C2CE12017C}"/>
              </a:ext>
            </a:extLst>
          </p:cNvPr>
          <p:cNvSpPr/>
          <p:nvPr/>
        </p:nvSpPr>
        <p:spPr>
          <a:xfrm>
            <a:off x="8382000" y="2159000"/>
            <a:ext cx="508000" cy="2540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F07F21D-6A1D-E6EB-EEAF-92B193505E04}"/>
              </a:ext>
            </a:extLst>
          </p:cNvPr>
          <p:cNvSpPr/>
          <p:nvPr/>
        </p:nvSpPr>
        <p:spPr>
          <a:xfrm>
            <a:off x="8991600" y="1968500"/>
            <a:ext cx="2032000" cy="6985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b="1">
                <a:solidFill>
                  <a:srgbClr val="FFFFFF"/>
                </a:solidFill>
                <a:latin typeface="Segoe UI" panose="020B0502040204020203" pitchFamily="34" charset="0"/>
              </a:rPr>
              <a:t>DATOS
(Despensa)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4A05FAB-0490-3C57-E614-6D2CF15CC1B4}"/>
              </a:ext>
            </a:extLst>
          </p:cNvPr>
          <p:cNvSpPr txBox="1"/>
          <p:nvPr/>
        </p:nvSpPr>
        <p:spPr>
          <a:xfrm>
            <a:off x="508000" y="2857500"/>
            <a:ext cx="8128000" cy="26930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>
                <a:solidFill>
                  <a:srgbClr val="111827"/>
                </a:solidFill>
                <a:latin typeface="Segoe UI" panose="020B0502040204020203" pitchFamily="34" charset="0"/>
              </a:rPr>
              <a:t>EN SUMMACHAM:
1. El usuario hace click en "Ver Resumen" en el navegador
2. El frontend (HTML/JS) envia un pedido HTTP al servidor:
      GET http://localhost:3005/api/reportes/resumen
3. El servidor Express recibe el pedido en la ruta /api/reportes
4. El backend consulta SQLite (layout) y Firebird (saldos)
5. El servidor responde con datos JSON al frontend
6. El frontend muestra los datos en tablas y graficas
PROTOCOLO: HTTP (peticiones y respuestas en formato JSON)
PUERTO: 3005 (configurable)
AUTENTICACION: Cookie de sesion + JWT Token en cada peticion</a:t>
            </a:r>
            <a:endParaRPr lang="es-MX" sz="13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88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3825E30-0779-5866-39EC-54A7294986DB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27000" rtlCol="0" anchor="ctr"/>
          <a:lstStyle/>
          <a:p>
            <a:pPr algn="ctr"/>
            <a:r>
              <a:rPr lang="es-ES" sz="2600" b="1">
                <a:solidFill>
                  <a:srgbClr val="FFFFFF"/>
                </a:solidFill>
                <a:latin typeface="Segoe UI" panose="020B0502040204020203" pitchFamily="34" charset="0"/>
              </a:rPr>
              <a:t>  Como se comunica el Frontend con el Backend</a:t>
            </a:r>
            <a:endParaRPr lang="es-MX" sz="2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D4CDCE5-6CF0-DBA0-6EA0-993B1829E1F8}"/>
              </a:ext>
            </a:extLst>
          </p:cNvPr>
          <p:cNvSpPr txBox="1"/>
          <p:nvPr/>
        </p:nvSpPr>
        <p:spPr>
          <a:xfrm>
            <a:off x="508000" y="914400"/>
            <a:ext cx="8128000" cy="317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400">
                <a:solidFill>
                  <a:srgbClr val="111827"/>
                </a:solidFill>
                <a:latin typeface="Segoe UI" panose="020B0502040204020203" pitchFamily="34" charset="0"/>
              </a:rPr>
              <a:t>Cada vez que el frontend necesita datos, hace una peticion fetch():</a:t>
            </a:r>
            <a:endParaRPr lang="es-MX" sz="14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D8BC5BE-FF26-A16F-4EA9-F85C57BEB433}"/>
              </a:ext>
            </a:extLst>
          </p:cNvPr>
          <p:cNvSpPr/>
          <p:nvPr/>
        </p:nvSpPr>
        <p:spPr>
          <a:xfrm>
            <a:off x="508000" y="1270000"/>
            <a:ext cx="8128000" cy="27940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pPr algn="ctr"/>
            <a:r>
              <a:rPr lang="es-MX" sz="1100">
                <a:solidFill>
                  <a:srgbClr val="111827"/>
                </a:solidFill>
                <a:latin typeface="Consolas" panose="020B0609020204030204" pitchFamily="49" charset="0"/>
              </a:rPr>
              <a:t>// Archivo: vistas/js/sesion.js
// El frontend prepara los HEADERS (cabeceras) de autenticacion:
const headers = {
  'Authorization': 'Bearer eyJhbGci...',   // Token JWT del usuario
  'X-Empresa-Activa': 'empresa1',          // Empresa seleccionada
  'Content-Type': 'application/json'       // Formato de datos
};
// Ejemplo: Pedir el reporte RESUMEN
const respuesta = await fetch('http://localhost:3005/api/reportes/resumen', {
  method: 'GET',          // Tipo de peticion (GET = leer, POST = enviar)
  headers: headers,       // Cabeceras con autenticacion
  credentials: 'include'  // Incluir cookies de sesion
});
// El servidor responde con JSON:
const datos = await respuesta.json();
// datos = { layout: [...], cuentas: [...], operaciones: [...] }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9E5CCE-B7ED-4FE9-E71E-6A5E62E7CEA2}"/>
              </a:ext>
            </a:extLst>
          </p:cNvPr>
          <p:cNvSpPr txBox="1"/>
          <p:nvPr/>
        </p:nvSpPr>
        <p:spPr>
          <a:xfrm>
            <a:off x="508000" y="4254500"/>
            <a:ext cx="8128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200">
                <a:solidFill>
                  <a:srgbClr val="111827"/>
                </a:solidFill>
                <a:latin typeface="Segoe UI" panose="020B0502040204020203" pitchFamily="34" charset="0"/>
              </a:rPr>
              <a:t>ARCHIVOS CLAVE:
  vistas/js/sesion.js       Maneja la sesion, tokens y headers
  src/middleware/auth.js     Verifica que el token sea valido
  src/server.js              Registra todas las rutas /api/*</a:t>
            </a:r>
          </a:p>
        </p:txBody>
      </p:sp>
    </p:spTree>
    <p:extLst>
      <p:ext uri="{BB962C8B-B14F-4D97-AF65-F5344CB8AC3E}">
        <p14:creationId xmlns:p14="http://schemas.microsoft.com/office/powerpoint/2010/main" val="116846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273E950-3B4F-F792-1115-8E32930921D7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27000" rtlCol="0" anchor="ctr"/>
          <a:lstStyle/>
          <a:p>
            <a:pPr algn="ctr"/>
            <a:r>
              <a:rPr lang="pt-BR" sz="2600" b="1">
                <a:solidFill>
                  <a:srgbClr val="FFFFFF"/>
                </a:solidFill>
                <a:latin typeface="Segoe UI" panose="020B0502040204020203" pitchFamily="34" charset="0"/>
              </a:rPr>
              <a:t>  Mapa completo de APIs (/api/*)</a:t>
            </a:r>
            <a:endParaRPr lang="es-MX" sz="2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8EE3701-C358-C1EF-417D-F5BB8CC9729E}"/>
              </a:ext>
            </a:extLst>
          </p:cNvPr>
          <p:cNvSpPr/>
          <p:nvPr/>
        </p:nvSpPr>
        <p:spPr>
          <a:xfrm>
            <a:off x="571500" y="914400"/>
            <a:ext cx="3429000" cy="4064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/api/auth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536E8A-B5A2-E050-257C-38809985018D}"/>
              </a:ext>
            </a:extLst>
          </p:cNvPr>
          <p:cNvSpPr txBox="1"/>
          <p:nvPr/>
        </p:nvSpPr>
        <p:spPr>
          <a:xfrm>
            <a:off x="571500" y="13462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Login, logout, refresh token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870EA70-C184-5635-899C-B57A903C383D}"/>
              </a:ext>
            </a:extLst>
          </p:cNvPr>
          <p:cNvSpPr/>
          <p:nvPr/>
        </p:nvSpPr>
        <p:spPr>
          <a:xfrm>
            <a:off x="571500" y="1625600"/>
            <a:ext cx="3429000" cy="4064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/api/usuarios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CC4B069-B465-8A38-8B85-FA9C2BAF8624}"/>
              </a:ext>
            </a:extLst>
          </p:cNvPr>
          <p:cNvSpPr txBox="1"/>
          <p:nvPr/>
        </p:nvSpPr>
        <p:spPr>
          <a:xfrm>
            <a:off x="571500" y="20574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CRUD usuarios + permisos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A3B0529-1F5E-F671-B236-20BECF62D624}"/>
              </a:ext>
            </a:extLst>
          </p:cNvPr>
          <p:cNvSpPr/>
          <p:nvPr/>
        </p:nvSpPr>
        <p:spPr>
          <a:xfrm>
            <a:off x="571500" y="2336800"/>
            <a:ext cx="3429000" cy="4064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/api/empresas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8A21B36-77D6-DA49-E3DA-B1F13CBB30C0}"/>
              </a:ext>
            </a:extLst>
          </p:cNvPr>
          <p:cNvSpPr txBox="1"/>
          <p:nvPr/>
        </p:nvSpPr>
        <p:spPr>
          <a:xfrm>
            <a:off x="571500" y="27686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Lista empresas, test conexion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F507888-2436-55CA-92BB-6EF07C8DEC4D}"/>
              </a:ext>
            </a:extLst>
          </p:cNvPr>
          <p:cNvSpPr/>
          <p:nvPr/>
        </p:nvSpPr>
        <p:spPr>
          <a:xfrm>
            <a:off x="571500" y="3048000"/>
            <a:ext cx="3429000" cy="4064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/api/reportes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B740ECB-55AA-BA54-10AA-71F064242C7B}"/>
              </a:ext>
            </a:extLst>
          </p:cNvPr>
          <p:cNvSpPr txBox="1"/>
          <p:nvPr/>
        </p:nvSpPr>
        <p:spPr>
          <a:xfrm>
            <a:off x="571500" y="34798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Genera reportes Summary/Resumen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220CACA-F6D3-034C-8A9B-E449D4AA443C}"/>
              </a:ext>
            </a:extLst>
          </p:cNvPr>
          <p:cNvSpPr/>
          <p:nvPr/>
        </p:nvSpPr>
        <p:spPr>
          <a:xfrm>
            <a:off x="571500" y="3759200"/>
            <a:ext cx="3429000" cy="4064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/api/presupuestos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BE10092-84D2-9362-3770-B518B5C07CD8}"/>
              </a:ext>
            </a:extLst>
          </p:cNvPr>
          <p:cNvSpPr txBox="1"/>
          <p:nvPr/>
        </p:nvSpPr>
        <p:spPr>
          <a:xfrm>
            <a:off x="571500" y="41910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B7280"/>
                </a:solidFill>
                <a:latin typeface="Segoe UI" panose="020B0502040204020203" pitchFamily="34" charset="0"/>
              </a:rPr>
              <a:t>Datos de presupuesto por modulo</a:t>
            </a:r>
            <a:endParaRPr lang="es-MX" sz="10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59A13B0-B691-FAC0-27B2-097163CD9797}"/>
              </a:ext>
            </a:extLst>
          </p:cNvPr>
          <p:cNvSpPr/>
          <p:nvPr/>
        </p:nvSpPr>
        <p:spPr>
          <a:xfrm>
            <a:off x="4191000" y="914400"/>
            <a:ext cx="3429000" cy="4064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/api/layouts-config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40246BB-B5D3-1F86-6C5A-3053B86E542F}"/>
              </a:ext>
            </a:extLst>
          </p:cNvPr>
          <p:cNvSpPr txBox="1"/>
          <p:nvPr/>
        </p:nvSpPr>
        <p:spPr>
          <a:xfrm>
            <a:off x="4191000" y="13462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Gestor de Plantillas (CRUD)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07385F1-CAB1-4ADE-9EF0-DBB1981F981B}"/>
              </a:ext>
            </a:extLst>
          </p:cNvPr>
          <p:cNvSpPr/>
          <p:nvPr/>
        </p:nvSpPr>
        <p:spPr>
          <a:xfrm>
            <a:off x="4191000" y="1625600"/>
            <a:ext cx="3429000" cy="4064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/api/borradores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6F1319E-9F1F-0467-B9FF-C0741C320978}"/>
              </a:ext>
            </a:extLst>
          </p:cNvPr>
          <p:cNvSpPr txBox="1"/>
          <p:nvPr/>
        </p:nvSpPr>
        <p:spPr>
          <a:xfrm>
            <a:off x="4191000" y="20574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Guardado automatico, envio, aprobar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BE5FF32-2EE8-F259-5139-2D0E131FFCA7}"/>
              </a:ext>
            </a:extLst>
          </p:cNvPr>
          <p:cNvSpPr/>
          <p:nvPr/>
        </p:nvSpPr>
        <p:spPr>
          <a:xfrm>
            <a:off x="4191000" y="2336800"/>
            <a:ext cx="3429000" cy="4064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/api/saldos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634146D-A27E-E20D-8142-106B3484265A}"/>
              </a:ext>
            </a:extLst>
          </p:cNvPr>
          <p:cNvSpPr txBox="1"/>
          <p:nvPr/>
        </p:nvSpPr>
        <p:spPr>
          <a:xfrm>
            <a:off x="4191000" y="27686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Consulta saldos Firebird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6037CA41-4175-7934-6B43-E696CE006546}"/>
              </a:ext>
            </a:extLst>
          </p:cNvPr>
          <p:cNvSpPr/>
          <p:nvPr/>
        </p:nvSpPr>
        <p:spPr>
          <a:xfrm>
            <a:off x="4191000" y="3048000"/>
            <a:ext cx="3429000" cy="4064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/api/insercion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A23CF9B-612B-F750-7E97-C7F7495C1E47}"/>
              </a:ext>
            </a:extLst>
          </p:cNvPr>
          <p:cNvSpPr txBox="1"/>
          <p:nvPr/>
        </p:nvSpPr>
        <p:spPr>
          <a:xfrm>
            <a:off x="4191000" y="34798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Agregar cuentas/secciones/ops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50CC131C-75E3-306F-308B-559D55921AC5}"/>
              </a:ext>
            </a:extLst>
          </p:cNvPr>
          <p:cNvSpPr/>
          <p:nvPr/>
        </p:nvSpPr>
        <p:spPr>
          <a:xfrm>
            <a:off x="4191000" y="3759200"/>
            <a:ext cx="3429000" cy="4064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/api/planeacion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C52F13A-1D57-CDD3-F561-338BD3A254CC}"/>
              </a:ext>
            </a:extLst>
          </p:cNvPr>
          <p:cNvSpPr txBox="1"/>
          <p:nvPr/>
        </p:nvSpPr>
        <p:spPr>
          <a:xfrm>
            <a:off x="4191000" y="41910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B7280"/>
                </a:solidFill>
                <a:latin typeface="Segoe UI" panose="020B0502040204020203" pitchFamily="34" charset="0"/>
              </a:rPr>
              <a:t>Datos por cuenta para planear</a:t>
            </a:r>
            <a:endParaRPr lang="es-MX" sz="10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2778E511-A56F-94E7-908E-01BDE32CDC75}"/>
              </a:ext>
            </a:extLst>
          </p:cNvPr>
          <p:cNvSpPr/>
          <p:nvPr/>
        </p:nvSpPr>
        <p:spPr>
          <a:xfrm>
            <a:off x="7810500" y="914400"/>
            <a:ext cx="3429000" cy="4064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/api/graficas-config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E4A738E-8DFE-706F-768F-07FC2C0F597E}"/>
              </a:ext>
            </a:extLst>
          </p:cNvPr>
          <p:cNvSpPr txBox="1"/>
          <p:nvPr/>
        </p:nvSpPr>
        <p:spPr>
          <a:xfrm>
            <a:off x="7810500" y="13462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Config de graficas (Chart.js)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8A22B912-164B-44F6-2206-606C9B3F03FA}"/>
              </a:ext>
            </a:extLst>
          </p:cNvPr>
          <p:cNvSpPr/>
          <p:nvPr/>
        </p:nvSpPr>
        <p:spPr>
          <a:xfrm>
            <a:off x="7810500" y="1625600"/>
            <a:ext cx="3429000" cy="4064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/api/backups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BDC3F6B-CE79-E067-4872-CFD86CC7AAB5}"/>
              </a:ext>
            </a:extLst>
          </p:cNvPr>
          <p:cNvSpPr txBox="1"/>
          <p:nvPr/>
        </p:nvSpPr>
        <p:spPr>
          <a:xfrm>
            <a:off x="7810500" y="20574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Crear/listar/restaurar backups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2AA53ED8-74BD-60B7-52EB-8E5485F3F6A2}"/>
              </a:ext>
            </a:extLst>
          </p:cNvPr>
          <p:cNvSpPr/>
          <p:nvPr/>
        </p:nvSpPr>
        <p:spPr>
          <a:xfrm>
            <a:off x="7810500" y="2336800"/>
            <a:ext cx="3429000" cy="4064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/api/perfil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997A56A-B940-D2A9-7269-2B5A3CEABEB3}"/>
              </a:ext>
            </a:extLst>
          </p:cNvPr>
          <p:cNvSpPr txBox="1"/>
          <p:nvPr/>
        </p:nvSpPr>
        <p:spPr>
          <a:xfrm>
            <a:off x="7810500" y="27686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Info usuario, cambiar password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1F00486C-ABA4-67B1-B445-FD77C5534F57}"/>
              </a:ext>
            </a:extLst>
          </p:cNvPr>
          <p:cNvSpPr/>
          <p:nvPr/>
        </p:nvSpPr>
        <p:spPr>
          <a:xfrm>
            <a:off x="7810500" y="3048000"/>
            <a:ext cx="3429000" cy="4064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/api/notificaciones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A59358C-0FBE-8508-3DD5-F063D0015ADD}"/>
              </a:ext>
            </a:extLst>
          </p:cNvPr>
          <p:cNvSpPr txBox="1"/>
          <p:nvPr/>
        </p:nvSpPr>
        <p:spPr>
          <a:xfrm>
            <a:off x="7810500" y="34798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Alertas para usuarios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01608CB4-094D-3651-6BEA-84083339088B}"/>
              </a:ext>
            </a:extLst>
          </p:cNvPr>
          <p:cNvSpPr/>
          <p:nvPr/>
        </p:nvSpPr>
        <p:spPr>
          <a:xfrm>
            <a:off x="7810500" y="3759200"/>
            <a:ext cx="3429000" cy="4064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/api/firebird-config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D85AB33-7597-3968-8E27-66FBB22D7120}"/>
              </a:ext>
            </a:extLst>
          </p:cNvPr>
          <p:cNvSpPr txBox="1"/>
          <p:nvPr/>
        </p:nvSpPr>
        <p:spPr>
          <a:xfrm>
            <a:off x="7810500" y="41910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Configurar conexion Firebird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291AA47-9838-A912-54DC-F6B7D7A79791}"/>
              </a:ext>
            </a:extLst>
          </p:cNvPr>
          <p:cNvSpPr txBox="1"/>
          <p:nvPr/>
        </p:nvSpPr>
        <p:spPr>
          <a:xfrm>
            <a:off x="508000" y="4572000"/>
            <a:ext cx="8128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>
                <a:solidFill>
                  <a:srgbClr val="111827"/>
                </a:solidFill>
                <a:latin typeface="Segoe UI" panose="020B0502040204020203" pitchFamily="34" charset="0"/>
              </a:rPr>
              <a:t>Todos los endpoints estan en src/routes/*.js y se registran en src/server.js</a:t>
            </a:r>
            <a:endParaRPr lang="es-MX" sz="11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719E032-E45B-7CE2-2750-593000800671}"/>
              </a:ext>
            </a:extLst>
          </p:cNvPr>
          <p:cNvSpPr txBox="1"/>
          <p:nvPr/>
        </p:nvSpPr>
        <p:spPr>
          <a:xfrm>
            <a:off x="508000" y="4889500"/>
            <a:ext cx="812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111827"/>
                </a:solidFill>
                <a:latin typeface="Segoe UI" panose="020B0502040204020203" pitchFamily="34" charset="0"/>
              </a:rPr>
              <a:t>ARCHIVOS:  src/routes/auth.js | usuarios.js | reportes.js | layoutRoutes.js | borradores.js
           graficas-config.js | backups.js | perfil.js | insercion.js | saldos.js</a:t>
            </a:r>
          </a:p>
        </p:txBody>
      </p:sp>
    </p:spTree>
    <p:extLst>
      <p:ext uri="{BB962C8B-B14F-4D97-AF65-F5344CB8AC3E}">
        <p14:creationId xmlns:p14="http://schemas.microsoft.com/office/powerpoint/2010/main" val="1974684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43996B8-F2D2-B837-45DB-66D687F72F63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27000" rtlCol="0" anchor="ctr"/>
          <a:lstStyle/>
          <a:p>
            <a:pPr algn="ctr"/>
            <a:r>
              <a:rPr lang="es-ES" sz="2600" b="1">
                <a:solidFill>
                  <a:srgbClr val="FFFFFF"/>
                </a:solidFill>
                <a:latin typeface="Segoe UI" panose="020B0502040204020203" pitchFamily="34" charset="0"/>
              </a:rPr>
              <a:t>  Ejemplo: Que pasa cuando abres RESUMEN</a:t>
            </a:r>
            <a:endParaRPr lang="es-MX" sz="2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19B880BB-8377-F3E5-0113-73DB1E4D4254}"/>
              </a:ext>
            </a:extLst>
          </p:cNvPr>
          <p:cNvSpPr/>
          <p:nvPr/>
        </p:nvSpPr>
        <p:spPr>
          <a:xfrm>
            <a:off x="571500" y="952500"/>
            <a:ext cx="381000" cy="381000"/>
          </a:xfrm>
          <a:prstGeom prst="round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A5A734-CC49-4C63-736C-96CD6693C6BC}"/>
              </a:ext>
            </a:extLst>
          </p:cNvPr>
          <p:cNvSpPr txBox="1"/>
          <p:nvPr/>
        </p:nvSpPr>
        <p:spPr>
          <a:xfrm>
            <a:off x="1079500" y="952500"/>
            <a:ext cx="990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>
                <a:solidFill>
                  <a:srgbClr val="111827"/>
                </a:solidFill>
                <a:latin typeface="Segoe UI" panose="020B0502040204020203" pitchFamily="34" charset="0"/>
              </a:rPr>
              <a:t>Usuario abre RESUMEN.html en el navegador</a:t>
            </a:r>
            <a:endParaRPr lang="es-MX" sz="13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C912CE8-64D1-C7DD-B0B8-CC6D424F07B6}"/>
              </a:ext>
            </a:extLst>
          </p:cNvPr>
          <p:cNvSpPr/>
          <p:nvPr/>
        </p:nvSpPr>
        <p:spPr>
          <a:xfrm>
            <a:off x="571500" y="1435100"/>
            <a:ext cx="381000" cy="381000"/>
          </a:xfrm>
          <a:prstGeom prst="round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E9F464-16A6-A547-9EED-8A0FF3BCA109}"/>
              </a:ext>
            </a:extLst>
          </p:cNvPr>
          <p:cNvSpPr txBox="1"/>
          <p:nvPr/>
        </p:nvSpPr>
        <p:spPr>
          <a:xfrm>
            <a:off x="1079500" y="1435100"/>
            <a:ext cx="990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200">
                <a:solidFill>
                  <a:srgbClr val="111827"/>
                </a:solidFill>
                <a:latin typeface="Segoe UI" panose="020B0502040204020203" pitchFamily="34" charset="0"/>
              </a:rPr>
              <a:t>resumen-view.js llama:  fetch('/api/reportes/resumen?empresaId=empresa1&amp;anio=2025&amp;mes=6')</a:t>
            </a:r>
            <a:endParaRPr lang="es-MX" sz="12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E83DE83-DF8A-738A-A065-67EDBAEAE3BA}"/>
              </a:ext>
            </a:extLst>
          </p:cNvPr>
          <p:cNvSpPr/>
          <p:nvPr/>
        </p:nvSpPr>
        <p:spPr>
          <a:xfrm>
            <a:off x="571500" y="1917700"/>
            <a:ext cx="381000" cy="381000"/>
          </a:xfrm>
          <a:prstGeom prst="round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9901598-DF13-1EA9-87B8-2610E6B050F3}"/>
              </a:ext>
            </a:extLst>
          </p:cNvPr>
          <p:cNvSpPr txBox="1"/>
          <p:nvPr/>
        </p:nvSpPr>
        <p:spPr>
          <a:xfrm>
            <a:off x="1079500" y="1917700"/>
            <a:ext cx="990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111827"/>
                </a:solidFill>
                <a:latin typeface="Segoe UI" panose="020B0502040204020203" pitchFamily="34" charset="0"/>
              </a:rPr>
              <a:t>src/server.js dirige la peticion a src/routes/reportes.js</a:t>
            </a:r>
            <a:endParaRPr lang="es-MX" sz="13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5A60418-2438-0368-B6BD-F7AE56771B12}"/>
              </a:ext>
            </a:extLst>
          </p:cNvPr>
          <p:cNvSpPr/>
          <p:nvPr/>
        </p:nvSpPr>
        <p:spPr>
          <a:xfrm>
            <a:off x="571500" y="2400300"/>
            <a:ext cx="381000" cy="3810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5D48532-3272-2EF7-A373-38EBAC81908F}"/>
              </a:ext>
            </a:extLst>
          </p:cNvPr>
          <p:cNvSpPr txBox="1"/>
          <p:nvPr/>
        </p:nvSpPr>
        <p:spPr>
          <a:xfrm>
            <a:off x="1079500" y="2400300"/>
            <a:ext cx="990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>
                <a:solidFill>
                  <a:srgbClr val="111827"/>
                </a:solidFill>
                <a:latin typeface="Segoe UI" panose="020B0502040204020203" pitchFamily="34" charset="0"/>
              </a:rPr>
              <a:t>middleware/auth.js verifica cookie/token -&gt; carga permisos del usuario</a:t>
            </a:r>
            <a:endParaRPr lang="es-MX" sz="13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9DB0C6B-79E6-D777-E704-D40A39BBE661}"/>
              </a:ext>
            </a:extLst>
          </p:cNvPr>
          <p:cNvSpPr/>
          <p:nvPr/>
        </p:nvSpPr>
        <p:spPr>
          <a:xfrm>
            <a:off x="571500" y="2882900"/>
            <a:ext cx="381000" cy="3810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C717BA4-675A-1ADA-2DDE-14EBBC504D96}"/>
              </a:ext>
            </a:extLst>
          </p:cNvPr>
          <p:cNvSpPr txBox="1"/>
          <p:nvPr/>
        </p:nvSpPr>
        <p:spPr>
          <a:xfrm>
            <a:off x="1079500" y="2882900"/>
            <a:ext cx="990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300">
                <a:solidFill>
                  <a:srgbClr val="111827"/>
                </a:solidFill>
                <a:latin typeface="Segoe UI" panose="020B0502040204020203" pitchFamily="34" charset="0"/>
              </a:rPr>
              <a:t>reportes.js llama a planeacionReportesEngine.construirReporteResumen()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B5216B1-EAFD-99F6-5ECC-0E34871E7F43}"/>
              </a:ext>
            </a:extLst>
          </p:cNvPr>
          <p:cNvSpPr/>
          <p:nvPr/>
        </p:nvSpPr>
        <p:spPr>
          <a:xfrm>
            <a:off x="571500" y="3365500"/>
            <a:ext cx="381000" cy="3810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F420CDF-ED4E-369F-4803-2B98F93C1B24}"/>
              </a:ext>
            </a:extLst>
          </p:cNvPr>
          <p:cNvSpPr txBox="1"/>
          <p:nvPr/>
        </p:nvSpPr>
        <p:spPr>
          <a:xfrm>
            <a:off x="1079500" y="3365500"/>
            <a:ext cx="990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200">
                <a:solidFill>
                  <a:srgbClr val="111827"/>
                </a:solidFill>
                <a:latin typeface="Segoe UI" panose="020B0502040204020203" pitchFamily="34" charset="0"/>
              </a:rPr>
              <a:t>Engine carga layout de SQLite (cuentas + operaciones) para empresa1/RESUMEN/2025</a:t>
            </a:r>
            <a:endParaRPr lang="es-MX" sz="12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A5588777-F93B-53E8-6BAE-9338BC07639A}"/>
              </a:ext>
            </a:extLst>
          </p:cNvPr>
          <p:cNvSpPr/>
          <p:nvPr/>
        </p:nvSpPr>
        <p:spPr>
          <a:xfrm>
            <a:off x="571500" y="3848100"/>
            <a:ext cx="381000" cy="3810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412E4D5-22E5-44CA-F408-944608AA692E}"/>
              </a:ext>
            </a:extLst>
          </p:cNvPr>
          <p:cNvSpPr txBox="1"/>
          <p:nvPr/>
        </p:nvSpPr>
        <p:spPr>
          <a:xfrm>
            <a:off x="1079500" y="3848100"/>
            <a:ext cx="990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200">
                <a:solidFill>
                  <a:srgbClr val="111827"/>
                </a:solidFill>
                <a:latin typeface="Segoe UI" panose="020B0502040204020203" pitchFamily="34" charset="0"/>
              </a:rPr>
              <a:t>Engine consulta Firebird: SELECT saldos, presupuestos de SALDOS25, PRESUP25</a:t>
            </a:r>
            <a:endParaRPr lang="es-MX" sz="12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EB0D085-190D-2D99-DD00-824722565FED}"/>
              </a:ext>
            </a:extLst>
          </p:cNvPr>
          <p:cNvSpPr/>
          <p:nvPr/>
        </p:nvSpPr>
        <p:spPr>
          <a:xfrm>
            <a:off x="571500" y="4330700"/>
            <a:ext cx="381000" cy="3810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Segoe UI" panose="020B0502040204020203" pitchFamily="34" charset="0"/>
              </a:rPr>
              <a:t>8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5A7D007-5B81-886C-78CD-E6DC60BA9FB7}"/>
              </a:ext>
            </a:extLst>
          </p:cNvPr>
          <p:cNvSpPr txBox="1"/>
          <p:nvPr/>
        </p:nvSpPr>
        <p:spPr>
          <a:xfrm>
            <a:off x="1079500" y="4330700"/>
            <a:ext cx="990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200">
                <a:solidFill>
                  <a:srgbClr val="111827"/>
                </a:solidFill>
                <a:latin typeface="Segoe UI" panose="020B0502040204020203" pitchFamily="34" charset="0"/>
              </a:rPr>
              <a:t>Engine calcula totales por seccion, operaciones consolidadas, acumulados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91DBE0FB-2DE9-3131-6A97-AEE224A8F07C}"/>
              </a:ext>
            </a:extLst>
          </p:cNvPr>
          <p:cNvSpPr/>
          <p:nvPr/>
        </p:nvSpPr>
        <p:spPr>
          <a:xfrm>
            <a:off x="571500" y="4813300"/>
            <a:ext cx="381000" cy="381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Segoe UI" panose="020B0502040204020203" pitchFamily="34" charset="0"/>
              </a:rPr>
              <a:t>9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B30136E-F58E-7B36-0BCE-C949190B8C29}"/>
              </a:ext>
            </a:extLst>
          </p:cNvPr>
          <p:cNvSpPr txBox="1"/>
          <p:nvPr/>
        </p:nvSpPr>
        <p:spPr>
          <a:xfrm>
            <a:off x="1079500" y="4813300"/>
            <a:ext cx="990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>
                <a:solidFill>
                  <a:srgbClr val="111827"/>
                </a:solidFill>
                <a:latin typeface="Segoe UI" panose="020B0502040204020203" pitchFamily="34" charset="0"/>
              </a:rPr>
              <a:t>Servidor responde JSON con la tabla completa: cuentas + valores + totales</a:t>
            </a:r>
            <a:endParaRPr lang="es-MX" sz="13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03A34BEA-C234-DF3B-7154-562481CF8B36}"/>
              </a:ext>
            </a:extLst>
          </p:cNvPr>
          <p:cNvSpPr/>
          <p:nvPr/>
        </p:nvSpPr>
        <p:spPr>
          <a:xfrm>
            <a:off x="533400" y="5295900"/>
            <a:ext cx="444500" cy="381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Segoe UI" panose="020B0502040204020203" pitchFamily="34" charset="0"/>
              </a:rPr>
              <a:t>10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5F7A9DF-6553-086D-4F4C-87E7BA2DF9A4}"/>
              </a:ext>
            </a:extLst>
          </p:cNvPr>
          <p:cNvSpPr txBox="1"/>
          <p:nvPr/>
        </p:nvSpPr>
        <p:spPr>
          <a:xfrm>
            <a:off x="1079500" y="5295900"/>
            <a:ext cx="990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>
                <a:solidFill>
                  <a:srgbClr val="111827"/>
                </a:solidFill>
                <a:latin typeface="Segoe UI" panose="020B0502040204020203" pitchFamily="34" charset="0"/>
              </a:rPr>
              <a:t>resumen-view.js renderiza la tabla HTML con los datos recibidos</a:t>
            </a:r>
            <a:endParaRPr lang="es-MX" sz="13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947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201D1BC-F6FD-E7B7-4D8B-7946B48C6AE5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27000" rtlCol="0" anchor="ctr"/>
          <a:lstStyle/>
          <a:p>
            <a:pPr algn="ctr"/>
            <a:r>
              <a:rPr lang="es-ES" sz="2600" b="1">
                <a:solidFill>
                  <a:srgbClr val="FFFFFF"/>
                </a:solidFill>
                <a:latin typeface="Segoe UI" panose="020B0502040204020203" pitchFamily="34" charset="0"/>
              </a:rPr>
              <a:t>  Como se calcula el REAL (saldo contable actual)</a:t>
            </a:r>
            <a:endParaRPr lang="es-MX" sz="2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2D7F2C2-64DF-6860-F1E2-FE4EF0EBB9CE}"/>
              </a:ext>
            </a:extLst>
          </p:cNvPr>
          <p:cNvSpPr txBox="1"/>
          <p:nvPr/>
        </p:nvSpPr>
        <p:spPr>
          <a:xfrm>
            <a:off x="508000" y="914400"/>
            <a:ext cx="81280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400">
                <a:solidFill>
                  <a:srgbClr val="111827"/>
                </a:solidFill>
                <a:latin typeface="Segoe UI" panose="020B0502040204020203" pitchFamily="34" charset="0"/>
              </a:rPr>
              <a:t>El REAL viene de la base de datos Firebird (Aspel COI):</a:t>
            </a:r>
            <a:endParaRPr lang="es-MX" sz="14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AE9F7BB-1D95-6E49-A0D0-16E57986EF35}"/>
              </a:ext>
            </a:extLst>
          </p:cNvPr>
          <p:cNvSpPr/>
          <p:nvPr/>
        </p:nvSpPr>
        <p:spPr>
          <a:xfrm>
            <a:off x="508000" y="1270000"/>
            <a:ext cx="8128000" cy="24130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pPr algn="ctr"/>
            <a:r>
              <a:rPr lang="es-MX" sz="1100">
                <a:solidFill>
                  <a:srgbClr val="111827"/>
                </a:solidFill>
                <a:latin typeface="Consolas" panose="020B0609020204030204" pitchFamily="49" charset="0"/>
              </a:rPr>
              <a:t>-- Archivo: src/services/planeacionCuentasService.js
-- Tablas de Firebird por anio: CUENTAS25, SALDOS25 (para 2025)
SELECT c.NUM_CTA, c.NOMBRE,
       COALESCE(s.CARGO06, 0) AS cargo_mes,    -- Cargos de Junio
       COALESCE(s.ABONO06, 0) AS abono_mes     -- Abonos de Junio
FROM CUENTAS25 c
LEFT JOIN SALDOS25 s ON s.NUM_CTA = c.NUM_CTA
WHERE c.STATUS = 'A'
  AND c.NUM_CTA IN ('4100', '4200', '5100')    -- Cuentas del layout
-- REGLA DE CALCULO (depende del tipo de cuenta):
-- Cuenta ACREEDORA (ingresos 2xxx-4xxx): Real = Abonos - Cargos
-- Cuenta DEUDORA   (gastos 5xxx-9xxx):   Real = Cargos - Abonos
-- Ejemplo cuenta 4100 (ingreso, acreedora):
--   cargo06 = 15,000   abono06 = 150,000
--   REAL MES = 150,000 - 15,000 = 135,000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905A29-CE2A-27EA-BB8C-102EDAAC56AE}"/>
              </a:ext>
            </a:extLst>
          </p:cNvPr>
          <p:cNvSpPr txBox="1"/>
          <p:nvPr/>
        </p:nvSpPr>
        <p:spPr>
          <a:xfrm>
            <a:off x="508000" y="3937000"/>
            <a:ext cx="81280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>
                <a:solidFill>
                  <a:srgbClr val="111827"/>
                </a:solidFill>
                <a:latin typeface="Segoe UI" panose="020B0502040204020203" pitchFamily="34" charset="0"/>
              </a:rPr>
              <a:t>QUE SIGNIFICA CADA VALOR:
  CARGO = Dinero que ENTRA a la cuenta (debito)
  ABONO = Dinero que SALE de la cuenta (credito)
  REAL  = El movimiento NETO del mes (segun naturaleza de la cuenta)
ARCHIVO CLAVE: src/services/planeacionCuentasService.js (lineas 197-252)</a:t>
            </a:r>
            <a:endParaRPr lang="es-MX" sz="13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4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FD8EC76-0E2B-F892-437F-85B63B7BE575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27000" rtlCol="0" anchor="ctr"/>
          <a:lstStyle/>
          <a:p>
            <a:pPr algn="ctr"/>
            <a:r>
              <a:rPr lang="es-ES" sz="2600" b="1">
                <a:solidFill>
                  <a:srgbClr val="FFFFFF"/>
                </a:solidFill>
                <a:latin typeface="Segoe UI" panose="020B0502040204020203" pitchFamily="34" charset="0"/>
              </a:rPr>
              <a:t>  Como se calcula el PRESUPUESTO</a:t>
            </a:r>
            <a:endParaRPr lang="es-MX" sz="2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300FB15-9624-6042-D42B-38E47B7C3673}"/>
              </a:ext>
            </a:extLst>
          </p:cNvPr>
          <p:cNvSpPr txBox="1"/>
          <p:nvPr/>
        </p:nvSpPr>
        <p:spPr>
          <a:xfrm>
            <a:off x="508000" y="914400"/>
            <a:ext cx="81280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400">
                <a:solidFill>
                  <a:srgbClr val="111827"/>
                </a:solidFill>
                <a:latin typeface="Segoe UI" panose="020B0502040204020203" pitchFamily="34" charset="0"/>
              </a:rPr>
              <a:t>El Presupuesto viene de la tabla PRESUP en Firebird:</a:t>
            </a:r>
            <a:endParaRPr lang="es-MX" sz="14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70574E9-ED5D-481D-C714-36A91705FD24}"/>
              </a:ext>
            </a:extLst>
          </p:cNvPr>
          <p:cNvSpPr/>
          <p:nvPr/>
        </p:nvSpPr>
        <p:spPr>
          <a:xfrm>
            <a:off x="508000" y="1270000"/>
            <a:ext cx="8128000" cy="20320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pPr algn="ctr"/>
            <a:r>
              <a:rPr lang="es-ES" sz="1100">
                <a:solidFill>
                  <a:srgbClr val="111827"/>
                </a:solidFill>
                <a:latin typeface="Consolas" panose="020B0609020204030204" pitchFamily="49" charset="0"/>
              </a:rPr>
              <a:t>-- Archivo: src/services/planeacionCuentasService.js
-- Tabla: PRESUPyy (ej: PRESUP25 para 2025)
SELECT pr.NUM_CTA,
       COALESCE(pr.PRESUP06, 0) AS presup_mes  -- Presupuesto de Junio
FROM PRESUP25 pr
WHERE pr.NUM_CTA IN ('4100', '4200', '5100')
-- PRESUP tiene 12 columnas: PRESUP01, PRESUP02, ... PRESUP12
-- Cada columna es el presupuesto de ese mes
-- Ejemplo cuenta 4100 en Junio:
--   PRESUP06 = 140,000
--   Presupuesto del mes = 140,000 (se toma directo, sin calculo)</a:t>
            </a:r>
            <a:endParaRPr lang="es-MX" sz="1100">
              <a:solidFill>
                <a:srgbClr val="111827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7C94A29-0771-4490-CDA3-CBC40A422EF8}"/>
              </a:ext>
            </a:extLst>
          </p:cNvPr>
          <p:cNvSpPr txBox="1"/>
          <p:nvPr/>
        </p:nvSpPr>
        <p:spPr>
          <a:xfrm>
            <a:off x="508000" y="3556000"/>
            <a:ext cx="8128000" cy="18928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>
                <a:solidFill>
                  <a:srgbClr val="111827"/>
                </a:solidFill>
                <a:latin typeface="Segoe UI" panose="020B0502040204020203" pitchFamily="34" charset="0"/>
              </a:rPr>
              <a:t>DIFERENCIA CON EL REAL:
  El REAL se calcula (abonos - cargos o cargos - abonos)
  El PRESUPUESTO se lee directamente de la tabla PRESUP (sin calculo)
PARA QUE SIRVE:
  Se compara Real vs Presupuesto para ver si se esta cumpliendo el plan
  Variacion = (Real - Presupuesto) / Presupuesto * 100
ARCHIVO CLAVE: src/services/planeacionCuentasService.js (linea 173)</a:t>
            </a:r>
            <a:endParaRPr lang="es-MX" sz="13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551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1344CF9-713F-3B8A-C57A-5C0CBABB5A4A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27000" rtlCol="0" anchor="ctr"/>
          <a:lstStyle/>
          <a:p>
            <a:pPr algn="ctr"/>
            <a:r>
              <a:rPr lang="es-ES" sz="2600" b="1">
                <a:solidFill>
                  <a:srgbClr val="FFFFFF"/>
                </a:solidFill>
                <a:latin typeface="Segoe UI" panose="020B0502040204020203" pitchFamily="34" charset="0"/>
              </a:rPr>
              <a:t>  Como se calculan los ACUMULADOS (YTD)</a:t>
            </a:r>
            <a:endParaRPr lang="es-MX" sz="2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2FA797A-4A3A-AE44-34E0-E6A0EEC17F50}"/>
              </a:ext>
            </a:extLst>
          </p:cNvPr>
          <p:cNvSpPr txBox="1"/>
          <p:nvPr/>
        </p:nvSpPr>
        <p:spPr>
          <a:xfrm>
            <a:off x="508000" y="914400"/>
            <a:ext cx="81280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400">
                <a:solidFill>
                  <a:srgbClr val="111827"/>
                </a:solidFill>
                <a:latin typeface="Segoe UI" panose="020B0502040204020203" pitchFamily="34" charset="0"/>
              </a:rPr>
              <a:t>El acumulado es la SUMA desde Enero hasta el mes seleccionado:</a:t>
            </a:r>
            <a:endParaRPr lang="es-MX" sz="14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185C34-D014-30FE-E277-D092CA7963AB}"/>
              </a:ext>
            </a:extLst>
          </p:cNvPr>
          <p:cNvSpPr/>
          <p:nvPr/>
        </p:nvSpPr>
        <p:spPr>
          <a:xfrm>
            <a:off x="508000" y="1270000"/>
            <a:ext cx="8128000" cy="20320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pPr algn="ctr"/>
            <a:r>
              <a:rPr lang="es-ES" sz="1100">
                <a:solidFill>
                  <a:srgbClr val="111827"/>
                </a:solidFill>
                <a:latin typeface="Consolas" panose="020B0609020204030204" pitchFamily="49" charset="0"/>
              </a:rPr>
              <a:t>-- Si el usuario selecciona MES = 6 (Junio):
-- REAL ACUMULADO (actualYTD):
Real_Acum = (Ene + Feb + Mar + Abr + May + Jun)
          = CARGO01-ABONO01 + CARGO02-ABONO02 + ... + CARGO06-ABONO06
          -- (invertido si es cuenta acreedora)
-- PRESUPUESTO ACUMULADO (planYTD):
Presup_Acum = PRESUP01 + PRESUP02 + PRESUP03 + PRESUP04 + PRESUP05 + PRESUP06
-- REAL ACUMULADO ANO ANTERIOR (prevYTD):
-- Misma logica pero usando tablas SALDOS24 (anio anterior)
Real_Acum_AA = suma de SALDOS del ano anterior, meses 1 a 6</a:t>
            </a:r>
            <a:endParaRPr lang="es-MX" sz="1100">
              <a:solidFill>
                <a:srgbClr val="111827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2887CE5-6B63-9E9F-38BA-770293A63C65}"/>
              </a:ext>
            </a:extLst>
          </p:cNvPr>
          <p:cNvSpPr txBox="1"/>
          <p:nvPr/>
        </p:nvSpPr>
        <p:spPr>
          <a:xfrm>
            <a:off x="508000" y="3492500"/>
            <a:ext cx="81280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200">
                <a:solidFill>
                  <a:srgbClr val="111827"/>
                </a:solidFill>
                <a:latin typeface="Segoe UI" panose="020B0502040204020203" pitchFamily="34" charset="0"/>
              </a:rPr>
              <a:t>EJEMPLO - Cuenta 4100 (Membership) - Mes seleccionado: Junio 2025
  Columna            | Valor        | Que significa
  -------------------|------------- |-----------------------------------
  Real Mes           |   135,000    | Movimiento neto de Junio 2025
  Presupuesto Mes    |   140,000    | Lo que se planeo para Junio 2025
  Real Acumulado     |   810,000    | Suma real de Ene a Jun 2025
  Ppto Acumulado     |   840,000    | Suma planeada de Ene a Jun 2025
  Real Acum AA       |   780,000    | Suma real de Ene a Jun 2024
  Var vs Plan        |    -3.6%     | (135K - 140K) / 140K = -3.6%
ARCHIVOS: planeacionCuentasService.js (query) -&gt; planeacionReportesEngine.js (calculo)</a:t>
            </a:r>
          </a:p>
        </p:txBody>
      </p:sp>
    </p:spTree>
    <p:extLst>
      <p:ext uri="{BB962C8B-B14F-4D97-AF65-F5344CB8AC3E}">
        <p14:creationId xmlns:p14="http://schemas.microsoft.com/office/powerpoint/2010/main" val="627575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3208C51-9F76-9786-1745-7A3731FAC6F0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27000" rtlCol="0" anchor="ctr"/>
          <a:lstStyle/>
          <a:p>
            <a:pPr algn="ctr"/>
            <a:r>
              <a:rPr lang="es-ES" sz="2600" b="1">
                <a:solidFill>
                  <a:srgbClr val="FFFFFF"/>
                </a:solidFill>
                <a:latin typeface="Segoe UI" panose="020B0502040204020203" pitchFamily="34" charset="0"/>
              </a:rPr>
              <a:t>  Flujo completo: De Firebird a la pantalla</a:t>
            </a:r>
            <a:endParaRPr lang="es-MX" sz="2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E43A0EA-A556-D31E-5E64-4953E9BE936A}"/>
              </a:ext>
            </a:extLst>
          </p:cNvPr>
          <p:cNvSpPr/>
          <p:nvPr/>
        </p:nvSpPr>
        <p:spPr>
          <a:xfrm>
            <a:off x="2667000" y="952500"/>
            <a:ext cx="3810000" cy="5715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FFFFFF"/>
                </a:solidFill>
                <a:latin typeface="Segoe UI" panose="020B0502040204020203" pitchFamily="34" charset="0"/>
              </a:rPr>
              <a:t>FIREBIRD (Aspel COI)
SALDOS + PRESUP + CUENTAS</a:t>
            </a:r>
            <a:endParaRPr lang="es-MX" sz="1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D136A9-1D63-B2AE-7C88-609FBA2F5948}"/>
              </a:ext>
            </a:extLst>
          </p:cNvPr>
          <p:cNvSpPr txBox="1"/>
          <p:nvPr/>
        </p:nvSpPr>
        <p:spPr>
          <a:xfrm>
            <a:off x="762000" y="1587500"/>
            <a:ext cx="508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B7280"/>
                </a:solidFill>
                <a:latin typeface="Segoe UI" panose="020B0502040204020203" pitchFamily="34" charset="0"/>
              </a:rPr>
              <a:t>Tablas por anio: SALDOS25, PRESUP25, CUENTAS25</a:t>
            </a:r>
            <a:endParaRPr lang="es-MX" sz="10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A1D60B7F-06EC-A028-9D51-F6132C7FA2C0}"/>
              </a:ext>
            </a:extLst>
          </p:cNvPr>
          <p:cNvSpPr/>
          <p:nvPr/>
        </p:nvSpPr>
        <p:spPr>
          <a:xfrm rot="5400000">
            <a:off x="4318000" y="1587500"/>
            <a:ext cx="254000" cy="317500"/>
          </a:xfrm>
          <a:prstGeom prst="rightArrow">
            <a:avLst/>
          </a:prstGeom>
          <a:solidFill>
            <a:srgbClr val="0D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63743C4-9F26-404B-09A8-C2D75B20F048}"/>
              </a:ext>
            </a:extLst>
          </p:cNvPr>
          <p:cNvSpPr/>
          <p:nvPr/>
        </p:nvSpPr>
        <p:spPr>
          <a:xfrm>
            <a:off x="2667000" y="2006600"/>
            <a:ext cx="3810000" cy="5080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planeacionCuentasService.js
obtenerDatosPlaneacionResumen()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6515A02-589A-9583-3C68-6F6388A162AD}"/>
              </a:ext>
            </a:extLst>
          </p:cNvPr>
          <p:cNvSpPr txBox="1"/>
          <p:nvPr/>
        </p:nvSpPr>
        <p:spPr>
          <a:xfrm>
            <a:off x="762000" y="2565400"/>
            <a:ext cx="635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Ejecuta query SQL, calcula naturaleza, mapea a campos estandar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DCFC73BA-4109-2148-8866-312ADA085399}"/>
              </a:ext>
            </a:extLst>
          </p:cNvPr>
          <p:cNvSpPr/>
          <p:nvPr/>
        </p:nvSpPr>
        <p:spPr>
          <a:xfrm rot="5400000">
            <a:off x="4318000" y="2565400"/>
            <a:ext cx="254000" cy="317500"/>
          </a:xfrm>
          <a:prstGeom prst="rightArrow">
            <a:avLst/>
          </a:prstGeom>
          <a:solidFill>
            <a:srgbClr val="0D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8036BC6-0BA5-C7A3-3D07-CC9795F87F49}"/>
              </a:ext>
            </a:extLst>
          </p:cNvPr>
          <p:cNvSpPr/>
          <p:nvPr/>
        </p:nvSpPr>
        <p:spPr>
          <a:xfrm>
            <a:off x="2667000" y="2984500"/>
            <a:ext cx="3810000" cy="5080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planeacionReportesEngine.js
construirReporteResumen()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D50D8E-CBC3-E794-E2E8-7EBA96356714}"/>
              </a:ext>
            </a:extLst>
          </p:cNvPr>
          <p:cNvSpPr txBox="1"/>
          <p:nvPr/>
        </p:nvSpPr>
        <p:spPr>
          <a:xfrm>
            <a:off x="762000" y="3543300"/>
            <a:ext cx="635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B7280"/>
                </a:solidFill>
                <a:latin typeface="Segoe UI" panose="020B0502040204020203" pitchFamily="34" charset="0"/>
              </a:rPr>
              <a:t>Agrupa por secciones, calcula totales, aplica formulas de operaciones</a:t>
            </a:r>
            <a:endParaRPr lang="es-MX" sz="10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CAD6AE32-FED8-E8ED-6057-3EA01733A0F7}"/>
              </a:ext>
            </a:extLst>
          </p:cNvPr>
          <p:cNvSpPr/>
          <p:nvPr/>
        </p:nvSpPr>
        <p:spPr>
          <a:xfrm rot="5400000">
            <a:off x="4318000" y="3543300"/>
            <a:ext cx="254000" cy="317500"/>
          </a:xfrm>
          <a:prstGeom prst="rightArrow">
            <a:avLst/>
          </a:prstGeom>
          <a:solidFill>
            <a:srgbClr val="0D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44B5CD1-54CC-9490-9126-043A72B56F85}"/>
              </a:ext>
            </a:extLst>
          </p:cNvPr>
          <p:cNvSpPr/>
          <p:nvPr/>
        </p:nvSpPr>
        <p:spPr>
          <a:xfrm>
            <a:off x="2667000" y="3962400"/>
            <a:ext cx="3810000" cy="5080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src/routes/reportes.js
GET /api/reportes/resumen</a:t>
            </a:r>
            <a:endParaRPr lang="es-MX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E90F8F2-A6A6-01EB-039D-C0E731F11E0D}"/>
              </a:ext>
            </a:extLst>
          </p:cNvPr>
          <p:cNvSpPr txBox="1"/>
          <p:nvPr/>
        </p:nvSpPr>
        <p:spPr>
          <a:xfrm>
            <a:off x="762000" y="4521200"/>
            <a:ext cx="635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Responde JSON con el reporte completo al frontend</a:t>
            </a: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8B756767-9639-5AE0-F17E-82607FF455C4}"/>
              </a:ext>
            </a:extLst>
          </p:cNvPr>
          <p:cNvSpPr/>
          <p:nvPr/>
        </p:nvSpPr>
        <p:spPr>
          <a:xfrm rot="5400000">
            <a:off x="4318000" y="4521200"/>
            <a:ext cx="254000" cy="317500"/>
          </a:xfrm>
          <a:prstGeom prst="rightArrow">
            <a:avLst/>
          </a:prstGeom>
          <a:solidFill>
            <a:srgbClr val="0D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90C97C96-3E31-4125-0EFE-BAB34CD3BD72}"/>
              </a:ext>
            </a:extLst>
          </p:cNvPr>
          <p:cNvSpPr/>
          <p:nvPr/>
        </p:nvSpPr>
        <p:spPr>
          <a:xfrm>
            <a:off x="2667000" y="4940300"/>
            <a:ext cx="3810000" cy="508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>
                <a:solidFill>
                  <a:srgbClr val="FFFFFF"/>
                </a:solidFill>
                <a:latin typeface="Segoe UI" panose="020B0502040204020203" pitchFamily="34" charset="0"/>
              </a:rPr>
              <a:t>resumen-view.js
Renderiza tabla HTML</a:t>
            </a:r>
            <a:endParaRPr lang="es-MX" sz="1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D2C8873-CF35-C819-89F4-B46DAA2EBBFA}"/>
              </a:ext>
            </a:extLst>
          </p:cNvPr>
          <p:cNvSpPr txBox="1"/>
          <p:nvPr/>
        </p:nvSpPr>
        <p:spPr>
          <a:xfrm>
            <a:off x="762000" y="5499100"/>
            <a:ext cx="635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Muestra: Real, Ppto, Var%, Real Acum, Ppto Acum, Real AA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6A78A27-7D20-FC94-BFCC-F51359B88246}"/>
              </a:ext>
            </a:extLst>
          </p:cNvPr>
          <p:cNvSpPr txBox="1"/>
          <p:nvPr/>
        </p:nvSpPr>
        <p:spPr>
          <a:xfrm>
            <a:off x="7747000" y="4127500"/>
            <a:ext cx="3302000" cy="12772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100">
                <a:solidFill>
                  <a:srgbClr val="111827"/>
                </a:solidFill>
                <a:latin typeface="Segoe UI" panose="020B0502040204020203" pitchFamily="34" charset="0"/>
              </a:rPr>
              <a:t>CADA FILA LLEVA 6 VALORES:
  actualMonth (Real)
  planMonth (Ppto)
  prevMonth (Real AA)
  actualYTD (Real Acum)
  planYTD (Ppto Acum)
  prevYTD (Real Acum AA)</a:t>
            </a:r>
          </a:p>
        </p:txBody>
      </p:sp>
    </p:spTree>
    <p:extLst>
      <p:ext uri="{BB962C8B-B14F-4D97-AF65-F5344CB8AC3E}">
        <p14:creationId xmlns:p14="http://schemas.microsoft.com/office/powerpoint/2010/main" val="2751081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925EAB8-BA18-8B53-42E2-EC5662DD2B1E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27000" rtlCol="0" anchor="ctr"/>
          <a:lstStyle/>
          <a:p>
            <a:pPr algn="ctr"/>
            <a:r>
              <a:rPr lang="es-ES" sz="2600" b="1">
                <a:solidFill>
                  <a:srgbClr val="FFFFFF"/>
                </a:solidFill>
                <a:latin typeface="Segoe UI" panose="020B0502040204020203" pitchFamily="34" charset="0"/>
              </a:rPr>
              <a:t>  Gestor de Plantillas - Que es y para que sirve</a:t>
            </a:r>
            <a:endParaRPr lang="es-MX" sz="2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10680D7-DB38-F343-8F5B-A473CF8EE77E}"/>
              </a:ext>
            </a:extLst>
          </p:cNvPr>
          <p:cNvSpPr txBox="1"/>
          <p:nvPr/>
        </p:nvSpPr>
        <p:spPr>
          <a:xfrm>
            <a:off x="508000" y="914400"/>
            <a:ext cx="8128000" cy="5245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400">
                <a:solidFill>
                  <a:srgbClr val="111827"/>
                </a:solidFill>
                <a:latin typeface="Segoe UI" panose="020B0502040204020203" pitchFamily="34" charset="0"/>
              </a:rPr>
              <a:t>El Gestor de Plantillas es la herramienta para DEFINIR la estructura
de los reportes financieros. Sin plantilla, no hay reporte.</a:t>
            </a:r>
            <a:endParaRPr lang="es-MX" sz="14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E8408AA-557D-FB90-43F5-6D6726327F64}"/>
              </a:ext>
            </a:extLst>
          </p:cNvPr>
          <p:cNvSpPr/>
          <p:nvPr/>
        </p:nvSpPr>
        <p:spPr>
          <a:xfrm>
            <a:off x="698500" y="1524000"/>
            <a:ext cx="3302000" cy="508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Segoe UI" panose="020B0502040204020203" pitchFamily="34" charset="0"/>
              </a:rPr>
              <a:t>CUENTAS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002D83F-EEC1-F4EB-DBCE-83CAE13EAFC6}"/>
              </a:ext>
            </a:extLst>
          </p:cNvPr>
          <p:cNvSpPr txBox="1"/>
          <p:nvPr/>
        </p:nvSpPr>
        <p:spPr>
          <a:xfrm>
            <a:off x="698500" y="2095500"/>
            <a:ext cx="3302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>
                <a:solidFill>
                  <a:srgbClr val="111827"/>
                </a:solidFill>
                <a:latin typeface="Segoe UI" panose="020B0502040204020203" pitchFamily="34" charset="0"/>
              </a:rPr>
              <a:t>Filas individuales del reporte
Ej: '4100' - Membership Renewals
Se agrupan por seccion
Tabla: layout_cuentas</a:t>
            </a:r>
            <a:endParaRPr lang="es-MX" sz="11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C1BDBFA-4D02-970E-04D5-67F8F782F9E1}"/>
              </a:ext>
            </a:extLst>
          </p:cNvPr>
          <p:cNvSpPr/>
          <p:nvPr/>
        </p:nvSpPr>
        <p:spPr>
          <a:xfrm>
            <a:off x="4254500" y="1524000"/>
            <a:ext cx="3302000" cy="5080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Segoe UI" panose="020B0502040204020203" pitchFamily="34" charset="0"/>
              </a:rPr>
              <a:t>OPERACIONES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6B6EA46-FE3A-A54B-F792-4C4FD42F9C0D}"/>
              </a:ext>
            </a:extLst>
          </p:cNvPr>
          <p:cNvSpPr txBox="1"/>
          <p:nvPr/>
        </p:nvSpPr>
        <p:spPr>
          <a:xfrm>
            <a:off x="4254500" y="2095500"/>
            <a:ext cx="3302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>
                <a:solidFill>
                  <a:srgbClr val="111827"/>
                </a:solidFill>
                <a:latin typeface="Segoe UI" panose="020B0502040204020203" pitchFamily="34" charset="0"/>
              </a:rPr>
              <a:t>Filas de CALCULO (totales)
Ej: Total Income = suma secciones
Pueden ser recursivas
Tabla: layout_operaciones</a:t>
            </a:r>
            <a:endParaRPr lang="es-MX" sz="11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321ED7B-9A1F-42FC-BD8D-85C72FDDFC7C}"/>
              </a:ext>
            </a:extLst>
          </p:cNvPr>
          <p:cNvSpPr/>
          <p:nvPr/>
        </p:nvSpPr>
        <p:spPr>
          <a:xfrm>
            <a:off x="7810500" y="1524000"/>
            <a:ext cx="3302000" cy="5080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Segoe UI" panose="020B0502040204020203" pitchFamily="34" charset="0"/>
              </a:rPr>
              <a:t>SECCIONES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40C2582-7EF2-A073-F863-AAF37BBE1ECB}"/>
              </a:ext>
            </a:extLst>
          </p:cNvPr>
          <p:cNvSpPr txBox="1"/>
          <p:nvPr/>
        </p:nvSpPr>
        <p:spPr>
          <a:xfrm>
            <a:off x="7810500" y="2095500"/>
            <a:ext cx="3302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>
                <a:solidFill>
                  <a:srgbClr val="111827"/>
                </a:solidFill>
                <a:latin typeface="Segoe UI" panose="020B0502040204020203" pitchFamily="34" charset="0"/>
              </a:rPr>
              <a:t>Agrupaciones logicas
Ej: Income (CDMX), Expense (GDL)
Definen la jerarquia visual
Tabla: layout_secciones</a:t>
            </a:r>
            <a:endParaRPr lang="es-MX" sz="11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1579D29-3D7E-4A4C-6112-0326B24DB4F7}"/>
              </a:ext>
            </a:extLst>
          </p:cNvPr>
          <p:cNvSpPr txBox="1"/>
          <p:nvPr/>
        </p:nvSpPr>
        <p:spPr>
          <a:xfrm>
            <a:off x="508000" y="3302000"/>
            <a:ext cx="8128000" cy="30469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200">
                <a:solidFill>
                  <a:srgbClr val="111827"/>
                </a:solidFill>
                <a:latin typeface="Segoe UI" panose="020B0502040204020203" pitchFamily="34" charset="0"/>
              </a:rPr>
              <a:t>COMO SE USA:
  1. Abrir plantillas.html -&gt; Seleccionar empresa + modulo + anio + capitulo
  2. El sistema carga el layout existente (o se crea uno nuevo)
  3. Se agregan/editan cuentas contables (numero + nombre + seccion)
  4. Se configuran operaciones (formulas de totales)
  5. Se ordena con drag-and-drop (orden_presentacion)
  6. Se guarda -&gt; queda listo para generar reportes
APIS QUE USA:
  GET  /api/layouts-config/:modulo/:anio/:capitulo     Cargar layout
  POST /api/layouts-config/:modulo/:anio/:capitulo     Guardar layout
  POST /api/layouts-config/:modulo/copiar              Copiar de otro anio
ARCHIVOS CLAVE:
  Frontend: vistas/js/plantillas.js (~13,900 lineas)
  Backend:  src/routes/layoutRoutes.js + src/services/layoutService.js</a:t>
            </a:r>
          </a:p>
        </p:txBody>
      </p:sp>
    </p:spTree>
    <p:extLst>
      <p:ext uri="{BB962C8B-B14F-4D97-AF65-F5344CB8AC3E}">
        <p14:creationId xmlns:p14="http://schemas.microsoft.com/office/powerpoint/2010/main" val="1699028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D4B2D2C-1FBB-78E1-E0F5-4F735387022B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27000" rtlCol="0" anchor="ctr"/>
          <a:lstStyle/>
          <a:p>
            <a:pPr algn="ctr"/>
            <a:r>
              <a:rPr lang="es-ES" sz="2600" b="1">
                <a:solidFill>
                  <a:srgbClr val="FFFFFF"/>
                </a:solidFill>
                <a:latin typeface="Segoe UI" panose="020B0502040204020203" pitchFamily="34" charset="0"/>
              </a:rPr>
              <a:t>  Gestor de Plantillas - APIs disponibles</a:t>
            </a:r>
            <a:endParaRPr lang="es-MX" sz="2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2627A30-6A8E-B3A7-E887-7BD436E283C4}"/>
              </a:ext>
            </a:extLst>
          </p:cNvPr>
          <p:cNvSpPr/>
          <p:nvPr/>
        </p:nvSpPr>
        <p:spPr>
          <a:xfrm>
            <a:off x="508000" y="914400"/>
            <a:ext cx="8128000" cy="45720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pPr algn="ctr"/>
            <a:r>
              <a:rPr lang="es-ES" sz="1100">
                <a:solidFill>
                  <a:srgbClr val="111827"/>
                </a:solidFill>
                <a:latin typeface="Consolas" panose="020B0609020204030204" pitchFamily="49" charset="0"/>
              </a:rPr>
              <a:t>BASE: /api/layouts-config
-- CARGAR Y GUARDAR --
GET  /:modulo/:anio/:capitulo          Cargar layout completo (cuentas + ops)
POST /:modulo/:anio/:capitulo          Guardar layout completo
POST /:modulo/:anio/:capitulo/cuentas  Guardar solo cuentas
POST /:modulo/:anio/operaciones        Guardar solo operaciones
-- CONSULTAS --
GET  /:modulo/anios                    Anios disponibles para un modulo
GET  /:modulo/:anio/capitulos          Capitulos disponibles
GET  /:modulo/:anio/estadisticas       Cuantas cuentas/ops tiene
GET  /:modulo/:anio/existe             Verificar si existe
GET  /:modulo/:anio/completo           Layout completo (formato legacy)
-- EDICION INDIVIDUAL --
PUT    /:modulo/:anio/:capitulo/cuenta/:cuenta     Editar UNA cuenta
DELETE /:modulo/:anio/:capitulo/cuenta/:cuenta     Eliminar UNA cuenta
PUT    /:modulo/:anio/operacion/:clase             Editar UNA operacion
DELETE /:modulo/:anio/operacion/:clase             Eliminar UNA operacion
-- ADMINISTRACION --
POST   /:modulo/copiar               Copiar layout de un anio a otro
POST   /:modulo/:anio/demo           Crear plantilla de ejemplo
DELETE /:modulo/:anio                 Eliminar layout completo
POST   /:modulo/:anio/reseed         Recargar operaciones desde JSON
POST   /:modulo/:anio/:capitulo/reordenar  Cambiar orden de presentacion
-- PERMISOS Y AUDITORIA --
GET    /permisos/capitulos            Ver permisos por capitulo (admin)
POST   /permisos/capitulos            Asignar permisos por capitulo
GET    /:modulo/:anio/:capitulo/bitacora  Ver registro de cambios</a:t>
            </a:r>
            <a:endParaRPr lang="es-MX" sz="1100">
              <a:solidFill>
                <a:srgbClr val="111827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24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889724B-FD2B-A7C0-E7B8-254BB1D628C0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27000" rtlCol="0" anchor="ctr"/>
          <a:lstStyle/>
          <a:p>
            <a:pPr algn="ctr"/>
            <a:r>
              <a:rPr lang="es-MX" sz="2600" b="1">
                <a:solidFill>
                  <a:srgbClr val="FFFFFF"/>
                </a:solidFill>
                <a:latin typeface="Segoe UI" panose="020B0502040204020203" pitchFamily="34" charset="0"/>
              </a:rPr>
              <a:t>  Sistema de Graficas - Como funciona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864C2ED-312B-3883-A0A5-40B354CD8058}"/>
              </a:ext>
            </a:extLst>
          </p:cNvPr>
          <p:cNvSpPr txBox="1"/>
          <p:nvPr/>
        </p:nvSpPr>
        <p:spPr>
          <a:xfrm>
            <a:off x="508000" y="914400"/>
            <a:ext cx="8128000" cy="5245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400">
                <a:solidFill>
                  <a:srgbClr val="111827"/>
                </a:solidFill>
                <a:latin typeface="Segoe UI" panose="020B0502040204020203" pitchFamily="34" charset="0"/>
              </a:rPr>
              <a:t>Las graficas toman los MISMOS datos del reporte RESUMEN y los
visualizan con Chart.js (libreria de graficas interactivas).</a:t>
            </a:r>
            <a:endParaRPr lang="es-MX" sz="14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5A09EE7-D6FB-CB0B-4A7E-13D228C26EF1}"/>
              </a:ext>
            </a:extLst>
          </p:cNvPr>
          <p:cNvSpPr/>
          <p:nvPr/>
        </p:nvSpPr>
        <p:spPr>
          <a:xfrm>
            <a:off x="698500" y="1498600"/>
            <a:ext cx="1651000" cy="4445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b="1">
                <a:solidFill>
                  <a:srgbClr val="FFFFFF"/>
                </a:solidFill>
                <a:latin typeface="Segoe UI" panose="020B0502040204020203" pitchFamily="34" charset="0"/>
              </a:rPr>
              <a:t>BARRA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1A18DFD-315E-612A-BC10-B7045C8D2B13}"/>
              </a:ext>
            </a:extLst>
          </p:cNvPr>
          <p:cNvSpPr/>
          <p:nvPr/>
        </p:nvSpPr>
        <p:spPr>
          <a:xfrm>
            <a:off x="2476500" y="1498600"/>
            <a:ext cx="1651000" cy="4445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b="1">
                <a:solidFill>
                  <a:srgbClr val="FFFFFF"/>
                </a:solidFill>
                <a:latin typeface="Segoe UI" panose="020B0502040204020203" pitchFamily="34" charset="0"/>
              </a:rPr>
              <a:t>LINEA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AA4ACDC-8209-BC2B-6C3B-2FC9FE5FBEC6}"/>
              </a:ext>
            </a:extLst>
          </p:cNvPr>
          <p:cNvSpPr/>
          <p:nvPr/>
        </p:nvSpPr>
        <p:spPr>
          <a:xfrm>
            <a:off x="4254500" y="1498600"/>
            <a:ext cx="1651000" cy="4445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b="1">
                <a:solidFill>
                  <a:srgbClr val="FFFFFF"/>
                </a:solidFill>
                <a:latin typeface="Segoe UI" panose="020B0502040204020203" pitchFamily="34" charset="0"/>
              </a:rPr>
              <a:t>PIE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79BCF58-5EB4-CF40-D678-DF2D6CECB6ED}"/>
              </a:ext>
            </a:extLst>
          </p:cNvPr>
          <p:cNvSpPr/>
          <p:nvPr/>
        </p:nvSpPr>
        <p:spPr>
          <a:xfrm>
            <a:off x="6032500" y="1498600"/>
            <a:ext cx="1651000" cy="4445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b="1">
                <a:solidFill>
                  <a:srgbClr val="FFFFFF"/>
                </a:solidFill>
                <a:latin typeface="Segoe UI" panose="020B0502040204020203" pitchFamily="34" charset="0"/>
              </a:rPr>
              <a:t>DONA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338FDEA-8253-A2FD-9A06-A50B870EF4AD}"/>
              </a:ext>
            </a:extLst>
          </p:cNvPr>
          <p:cNvSpPr/>
          <p:nvPr/>
        </p:nvSpPr>
        <p:spPr>
          <a:xfrm>
            <a:off x="7810500" y="1498600"/>
            <a:ext cx="1651000" cy="4445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b="1">
                <a:solidFill>
                  <a:srgbClr val="FFFFFF"/>
                </a:solidFill>
                <a:latin typeface="Segoe UI" panose="020B0502040204020203" pitchFamily="34" charset="0"/>
              </a:rPr>
              <a:t>RADAR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41CBC9C-99C3-5C26-4A2B-36EA517E152C}"/>
              </a:ext>
            </a:extLst>
          </p:cNvPr>
          <p:cNvSpPr txBox="1"/>
          <p:nvPr/>
        </p:nvSpPr>
        <p:spPr>
          <a:xfrm>
            <a:off x="508000" y="2095500"/>
            <a:ext cx="8128000" cy="48936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200">
                <a:solidFill>
                  <a:srgbClr val="111827"/>
                </a:solidFill>
                <a:latin typeface="Segoe UI" panose="020B0502040204020203" pitchFamily="34" charset="0"/>
              </a:rPr>
              <a:t>GRAFICAS DISPONIBLES:
  1. Resultado Operativo: Real Acum vs Ppto Acum vs Real AA por capitulo
  2. Resumen Neto: Ganancia/perdida neta por capitulo
  3. Consolidados: Ingreso total vs Gasto total
  4. Ingreso por Capitulo: Tendencia mensual por ciudad
  5. Ingreso Nacional: Por area (Membresia, Eventos, etc.)
  6. Graficas personalizadas: El usuario elige que datos graficar
CONFIGURACION (se guarda en SQLite - tabla graficas_config):
  - Que series mostrar (Real, Ppto, AA)
  - Colores de cada serie
  - Tipo de grafica (barra, linea, pie, dona)
  - Apilado o separado
ASISTENTE DE CREACION (Chart Wizard - 4 pasos):
  Paso 1: Seleccionar periodo (anio + mes)
  Paso 2: Seleccionar fuente de datos
  Paso 3: Elegir tipo de grafica
  Paso 4: Confirmar y generar
ARCHIVOS:
  Frontend: Graficas-Mejoradas.html + js/graficas-resumen.js
            js/graficas-config.js + js/chart-wizard.js
  Backend:  src/routes/graficas-config.js
  API:      GET/POST /api/graficas-config (solo admin puede modificar)</a:t>
            </a:r>
          </a:p>
        </p:txBody>
      </p:sp>
    </p:spTree>
    <p:extLst>
      <p:ext uri="{BB962C8B-B14F-4D97-AF65-F5344CB8AC3E}">
        <p14:creationId xmlns:p14="http://schemas.microsoft.com/office/powerpoint/2010/main" val="2489074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74C2FF9-991E-CE46-4810-3F22D7D625EC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27000" rtlCol="0" anchor="ctr"/>
          <a:lstStyle/>
          <a:p>
            <a:pPr algn="ctr"/>
            <a:r>
              <a:rPr lang="es-ES" sz="2600" b="1">
                <a:solidFill>
                  <a:srgbClr val="FFFFFF"/>
                </a:solidFill>
                <a:latin typeface="Segoe UI" panose="020B0502040204020203" pitchFamily="34" charset="0"/>
              </a:rPr>
              <a:t>  Graficas - De donde salen los datos</a:t>
            </a:r>
            <a:endParaRPr lang="es-MX" sz="2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D48FABA-1064-7E83-5362-12236CB813D2}"/>
              </a:ext>
            </a:extLst>
          </p:cNvPr>
          <p:cNvSpPr txBox="1"/>
          <p:nvPr/>
        </p:nvSpPr>
        <p:spPr>
          <a:xfrm>
            <a:off x="508000" y="914400"/>
            <a:ext cx="812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>
                <a:solidFill>
                  <a:srgbClr val="111827"/>
                </a:solidFill>
                <a:latin typeface="Segoe UI" panose="020B0502040204020203" pitchFamily="34" charset="0"/>
              </a:rPr>
              <a:t>Las graficas leen datos del reporte RESUMEN ya calculado.
Los 3 valores principales que se grafican son:</a:t>
            </a:r>
            <a:endParaRPr lang="es-MX" sz="13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843584B-2BB4-B9BF-B232-62D3B0D640E0}"/>
              </a:ext>
            </a:extLst>
          </p:cNvPr>
          <p:cNvSpPr/>
          <p:nvPr/>
        </p:nvSpPr>
        <p:spPr>
          <a:xfrm>
            <a:off x="698500" y="1460500"/>
            <a:ext cx="3429000" cy="4445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Segoe UI" panose="020B0502040204020203" pitchFamily="34" charset="0"/>
              </a:rPr>
              <a:t>Real Acumulado (actualYTD)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4A61DF-269D-9B6F-1BE3-591FA47FEC4A}"/>
              </a:ext>
            </a:extLst>
          </p:cNvPr>
          <p:cNvSpPr txBox="1"/>
          <p:nvPr/>
        </p:nvSpPr>
        <p:spPr>
          <a:xfrm>
            <a:off x="698500" y="19431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Color: Azul oscuro #0d47a1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D8A2355-99C1-3037-5BE4-CB0BD6F78431}"/>
              </a:ext>
            </a:extLst>
          </p:cNvPr>
          <p:cNvSpPr/>
          <p:nvPr/>
        </p:nvSpPr>
        <p:spPr>
          <a:xfrm>
            <a:off x="4318000" y="1460500"/>
            <a:ext cx="3429000" cy="444500"/>
          </a:xfrm>
          <a:prstGeom prst="roundRect">
            <a:avLst/>
          </a:prstGeom>
          <a:solidFill>
            <a:srgbClr val="60A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Segoe UI" panose="020B0502040204020203" pitchFamily="34" charset="0"/>
              </a:rPr>
              <a:t>Ppto Acumulado (planYTD)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AB411AB-8D86-600F-BB70-3950F24484C8}"/>
              </a:ext>
            </a:extLst>
          </p:cNvPr>
          <p:cNvSpPr txBox="1"/>
          <p:nvPr/>
        </p:nvSpPr>
        <p:spPr>
          <a:xfrm>
            <a:off x="4318000" y="19431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Color: Azul claro #60a5fa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4B7D210-DEF1-2FE6-F3EC-2CB07167811D}"/>
              </a:ext>
            </a:extLst>
          </p:cNvPr>
          <p:cNvSpPr/>
          <p:nvPr/>
        </p:nvSpPr>
        <p:spPr>
          <a:xfrm>
            <a:off x="7937500" y="1460500"/>
            <a:ext cx="3302000" cy="444500"/>
          </a:xfrm>
          <a:prstGeom prst="round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Segoe UI" panose="020B0502040204020203" pitchFamily="34" charset="0"/>
              </a:rPr>
              <a:t>Real Acum AA (prevYTD)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85707AA-0D78-3370-9277-FF44288C5734}"/>
              </a:ext>
            </a:extLst>
          </p:cNvPr>
          <p:cNvSpPr txBox="1"/>
          <p:nvPr/>
        </p:nvSpPr>
        <p:spPr>
          <a:xfrm>
            <a:off x="7937500" y="1943100"/>
            <a:ext cx="330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  <a:latin typeface="Segoe UI" panose="020B0502040204020203" pitchFamily="34" charset="0"/>
              </a:rPr>
              <a:t>Color: Gris #94a3b8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433AA38-01DF-DF4E-36BD-4D1A9703524B}"/>
              </a:ext>
            </a:extLst>
          </p:cNvPr>
          <p:cNvSpPr/>
          <p:nvPr/>
        </p:nvSpPr>
        <p:spPr>
          <a:xfrm>
            <a:off x="508000" y="2286000"/>
            <a:ext cx="8128000" cy="22225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pPr algn="ctr"/>
            <a:r>
              <a:rPr lang="es-MX" sz="1100">
                <a:solidFill>
                  <a:srgbClr val="111827"/>
                </a:solidFill>
                <a:latin typeface="Consolas" panose="020B0609020204030204" pitchFamily="49" charset="0"/>
              </a:rPr>
              <a:t>// Archivo: vistas/js/graficas-config.js
const CONFIG_DEFAULT = {
  series: [
    { key: "actualYTD", label: "Real acumulado",    color: "#0d47a1", enabled: true },
    { key: "planYTD",   label: "Ppto. acumulado",   color: "#60a5fa", enabled: true },
    { key: "prevYTD",   label: "Real acum AA",      color: "#94a3b8", enabled: true }
  ],
  chart: { type: "bar", stacked: false },
  legend: { show: true, position: "bottom" }
};
// graficas-resumen.js busca en el reporte las filas de operaciones:
// "CONSOLIDATED INCOME", "CONSOLIDATED EXPENSE", "NET INCOME", etc.
// y extrae actualYTD, planYTD, prevYTD para graficarlos como barras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A6B1270-8664-844C-9CD8-F3E108307F78}"/>
              </a:ext>
            </a:extLst>
          </p:cNvPr>
          <p:cNvSpPr txBox="1"/>
          <p:nvPr/>
        </p:nvSpPr>
        <p:spPr>
          <a:xfrm>
            <a:off x="508000" y="4699000"/>
            <a:ext cx="812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200">
                <a:solidFill>
                  <a:srgbClr val="111827"/>
                </a:solidFill>
                <a:latin typeface="Segoe UI" panose="020B0502040204020203" pitchFamily="34" charset="0"/>
              </a:rPr>
              <a:t>EXPORTACION: Las graficas se pueden exportar a Excel (ExcelJS), PDF (jsPDF) e imagen</a:t>
            </a:r>
            <a:endParaRPr lang="es-MX" sz="120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758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1DF5532-2D28-0DDC-5257-A0989ED67480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27000" rtlCol="0" anchor="ctr"/>
          <a:lstStyle/>
          <a:p>
            <a:pPr algn="ctr"/>
            <a:r>
              <a:rPr lang="es-MX" sz="2600" b="1">
                <a:solidFill>
                  <a:srgbClr val="FFFFFF"/>
                </a:solidFill>
                <a:latin typeface="Segoe UI" panose="020B0502040204020203" pitchFamily="34" charset="0"/>
              </a:rPr>
              <a:t>  Resumen: Todo conectado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F1733023-436D-EBBF-C849-51BE2B2A2D7F}"/>
              </a:ext>
            </a:extLst>
          </p:cNvPr>
          <p:cNvSpPr/>
          <p:nvPr/>
        </p:nvSpPr>
        <p:spPr>
          <a:xfrm>
            <a:off x="698500" y="1016000"/>
            <a:ext cx="1524000" cy="508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b="1">
                <a:solidFill>
                  <a:srgbClr val="FFFFFF"/>
                </a:solidFill>
                <a:latin typeface="Segoe UI" panose="020B0502040204020203" pitchFamily="34" charset="0"/>
              </a:rPr>
              <a:t>USUARIO</a:t>
            </a:r>
          </a:p>
        </p:txBody>
      </p:sp>
      <p:sp>
        <p:nvSpPr>
          <p:cNvPr id="4" name="Cilindro 3">
            <a:extLst>
              <a:ext uri="{FF2B5EF4-FFF2-40B4-BE49-F238E27FC236}">
                <a16:creationId xmlns:a16="http://schemas.microsoft.com/office/drawing/2014/main" id="{85A078FD-CC42-7B6D-31D0-BA7780F51BD0}"/>
              </a:ext>
            </a:extLst>
          </p:cNvPr>
          <p:cNvSpPr/>
          <p:nvPr/>
        </p:nvSpPr>
        <p:spPr>
          <a:xfrm>
            <a:off x="2286000" y="1143000"/>
            <a:ext cx="508000" cy="2540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B83A0A3-58C0-B4CF-BEF4-4FF8CB71C866}"/>
              </a:ext>
            </a:extLst>
          </p:cNvPr>
          <p:cNvSpPr/>
          <p:nvPr/>
        </p:nvSpPr>
        <p:spPr>
          <a:xfrm>
            <a:off x="2921000" y="952500"/>
            <a:ext cx="2286000" cy="6350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plantillas.html
(Define estructura)</a:t>
            </a:r>
          </a:p>
        </p:txBody>
      </p:sp>
      <p:sp>
        <p:nvSpPr>
          <p:cNvPr id="6" name="Cilindro 5">
            <a:extLst>
              <a:ext uri="{FF2B5EF4-FFF2-40B4-BE49-F238E27FC236}">
                <a16:creationId xmlns:a16="http://schemas.microsoft.com/office/drawing/2014/main" id="{39EF5945-6B69-CF67-BC9B-B24BA4287FAB}"/>
              </a:ext>
            </a:extLst>
          </p:cNvPr>
          <p:cNvSpPr/>
          <p:nvPr/>
        </p:nvSpPr>
        <p:spPr>
          <a:xfrm>
            <a:off x="5270500" y="1143000"/>
            <a:ext cx="508000" cy="2540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FA4B4B6-F95E-1409-126A-BED722408D2B}"/>
              </a:ext>
            </a:extLst>
          </p:cNvPr>
          <p:cNvSpPr/>
          <p:nvPr/>
        </p:nvSpPr>
        <p:spPr>
          <a:xfrm>
            <a:off x="5842000" y="889000"/>
            <a:ext cx="2159000" cy="762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Segoe UI" panose="020B0502040204020203" pitchFamily="34" charset="0"/>
              </a:rPr>
              <a:t>SQLite
layout_cuentas
layout_operaciones</a:t>
            </a:r>
            <a:endParaRPr lang="es-MX" sz="10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F0C94DF-CE2D-1641-7377-9E874869AA97}"/>
              </a:ext>
            </a:extLst>
          </p:cNvPr>
          <p:cNvSpPr txBox="1"/>
          <p:nvPr/>
        </p:nvSpPr>
        <p:spPr>
          <a:xfrm>
            <a:off x="5842000" y="17145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900">
                <a:solidFill>
                  <a:srgbClr val="6B7280"/>
                </a:solidFill>
                <a:latin typeface="Segoe UI" panose="020B0502040204020203" pitchFamily="34" charset="0"/>
              </a:rPr>
              <a:t>Define QUE cuentas y QUE formulas</a:t>
            </a:r>
            <a:endParaRPr lang="es-MX" sz="9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4DCD9A1-22DD-2A60-94CF-9C702D94B494}"/>
              </a:ext>
            </a:extLst>
          </p:cNvPr>
          <p:cNvSpPr/>
          <p:nvPr/>
        </p:nvSpPr>
        <p:spPr>
          <a:xfrm>
            <a:off x="698500" y="2222500"/>
            <a:ext cx="1524000" cy="508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b="1">
                <a:solidFill>
                  <a:srgbClr val="FFFFFF"/>
                </a:solidFill>
                <a:latin typeface="Segoe UI" panose="020B0502040204020203" pitchFamily="34" charset="0"/>
              </a:rPr>
              <a:t>USUARIO</a:t>
            </a:r>
          </a:p>
        </p:txBody>
      </p:sp>
      <p:sp>
        <p:nvSpPr>
          <p:cNvPr id="10" name="Cilindro 9">
            <a:extLst>
              <a:ext uri="{FF2B5EF4-FFF2-40B4-BE49-F238E27FC236}">
                <a16:creationId xmlns:a16="http://schemas.microsoft.com/office/drawing/2014/main" id="{24E976E7-2232-A22A-2F43-AEF8D5AB70A3}"/>
              </a:ext>
            </a:extLst>
          </p:cNvPr>
          <p:cNvSpPr/>
          <p:nvPr/>
        </p:nvSpPr>
        <p:spPr>
          <a:xfrm>
            <a:off x="2286000" y="2349500"/>
            <a:ext cx="508000" cy="2540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4C4736C-C8D8-212A-72A6-2748648F1A76}"/>
              </a:ext>
            </a:extLst>
          </p:cNvPr>
          <p:cNvSpPr/>
          <p:nvPr/>
        </p:nvSpPr>
        <p:spPr>
          <a:xfrm>
            <a:off x="2921000" y="2159000"/>
            <a:ext cx="2286000" cy="6350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RESUMEN.html
(Ve reporte)</a:t>
            </a:r>
          </a:p>
        </p:txBody>
      </p:sp>
      <p:sp>
        <p:nvSpPr>
          <p:cNvPr id="12" name="Cilindro 11">
            <a:extLst>
              <a:ext uri="{FF2B5EF4-FFF2-40B4-BE49-F238E27FC236}">
                <a16:creationId xmlns:a16="http://schemas.microsoft.com/office/drawing/2014/main" id="{41E1303C-F619-6ECB-65D5-7D46498FC563}"/>
              </a:ext>
            </a:extLst>
          </p:cNvPr>
          <p:cNvSpPr/>
          <p:nvPr/>
        </p:nvSpPr>
        <p:spPr>
          <a:xfrm>
            <a:off x="5270500" y="2349500"/>
            <a:ext cx="508000" cy="2540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E7B3131-218B-65DD-690E-22138F688184}"/>
              </a:ext>
            </a:extLst>
          </p:cNvPr>
          <p:cNvSpPr/>
          <p:nvPr/>
        </p:nvSpPr>
        <p:spPr>
          <a:xfrm>
            <a:off x="5842000" y="2159000"/>
            <a:ext cx="2159000" cy="6350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reportes.js
Engine</a:t>
            </a:r>
          </a:p>
        </p:txBody>
      </p:sp>
      <p:sp>
        <p:nvSpPr>
          <p:cNvPr id="14" name="Cilindro 13">
            <a:extLst>
              <a:ext uri="{FF2B5EF4-FFF2-40B4-BE49-F238E27FC236}">
                <a16:creationId xmlns:a16="http://schemas.microsoft.com/office/drawing/2014/main" id="{FAE104A5-65B5-FFC9-C563-F0F3F9CB5979}"/>
              </a:ext>
            </a:extLst>
          </p:cNvPr>
          <p:cNvSpPr/>
          <p:nvPr/>
        </p:nvSpPr>
        <p:spPr>
          <a:xfrm>
            <a:off x="8064500" y="2349500"/>
            <a:ext cx="508000" cy="2540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02BAA7B-A9C9-FDA0-FEE1-84D2EBF7CDE2}"/>
              </a:ext>
            </a:extLst>
          </p:cNvPr>
          <p:cNvSpPr/>
          <p:nvPr/>
        </p:nvSpPr>
        <p:spPr>
          <a:xfrm>
            <a:off x="8636000" y="2159000"/>
            <a:ext cx="2286000" cy="635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Firebird
SALDOS + PRESUP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167611E-AA3D-F45C-D6E6-1549EE85D15D}"/>
              </a:ext>
            </a:extLst>
          </p:cNvPr>
          <p:cNvSpPr txBox="1"/>
          <p:nvPr/>
        </p:nvSpPr>
        <p:spPr>
          <a:xfrm>
            <a:off x="8636000" y="2857500"/>
            <a:ext cx="228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900">
                <a:solidFill>
                  <a:srgbClr val="6B7280"/>
                </a:solidFill>
                <a:latin typeface="Segoe UI" panose="020B0502040204020203" pitchFamily="34" charset="0"/>
              </a:rPr>
              <a:t>Datos REALES del sistema contable</a:t>
            </a:r>
            <a:endParaRPr lang="es-MX" sz="9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A7ABD11-5653-8758-C514-6CD1B21D6D28}"/>
              </a:ext>
            </a:extLst>
          </p:cNvPr>
          <p:cNvSpPr/>
          <p:nvPr/>
        </p:nvSpPr>
        <p:spPr>
          <a:xfrm>
            <a:off x="698500" y="3429000"/>
            <a:ext cx="1524000" cy="508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b="1">
                <a:solidFill>
                  <a:srgbClr val="FFFFFF"/>
                </a:solidFill>
                <a:latin typeface="Segoe UI" panose="020B0502040204020203" pitchFamily="34" charset="0"/>
              </a:rPr>
              <a:t>USUARIO</a:t>
            </a:r>
          </a:p>
        </p:txBody>
      </p:sp>
      <p:sp>
        <p:nvSpPr>
          <p:cNvPr id="18" name="Cilindro 17">
            <a:extLst>
              <a:ext uri="{FF2B5EF4-FFF2-40B4-BE49-F238E27FC236}">
                <a16:creationId xmlns:a16="http://schemas.microsoft.com/office/drawing/2014/main" id="{B07168F4-A75C-ED92-BA1E-EFEC43593D93}"/>
              </a:ext>
            </a:extLst>
          </p:cNvPr>
          <p:cNvSpPr/>
          <p:nvPr/>
        </p:nvSpPr>
        <p:spPr>
          <a:xfrm>
            <a:off x="2286000" y="3556000"/>
            <a:ext cx="508000" cy="2540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7F97F052-A2DF-D1FB-DAC9-EE0CE017F1DC}"/>
              </a:ext>
            </a:extLst>
          </p:cNvPr>
          <p:cNvSpPr/>
          <p:nvPr/>
        </p:nvSpPr>
        <p:spPr>
          <a:xfrm>
            <a:off x="2921000" y="3365500"/>
            <a:ext cx="2286000" cy="635000"/>
          </a:xfrm>
          <a:prstGeom prst="roundRect">
            <a:avLst/>
          </a:prstGeom>
          <a:solidFill>
            <a:srgbClr val="60A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Graficas.html
(Ve graficas)</a:t>
            </a:r>
          </a:p>
        </p:txBody>
      </p:sp>
      <p:sp>
        <p:nvSpPr>
          <p:cNvPr id="20" name="Cilindro 19">
            <a:extLst>
              <a:ext uri="{FF2B5EF4-FFF2-40B4-BE49-F238E27FC236}">
                <a16:creationId xmlns:a16="http://schemas.microsoft.com/office/drawing/2014/main" id="{A085AA3F-598D-DA70-652A-F3B2325DF413}"/>
              </a:ext>
            </a:extLst>
          </p:cNvPr>
          <p:cNvSpPr/>
          <p:nvPr/>
        </p:nvSpPr>
        <p:spPr>
          <a:xfrm>
            <a:off x="5270500" y="3556000"/>
            <a:ext cx="508000" cy="2540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BD6CB43B-C3F3-3518-2A8F-08307F7304F2}"/>
              </a:ext>
            </a:extLst>
          </p:cNvPr>
          <p:cNvSpPr/>
          <p:nvPr/>
        </p:nvSpPr>
        <p:spPr>
          <a:xfrm>
            <a:off x="5842000" y="3365500"/>
            <a:ext cx="2159000" cy="6350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Segoe UI" panose="020B0502040204020203" pitchFamily="34" charset="0"/>
              </a:rPr>
              <a:t>Mismos datos
del reporte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84FE7EF-51FC-639F-001A-CE040873305F}"/>
              </a:ext>
            </a:extLst>
          </p:cNvPr>
          <p:cNvSpPr txBox="1"/>
          <p:nvPr/>
        </p:nvSpPr>
        <p:spPr>
          <a:xfrm>
            <a:off x="508000" y="4191000"/>
            <a:ext cx="8128000" cy="19543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100">
                <a:solidFill>
                  <a:srgbClr val="111827"/>
                </a:solidFill>
                <a:latin typeface="Segoe UI" panose="020B0502040204020203" pitchFamily="34" charset="0"/>
              </a:rPr>
              <a:t>FLUJO SIMPLIFICADO:
  1. El admin define la ESTRUCTURA en el Gestor de Plantillas (que cuentas, que formulas)
  2. El usuario abre RESUMEN y el sistema COMBINA la estructura con los datos de Firebird
  3. Las Graficas toman los mismos datos calculados y los VISUALIZAN
ARCHIVOS PRINCIPALES:
  Plantillas:  plantillas.js + layoutRoutes.js + layoutService.js
  Reportes:    resumen-view.js + reportes.js + planeacionReportesEngine.js
  Graficas:    graficas-resumen.js + graficas-config.js + chart-wizard.js
  Datos:       planeacionCuentasService.js + firebirdService.js
  Seguridad:   sesion.js (frontend) + auth.js (backend)</a:t>
            </a:r>
          </a:p>
        </p:txBody>
      </p:sp>
    </p:spTree>
    <p:extLst>
      <p:ext uri="{BB962C8B-B14F-4D97-AF65-F5344CB8AC3E}">
        <p14:creationId xmlns:p14="http://schemas.microsoft.com/office/powerpoint/2010/main" val="32812366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3089</Words>
  <Application>Microsoft Office PowerPoint</Application>
  <PresentationFormat>Presentación en pantalla (16:10)</PresentationFormat>
  <Paragraphs>135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Segoe UI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sophie guevara</dc:creator>
  <cp:lastModifiedBy>sophie guevara</cp:lastModifiedBy>
  <cp:revision>1</cp:revision>
  <dcterms:created xsi:type="dcterms:W3CDTF">2026-02-09T16:30:00Z</dcterms:created>
  <dcterms:modified xsi:type="dcterms:W3CDTF">2026-02-09T16:30:00Z</dcterms:modified>
</cp:coreProperties>
</file>