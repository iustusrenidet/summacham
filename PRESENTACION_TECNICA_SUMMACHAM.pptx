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715000" type="screen16x10"/>
  <p:notesSz cx="6858000" cy="9144000"/>
  <p:defaultTextStyle>
    <a:defPPr>
      <a:defRPr lang="es-MX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7DBEB-F610-7D9A-7C3A-0230E38BF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14EB07-45AA-0BCB-5B85-B2D841068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34041B-E47A-EAED-DC94-A7F1D19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D4B8DA-FE19-BA49-F5F2-4E5633C8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F1F34F-7C48-51A1-192C-7EF05E7C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9503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FBD5B-EDF3-0C4A-7690-83E57ECD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C297C8-8779-D02F-997E-AE1E865E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584E94-974F-CB37-1B79-2301D4E3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8B225-5223-3FC7-A775-D9A8D1A1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7AAF21-814B-3933-7A25-07D8ECFE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582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833E7-9C11-AA8A-3A3F-213287FBD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D88DB8-BD88-7533-3C61-78D095ABB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6BB99E-BC0D-EF1A-5C0B-AC538A1F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F5E085-FCF1-9F18-590B-EAF0934F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3F5449-6CD3-D933-0204-20B82893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69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934BF-7D8E-A597-54B1-E3E95546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F759F2-DD4F-6836-6C61-F788C0E2C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D909AA-00F9-E7A4-452D-2B09D5033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06D1F8-A16B-EC45-CBF4-F9F11434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1452C8-2840-B01D-9463-C9831649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C6112F-BB16-2140-A559-2BCE1545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943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4C3FD-2A84-6EB1-7BDA-695631E2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3C0750-8635-3FC8-472F-BDC757F9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501043-F127-759B-F114-61767C754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A971AB-159C-74C3-BD4D-1CACB4CA1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8EE16F-A9AB-A593-0F56-60BDF85B2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D05DA0-EB8A-71FF-2CF2-6096E89D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9CB3EB0-869E-93C0-6680-A208525D7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763715-C6E7-2406-9156-56AB382C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55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61195-08FE-B03B-2838-C9C8629F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F7A72E-012E-5EB6-A4F0-22FC3A27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C2708F-A0B0-FE22-C8C9-48976F05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88FEE5-9735-8A3F-865C-66A5E862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291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EADA99-088F-9A43-3263-796D870D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B47A9-226C-9DAB-B95F-884C6495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78E323-5989-94CF-DD81-3BDB6D5F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234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33D42-14C6-4B7D-6F4C-1CC5CC258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881AA-853F-DC66-2453-E0353863E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8B2D16-7E6A-8C91-CC73-9EC4AFD51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AB95E1-AC32-A8DF-4F35-944031F7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B921C3-4A67-EE23-3320-82A602A7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A1B8B8-7279-DD2D-972F-63066E94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446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0D970-4EE8-E5AE-5C4B-42EA12FD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D64552-F3B4-F853-4EF6-CF5B7BC5C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1E7A14-B93C-B633-539A-2FB0F8376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19168F-BDBF-B5E5-3CD6-6F9FB90D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8ADF43-1C30-61C9-A31C-078399E8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3397D5-F6FE-46A8-9D15-C9E7B00C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470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CA639-445E-36C9-FF72-DDB122F6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2D05D0-8C56-EAC3-32A8-5149CF19B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DA7C2-5029-407A-4D20-0E3AAEE2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8638B3-C763-F29F-3062-97EA22FF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B89BB8-EBDF-FA76-B318-A8647320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214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6DC0D7-BAB8-9696-211A-DC94CD3B1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8C292B-4D84-5130-9E16-75B1DBCAB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548241-BAE5-DC07-977C-3E799CEF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6503A1-4CD9-3AD9-5FBA-303CF30B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DE1718-F9B1-F645-ED3A-E90CE493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705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BD17D9-FF85-0506-EC9D-D3102170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0E7810-A43C-6141-0372-F5A7BB690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DC2A94-85EC-C120-111D-715BE923F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5388A-3406-4D92-9846-E81E564933AB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2CECD6-93A2-DA26-1725-63746869D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1E88FB-5EEF-33C6-11E6-D88751823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544C8-F4B8-4A5B-95E1-CDCADE140A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297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713A6-FB22-3F0C-7A68-0298C3B3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5400" b="1">
                <a:solidFill>
                  <a:srgbClr val="2980B9"/>
                </a:solidFill>
              </a:rPr>
              <a:t>SummaCham - PanelAMCHAM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DD2A66-0B57-195E-B41C-1F34EB9B68E7}"/>
              </a:ext>
            </a:extLst>
          </p:cNvPr>
          <p:cNvSpPr txBox="1"/>
          <p:nvPr/>
        </p:nvSpPr>
        <p:spPr>
          <a:xfrm>
            <a:off x="1270000" y="3175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latin typeface="Calibri" panose="020F0502020204030204" pitchFamily="34" charset="0"/>
              </a:rPr>
              <a:t>Documentación Técnica Completa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03A476-8F4D-E1F8-1FFD-9652F8E4A0FE}"/>
              </a:ext>
            </a:extLst>
          </p:cNvPr>
          <p:cNvSpPr txBox="1"/>
          <p:nvPr/>
        </p:nvSpPr>
        <p:spPr>
          <a:xfrm>
            <a:off x="1270000" y="4191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400">
                <a:latin typeface="Calibri" panose="020F0502020204030204" pitchFamily="34" charset="0"/>
              </a:rPr>
              <a:t>Sistema de Gestión Financiera Empresarial</a:t>
            </a:r>
            <a:endParaRPr lang="es-MX" sz="240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6A3A76-2215-73B3-C5A3-5ADFCABC7268}"/>
              </a:ext>
            </a:extLst>
          </p:cNvPr>
          <p:cNvSpPr txBox="1"/>
          <p:nvPr/>
        </p:nvSpPr>
        <p:spPr>
          <a:xfrm>
            <a:off x="1270000" y="50800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000">
                <a:latin typeface="Calibri" panose="020F0502020204030204" pitchFamily="34" charset="0"/>
              </a:rPr>
              <a:t>Versión 4.1.0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52E617-C68E-61F0-6BDE-579C676525F2}"/>
              </a:ext>
            </a:extLst>
          </p:cNvPr>
          <p:cNvSpPr txBox="1"/>
          <p:nvPr/>
        </p:nvSpPr>
        <p:spPr>
          <a:xfrm>
            <a:off x="1270000" y="62230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800">
                <a:latin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233646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9DE40-2866-F304-E5DC-E43D866D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Tabla de Contenido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3DB1AD-1718-9E89-04CB-4C2D85C845A4}"/>
              </a:ext>
            </a:extLst>
          </p:cNvPr>
          <p:cNvSpPr txBox="1"/>
          <p:nvPr/>
        </p:nvSpPr>
        <p:spPr>
          <a:xfrm>
            <a:off x="1016000" y="1524000"/>
            <a:ext cx="10795000" cy="44935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200">
                <a:latin typeface="Calibri" panose="020F0502020204030204" pitchFamily="34" charset="0"/>
              </a:rPr>
              <a:t>1. Stack Tecnológico</a:t>
            </a:r>
          </a:p>
          <a:p>
            <a:r>
              <a:rPr lang="es-ES" sz="2200">
                <a:latin typeface="Calibri" panose="020F0502020204030204" pitchFamily="34" charset="0"/>
              </a:rPr>
              <a:t>2. Arquitectura del Sistema</a:t>
            </a:r>
          </a:p>
          <a:p>
            <a:r>
              <a:rPr lang="es-ES" sz="2200">
                <a:latin typeface="Calibri" panose="020F0502020204030204" pitchFamily="34" charset="0"/>
              </a:rPr>
              <a:t>3. Sistema de Autenticación</a:t>
            </a:r>
          </a:p>
          <a:p>
            <a:r>
              <a:rPr lang="es-ES" sz="2200">
                <a:latin typeface="Calibri" panose="020F0502020204030204" pitchFamily="34" charset="0"/>
              </a:rPr>
              <a:t>4. Sistema de Permisos Granular</a:t>
            </a:r>
          </a:p>
          <a:p>
            <a:r>
              <a:rPr lang="es-ES" sz="2200">
                <a:latin typeface="Calibri" panose="020F0502020204030204" pitchFamily="34" charset="0"/>
              </a:rPr>
              <a:t>5. Middleware y Seguridad</a:t>
            </a:r>
          </a:p>
          <a:p>
            <a:r>
              <a:rPr lang="es-ES" sz="2200">
                <a:latin typeface="Calibri" panose="020F0502020204030204" pitchFamily="34" charset="0"/>
              </a:rPr>
              <a:t>6. Base de Datos SQLite</a:t>
            </a:r>
          </a:p>
          <a:p>
            <a:r>
              <a:rPr lang="es-ES" sz="2200">
                <a:latin typeface="Calibri" panose="020F0502020204030204" pitchFamily="34" charset="0"/>
              </a:rPr>
              <a:t>7. Integración con Firebird</a:t>
            </a:r>
          </a:p>
          <a:p>
            <a:r>
              <a:rPr lang="es-ES" sz="2200">
                <a:latin typeface="Calibri" panose="020F0502020204030204" pitchFamily="34" charset="0"/>
              </a:rPr>
              <a:t>8. Algoritmos de Operaciones</a:t>
            </a:r>
          </a:p>
          <a:p>
            <a:r>
              <a:rPr lang="es-ES" sz="2200">
                <a:latin typeface="Calibri" panose="020F0502020204030204" pitchFamily="34" charset="0"/>
              </a:rPr>
              <a:t>9. Sistema de Layouts</a:t>
            </a:r>
          </a:p>
          <a:p>
            <a:r>
              <a:rPr lang="es-ES" sz="2200">
                <a:latin typeface="Calibri" panose="020F0502020204030204" pitchFamily="34" charset="0"/>
              </a:rPr>
              <a:t>10. Interfaces de Usuario</a:t>
            </a:r>
          </a:p>
          <a:p>
            <a:r>
              <a:rPr lang="es-ES" sz="2200">
                <a:latin typeface="Calibri" panose="020F0502020204030204" pitchFamily="34" charset="0"/>
              </a:rPr>
              <a:t>11. Flujos de Autorización</a:t>
            </a:r>
          </a:p>
          <a:p>
            <a:r>
              <a:rPr lang="es-ES" sz="2200">
                <a:latin typeface="Calibri" panose="020F0502020204030204" pitchFamily="34" charset="0"/>
              </a:rPr>
              <a:t>12. Sistema de Backups</a:t>
            </a:r>
          </a:p>
          <a:p>
            <a:r>
              <a:rPr lang="es-ES" sz="2200">
                <a:latin typeface="Calibri" panose="020F0502020204030204" pitchFamily="34" charset="0"/>
              </a:rPr>
              <a:t>13. Actualización Automática</a:t>
            </a:r>
            <a:endParaRPr lang="es-MX" sz="2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28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6E88A-8FA4-2DC3-24F5-B10D48C8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Stack Tecnológico - Frontend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9C741A-6897-4073-2940-36BD27676B02}"/>
              </a:ext>
            </a:extLst>
          </p:cNvPr>
          <p:cNvSpPr/>
          <p:nvPr/>
        </p:nvSpPr>
        <p:spPr>
          <a:xfrm>
            <a:off x="1016000" y="1778000"/>
            <a:ext cx="3175000" cy="762000"/>
          </a:xfrm>
          <a:prstGeom prst="rect">
            <a:avLst/>
          </a:prstGeom>
          <a:solidFill>
            <a:srgbClr val="2980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Electron 39.2.7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A24575-44D8-B2F0-8AD5-AB44FCFD1A2E}"/>
              </a:ext>
            </a:extLst>
          </p:cNvPr>
          <p:cNvSpPr txBox="1"/>
          <p:nvPr/>
        </p:nvSpPr>
        <p:spPr>
          <a:xfrm>
            <a:off x="1016000" y="2667000"/>
            <a:ext cx="317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latin typeface="Calibri" panose="020F0502020204030204" pitchFamily="34" charset="0"/>
              </a:rPr>
              <a:t>Framework de escritorio multiplataforma para aplicaciones web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557D531-75B7-4E8F-40A4-9FD846227383}"/>
              </a:ext>
            </a:extLst>
          </p:cNvPr>
          <p:cNvSpPr/>
          <p:nvPr/>
        </p:nvSpPr>
        <p:spPr>
          <a:xfrm>
            <a:off x="4699000" y="1778000"/>
            <a:ext cx="3175000" cy="762000"/>
          </a:xfrm>
          <a:prstGeom prst="rect">
            <a:avLst/>
          </a:prstGeom>
          <a:solidFill>
            <a:srgbClr val="3449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HTML5 + CSS3 + JS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BA8FEF-AC83-E610-E40D-95CF3082C0A1}"/>
              </a:ext>
            </a:extLst>
          </p:cNvPr>
          <p:cNvSpPr txBox="1"/>
          <p:nvPr/>
        </p:nvSpPr>
        <p:spPr>
          <a:xfrm>
            <a:off x="4699000" y="2667000"/>
            <a:ext cx="3175000" cy="5245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400">
                <a:latin typeface="Calibri" panose="020F0502020204030204" pitchFamily="34" charset="0"/>
              </a:rPr>
              <a:t>Interfaz moderna, responsiva con Chart.js para visualización</a:t>
            </a:r>
            <a:endParaRPr lang="es-MX" sz="1400"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6D8877-7339-0438-C218-B797530838A0}"/>
              </a:ext>
            </a:extLst>
          </p:cNvPr>
          <p:cNvSpPr/>
          <p:nvPr/>
        </p:nvSpPr>
        <p:spPr>
          <a:xfrm>
            <a:off x="8382000" y="1778000"/>
            <a:ext cx="3175000" cy="762000"/>
          </a:xfrm>
          <a:prstGeom prst="rect">
            <a:avLst/>
          </a:prstGeom>
          <a:solidFill>
            <a:srgbClr val="2EC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Bootstrap 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8FDB3D-1975-FFA6-AB93-AB253F9F803C}"/>
              </a:ext>
            </a:extLst>
          </p:cNvPr>
          <p:cNvSpPr txBox="1"/>
          <p:nvPr/>
        </p:nvSpPr>
        <p:spPr>
          <a:xfrm>
            <a:off x="8382000" y="2667000"/>
            <a:ext cx="3175000" cy="5245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400">
                <a:latin typeface="Calibri" panose="020F0502020204030204" pitchFamily="34" charset="0"/>
              </a:rPr>
              <a:t>Framework CSS para diseño responsivo y componentes</a:t>
            </a:r>
            <a:endParaRPr lang="es-MX" sz="14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42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8D00A-8D6E-AB9D-9EF3-26120161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Stack Tecnológico - Backend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212D25-2BAE-C952-6270-4FCF15409F0E}"/>
              </a:ext>
            </a:extLst>
          </p:cNvPr>
          <p:cNvSpPr txBox="1"/>
          <p:nvPr/>
        </p:nvSpPr>
        <p:spPr>
          <a:xfrm>
            <a:off x="1016000" y="1524000"/>
            <a:ext cx="10795000" cy="67403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800">
                <a:latin typeface="Calibri" panose="020F0502020204030204" pitchFamily="34" charset="0"/>
              </a:rPr>
              <a:t>Node.js + Express.js</a:t>
            </a:r>
          </a:p>
          <a:p>
            <a:r>
              <a:rPr lang="es-MX" sz="1800">
                <a:latin typeface="Calibri" panose="020F0502020204030204" pitchFamily="34" charset="0"/>
              </a:rPr>
              <a:t>• Servidor web robusto en el puerto 3005</a:t>
            </a:r>
          </a:p>
          <a:p>
            <a:r>
              <a:rPr lang="es-MX" sz="1800">
                <a:latin typeface="Calibri" panose="020F0502020204030204" pitchFamily="34" charset="0"/>
              </a:rPr>
              <a:t>• Middleware: helmet, cors, cookie-parser, express-session</a:t>
            </a:r>
          </a:p>
          <a:p>
            <a:r>
              <a:rPr lang="es-MX" sz="1800">
                <a:latin typeface="Calibri" panose="020F0502020204030204" pitchFamily="34" charset="0"/>
              </a:rPr>
              <a:t>• Arquitectura RESTful API</a:t>
            </a:r>
          </a:p>
          <a:p>
            <a:endParaRPr lang="es-MX" sz="1800">
              <a:latin typeface="Calibri" panose="020F0502020204030204" pitchFamily="34" charset="0"/>
            </a:endParaRPr>
          </a:p>
          <a:p>
            <a:r>
              <a:rPr lang="es-MX" sz="1800">
                <a:latin typeface="Calibri" panose="020F0502020204030204" pitchFamily="34" charset="0"/>
              </a:rPr>
              <a:t>Better-SQLite3</a:t>
            </a:r>
          </a:p>
          <a:p>
            <a:r>
              <a:rPr lang="es-MX" sz="1800">
                <a:latin typeface="Calibri" panose="020F0502020204030204" pitchFamily="34" charset="0"/>
              </a:rPr>
              <a:t>• Base de datos SQLite embebida</a:t>
            </a:r>
          </a:p>
          <a:p>
            <a:r>
              <a:rPr lang="es-MX" sz="1800">
                <a:latin typeface="Calibri" panose="020F0502020204030204" pitchFamily="34" charset="0"/>
              </a:rPr>
              <a:t>• Alta performance (síncrono)</a:t>
            </a:r>
          </a:p>
          <a:p>
            <a:r>
              <a:rPr lang="es-MX" sz="1800">
                <a:latin typeface="Calibri" panose="020F0502020204030204" pitchFamily="34" charset="0"/>
              </a:rPr>
              <a:t>• Almacenamiento: usuarios, permisos, layouts, borradores</a:t>
            </a:r>
          </a:p>
          <a:p>
            <a:endParaRPr lang="es-MX" sz="1800">
              <a:latin typeface="Calibri" panose="020F0502020204030204" pitchFamily="34" charset="0"/>
            </a:endParaRPr>
          </a:p>
          <a:p>
            <a:r>
              <a:rPr lang="es-MX" sz="1800">
                <a:latin typeface="Calibri" panose="020F0502020204030204" pitchFamily="34" charset="0"/>
              </a:rPr>
              <a:t>node-firebird</a:t>
            </a:r>
          </a:p>
          <a:p>
            <a:r>
              <a:rPr lang="es-MX" sz="1800">
                <a:latin typeface="Calibri" panose="020F0502020204030204" pitchFamily="34" charset="0"/>
              </a:rPr>
              <a:t>• Conectividad con Firebird 2.5+</a:t>
            </a:r>
          </a:p>
          <a:p>
            <a:r>
              <a:rPr lang="es-MX" sz="1800">
                <a:latin typeface="Calibri" panose="020F0502020204030204" pitchFamily="34" charset="0"/>
              </a:rPr>
              <a:t>• Queries a bases de datos contables externas</a:t>
            </a:r>
          </a:p>
          <a:p>
            <a:r>
              <a:rPr lang="es-MX" sz="1800">
                <a:latin typeface="Calibri" panose="020F0502020204030204" pitchFamily="34" charset="0"/>
              </a:rPr>
              <a:t>• Soporte para transacciones</a:t>
            </a:r>
          </a:p>
          <a:p>
            <a:endParaRPr lang="es-MX" sz="1800">
              <a:latin typeface="Calibri" panose="020F0502020204030204" pitchFamily="34" charset="0"/>
            </a:endParaRPr>
          </a:p>
          <a:p>
            <a:r>
              <a:rPr lang="es-MX" sz="1800">
                <a:latin typeface="Calibri" panose="020F0502020204030204" pitchFamily="34" charset="0"/>
              </a:rPr>
              <a:t>JWT (jsonwebtoken) + bcryptjs</a:t>
            </a:r>
          </a:p>
          <a:p>
            <a:r>
              <a:rPr lang="es-MX" sz="1800">
                <a:latin typeface="Calibri" panose="020F0502020204030204" pitchFamily="34" charset="0"/>
              </a:rPr>
              <a:t>• Autenticación con tokens JWT</a:t>
            </a:r>
          </a:p>
          <a:p>
            <a:r>
              <a:rPr lang="es-MX" sz="1800">
                <a:latin typeface="Calibri" panose="020F0502020204030204" pitchFamily="34" charset="0"/>
              </a:rPr>
              <a:t>• Encriptación segura de contraseñas (bcrypt)</a:t>
            </a:r>
          </a:p>
          <a:p>
            <a:r>
              <a:rPr lang="es-MX" sz="1800">
                <a:latin typeface="Calibri" panose="020F0502020204030204" pitchFamily="34" charset="0"/>
              </a:rPr>
              <a:t>• Refresh tokens para sesiones extendidas</a:t>
            </a:r>
          </a:p>
          <a:p>
            <a:endParaRPr lang="es-MX" sz="1800">
              <a:latin typeface="Calibri" panose="020F0502020204030204" pitchFamily="34" charset="0"/>
            </a:endParaRPr>
          </a:p>
          <a:p>
            <a:r>
              <a:rPr lang="es-MX" sz="1800">
                <a:latin typeface="Calibri" panose="020F0502020204030204" pitchFamily="34" charset="0"/>
              </a:rPr>
              <a:t>Joi</a:t>
            </a:r>
          </a:p>
          <a:p>
            <a:r>
              <a:rPr lang="es-MX" sz="1800">
                <a:latin typeface="Calibri" panose="020F0502020204030204" pitchFamily="34" charset="0"/>
              </a:rPr>
              <a:t>• Validación de esquemas de datos</a:t>
            </a:r>
          </a:p>
          <a:p>
            <a:r>
              <a:rPr lang="es-MX" sz="1800">
                <a:latin typeface="Calibri" panose="020F0502020204030204" pitchFamily="34" charset="0"/>
              </a:rPr>
              <a:t>• Sanitización de inputs</a:t>
            </a:r>
          </a:p>
          <a:p>
            <a:r>
              <a:rPr lang="es-MX" sz="1800">
                <a:latin typeface="Calibri" panose="020F0502020204030204" pitchFamily="34" charset="0"/>
              </a:rPr>
              <a:t>• Prevención de inyecciones</a:t>
            </a:r>
          </a:p>
        </p:txBody>
      </p:sp>
    </p:spTree>
    <p:extLst>
      <p:ext uri="{BB962C8B-B14F-4D97-AF65-F5344CB8AC3E}">
        <p14:creationId xmlns:p14="http://schemas.microsoft.com/office/powerpoint/2010/main" val="87128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A0C7E-7DB8-1BF1-6D9B-32784F38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Arquitectura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E72097-A6CD-6799-D673-E3C634C34603}"/>
              </a:ext>
            </a:extLst>
          </p:cNvPr>
          <p:cNvSpPr txBox="1"/>
          <p:nvPr/>
        </p:nvSpPr>
        <p:spPr>
          <a:xfrm>
            <a:off x="889000" y="1524000"/>
            <a:ext cx="11176000" cy="67403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600">
                <a:latin typeface="Calibri" panose="020F0502020204030204" pitchFamily="34" charset="0"/>
              </a:rPr>
              <a:t>┌─────────────────────────────────────────────────┐</a:t>
            </a:r>
          </a:p>
          <a:p>
            <a:r>
              <a:rPr lang="es-MX" sz="1600">
                <a:latin typeface="Calibri" panose="020F0502020204030204" pitchFamily="34" charset="0"/>
              </a:rPr>
              <a:t>│           ELECTRON (Contenedor Desktop)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│  • Ventana principal integrada   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│  • System tray icon              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│  • Auto-launch con Windows       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│  • Auto-updater (GitHub Releases)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└─────────────────┬───────────────────────────────┘</a:t>
            </a:r>
          </a:p>
          <a:p>
            <a:r>
              <a:rPr lang="es-MX" sz="1600">
                <a:latin typeface="Calibri" panose="020F0502020204030204" pitchFamily="34" charset="0"/>
              </a:rPr>
              <a:t>  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┌─────────────────▼───────────────────────────────┐</a:t>
            </a:r>
          </a:p>
          <a:p>
            <a:r>
              <a:rPr lang="es-MX" sz="1600">
                <a:latin typeface="Calibri" panose="020F0502020204030204" pitchFamily="34" charset="0"/>
              </a:rPr>
              <a:t>│     EXPRESS SERVER (Puerto 3005) 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│  • 0.0.0.0:3005 (accesible local/remoto)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│  • Trust proxy enabled (túneles HTTPS)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│  • Sesiones con SQLite store    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└─────────────────┬───────────────────────────────┘</a:t>
            </a:r>
          </a:p>
          <a:p>
            <a:r>
              <a:rPr lang="es-MX" sz="1600">
                <a:latin typeface="Calibri" panose="020F0502020204030204" pitchFamily="34" charset="0"/>
              </a:rPr>
              <a:t>     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    ┌─────────────┼─────────────┐</a:t>
            </a:r>
          </a:p>
          <a:p>
            <a:r>
              <a:rPr lang="es-MX" sz="1600">
                <a:latin typeface="Calibri" panose="020F0502020204030204" pitchFamily="34" charset="0"/>
              </a:rPr>
              <a:t>    │             │             │</a:t>
            </a:r>
          </a:p>
          <a:p>
            <a:r>
              <a:rPr lang="es-MX" sz="1600">
                <a:latin typeface="Calibri" panose="020F0502020204030204" pitchFamily="34" charset="0"/>
              </a:rPr>
              <a:t>┌───▼──────┐  ┌──▼────────┐  ┌▼──────────┐</a:t>
            </a:r>
          </a:p>
          <a:p>
            <a:r>
              <a:rPr lang="es-MX" sz="1600">
                <a:latin typeface="Calibri" panose="020F0502020204030204" pitchFamily="34" charset="0"/>
              </a:rPr>
              <a:t>│ SQLite   │  │ Firebird  │  │  Vistas   │</a:t>
            </a:r>
          </a:p>
          <a:p>
            <a:r>
              <a:rPr lang="es-MX" sz="1600">
                <a:latin typeface="Calibri" panose="020F0502020204030204" pitchFamily="34" charset="0"/>
              </a:rPr>
              <a:t>│ (Local)  │  │ (Externa) │  │  HTML     │</a:t>
            </a:r>
          </a:p>
          <a:p>
            <a:r>
              <a:rPr lang="es-MX" sz="1600">
                <a:latin typeface="Calibri" panose="020F0502020204030204" pitchFamily="34" charset="0"/>
              </a:rPr>
              <a:t>└──────────┘  └───────────┘  └───────────┘</a:t>
            </a:r>
          </a:p>
          <a:p>
            <a:endParaRPr lang="es-MX" sz="1600">
              <a:latin typeface="Calibri" panose="020F0502020204030204" pitchFamily="34" charset="0"/>
            </a:endParaRPr>
          </a:p>
          <a:p>
            <a:r>
              <a:rPr lang="es-MX" sz="1600">
                <a:latin typeface="Calibri" panose="020F0502020204030204" pitchFamily="34" charset="0"/>
              </a:rPr>
              <a:t>Acceso Multi-Usuario:</a:t>
            </a:r>
          </a:p>
          <a:p>
            <a:r>
              <a:rPr lang="es-MX" sz="1600">
                <a:latin typeface="Calibri" panose="020F0502020204030204" pitchFamily="34" charset="0"/>
              </a:rPr>
              <a:t>• Local: http://localhost:3005</a:t>
            </a:r>
          </a:p>
          <a:p>
            <a:r>
              <a:rPr lang="es-MX" sz="1600">
                <a:latin typeface="Calibri" panose="020F0502020204030204" pitchFamily="34" charset="0"/>
              </a:rPr>
              <a:t>• Remoto: https://panelamcham.iconetcloud.com.mx</a:t>
            </a:r>
          </a:p>
          <a:p>
            <a:r>
              <a:rPr lang="es-MX" sz="1600">
                <a:latin typeface="Calibri" panose="020F0502020204030204" pitchFamily="34" charset="0"/>
              </a:rPr>
              <a:t>• Sesiones independientes por usuario</a:t>
            </a:r>
          </a:p>
          <a:p>
            <a:r>
              <a:rPr lang="es-MX" sz="1600">
                <a:latin typeface="Calibri" panose="020F0502020204030204" pitchFamily="34" charset="0"/>
              </a:rPr>
              <a:t>• Cookies persistentes (7 días)</a:t>
            </a:r>
          </a:p>
        </p:txBody>
      </p:sp>
    </p:spTree>
    <p:extLst>
      <p:ext uri="{BB962C8B-B14F-4D97-AF65-F5344CB8AC3E}">
        <p14:creationId xmlns:p14="http://schemas.microsoft.com/office/powerpoint/2010/main" val="237322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11F9C-9A65-49E7-2952-6B441D35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Arquitectura en Capas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EBF0CD-52BB-314A-0D2F-B45F9977DBCC}"/>
              </a:ext>
            </a:extLst>
          </p:cNvPr>
          <p:cNvSpPr/>
          <p:nvPr/>
        </p:nvSpPr>
        <p:spPr>
          <a:xfrm>
            <a:off x="1905000" y="1651000"/>
            <a:ext cx="8890000" cy="635000"/>
          </a:xfrm>
          <a:prstGeom prst="rect">
            <a:avLst/>
          </a:prstGeom>
          <a:solidFill>
            <a:srgbClr val="2980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Capa de Presentación (Vistas HTML + JS)</a:t>
            </a:r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2FD6A5-9A7F-2B07-4915-BD56058D3655}"/>
              </a:ext>
            </a:extLst>
          </p:cNvPr>
          <p:cNvSpPr txBox="1"/>
          <p:nvPr/>
        </p:nvSpPr>
        <p:spPr>
          <a:xfrm>
            <a:off x="1905000" y="2349500"/>
            <a:ext cx="8890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latin typeface="Calibri" panose="020F0502020204030204" pitchFamily="34" charset="0"/>
              </a:rPr>
              <a:t>login.html, usuarios.html, presupuestos.html, RESUMEN.html, graficas.html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55386B-5D99-7D79-9E9A-40C5ECC4B4DF}"/>
              </a:ext>
            </a:extLst>
          </p:cNvPr>
          <p:cNvSpPr/>
          <p:nvPr/>
        </p:nvSpPr>
        <p:spPr>
          <a:xfrm>
            <a:off x="1905000" y="2984500"/>
            <a:ext cx="8890000" cy="635000"/>
          </a:xfrm>
          <a:prstGeom prst="rect">
            <a:avLst/>
          </a:prstGeom>
          <a:solidFill>
            <a:srgbClr val="3449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Capa de Controladores (Routes)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088EF27-010C-C565-A4E3-BFF8E33C05CF}"/>
              </a:ext>
            </a:extLst>
          </p:cNvPr>
          <p:cNvSpPr txBox="1"/>
          <p:nvPr/>
        </p:nvSpPr>
        <p:spPr>
          <a:xfrm>
            <a:off x="1905000" y="3683000"/>
            <a:ext cx="8890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latin typeface="Calibri" panose="020F0502020204030204" pitchFamily="34" charset="0"/>
              </a:rPr>
              <a:t>auth.js, usuarios.js, empresas.js, presupuestos.js, reportes.js, insercion.js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AA8C77-B530-D475-8EB9-B9A3B5E21487}"/>
              </a:ext>
            </a:extLst>
          </p:cNvPr>
          <p:cNvSpPr/>
          <p:nvPr/>
        </p:nvSpPr>
        <p:spPr>
          <a:xfrm>
            <a:off x="1905000" y="4318000"/>
            <a:ext cx="8890000" cy="635000"/>
          </a:xfrm>
          <a:prstGeom prst="rect">
            <a:avLst/>
          </a:prstGeom>
          <a:solidFill>
            <a:srgbClr val="E67E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Capa de Middleware (Seguridad)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BB9C4E0-C7F6-D97E-4C2F-AF469DD7DFE4}"/>
              </a:ext>
            </a:extLst>
          </p:cNvPr>
          <p:cNvSpPr txBox="1"/>
          <p:nvPr/>
        </p:nvSpPr>
        <p:spPr>
          <a:xfrm>
            <a:off x="1905000" y="5016500"/>
            <a:ext cx="8890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latin typeface="Calibri" panose="020F0502020204030204" pitchFamily="34" charset="0"/>
              </a:rPr>
              <a:t>requireAuth, permisos, rate limiting, CORS, helmet, validaciones Joi</a:t>
            </a:r>
            <a:endParaRPr lang="es-MX" sz="1400"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6FE413-911E-6F87-079B-DB30127D6853}"/>
              </a:ext>
            </a:extLst>
          </p:cNvPr>
          <p:cNvSpPr/>
          <p:nvPr/>
        </p:nvSpPr>
        <p:spPr>
          <a:xfrm>
            <a:off x="1905000" y="5651500"/>
            <a:ext cx="4318000" cy="635000"/>
          </a:xfrm>
          <a:prstGeom prst="rect">
            <a:avLst/>
          </a:prstGeom>
          <a:solidFill>
            <a:srgbClr val="2EC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Servicios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412409-E9E1-461A-2EC2-23DCCA7B2B13}"/>
              </a:ext>
            </a:extLst>
          </p:cNvPr>
          <p:cNvSpPr txBox="1"/>
          <p:nvPr/>
        </p:nvSpPr>
        <p:spPr>
          <a:xfrm>
            <a:off x="1905000" y="6350000"/>
            <a:ext cx="431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300">
                <a:latin typeface="Calibri" panose="020F0502020204030204" pitchFamily="34" charset="0"/>
              </a:rPr>
              <a:t>permisosService, firebirdService, layoutService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2A37F5-7893-75EB-09F3-F8DFD0782B02}"/>
              </a:ext>
            </a:extLst>
          </p:cNvPr>
          <p:cNvSpPr/>
          <p:nvPr/>
        </p:nvSpPr>
        <p:spPr>
          <a:xfrm>
            <a:off x="6477000" y="5651500"/>
            <a:ext cx="4318000" cy="635000"/>
          </a:xfrm>
          <a:prstGeom prst="rect">
            <a:avLst/>
          </a:prstGeom>
          <a:solidFill>
            <a:srgbClr val="E74C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Persistencia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6382CBB-84A4-7F45-4E30-5CAB498B66F5}"/>
              </a:ext>
            </a:extLst>
          </p:cNvPr>
          <p:cNvSpPr txBox="1"/>
          <p:nvPr/>
        </p:nvSpPr>
        <p:spPr>
          <a:xfrm>
            <a:off x="6477000" y="6350000"/>
            <a:ext cx="431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300">
                <a:latin typeface="Calibri" panose="020F0502020204030204" pitchFamily="34" charset="0"/>
              </a:rPr>
              <a:t>SQLite (local), Firebird (externa)</a:t>
            </a:r>
          </a:p>
        </p:txBody>
      </p:sp>
    </p:spTree>
    <p:extLst>
      <p:ext uri="{BB962C8B-B14F-4D97-AF65-F5344CB8AC3E}">
        <p14:creationId xmlns:p14="http://schemas.microsoft.com/office/powerpoint/2010/main" val="531612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90A94-7579-8F8E-728B-927E84DF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Sistema de Autenticación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954C88-5BA8-74DF-3FE0-3C98A2D8C444}"/>
              </a:ext>
            </a:extLst>
          </p:cNvPr>
          <p:cNvSpPr txBox="1"/>
          <p:nvPr/>
        </p:nvSpPr>
        <p:spPr>
          <a:xfrm>
            <a:off x="635000" y="1524000"/>
            <a:ext cx="11684000" cy="126252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latin typeface="Calibri" panose="020F0502020204030204" pitchFamily="34" charset="0"/>
              </a:rPr>
              <a:t>Mecanismos Implementados: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1. AUTENTICACIÓN DUAL</a:t>
            </a:r>
          </a:p>
          <a:p>
            <a:r>
              <a:rPr lang="es-MX" sz="1400">
                <a:latin typeface="Calibri" panose="020F0502020204030204" pitchFamily="34" charset="0"/>
              </a:rPr>
              <a:t>   • Sesiones con express-session + SQLite store</a:t>
            </a:r>
          </a:p>
          <a:p>
            <a:r>
              <a:rPr lang="es-MX" sz="1400">
                <a:latin typeface="Calibri" panose="020F0502020204030204" pitchFamily="34" charset="0"/>
              </a:rPr>
              <a:t>   • JWT (JSON Web Tokens) con refresh tokens</a:t>
            </a:r>
          </a:p>
          <a:p>
            <a:r>
              <a:rPr lang="es-MX" sz="1400">
                <a:latin typeface="Calibri" panose="020F0502020204030204" pitchFamily="34" charset="0"/>
              </a:rPr>
              <a:t>   • Cookie-based authentication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2. FLUJO DE LOGIN</a:t>
            </a:r>
          </a:p>
          <a:p>
            <a:r>
              <a:rPr lang="es-MX" sz="1400">
                <a:latin typeface="Calibri" panose="020F0502020204030204" pitchFamily="34" charset="0"/>
              </a:rPr>
              <a:t>   ┌─────────────┐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│ Usuario     │ POST /api/auth/login</a:t>
            </a:r>
          </a:p>
          <a:p>
            <a:r>
              <a:rPr lang="es-MX" sz="1400">
                <a:latin typeface="Calibri" panose="020F0502020204030204" pitchFamily="34" charset="0"/>
              </a:rPr>
              <a:t>   │ + Password  │ {usuario, contrasena}</a:t>
            </a:r>
          </a:p>
          <a:p>
            <a:r>
              <a:rPr lang="es-MX" sz="1400">
                <a:latin typeface="Calibri" panose="020F0502020204030204" pitchFamily="34" charset="0"/>
              </a:rPr>
              <a:t>   └──────┬──────┘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▼</a:t>
            </a:r>
          </a:p>
          <a:p>
            <a:r>
              <a:rPr lang="es-MX" sz="1400">
                <a:latin typeface="Calibri" panose="020F0502020204030204" pitchFamily="34" charset="0"/>
              </a:rPr>
              <a:t>   ┌──────────────────────────────────┐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│ Validación Joi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• Min 2 caracteres usuario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• Min 6 caracteres password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└──────┬───────────────────────────┘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▼</a:t>
            </a:r>
          </a:p>
          <a:p>
            <a:r>
              <a:rPr lang="es-MX" sz="1400">
                <a:latin typeface="Calibri" panose="020F0502020204030204" pitchFamily="34" charset="0"/>
              </a:rPr>
              <a:t>   ┌──────────────────────────────────┐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│ Rate Limiting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• Max 10 intentos / 10 minutos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• Bloqueo 5 minutos si excede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└──────┬───────────────────────────┘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▼</a:t>
            </a:r>
          </a:p>
          <a:p>
            <a:r>
              <a:rPr lang="es-MX" sz="1400">
                <a:latin typeface="Calibri" panose="020F0502020204030204" pitchFamily="34" charset="0"/>
              </a:rPr>
              <a:t>   ┌──────────────────────────────────┐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│ Verificar Usuario en SQLite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SELECT * FROM usuarios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WHERE usuario = ?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└──────┬───────────────────────────┘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▼</a:t>
            </a:r>
          </a:p>
          <a:p>
            <a:r>
              <a:rPr lang="es-MX" sz="1400">
                <a:latin typeface="Calibri" panose="020F0502020204030204" pitchFamily="34" charset="0"/>
              </a:rPr>
              <a:t>   ┌──────────────────────────────────┐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│ Comparar Hash (bcrypt.compare)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contrasena vs hash almacenado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└──────┬───────────────────────────┘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▼</a:t>
            </a:r>
          </a:p>
          <a:p>
            <a:r>
              <a:rPr lang="es-MX" sz="1400">
                <a:latin typeface="Calibri" panose="020F0502020204030204" pitchFamily="34" charset="0"/>
              </a:rPr>
              <a:t>   ┌──────────────────────────────────┐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│ Emitir Tokens JWT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• Access Token (1 hora)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• Refresh Token (7 días)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└──────┬───────────────────────────┘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    ▼</a:t>
            </a:r>
          </a:p>
          <a:p>
            <a:r>
              <a:rPr lang="es-MX" sz="1400">
                <a:latin typeface="Calibri" panose="020F0502020204030204" pitchFamily="34" charset="0"/>
              </a:rPr>
              <a:t>   ┌──────────────────────────────────┐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│ Crear Sesión 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req.session.userId = user.id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│ Cookie: panelamcham.sid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└──────────────────────────────────┘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3. PROTECCIÓN DE CONTRASEÑAS</a:t>
            </a:r>
          </a:p>
          <a:p>
            <a:r>
              <a:rPr lang="es-MX" sz="1400">
                <a:latin typeface="Calibri" panose="020F0502020204030204" pitchFamily="34" charset="0"/>
              </a:rPr>
              <a:t>   • bcrypt con saltRounds = 10</a:t>
            </a:r>
          </a:p>
          <a:p>
            <a:r>
              <a:rPr lang="es-MX" sz="1400">
                <a:latin typeface="Calibri" panose="020F0502020204030204" pitchFamily="34" charset="0"/>
              </a:rPr>
              <a:t>   • Nunca se almacenan en texto plano</a:t>
            </a:r>
          </a:p>
          <a:p>
            <a:r>
              <a:rPr lang="es-MX" sz="1400">
                <a:latin typeface="Calibri" panose="020F0502020204030204" pitchFamily="34" charset="0"/>
              </a:rPr>
              <a:t>   • Hash verificable pero no reversible</a:t>
            </a:r>
          </a:p>
        </p:txBody>
      </p:sp>
    </p:spTree>
    <p:extLst>
      <p:ext uri="{BB962C8B-B14F-4D97-AF65-F5344CB8AC3E}">
        <p14:creationId xmlns:p14="http://schemas.microsoft.com/office/powerpoint/2010/main" val="112374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B4ECE-4DED-5061-4095-B06C1607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Middleware: requireAuth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EECCAF-6088-32A1-7F0D-0039DAE2BD0A}"/>
              </a:ext>
            </a:extLst>
          </p:cNvPr>
          <p:cNvSpPr txBox="1"/>
          <p:nvPr/>
        </p:nvSpPr>
        <p:spPr>
          <a:xfrm>
            <a:off x="635000" y="1524000"/>
            <a:ext cx="11684000" cy="88639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500">
                <a:latin typeface="Calibri" panose="020F0502020204030204" pitchFamily="34" charset="0"/>
              </a:rPr>
              <a:t>Protección de Rutas (src/middleware/auth.js)</a:t>
            </a:r>
          </a:p>
          <a:p>
            <a:endParaRPr lang="es-MX" sz="1500">
              <a:latin typeface="Calibri" panose="020F0502020204030204" pitchFamily="34" charset="0"/>
            </a:endParaRPr>
          </a:p>
          <a:p>
            <a:r>
              <a:rPr lang="es-MX" sz="1500">
                <a:latin typeface="Calibri" panose="020F0502020204030204" pitchFamily="34" charset="0"/>
              </a:rPr>
              <a:t>const requireAuth = (req, res, next) =&gt; {</a:t>
            </a:r>
          </a:p>
          <a:p>
            <a:r>
              <a:rPr lang="es-MX" sz="1500">
                <a:latin typeface="Calibri" panose="020F0502020204030204" pitchFamily="34" charset="0"/>
              </a:rPr>
              <a:t>  // 1. Extraer token de múltiples fuentes</a:t>
            </a:r>
          </a:p>
          <a:p>
            <a:r>
              <a:rPr lang="es-MX" sz="1500">
                <a:latin typeface="Calibri" panose="020F0502020204030204" pitchFamily="34" charset="0"/>
              </a:rPr>
              <a:t>  const token = extraerToken(req);</a:t>
            </a:r>
          </a:p>
          <a:p>
            <a:r>
              <a:rPr lang="es-MX" sz="1500">
                <a:latin typeface="Calibri" panose="020F0502020204030204" pitchFamily="34" charset="0"/>
              </a:rPr>
              <a:t>  //    • req.session.userId (sesión)</a:t>
            </a:r>
          </a:p>
          <a:p>
            <a:r>
              <a:rPr lang="es-MX" sz="1500">
                <a:latin typeface="Calibri" panose="020F0502020204030204" pitchFamily="34" charset="0"/>
              </a:rPr>
              <a:t>  //    • req.cookies.tokenAcceso (cookie)</a:t>
            </a:r>
          </a:p>
          <a:p>
            <a:r>
              <a:rPr lang="es-MX" sz="1500">
                <a:latin typeface="Calibri" panose="020F0502020204030204" pitchFamily="34" charset="0"/>
              </a:rPr>
              <a:t>  //    • Authorization: Bearer &lt;token&gt; (header)</a:t>
            </a:r>
          </a:p>
          <a:p>
            <a:r>
              <a:rPr lang="es-MX" sz="1500">
                <a:latin typeface="Calibri" panose="020F0502020204030204" pitchFamily="34" charset="0"/>
              </a:rPr>
              <a:t>  </a:t>
            </a:r>
          </a:p>
          <a:p>
            <a:r>
              <a:rPr lang="es-MX" sz="1500">
                <a:latin typeface="Calibri" panose="020F0502020204030204" pitchFamily="34" charset="0"/>
              </a:rPr>
              <a:t>  if (!token) {</a:t>
            </a:r>
          </a:p>
          <a:p>
            <a:r>
              <a:rPr lang="es-MX" sz="1500">
                <a:latin typeface="Calibri" panose="020F0502020204030204" pitchFamily="34" charset="0"/>
              </a:rPr>
              <a:t>    return res.status(401).json({</a:t>
            </a:r>
          </a:p>
          <a:p>
            <a:r>
              <a:rPr lang="es-MX" sz="1500">
                <a:latin typeface="Calibri" panose="020F0502020204030204" pitchFamily="34" charset="0"/>
              </a:rPr>
              <a:t>      mensaje: 'Sesión no válida o expirada.'</a:t>
            </a:r>
          </a:p>
          <a:p>
            <a:r>
              <a:rPr lang="es-MX" sz="1500">
                <a:latin typeface="Calibri" panose="020F0502020204030204" pitchFamily="34" charset="0"/>
              </a:rPr>
              <a:t>    });</a:t>
            </a:r>
          </a:p>
          <a:p>
            <a:r>
              <a:rPr lang="es-MX" sz="1500">
                <a:latin typeface="Calibri" panose="020F0502020204030204" pitchFamily="34" charset="0"/>
              </a:rPr>
              <a:t>  }</a:t>
            </a:r>
          </a:p>
          <a:p>
            <a:r>
              <a:rPr lang="es-MX" sz="1500">
                <a:latin typeface="Calibri" panose="020F0502020204030204" pitchFamily="34" charset="0"/>
              </a:rPr>
              <a:t>  </a:t>
            </a:r>
          </a:p>
          <a:p>
            <a:r>
              <a:rPr lang="es-MX" sz="1500">
                <a:latin typeface="Calibri" panose="020F0502020204030204" pitchFamily="34" charset="0"/>
              </a:rPr>
              <a:t>  // 2. Verificar token</a:t>
            </a:r>
          </a:p>
          <a:p>
            <a:r>
              <a:rPr lang="es-MX" sz="1500">
                <a:latin typeface="Calibri" panose="020F0502020204030204" pitchFamily="34" charset="0"/>
              </a:rPr>
              <a:t>  if (token === 'SESSION_AUTH') {</a:t>
            </a:r>
          </a:p>
          <a:p>
            <a:r>
              <a:rPr lang="es-MX" sz="1500">
                <a:latin typeface="Calibri" panose="020F0502020204030204" pitchFamily="34" charset="0"/>
              </a:rPr>
              <a:t>    // Autenticado por sesión</a:t>
            </a:r>
          </a:p>
          <a:p>
            <a:r>
              <a:rPr lang="es-MX" sz="1500">
                <a:latin typeface="Calibri" panose="020F0502020204030204" pitchFamily="34" charset="0"/>
              </a:rPr>
              <a:t>    registro = cargarUsuario(req.session.userId);</a:t>
            </a:r>
          </a:p>
          <a:p>
            <a:r>
              <a:rPr lang="es-MX" sz="1500">
                <a:latin typeface="Calibri" panose="020F0502020204030204" pitchFamily="34" charset="0"/>
              </a:rPr>
              <a:t>  } else {</a:t>
            </a:r>
          </a:p>
          <a:p>
            <a:r>
              <a:rPr lang="es-MX" sz="1500">
                <a:latin typeface="Calibri" panose="020F0502020204030204" pitchFamily="34" charset="0"/>
              </a:rPr>
              <a:t>    // Verificar JWT</a:t>
            </a:r>
          </a:p>
          <a:p>
            <a:r>
              <a:rPr lang="es-MX" sz="1500">
                <a:latin typeface="Calibri" panose="020F0502020204030204" pitchFamily="34" charset="0"/>
              </a:rPr>
              <a:t>    payload = jwt.verify(token, JWT_SECRET);</a:t>
            </a:r>
          </a:p>
          <a:p>
            <a:r>
              <a:rPr lang="es-MX" sz="1500">
                <a:latin typeface="Calibri" panose="020F0502020204030204" pitchFamily="34" charset="0"/>
              </a:rPr>
              <a:t>    registro = cargarUsuario(payload.sub);</a:t>
            </a:r>
          </a:p>
          <a:p>
            <a:r>
              <a:rPr lang="es-MX" sz="1500">
                <a:latin typeface="Calibri" panose="020F0502020204030204" pitchFamily="34" charset="0"/>
              </a:rPr>
              <a:t>  }</a:t>
            </a:r>
          </a:p>
          <a:p>
            <a:r>
              <a:rPr lang="es-MX" sz="1500">
                <a:latin typeface="Calibri" panose="020F0502020204030204" pitchFamily="34" charset="0"/>
              </a:rPr>
              <a:t>  </a:t>
            </a:r>
          </a:p>
          <a:p>
            <a:r>
              <a:rPr lang="es-MX" sz="1500">
                <a:latin typeface="Calibri" panose="020F0502020204030204" pitchFamily="34" charset="0"/>
              </a:rPr>
              <a:t>  // 3. Construir contexto de usuario</a:t>
            </a:r>
          </a:p>
          <a:p>
            <a:r>
              <a:rPr lang="es-MX" sz="1500">
                <a:latin typeface="Calibri" panose="020F0502020204030204" pitchFamily="34" charset="0"/>
              </a:rPr>
              <a:t>  const contexto = construirContexto(registro);</a:t>
            </a:r>
          </a:p>
          <a:p>
            <a:r>
              <a:rPr lang="es-MX" sz="1500">
                <a:latin typeface="Calibri" panose="020F0502020204030204" pitchFamily="34" charset="0"/>
              </a:rPr>
              <a:t>  req.usuarioActual = { ...registro info ... };</a:t>
            </a:r>
          </a:p>
          <a:p>
            <a:r>
              <a:rPr lang="es-MX" sz="1500">
                <a:latin typeface="Calibri" panose="020F0502020204030204" pitchFamily="34" charset="0"/>
              </a:rPr>
              <a:t>  req.esAdmin = contexto.esAdmin;</a:t>
            </a:r>
          </a:p>
          <a:p>
            <a:r>
              <a:rPr lang="es-MX" sz="1500">
                <a:latin typeface="Calibri" panose="020F0502020204030204" pitchFamily="34" charset="0"/>
              </a:rPr>
              <a:t>  req.mapaPermisos = contexto.mapaPermisos;</a:t>
            </a:r>
          </a:p>
          <a:p>
            <a:r>
              <a:rPr lang="es-MX" sz="1500">
                <a:latin typeface="Calibri" panose="020F0502020204030204" pitchFamily="34" charset="0"/>
              </a:rPr>
              <a:t>  </a:t>
            </a:r>
          </a:p>
          <a:p>
            <a:r>
              <a:rPr lang="es-MX" sz="1500">
                <a:latin typeface="Calibri" panose="020F0502020204030204" pitchFamily="34" charset="0"/>
              </a:rPr>
              <a:t>  next(); // Continuar a la ruta protegida</a:t>
            </a:r>
          </a:p>
          <a:p>
            <a:r>
              <a:rPr lang="es-MX" sz="1500">
                <a:latin typeface="Calibri" panose="020F0502020204030204" pitchFamily="34" charset="0"/>
              </a:rPr>
              <a:t>};</a:t>
            </a:r>
          </a:p>
          <a:p>
            <a:endParaRPr lang="es-MX" sz="1500">
              <a:latin typeface="Calibri" panose="020F0502020204030204" pitchFamily="34" charset="0"/>
            </a:endParaRPr>
          </a:p>
          <a:p>
            <a:r>
              <a:rPr lang="es-MX" sz="1500">
                <a:latin typeface="Calibri" panose="020F0502020204030204" pitchFamily="34" charset="0"/>
              </a:rPr>
              <a:t>Uso en Rutas:</a:t>
            </a:r>
          </a:p>
          <a:p>
            <a:r>
              <a:rPr lang="es-MX" sz="1500">
                <a:latin typeface="Calibri" panose="020F0502020204030204" pitchFamily="34" charset="0"/>
              </a:rPr>
              <a:t>router.get('/api/usuarios', requireAuth, (req, res) =&gt; {</a:t>
            </a:r>
          </a:p>
          <a:p>
            <a:r>
              <a:rPr lang="es-MX" sz="1500">
                <a:latin typeface="Calibri" panose="020F0502020204030204" pitchFamily="34" charset="0"/>
              </a:rPr>
              <a:t>  // Ruta protegida, req.usuarioActual disponible</a:t>
            </a:r>
          </a:p>
          <a:p>
            <a:r>
              <a:rPr lang="es-MX" sz="1500">
                <a:latin typeface="Calibri" panose="020F050202020403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1941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2DD8E-912A-86CA-605A-9BC0505A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Sistema de Permisos Granular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F59355-1674-418E-2FEE-9A9EB229E831}"/>
              </a:ext>
            </a:extLst>
          </p:cNvPr>
          <p:cNvSpPr txBox="1"/>
          <p:nvPr/>
        </p:nvSpPr>
        <p:spPr>
          <a:xfrm>
            <a:off x="635000" y="1524000"/>
            <a:ext cx="11684000" cy="92948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300">
                <a:latin typeface="Calibri" panose="020F0502020204030204" pitchFamily="34" charset="0"/>
              </a:rPr>
              <a:t>Estructura Multi-Nivel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┌──────────────────────────────────────────────────┐</a:t>
            </a:r>
          </a:p>
          <a:p>
            <a:r>
              <a:rPr lang="es-MX" sz="1300">
                <a:latin typeface="Calibri" panose="020F0502020204030204" pitchFamily="34" charset="0"/>
              </a:rPr>
              <a:t>│              USUARIO      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• es_admin_global (boolean)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• puede_agregar, puede_modificar, puede_eliminar │</a:t>
            </a:r>
          </a:p>
          <a:p>
            <a:r>
              <a:rPr lang="es-MX" sz="1300">
                <a:latin typeface="Calibri" panose="020F0502020204030204" pitchFamily="34" charset="0"/>
              </a:rPr>
              <a:t>└────────────────────┬─────────────────────────────┘</a:t>
            </a:r>
          </a:p>
          <a:p>
            <a:r>
              <a:rPr lang="es-MX" sz="1300">
                <a:latin typeface="Calibri" panose="020F0502020204030204" pitchFamily="34" charset="0"/>
              </a:rPr>
              <a:t>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                     ▼</a:t>
            </a:r>
          </a:p>
          <a:p>
            <a:r>
              <a:rPr lang="es-MX" sz="1300">
                <a:latin typeface="Calibri" panose="020F0502020204030204" pitchFamily="34" charset="0"/>
              </a:rPr>
              <a:t>┌──────────────────────────────────────────────────┐</a:t>
            </a:r>
          </a:p>
          <a:p>
            <a:r>
              <a:rPr lang="es-MX" sz="1300">
                <a:latin typeface="Calibri" panose="020F0502020204030204" pitchFamily="34" charset="0"/>
              </a:rPr>
              <a:t>│          EMPRESA (empresa1, empresa2...)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Permisos por empresa asignada al usuario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└────────────────────┬─────────────────────────────┘</a:t>
            </a:r>
          </a:p>
          <a:p>
            <a:r>
              <a:rPr lang="es-MX" sz="1300">
                <a:latin typeface="Calibri" panose="020F0502020204030204" pitchFamily="34" charset="0"/>
              </a:rPr>
              <a:t>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                     ▼</a:t>
            </a:r>
          </a:p>
          <a:p>
            <a:r>
              <a:rPr lang="es-MX" sz="1300">
                <a:latin typeface="Calibri" panose="020F0502020204030204" pitchFamily="34" charset="0"/>
              </a:rPr>
              <a:t>┌──────────────────────────────────────────────────┐</a:t>
            </a:r>
          </a:p>
          <a:p>
            <a:r>
              <a:rPr lang="es-MX" sz="1300">
                <a:latin typeface="Calibri" panose="020F0502020204030204" pitchFamily="34" charset="0"/>
              </a:rPr>
              <a:t>│     MÓDULO (RESUMEN, Finanzas, RH, VPE...)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Permisos específicos por módulo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└────────────────────┬─────────────────────────────┘</a:t>
            </a:r>
          </a:p>
          <a:p>
            <a:r>
              <a:rPr lang="es-MX" sz="1300">
                <a:latin typeface="Calibri" panose="020F0502020204030204" pitchFamily="34" charset="0"/>
              </a:rPr>
              <a:t>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                     ▼</a:t>
            </a:r>
          </a:p>
          <a:p>
            <a:r>
              <a:rPr lang="es-MX" sz="1300">
                <a:latin typeface="Calibri" panose="020F0502020204030204" pitchFamily="34" charset="0"/>
              </a:rPr>
              <a:t>┌──────────────────────────────────────────────────┐</a:t>
            </a:r>
          </a:p>
          <a:p>
            <a:r>
              <a:rPr lang="es-MX" sz="1300">
                <a:latin typeface="Calibri" panose="020F0502020204030204" pitchFamily="34" charset="0"/>
              </a:rPr>
              <a:t>│    ACCIONES (4 niveles de acceso granular)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                        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✓ Lectura (puede_leer)   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Ver datos, consultar reportes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                        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✓ Cargar y Guardar (puede_cargar_guardar)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Ingresar datos, guardar cambios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                        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✓ Revisar (puede_revisar)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Marcar como revisado, agregar comentarios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                        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✓ Aprobar (puede_aprobar)               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Autorización final, aprobación de presupuestos │</a:t>
            </a:r>
          </a:p>
          <a:p>
            <a:r>
              <a:rPr lang="es-MX" sz="1300">
                <a:latin typeface="Calibri" panose="020F0502020204030204" pitchFamily="34" charset="0"/>
              </a:rPr>
              <a:t>└───────────────────────────────────────────────────┘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Tabla: permisos_modulo</a:t>
            </a:r>
          </a:p>
          <a:p>
            <a:r>
              <a:rPr lang="es-MX" sz="1300">
                <a:latin typeface="Calibri" panose="020F0502020204030204" pitchFamily="34" charset="0"/>
              </a:rPr>
              <a:t>┌──────────┬──────────┬────────┬──────────┬───────────┬──────────┬─────────┐</a:t>
            </a:r>
          </a:p>
          <a:p>
            <a:r>
              <a:rPr lang="es-MX" sz="1300">
                <a:latin typeface="Calibri" panose="020F0502020204030204" pitchFamily="34" charset="0"/>
              </a:rPr>
              <a:t>│ usuario  │ empresa  │ modulo │ lectura  │ cargar_   │ revisar  │ aprobar │</a:t>
            </a:r>
          </a:p>
          <a:p>
            <a:r>
              <a:rPr lang="es-MX" sz="1300">
                <a:latin typeface="Calibri" panose="020F0502020204030204" pitchFamily="34" charset="0"/>
              </a:rPr>
              <a:t>│   _id    │   _id    │        │          │  guardar  │          │         │</a:t>
            </a:r>
          </a:p>
          <a:p>
            <a:r>
              <a:rPr lang="es-MX" sz="1300">
                <a:latin typeface="Calibri" panose="020F0502020204030204" pitchFamily="34" charset="0"/>
              </a:rPr>
              <a:t>├──────────┼──────────┼────────┼──────────┼───────────┼──────────┼─────────┤</a:t>
            </a:r>
          </a:p>
          <a:p>
            <a:r>
              <a:rPr lang="es-MX" sz="1300">
                <a:latin typeface="Calibri" panose="020F0502020204030204" pitchFamily="34" charset="0"/>
              </a:rPr>
              <a:t>│    5     │ empresa1 │ RH     │    1     │     1     │    0     │    0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5     │ empresa1 │Finanzas│    1     │     0     │    1     │    0    │</a:t>
            </a:r>
          </a:p>
          <a:p>
            <a:r>
              <a:rPr lang="es-MX" sz="1300">
                <a:latin typeface="Calibri" panose="020F0502020204030204" pitchFamily="34" charset="0"/>
              </a:rPr>
              <a:t>│    7     │ empresa2 │RESUMEN │    1     │     1     │    1     │    1    │</a:t>
            </a:r>
          </a:p>
          <a:p>
            <a:r>
              <a:rPr lang="es-MX" sz="1300">
                <a:latin typeface="Calibri" panose="020F0502020204030204" pitchFamily="34" charset="0"/>
              </a:rPr>
              <a:t>└──────────┴──────────┴────────┴──────────┴───────────┴──────────┴─────────┘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71387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7B3E4-0D3D-A8A5-4161-F523ED97A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Validación de Permisos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C122AF-37B5-D799-83CB-1DBEB02742F4}"/>
              </a:ext>
            </a:extLst>
          </p:cNvPr>
          <p:cNvSpPr txBox="1"/>
          <p:nvPr/>
        </p:nvSpPr>
        <p:spPr>
          <a:xfrm>
            <a:off x="635000" y="1524000"/>
            <a:ext cx="11684000" cy="1269578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300">
                <a:latin typeface="Calibri" panose="020F0502020204030204" pitchFamily="34" charset="0"/>
              </a:rPr>
              <a:t>Funciones de Verificación (src/services/permisosService.js)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1. construirMapaPermisos(registros)</a:t>
            </a:r>
          </a:p>
          <a:p>
            <a:r>
              <a:rPr lang="es-MX" sz="1300">
                <a:latin typeface="Calibri" panose="020F0502020204030204" pitchFamily="34" charset="0"/>
              </a:rPr>
              <a:t>   Construye estructura jerárquica de permisos:</a:t>
            </a:r>
          </a:p>
          <a:p>
            <a:r>
              <a:rPr lang="es-MX" sz="1300">
                <a:latin typeface="Calibri" panose="020F0502020204030204" pitchFamily="34" charset="0"/>
              </a:rPr>
              <a:t>   </a:t>
            </a:r>
          </a:p>
          <a:p>
            <a:r>
              <a:rPr lang="es-MX" sz="1300">
                <a:latin typeface="Calibri" panose="020F0502020204030204" pitchFamily="34" charset="0"/>
              </a:rPr>
              <a:t>   {</a:t>
            </a:r>
          </a:p>
          <a:p>
            <a:r>
              <a:rPr lang="es-MX" sz="1300">
                <a:latin typeface="Calibri" panose="020F0502020204030204" pitchFamily="34" charset="0"/>
              </a:rPr>
              <a:t>     empresa1: {</a:t>
            </a:r>
          </a:p>
          <a:p>
            <a:r>
              <a:rPr lang="es-MX" sz="1300">
                <a:latin typeface="Calibri" panose="020F0502020204030204" pitchFamily="34" charset="0"/>
              </a:rPr>
              <a:t>       'RH': {</a:t>
            </a:r>
          </a:p>
          <a:p>
            <a:r>
              <a:rPr lang="es-MX" sz="1300">
                <a:latin typeface="Calibri" panose="020F0502020204030204" pitchFamily="34" charset="0"/>
              </a:rPr>
              <a:t>         Ver: true,</a:t>
            </a:r>
          </a:p>
          <a:p>
            <a:r>
              <a:rPr lang="es-MX" sz="1300">
                <a:latin typeface="Calibri" panose="020F0502020204030204" pitchFamily="34" charset="0"/>
              </a:rPr>
              <a:t>         Lectura: true,</a:t>
            </a:r>
          </a:p>
          <a:p>
            <a:r>
              <a:rPr lang="es-MX" sz="1300">
                <a:latin typeface="Calibri" panose="020F0502020204030204" pitchFamily="34" charset="0"/>
              </a:rPr>
              <a:t>         'Cargar y guardar': true,</a:t>
            </a:r>
          </a:p>
          <a:p>
            <a:r>
              <a:rPr lang="es-MX" sz="1300">
                <a:latin typeface="Calibri" panose="020F0502020204030204" pitchFamily="34" charset="0"/>
              </a:rPr>
              <a:t>         Revisar: false,</a:t>
            </a:r>
          </a:p>
          <a:p>
            <a:r>
              <a:rPr lang="es-MX" sz="1300">
                <a:latin typeface="Calibri" panose="020F0502020204030204" pitchFamily="34" charset="0"/>
              </a:rPr>
              <a:t>         Aprobar: false</a:t>
            </a:r>
          </a:p>
          <a:p>
            <a:r>
              <a:rPr lang="es-MX" sz="1300">
                <a:latin typeface="Calibri" panose="020F0502020204030204" pitchFamily="34" charset="0"/>
              </a:rPr>
              <a:t>       },</a:t>
            </a:r>
          </a:p>
          <a:p>
            <a:r>
              <a:rPr lang="es-MX" sz="1300">
                <a:latin typeface="Calibri" panose="020F0502020204030204" pitchFamily="34" charset="0"/>
              </a:rPr>
              <a:t>       'Finanzas': { ... },</a:t>
            </a:r>
          </a:p>
          <a:p>
            <a:r>
              <a:rPr lang="es-MX" sz="1300">
                <a:latin typeface="Calibri" panose="020F0502020204030204" pitchFamily="34" charset="0"/>
              </a:rPr>
              <a:t>       ...</a:t>
            </a:r>
          </a:p>
          <a:p>
            <a:r>
              <a:rPr lang="es-MX" sz="1300">
                <a:latin typeface="Calibri" panose="020F0502020204030204" pitchFamily="34" charset="0"/>
              </a:rPr>
              <a:t>     },</a:t>
            </a:r>
          </a:p>
          <a:p>
            <a:r>
              <a:rPr lang="es-MX" sz="1300">
                <a:latin typeface="Calibri" panose="020F0502020204030204" pitchFamily="34" charset="0"/>
              </a:rPr>
              <a:t>     empresa2: { ... }</a:t>
            </a:r>
          </a:p>
          <a:p>
            <a:r>
              <a:rPr lang="es-MX" sz="1300">
                <a:latin typeface="Calibri" panose="020F0502020204030204" pitchFamily="34" charset="0"/>
              </a:rPr>
              <a:t>   }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2. tienePermisoEmpresa(mapaPermisos, empresaId)</a:t>
            </a:r>
          </a:p>
          <a:p>
            <a:r>
              <a:rPr lang="es-MX" sz="1300">
                <a:latin typeface="Calibri" panose="020F0502020204030204" pitchFamily="34" charset="0"/>
              </a:rPr>
              <a:t>   Verifica si usuario tiene algún permiso en la empresa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3. tienePermisoModulo(mapaPermisos, empresaId, modulo, accion)</a:t>
            </a:r>
          </a:p>
          <a:p>
            <a:r>
              <a:rPr lang="es-MX" sz="1300">
                <a:latin typeface="Calibri" panose="020F0502020204030204" pitchFamily="34" charset="0"/>
              </a:rPr>
              <a:t>   Verifica permiso específico:</a:t>
            </a:r>
          </a:p>
          <a:p>
            <a:r>
              <a:rPr lang="es-MX" sz="1300">
                <a:latin typeface="Calibri" panose="020F0502020204030204" pitchFamily="34" charset="0"/>
              </a:rPr>
              <a:t>   </a:t>
            </a:r>
          </a:p>
          <a:p>
            <a:r>
              <a:rPr lang="es-MX" sz="1300">
                <a:latin typeface="Calibri" panose="020F0502020204030204" pitchFamily="34" charset="0"/>
              </a:rPr>
              <a:t>   if (tienePermisoModulo(mapa, 'empresa1', 'RH', 'Cargar y guardar')) {</a:t>
            </a:r>
          </a:p>
          <a:p>
            <a:r>
              <a:rPr lang="es-MX" sz="1300">
                <a:latin typeface="Calibri" panose="020F0502020204030204" pitchFamily="34" charset="0"/>
              </a:rPr>
              <a:t>     // Usuario puede guardar datos en RH</a:t>
            </a:r>
          </a:p>
          <a:p>
            <a:r>
              <a:rPr lang="es-MX" sz="1300">
                <a:latin typeface="Calibri" panose="020F0502020204030204" pitchFamily="34" charset="0"/>
              </a:rPr>
              <a:t>   }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4. Módulos Universales (Acceso Especial)</a:t>
            </a:r>
          </a:p>
          <a:p>
            <a:r>
              <a:rPr lang="es-MX" sz="1300">
                <a:latin typeface="Calibri" panose="020F0502020204030204" pitchFamily="34" charset="0"/>
              </a:rPr>
              <a:t>   • SUMMARY, RESUMEN, PRESUPUESTOS</a:t>
            </a:r>
          </a:p>
          <a:p>
            <a:r>
              <a:rPr lang="es-MX" sz="1300">
                <a:latin typeface="Calibri" panose="020F0502020204030204" pitchFamily="34" charset="0"/>
              </a:rPr>
              <a:t>   • Todos los usuarios autenticados pueden leer</a:t>
            </a:r>
          </a:p>
          <a:p>
            <a:r>
              <a:rPr lang="es-MX" sz="1300">
                <a:latin typeface="Calibri" panose="020F0502020204030204" pitchFamily="34" charset="0"/>
              </a:rPr>
              <a:t>   • Otras acciones requieren permisos explícitos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5. Usuario Admin Global</a:t>
            </a:r>
          </a:p>
          <a:p>
            <a:r>
              <a:rPr lang="es-MX" sz="1300">
                <a:latin typeface="Calibri" panose="020F0502020204030204" pitchFamily="34" charset="0"/>
              </a:rPr>
              <a:t>   • es_admin_global = 1</a:t>
            </a:r>
          </a:p>
          <a:p>
            <a:r>
              <a:rPr lang="es-MX" sz="1300">
                <a:latin typeface="Calibri" panose="020F0502020204030204" pitchFamily="34" charset="0"/>
              </a:rPr>
              <a:t>   • ICONET (cuenta especial)</a:t>
            </a:r>
          </a:p>
          <a:p>
            <a:r>
              <a:rPr lang="es-MX" sz="1300">
                <a:latin typeface="Calibri" panose="020F0502020204030204" pitchFamily="34" charset="0"/>
              </a:rPr>
              <a:t>   • Bypass automático de todos los permisos</a:t>
            </a:r>
          </a:p>
          <a:p>
            <a:r>
              <a:rPr lang="es-MX" sz="1300">
                <a:latin typeface="Calibri" panose="020F0502020204030204" pitchFamily="34" charset="0"/>
              </a:rPr>
              <a:t>   • Acceso completo a todas las empresas y módulos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Ejemplo de Uso en Backend:</a:t>
            </a:r>
          </a:p>
          <a:p>
            <a:r>
              <a:rPr lang="es-MX" sz="1300">
                <a:latin typeface="Calibri" panose="020F0502020204030204" pitchFamily="34" charset="0"/>
              </a:rPr>
              <a:t>router.post('/api/presupuestos/guardar', requireAuth, (req, res) =&gt; {</a:t>
            </a:r>
          </a:p>
          <a:p>
            <a:r>
              <a:rPr lang="es-MX" sz="1300">
                <a:latin typeface="Calibri" panose="020F0502020204030204" pitchFamily="34" charset="0"/>
              </a:rPr>
              <a:t>  const empresaId = req.headers['x-empresa-activa'];</a:t>
            </a:r>
          </a:p>
          <a:p>
            <a:r>
              <a:rPr lang="es-MX" sz="1300">
                <a:latin typeface="Calibri" panose="020F0502020204030204" pitchFamily="34" charset="0"/>
              </a:rPr>
              <a:t>  const modulo = req.body.modulo;</a:t>
            </a:r>
          </a:p>
          <a:p>
            <a:r>
              <a:rPr lang="es-MX" sz="1300">
                <a:latin typeface="Calibri" panose="020F0502020204030204" pitchFamily="34" charset="0"/>
              </a:rPr>
              <a:t>  </a:t>
            </a:r>
          </a:p>
          <a:p>
            <a:r>
              <a:rPr lang="es-MX" sz="1300">
                <a:latin typeface="Calibri" panose="020F0502020204030204" pitchFamily="34" charset="0"/>
              </a:rPr>
              <a:t>  if (!req.esAdmin) {</a:t>
            </a:r>
          </a:p>
          <a:p>
            <a:r>
              <a:rPr lang="es-MX" sz="1300">
                <a:latin typeface="Calibri" panose="020F0502020204030204" pitchFamily="34" charset="0"/>
              </a:rPr>
              <a:t>    const tienePermiso = tienePermisoModulo(</a:t>
            </a:r>
          </a:p>
          <a:p>
            <a:r>
              <a:rPr lang="es-MX" sz="1300">
                <a:latin typeface="Calibri" panose="020F0502020204030204" pitchFamily="34" charset="0"/>
              </a:rPr>
              <a:t>      req.mapaPermisos,</a:t>
            </a:r>
          </a:p>
          <a:p>
            <a:r>
              <a:rPr lang="es-MX" sz="1300">
                <a:latin typeface="Calibri" panose="020F0502020204030204" pitchFamily="34" charset="0"/>
              </a:rPr>
              <a:t>      empresaId,</a:t>
            </a:r>
          </a:p>
          <a:p>
            <a:r>
              <a:rPr lang="es-MX" sz="1300">
                <a:latin typeface="Calibri" panose="020F0502020204030204" pitchFamily="34" charset="0"/>
              </a:rPr>
              <a:t>      modulo,</a:t>
            </a:r>
          </a:p>
          <a:p>
            <a:r>
              <a:rPr lang="es-MX" sz="1300">
                <a:latin typeface="Calibri" panose="020F0502020204030204" pitchFamily="34" charset="0"/>
              </a:rPr>
              <a:t>      'Cargar y guardar'</a:t>
            </a:r>
          </a:p>
          <a:p>
            <a:r>
              <a:rPr lang="es-MX" sz="1300">
                <a:latin typeface="Calibri" panose="020F0502020204030204" pitchFamily="34" charset="0"/>
              </a:rPr>
              <a:t>    );</a:t>
            </a:r>
          </a:p>
          <a:p>
            <a:r>
              <a:rPr lang="es-MX" sz="1300">
                <a:latin typeface="Calibri" panose="020F0502020204030204" pitchFamily="34" charset="0"/>
              </a:rPr>
              <a:t>    </a:t>
            </a:r>
          </a:p>
          <a:p>
            <a:r>
              <a:rPr lang="es-MX" sz="1300">
                <a:latin typeface="Calibri" panose="020F0502020204030204" pitchFamily="34" charset="0"/>
              </a:rPr>
              <a:t>    if (!tienePermiso) {</a:t>
            </a:r>
          </a:p>
          <a:p>
            <a:r>
              <a:rPr lang="es-MX" sz="1300">
                <a:latin typeface="Calibri" panose="020F0502020204030204" pitchFamily="34" charset="0"/>
              </a:rPr>
              <a:t>      return res.status(403).json({</a:t>
            </a:r>
          </a:p>
          <a:p>
            <a:r>
              <a:rPr lang="es-MX" sz="1300">
                <a:latin typeface="Calibri" panose="020F0502020204030204" pitchFamily="34" charset="0"/>
              </a:rPr>
              <a:t>        mensaje: 'No tienes permiso para guardar en este módulo'</a:t>
            </a:r>
          </a:p>
          <a:p>
            <a:r>
              <a:rPr lang="es-MX" sz="1300">
                <a:latin typeface="Calibri" panose="020F0502020204030204" pitchFamily="34" charset="0"/>
              </a:rPr>
              <a:t>      });</a:t>
            </a:r>
          </a:p>
          <a:p>
            <a:r>
              <a:rPr lang="es-MX" sz="1300">
                <a:latin typeface="Calibri" panose="020F0502020204030204" pitchFamily="34" charset="0"/>
              </a:rPr>
              <a:t>    }</a:t>
            </a:r>
          </a:p>
          <a:p>
            <a:r>
              <a:rPr lang="es-MX" sz="1300">
                <a:latin typeface="Calibri" panose="020F0502020204030204" pitchFamily="34" charset="0"/>
              </a:rPr>
              <a:t>  }</a:t>
            </a:r>
          </a:p>
          <a:p>
            <a:r>
              <a:rPr lang="es-MX" sz="1300">
                <a:latin typeface="Calibri" panose="020F0502020204030204" pitchFamily="34" charset="0"/>
              </a:rPr>
              <a:t>  </a:t>
            </a:r>
          </a:p>
          <a:p>
            <a:r>
              <a:rPr lang="es-MX" sz="1300">
                <a:latin typeface="Calibri" panose="020F0502020204030204" pitchFamily="34" charset="0"/>
              </a:rPr>
              <a:t>  // Continuar con la lógica de guardado...</a:t>
            </a:r>
          </a:p>
          <a:p>
            <a:r>
              <a:rPr lang="es-MX" sz="1300">
                <a:latin typeface="Calibri" panose="020F050202020403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1987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FA5F9-BE76-0F3E-AC62-A1648A21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800" b="1"/>
              <a:t>Base de Datos SQLite - Tablas Principales</a:t>
            </a:r>
            <a:endParaRPr lang="es-MX" sz="38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186BF6-5E4E-986C-BDDF-F823D874BC89}"/>
              </a:ext>
            </a:extLst>
          </p:cNvPr>
          <p:cNvSpPr txBox="1"/>
          <p:nvPr/>
        </p:nvSpPr>
        <p:spPr>
          <a:xfrm>
            <a:off x="635000" y="1524000"/>
            <a:ext cx="11684000" cy="118647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500">
                <a:latin typeface="Calibri" panose="020F0502020204030204" pitchFamily="34" charset="0"/>
              </a:rPr>
              <a:t>📊 panel.sqlite (Ubicación: ./datos/panel.sqlite)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1. USUARIOS</a:t>
            </a:r>
          </a:p>
          <a:p>
            <a:r>
              <a:rPr lang="es-ES" sz="1500">
                <a:latin typeface="Calibri" panose="020F0502020204030204" pitchFamily="34" charset="0"/>
              </a:rPr>
              <a:t>   • id, usuario (UNIQUE), nombres, apellidos, correo</a:t>
            </a:r>
          </a:p>
          <a:p>
            <a:r>
              <a:rPr lang="es-ES" sz="1500">
                <a:latin typeface="Calibri" panose="020F0502020204030204" pitchFamily="34" charset="0"/>
              </a:rPr>
              <a:t>   • contrasena (hash bcrypt)</a:t>
            </a:r>
          </a:p>
          <a:p>
            <a:r>
              <a:rPr lang="es-ES" sz="1500">
                <a:latin typeface="Calibri" panose="020F0502020204030204" pitchFamily="34" charset="0"/>
              </a:rPr>
              <a:t>   • es_admin_global, puede_agregar, puede_modificar, puede_eliminar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2. PERMISOS_MODULO</a:t>
            </a:r>
          </a:p>
          <a:p>
            <a:r>
              <a:rPr lang="es-ES" sz="1500">
                <a:latin typeface="Calibri" panose="020F0502020204030204" pitchFamily="34" charset="0"/>
              </a:rPr>
              <a:t>   • usuario_id, empresa_id, modulo</a:t>
            </a:r>
          </a:p>
          <a:p>
            <a:r>
              <a:rPr lang="es-ES" sz="1500">
                <a:latin typeface="Calibri" panose="020F0502020204030204" pitchFamily="34" charset="0"/>
              </a:rPr>
              <a:t>   • puede_leer, puede_cargar_guardar, puede_revisar, puede_aprobar</a:t>
            </a:r>
          </a:p>
          <a:p>
            <a:r>
              <a:rPr lang="es-ES" sz="1500">
                <a:latin typeface="Calibri" panose="020F0502020204030204" pitchFamily="34" charset="0"/>
              </a:rPr>
              <a:t>   • UNIQUE(usuario_id, empresa_id, modulo)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3. PRESUPUESTOS_ESTADO</a:t>
            </a:r>
          </a:p>
          <a:p>
            <a:r>
              <a:rPr lang="es-ES" sz="1500">
                <a:latin typeface="Calibri" panose="020F0502020204030204" pitchFamily="34" charset="0"/>
              </a:rPr>
              <a:t>   • empresa_id, modulo, anio, capitulo</a:t>
            </a:r>
          </a:p>
          <a:p>
            <a:r>
              <a:rPr lang="es-ES" sz="1500">
                <a:latin typeface="Calibri" panose="020F0502020204030204" pitchFamily="34" charset="0"/>
              </a:rPr>
              <a:t>   • estado (sin-cargar, cargado, revisado, aprobado)</a:t>
            </a:r>
          </a:p>
          <a:p>
            <a:r>
              <a:rPr lang="es-ES" sz="1500">
                <a:latin typeface="Calibri" panose="020F0502020204030204" pitchFamily="34" charset="0"/>
              </a:rPr>
              <a:t>   • actualizado_por (FK usuarios.id), actualizado_en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4. PRESUPUESTOS_ESTADO_HISTORIAL</a:t>
            </a:r>
          </a:p>
          <a:p>
            <a:r>
              <a:rPr lang="es-ES" sz="1500">
                <a:latin typeface="Calibri" panose="020F0502020204030204" pitchFamily="34" charset="0"/>
              </a:rPr>
              <a:t>   • Auditoría de cambios de estado</a:t>
            </a:r>
          </a:p>
          <a:p>
            <a:r>
              <a:rPr lang="es-ES" sz="1500">
                <a:latin typeface="Calibri" panose="020F0502020204030204" pitchFamily="34" charset="0"/>
              </a:rPr>
              <a:t>   • empresa_id, modulo, anio, capitulo, estado</a:t>
            </a:r>
          </a:p>
          <a:p>
            <a:r>
              <a:rPr lang="es-ES" sz="1500">
                <a:latin typeface="Calibri" panose="020F0502020204030204" pitchFamily="34" charset="0"/>
              </a:rPr>
              <a:t>   • cambiado_por, cambiado_en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5. NOTIFICACIONES</a:t>
            </a:r>
          </a:p>
          <a:p>
            <a:r>
              <a:rPr lang="es-ES" sz="1500">
                <a:latin typeface="Calibri" panose="020F0502020204030204" pitchFamily="34" charset="0"/>
              </a:rPr>
              <a:t>   • usuario_id, tipo, mensaje, leido</a:t>
            </a:r>
          </a:p>
          <a:p>
            <a:r>
              <a:rPr lang="es-ES" sz="1500">
                <a:latin typeface="Calibri" panose="020F0502020204030204" pitchFamily="34" charset="0"/>
              </a:rPr>
              <a:t>   • metadata (JSON), creado_en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6. COMENTARIOS_CELDAS</a:t>
            </a:r>
          </a:p>
          <a:p>
            <a:r>
              <a:rPr lang="es-ES" sz="1500">
                <a:latin typeface="Calibri" panose="020F0502020204030204" pitchFamily="34" charset="0"/>
              </a:rPr>
              <a:t>   • empresa_id, modulo, anio, capitulo</a:t>
            </a:r>
          </a:p>
          <a:p>
            <a:r>
              <a:rPr lang="es-ES" sz="1500">
                <a:latin typeface="Calibri" panose="020F0502020204030204" pitchFamily="34" charset="0"/>
              </a:rPr>
              <a:t>   • cuenta_full, comentario</a:t>
            </a:r>
          </a:p>
          <a:p>
            <a:r>
              <a:rPr lang="es-ES" sz="1500">
                <a:latin typeface="Calibri" panose="020F0502020204030204" pitchFamily="34" charset="0"/>
              </a:rPr>
              <a:t>   • creado_por, creado_en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7. PLAN_BORRADORES</a:t>
            </a:r>
          </a:p>
          <a:p>
            <a:r>
              <a:rPr lang="es-ES" sz="1500">
                <a:latin typeface="Calibri" panose="020F0502020204030204" pitchFamily="34" charset="0"/>
              </a:rPr>
              <a:t>   • Guardado automático de presupuestos</a:t>
            </a:r>
          </a:p>
          <a:p>
            <a:r>
              <a:rPr lang="es-ES" sz="1500">
                <a:latin typeface="Calibri" panose="020F0502020204030204" pitchFamily="34" charset="0"/>
              </a:rPr>
              <a:t>   • usuario_id, empresa_id, modulo, anio, capitulo</a:t>
            </a:r>
          </a:p>
          <a:p>
            <a:r>
              <a:rPr lang="es-ES" sz="1500">
                <a:latin typeface="Calibri" panose="020F0502020204030204" pitchFamily="34" charset="0"/>
              </a:rPr>
              <a:t>   • contenido (JSON), actualizado_en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8. LAYOUT_CUENTAS</a:t>
            </a:r>
          </a:p>
          <a:p>
            <a:r>
              <a:rPr lang="es-ES" sz="1500">
                <a:latin typeface="Calibri" panose="020F0502020204030204" pitchFamily="34" charset="0"/>
              </a:rPr>
              <a:t>   • Estructura contable por año y empresa</a:t>
            </a:r>
          </a:p>
          <a:p>
            <a:r>
              <a:rPr lang="es-ES" sz="1500">
                <a:latin typeface="Calibri" panose="020F0502020204030204" pitchFamily="34" charset="0"/>
              </a:rPr>
              <a:t>   • anio, empresa_id, cuenta_full, descripcion</a:t>
            </a:r>
          </a:p>
          <a:p>
            <a:r>
              <a:rPr lang="es-ES" sz="1500">
                <a:latin typeface="Calibri" panose="020F0502020204030204" pitchFamily="34" charset="0"/>
              </a:rPr>
              <a:t>   • seccion, tipo_cuenta, orden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9. LAYOUT_OPERACIONES</a:t>
            </a:r>
          </a:p>
          <a:p>
            <a:r>
              <a:rPr lang="es-ES" sz="1500">
                <a:latin typeface="Calibri" panose="020F0502020204030204" pitchFamily="34" charset="0"/>
              </a:rPr>
              <a:t>   • Fórmulas y operaciones consolidadas</a:t>
            </a:r>
          </a:p>
          <a:p>
            <a:r>
              <a:rPr lang="es-ES" sz="1500">
                <a:latin typeface="Calibri" panose="020F0502020204030204" pitchFamily="34" charset="0"/>
              </a:rPr>
              <a:t>   • anio, empresa_id, Clase, SECCION</a:t>
            </a:r>
          </a:p>
          <a:p>
            <a:r>
              <a:rPr lang="es-ES" sz="1500">
                <a:latin typeface="Calibri" panose="020F0502020204030204" pitchFamily="34" charset="0"/>
              </a:rPr>
              <a:t>   • seccion_1, seccion_2, ..., seccion_20</a:t>
            </a:r>
          </a:p>
          <a:p>
            <a:r>
              <a:rPr lang="es-ES" sz="1500">
                <a:latin typeface="Calibri" panose="020F0502020204030204" pitchFamily="34" charset="0"/>
              </a:rPr>
              <a:t>   • formula_json (términos de fórmula)</a:t>
            </a:r>
          </a:p>
          <a:p>
            <a:endParaRPr lang="es-ES" sz="1500">
              <a:latin typeface="Calibri" panose="020F0502020204030204" pitchFamily="34" charset="0"/>
            </a:endParaRPr>
          </a:p>
          <a:p>
            <a:r>
              <a:rPr lang="es-ES" sz="1500">
                <a:latin typeface="Calibri" panose="020F0502020204030204" pitchFamily="34" charset="0"/>
              </a:rPr>
              <a:t>10. GRAFICAS_CONFIG</a:t>
            </a:r>
          </a:p>
          <a:p>
            <a:r>
              <a:rPr lang="es-ES" sz="1500">
                <a:latin typeface="Calibri" panose="020F0502020204030204" pitchFamily="34" charset="0"/>
              </a:rPr>
              <a:t>    • Configuración de gráficas</a:t>
            </a:r>
          </a:p>
          <a:p>
            <a:r>
              <a:rPr lang="es-ES" sz="1500">
                <a:latin typeface="Calibri" panose="020F0502020204030204" pitchFamily="34" charset="0"/>
              </a:rPr>
              <a:t>    • nombre, tipo, datos_config (JSON)</a:t>
            </a:r>
          </a:p>
          <a:p>
            <a:r>
              <a:rPr lang="es-ES" sz="1500">
                <a:latin typeface="Calibri" panose="020F0502020204030204" pitchFamily="34" charset="0"/>
              </a:rPr>
              <a:t>    • creado_por, actualizado_en</a:t>
            </a:r>
            <a:endParaRPr lang="es-MX" sz="15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39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748D5-9260-A194-AC73-6C1BC121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Integración con Firebird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E37006-DB78-48F4-AEDC-6B2D9A3F8F16}"/>
              </a:ext>
            </a:extLst>
          </p:cNvPr>
          <p:cNvSpPr txBox="1"/>
          <p:nvPr/>
        </p:nvSpPr>
        <p:spPr>
          <a:xfrm>
            <a:off x="635000" y="1524000"/>
            <a:ext cx="11684000" cy="1284133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latin typeface="Calibri" panose="020F0502020204030204" pitchFamily="34" charset="0"/>
              </a:rPr>
              <a:t>Conexión a Bases de Datos Contables Externas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┌────────────────────────────────────────────────┐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│         FIREBIRD SERVICE   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│   (src/services/firebirdService.js)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└────────────────────┬───────────────────────────┘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               ▼</a:t>
            </a:r>
          </a:p>
          <a:p>
            <a:r>
              <a:rPr lang="es-MX" sz="1400">
                <a:latin typeface="Calibri" panose="020F0502020204030204" pitchFamily="34" charset="0"/>
              </a:rPr>
              <a:t>┌────────────────────────────────────────────────┐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│     Configuración Base (Firebird)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│  • host: 127.0.0.1 (o remoto)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│  • port: 3050              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│  • user: sysdba            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│  • password: masterkey     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│  • database: ruta por empresa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└────────────────────┬───────────────────────────┘</a:t>
            </a:r>
          </a:p>
          <a:p>
            <a:r>
              <a:rPr lang="es-MX" sz="1400">
                <a:latin typeface="Calibri" panose="020F0502020204030204" pitchFamily="34" charset="0"/>
              </a:rPr>
              <a:t>       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      ┌──────────────┼──────────────┐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      │              │              │</a:t>
            </a:r>
          </a:p>
          <a:p>
            <a:r>
              <a:rPr lang="es-MX" sz="1400">
                <a:latin typeface="Calibri" panose="020F0502020204030204" pitchFamily="34" charset="0"/>
              </a:rPr>
              <a:t>┌─────▼─────┐  ┌────▼────┐  ┌──────▼──────┐</a:t>
            </a:r>
          </a:p>
          <a:p>
            <a:r>
              <a:rPr lang="es-MX" sz="1400">
                <a:latin typeface="Calibri" panose="020F0502020204030204" pitchFamily="34" charset="0"/>
              </a:rPr>
              <a:t>│ empresa1   │  │empresa2 │  │  empresa3   │</a:t>
            </a:r>
          </a:p>
          <a:p>
            <a:r>
              <a:rPr lang="es-MX" sz="1400">
                <a:latin typeface="Calibri" panose="020F0502020204030204" pitchFamily="34" charset="0"/>
              </a:rPr>
              <a:t>│ ./BASE.FDB │  │ ./E2.FDB│  │  ./E3.FDB   │</a:t>
            </a:r>
          </a:p>
          <a:p>
            <a:r>
              <a:rPr lang="es-MX" sz="1400">
                <a:latin typeface="Calibri" panose="020F0502020204030204" pitchFamily="34" charset="0"/>
              </a:rPr>
              <a:t>└────────────┘  └─────────┘  └─────────────┘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OPERACIONES PRINCIPALES: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1. ejecutarConsulta(empresaId, sql, params)</a:t>
            </a:r>
          </a:p>
          <a:p>
            <a:r>
              <a:rPr lang="es-MX" sz="1400">
                <a:latin typeface="Calibri" panose="020F0502020204030204" pitchFamily="34" charset="0"/>
              </a:rPr>
              <a:t>   • Ejecuta query SELECT</a:t>
            </a:r>
          </a:p>
          <a:p>
            <a:r>
              <a:rPr lang="es-MX" sz="1400">
                <a:latin typeface="Calibri" panose="020F0502020204030204" pitchFamily="34" charset="0"/>
              </a:rPr>
              <a:t>   • Connection pooling automático</a:t>
            </a:r>
          </a:p>
          <a:p>
            <a:r>
              <a:rPr lang="es-MX" sz="1400">
                <a:latin typeface="Calibri" panose="020F0502020204030204" pitchFamily="34" charset="0"/>
              </a:rPr>
              <a:t>   • Timeout configurado (local: 3s, remoto: 120s)</a:t>
            </a:r>
          </a:p>
          <a:p>
            <a:r>
              <a:rPr lang="es-MX" sz="1400">
                <a:latin typeface="Calibri" panose="020F0502020204030204" pitchFamily="34" charset="0"/>
              </a:rPr>
              <a:t>   • Detach automático de conexión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2. ejecutarLote(empresaId, operaciones, options)</a:t>
            </a:r>
          </a:p>
          <a:p>
            <a:r>
              <a:rPr lang="es-MX" sz="1400">
                <a:latin typeface="Calibri" panose="020F0502020204030204" pitchFamily="34" charset="0"/>
              </a:rPr>
              <a:t>   • Transacciones</a:t>
            </a:r>
          </a:p>
          <a:p>
            <a:r>
              <a:rPr lang="es-MX" sz="1400">
                <a:latin typeface="Calibri" panose="020F0502020204030204" pitchFamily="34" charset="0"/>
              </a:rPr>
              <a:t>   • Múltiples queries en una transacción</a:t>
            </a:r>
          </a:p>
          <a:p>
            <a:r>
              <a:rPr lang="es-MX" sz="1400">
                <a:latin typeface="Calibri" panose="020F0502020204030204" pitchFamily="34" charset="0"/>
              </a:rPr>
              <a:t>   • Rollback automático en error</a:t>
            </a:r>
          </a:p>
          <a:p>
            <a:r>
              <a:rPr lang="es-MX" sz="1400">
                <a:latin typeface="Calibri" panose="020F0502020204030204" pitchFamily="34" charset="0"/>
              </a:rPr>
              <a:t>   • Isolation level configurable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3. probarConexion(empresaId)</a:t>
            </a:r>
          </a:p>
          <a:p>
            <a:r>
              <a:rPr lang="es-MX" sz="1400">
                <a:latin typeface="Calibri" panose="020F0502020204030204" pitchFamily="34" charset="0"/>
              </a:rPr>
              <a:t>   • Health check de la base de datos</a:t>
            </a:r>
          </a:p>
          <a:p>
            <a:r>
              <a:rPr lang="es-MX" sz="1400">
                <a:latin typeface="Calibri" panose="020F0502020204030204" pitchFamily="34" charset="0"/>
              </a:rPr>
              <a:t>   • Verifica disponibilidad antes de operar</a:t>
            </a:r>
          </a:p>
          <a:p>
            <a:r>
              <a:rPr lang="es-MX" sz="1400">
                <a:latin typeface="Calibri" panose="020F0502020204030204" pitchFamily="34" charset="0"/>
              </a:rPr>
              <a:t>   • Usado en login para mostrar status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CONFIGURACIÓN DE CONEXIÓN:</a:t>
            </a:r>
          </a:p>
          <a:p>
            <a:r>
              <a:rPr lang="es-MX" sz="1400">
                <a:latin typeface="Calibri" panose="020F0502020204030204" pitchFamily="34" charset="0"/>
              </a:rPr>
              <a:t>• Local: 3s timeout, sin reintentos</a:t>
            </a:r>
          </a:p>
          <a:p>
            <a:r>
              <a:rPr lang="es-MX" sz="1400">
                <a:latin typeface="Calibri" panose="020F0502020204030204" pitchFamily="34" charset="0"/>
              </a:rPr>
              <a:t>• Remota: 120s timeout, 3 reintentos</a:t>
            </a:r>
          </a:p>
          <a:p>
            <a:r>
              <a:rPr lang="es-MX" sz="1400">
                <a:latin typeface="Calibri" panose="020F0502020204030204" pitchFamily="34" charset="0"/>
              </a:rPr>
              <a:t>• Detección automática basada en host:port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QUERIES TÍPICAS:</a:t>
            </a:r>
          </a:p>
          <a:p>
            <a:r>
              <a:rPr lang="es-MX" sz="1400">
                <a:latin typeface="Calibri" panose="020F0502020204030204" pitchFamily="34" charset="0"/>
              </a:rPr>
              <a:t>• Obtener saldos de cuentas contables</a:t>
            </a:r>
          </a:p>
          <a:p>
            <a:r>
              <a:rPr lang="es-MX" sz="1400">
                <a:latin typeface="Calibri" panose="020F0502020204030204" pitchFamily="34" charset="0"/>
              </a:rPr>
              <a:t>• Leer catálogo de cuentas</a:t>
            </a:r>
          </a:p>
          <a:p>
            <a:r>
              <a:rPr lang="es-MX" sz="1400">
                <a:latin typeface="Calibri" panose="020F0502020204030204" pitchFamily="34" charset="0"/>
              </a:rPr>
              <a:t>• Validar estructura contable</a:t>
            </a:r>
          </a:p>
          <a:p>
            <a:r>
              <a:rPr lang="es-MX" sz="1400">
                <a:latin typeface="Calibri" panose="020F0502020204030204" pitchFamily="34" charset="0"/>
              </a:rPr>
              <a:t>• Exportar datos para reportes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SEGURIDAD:</a:t>
            </a:r>
          </a:p>
          <a:p>
            <a:r>
              <a:rPr lang="es-MX" sz="1400">
                <a:latin typeface="Calibri" panose="020F0502020204030204" pitchFamily="34" charset="0"/>
              </a:rPr>
              <a:t>• Credenciales en firebird-connections.json</a:t>
            </a:r>
          </a:p>
          <a:p>
            <a:r>
              <a:rPr lang="es-MX" sz="1400">
                <a:latin typeface="Calibri" panose="020F0502020204030204" pitchFamily="34" charset="0"/>
              </a:rPr>
              <a:t>• Validación de permisos antes de query</a:t>
            </a:r>
          </a:p>
          <a:p>
            <a:r>
              <a:rPr lang="es-MX" sz="1400">
                <a:latin typeface="Calibri" panose="020F0502020204030204" pitchFamily="34" charset="0"/>
              </a:rPr>
              <a:t>• Sanitización de SQL (parametrización)</a:t>
            </a:r>
          </a:p>
          <a:p>
            <a:r>
              <a:rPr lang="es-MX" sz="1400">
                <a:latin typeface="Calibri" panose="020F0502020204030204" pitchFamily="34" charset="0"/>
              </a:rPr>
              <a:t>• Logging de queries lentas (&gt;2s)</a:t>
            </a:r>
          </a:p>
        </p:txBody>
      </p:sp>
    </p:spTree>
    <p:extLst>
      <p:ext uri="{BB962C8B-B14F-4D97-AF65-F5344CB8AC3E}">
        <p14:creationId xmlns:p14="http://schemas.microsoft.com/office/powerpoint/2010/main" val="406079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C26E0-7EA4-21F9-ADFE-5A629D0E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3800" b="1"/>
              <a:t>Algoritmos: Operaciones Consolidadas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28EB09-46E3-43B0-6F98-049B5A5727B2}"/>
              </a:ext>
            </a:extLst>
          </p:cNvPr>
          <p:cNvSpPr txBox="1"/>
          <p:nvPr/>
        </p:nvSpPr>
        <p:spPr>
          <a:xfrm>
            <a:off x="635000" y="1524000"/>
            <a:ext cx="11684000" cy="124957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300">
                <a:latin typeface="Calibri" panose="020F0502020204030204" pitchFamily="34" charset="0"/>
              </a:rPr>
              <a:t>Auto-Construcción de Fórmulas Financieras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PROBLEMA:</a:t>
            </a:r>
          </a:p>
          <a:p>
            <a:r>
              <a:rPr lang="es-MX" sz="1300">
                <a:latin typeface="Calibri" panose="020F0502020204030204" pitchFamily="34" charset="0"/>
              </a:rPr>
              <a:t>  Al agregar un nuevo capítulo (ej: Income (Querétaro)), las operaciones</a:t>
            </a:r>
          </a:p>
          <a:p>
            <a:r>
              <a:rPr lang="es-MX" sz="1300">
                <a:latin typeface="Calibri" panose="020F0502020204030204" pitchFamily="34" charset="0"/>
              </a:rPr>
              <a:t>  consolidadas no se actualizan automáticamente.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SOLUCIÓN:</a:t>
            </a:r>
          </a:p>
          <a:p>
            <a:r>
              <a:rPr lang="es-MX" sz="1300">
                <a:latin typeface="Calibri" panose="020F0502020204030204" pitchFamily="34" charset="0"/>
              </a:rPr>
              <a:t>  Sistema de auto-construcción que detecta y suma todas las secciones</a:t>
            </a:r>
          </a:p>
          <a:p>
            <a:r>
              <a:rPr lang="es-MX" sz="1300">
                <a:latin typeface="Calibri" panose="020F0502020204030204" pitchFamily="34" charset="0"/>
              </a:rPr>
              <a:t>  relevantes en tiempo real.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ALGORITMO hydrateOperationsFromParents():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  1. Detectar Operaciones Consolidadas</a:t>
            </a:r>
          </a:p>
          <a:p>
            <a:r>
              <a:rPr lang="es-MX" sz="1300">
                <a:latin typeface="Calibri" panose="020F0502020204030204" pitchFamily="34" charset="0"/>
              </a:rPr>
              <a:t>     keywords = ['CONSOLIDATED', 'CONSOLIDADO', 'TOTAL']</a:t>
            </a:r>
          </a:p>
          <a:p>
            <a:r>
              <a:rPr lang="es-MX" sz="1300">
                <a:latin typeface="Calibri" panose="020F0502020204030204" pitchFamily="34" charset="0"/>
              </a:rPr>
              <a:t>     types = ['INCOME', 'EXPENSE', 'INGRESO', 'GASTO']</a:t>
            </a:r>
          </a:p>
          <a:p>
            <a:r>
              <a:rPr lang="es-MX" sz="1300">
                <a:latin typeface="Calibri" panose="020F0502020204030204" pitchFamily="34" charset="0"/>
              </a:rPr>
              <a:t>     </a:t>
            </a:r>
          </a:p>
          <a:p>
            <a:r>
              <a:rPr lang="es-MX" sz="1300">
                <a:latin typeface="Calibri" panose="020F0502020204030204" pitchFamily="34" charset="0"/>
              </a:rPr>
              <a:t>     if (operacion.nombre includes keyword) AND (includes type) {</a:t>
            </a:r>
          </a:p>
          <a:p>
            <a:r>
              <a:rPr lang="es-MX" sz="1300">
                <a:latin typeface="Calibri" panose="020F0502020204030204" pitchFamily="34" charset="0"/>
              </a:rPr>
              <a:t>       isConsolidated = true</a:t>
            </a:r>
          </a:p>
          <a:p>
            <a:r>
              <a:rPr lang="es-MX" sz="1300">
                <a:latin typeface="Calibri" panose="020F0502020204030204" pitchFamily="34" charset="0"/>
              </a:rPr>
              <a:t>     }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  2. Buscar Todas las Secciones del Tipo</a:t>
            </a:r>
          </a:p>
          <a:p>
            <a:r>
              <a:rPr lang="es-MX" sz="1300">
                <a:latin typeface="Calibri" panose="020F0502020204030204" pitchFamily="34" charset="0"/>
              </a:rPr>
              <a:t>     if (tipo === 'INCOME') {</a:t>
            </a:r>
          </a:p>
          <a:p>
            <a:r>
              <a:rPr lang="es-MX" sz="1300">
                <a:latin typeface="Calibri" panose="020F0502020204030204" pitchFamily="34" charset="0"/>
              </a:rPr>
              <a:t>       secciones = buscarSecciones(keywords: ['Income', 'Ingreso'])</a:t>
            </a:r>
          </a:p>
          <a:p>
            <a:r>
              <a:rPr lang="es-MX" sz="1300">
                <a:latin typeface="Calibri" panose="020F0502020204030204" pitchFamily="34" charset="0"/>
              </a:rPr>
              <a:t>     }</a:t>
            </a:r>
          </a:p>
          <a:p>
            <a:r>
              <a:rPr lang="es-MX" sz="1300">
                <a:latin typeface="Calibri" panose="020F0502020204030204" pitchFamily="34" charset="0"/>
              </a:rPr>
              <a:t>     </a:t>
            </a:r>
          </a:p>
          <a:p>
            <a:r>
              <a:rPr lang="es-MX" sz="1300">
                <a:latin typeface="Calibri" panose="020F0502020204030204" pitchFamily="34" charset="0"/>
              </a:rPr>
              <a:t>     Ejemplo resultado:</a:t>
            </a:r>
          </a:p>
          <a:p>
            <a:r>
              <a:rPr lang="es-MX" sz="1300">
                <a:latin typeface="Calibri" panose="020F0502020204030204" pitchFamily="34" charset="0"/>
              </a:rPr>
              <a:t>     [</a:t>
            </a:r>
          </a:p>
          <a:p>
            <a:r>
              <a:rPr lang="es-MX" sz="1300">
                <a:latin typeface="Calibri" panose="020F0502020204030204" pitchFamily="34" charset="0"/>
              </a:rPr>
              <a:t>       'Income (CDMX)',</a:t>
            </a:r>
          </a:p>
          <a:p>
            <a:r>
              <a:rPr lang="es-MX" sz="1300">
                <a:latin typeface="Calibri" panose="020F0502020204030204" pitchFamily="34" charset="0"/>
              </a:rPr>
              <a:t>       'Income (Guadalajara)',</a:t>
            </a:r>
          </a:p>
          <a:p>
            <a:r>
              <a:rPr lang="es-MX" sz="1300">
                <a:latin typeface="Calibri" panose="020F0502020204030204" pitchFamily="34" charset="0"/>
              </a:rPr>
              <a:t>       'Income (Monterrey)',</a:t>
            </a:r>
          </a:p>
          <a:p>
            <a:r>
              <a:rPr lang="es-MX" sz="1300">
                <a:latin typeface="Calibri" panose="020F0502020204030204" pitchFamily="34" charset="0"/>
              </a:rPr>
              <a:t>       'Income (Querétaro)'  ← Detectado automáticamente</a:t>
            </a:r>
          </a:p>
          <a:p>
            <a:r>
              <a:rPr lang="es-MX" sz="1300">
                <a:latin typeface="Calibri" panose="020F0502020204030204" pitchFamily="34" charset="0"/>
              </a:rPr>
              <a:t>     ]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  3. Construir Términos de Fórmula</a:t>
            </a:r>
          </a:p>
          <a:p>
            <a:r>
              <a:rPr lang="es-MX" sz="1300">
                <a:latin typeface="Calibri" panose="020F0502020204030204" pitchFamily="34" charset="0"/>
              </a:rPr>
              <a:t>     formula_terms = secciones.map(seccion =&gt; ({</a:t>
            </a:r>
          </a:p>
          <a:p>
            <a:r>
              <a:rPr lang="es-MX" sz="1300">
                <a:latin typeface="Calibri" panose="020F0502020204030204" pitchFamily="34" charset="0"/>
              </a:rPr>
              <a:t>       operator: '+',</a:t>
            </a:r>
          </a:p>
          <a:p>
            <a:r>
              <a:rPr lang="es-MX" sz="1300">
                <a:latin typeface="Calibri" panose="020F0502020204030204" pitchFamily="34" charset="0"/>
              </a:rPr>
              <a:t>       type: 'section',</a:t>
            </a:r>
          </a:p>
          <a:p>
            <a:r>
              <a:rPr lang="es-MX" sz="1300">
                <a:latin typeface="Calibri" panose="020F0502020204030204" pitchFamily="34" charset="0"/>
              </a:rPr>
              <a:t>       value: seccion</a:t>
            </a:r>
          </a:p>
          <a:p>
            <a:r>
              <a:rPr lang="es-MX" sz="1300">
                <a:latin typeface="Calibri" panose="020F0502020204030204" pitchFamily="34" charset="0"/>
              </a:rPr>
              <a:t>     }))</a:t>
            </a:r>
          </a:p>
          <a:p>
            <a:r>
              <a:rPr lang="es-MX" sz="1300">
                <a:latin typeface="Calibri" panose="020F0502020204030204" pitchFamily="34" charset="0"/>
              </a:rPr>
              <a:t>     </a:t>
            </a:r>
          </a:p>
          <a:p>
            <a:r>
              <a:rPr lang="es-MX" sz="1300">
                <a:latin typeface="Calibri" panose="020F0502020204030204" pitchFamily="34" charset="0"/>
              </a:rPr>
              <a:t>     Resultado:</a:t>
            </a:r>
          </a:p>
          <a:p>
            <a:r>
              <a:rPr lang="es-MX" sz="1300">
                <a:latin typeface="Calibri" panose="020F0502020204030204" pitchFamily="34" charset="0"/>
              </a:rPr>
              <a:t>     [</a:t>
            </a:r>
          </a:p>
          <a:p>
            <a:r>
              <a:rPr lang="es-MX" sz="1300">
                <a:latin typeface="Calibri" panose="020F0502020204030204" pitchFamily="34" charset="0"/>
              </a:rPr>
              <a:t>       { operator: '+', type: 'section', value: 'Income (CDMX)' },</a:t>
            </a:r>
          </a:p>
          <a:p>
            <a:r>
              <a:rPr lang="es-MX" sz="1300">
                <a:latin typeface="Calibri" panose="020F0502020204030204" pitchFamily="34" charset="0"/>
              </a:rPr>
              <a:t>       { operator: '+', type: 'section', value: 'Income (Guadalajara)' },</a:t>
            </a:r>
          </a:p>
          <a:p>
            <a:r>
              <a:rPr lang="es-MX" sz="1300">
                <a:latin typeface="Calibri" panose="020F0502020204030204" pitchFamily="34" charset="0"/>
              </a:rPr>
              <a:t>       { operator: '+', type: 'section', value: 'Income (Monterrey)' },</a:t>
            </a:r>
          </a:p>
          <a:p>
            <a:r>
              <a:rPr lang="es-MX" sz="1300">
                <a:latin typeface="Calibri" panose="020F0502020204030204" pitchFamily="34" charset="0"/>
              </a:rPr>
              <a:t>       { operator: '+', type: 'section', value: 'Income (Querétaro)' }</a:t>
            </a:r>
          </a:p>
          <a:p>
            <a:r>
              <a:rPr lang="es-MX" sz="1300">
                <a:latin typeface="Calibri" panose="020F0502020204030204" pitchFamily="34" charset="0"/>
              </a:rPr>
              <a:t>     ]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  4. Marcar como Auto-Construido</a:t>
            </a:r>
          </a:p>
          <a:p>
            <a:r>
              <a:rPr lang="es-MX" sz="1300">
                <a:latin typeface="Calibri" panose="020F0502020204030204" pitchFamily="34" charset="0"/>
              </a:rPr>
              <a:t>     operacion._autoBuilt = true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VENTAJAS:</a:t>
            </a:r>
          </a:p>
          <a:p>
            <a:r>
              <a:rPr lang="es-MX" sz="1300">
                <a:latin typeface="Calibri" panose="020F0502020204030204" pitchFamily="34" charset="0"/>
              </a:rPr>
              <a:t>  ✓ Siempre actualizado sin intervención manual</a:t>
            </a:r>
          </a:p>
          <a:p>
            <a:r>
              <a:rPr lang="es-MX" sz="1300">
                <a:latin typeface="Calibri" panose="020F0502020204030204" pitchFamily="34" charset="0"/>
              </a:rPr>
              <a:t>  ✓ Nueva sección → automáticamente incluida en consolidado</a:t>
            </a:r>
          </a:p>
          <a:p>
            <a:r>
              <a:rPr lang="es-MX" sz="1300">
                <a:latin typeface="Calibri" panose="020F0502020204030204" pitchFamily="34" charset="0"/>
              </a:rPr>
              <a:t>  ✓ Eliminar sección → automáticamente removida</a:t>
            </a:r>
          </a:p>
          <a:p>
            <a:r>
              <a:rPr lang="es-MX" sz="1300">
                <a:latin typeface="Calibri" panose="020F0502020204030204" pitchFamily="34" charset="0"/>
              </a:rPr>
              <a:t>  ✓ Cero mantenimiento de fórmulas consolidadas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CASO DE USO:</a:t>
            </a:r>
          </a:p>
          <a:p>
            <a:r>
              <a:rPr lang="es-MX" sz="1300">
                <a:latin typeface="Calibri" panose="020F0502020204030204" pitchFamily="34" charset="0"/>
              </a:rPr>
              <a:t>  Módulo RESUMEN:</a:t>
            </a:r>
          </a:p>
          <a:p>
            <a:r>
              <a:rPr lang="es-MX" sz="1300">
                <a:latin typeface="Calibri" panose="020F0502020204030204" pitchFamily="34" charset="0"/>
              </a:rPr>
              <a:t>    • CONSOLIDATED INCOME = suma de todos los Income</a:t>
            </a:r>
          </a:p>
          <a:p>
            <a:r>
              <a:rPr lang="es-MX" sz="1300">
                <a:latin typeface="Calibri" panose="020F0502020204030204" pitchFamily="34" charset="0"/>
              </a:rPr>
              <a:t>    • CONSOLIDATED EXPENSE = suma de todos los Expense</a:t>
            </a:r>
          </a:p>
          <a:p>
            <a:r>
              <a:rPr lang="es-MX" sz="1300">
                <a:latin typeface="Calibri" panose="020F0502020204030204" pitchFamily="34" charset="0"/>
              </a:rPr>
              <a:t>    • NET INCOME = CONSOLIDATED INCOME - CONSOLIDATED EXPENSE</a:t>
            </a:r>
          </a:p>
        </p:txBody>
      </p:sp>
    </p:spTree>
    <p:extLst>
      <p:ext uri="{BB962C8B-B14F-4D97-AF65-F5344CB8AC3E}">
        <p14:creationId xmlns:p14="http://schemas.microsoft.com/office/powerpoint/2010/main" val="3415462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057EC-AE5C-6B7A-32AD-33AFC3248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800" b="1"/>
              <a:t>Algoritmos: Cálculo de Sumas por Operación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964003-3486-A373-F884-4594E8B0AB2F}"/>
              </a:ext>
            </a:extLst>
          </p:cNvPr>
          <p:cNvSpPr txBox="1"/>
          <p:nvPr/>
        </p:nvSpPr>
        <p:spPr>
          <a:xfrm>
            <a:off x="635000" y="1524000"/>
            <a:ext cx="11684000" cy="1431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latin typeface="Calibri" panose="020F0502020204030204" pitchFamily="34" charset="0"/>
              </a:rPr>
              <a:t>Motor de Cálculo Recursivo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FLUJO DE EJECUCIÓN: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1. Cargar Layout de Cuentas</a:t>
            </a:r>
          </a:p>
          <a:p>
            <a:r>
              <a:rPr lang="es-MX" sz="1200">
                <a:latin typeface="Calibri" panose="020F0502020204030204" pitchFamily="34" charset="0"/>
              </a:rPr>
              <a:t>   layoutCuentas = SELECT * FROM layout_cuentas</a:t>
            </a:r>
          </a:p>
          <a:p>
            <a:r>
              <a:rPr lang="es-MX" sz="1200">
                <a:latin typeface="Calibri" panose="020F0502020204030204" pitchFamily="34" charset="0"/>
              </a:rPr>
              <a:t>   WHERE anio = 2025 AND empresa_id = 'empresa1'</a:t>
            </a:r>
          </a:p>
          <a:p>
            <a:r>
              <a:rPr lang="es-MX" sz="1200">
                <a:latin typeface="Calibri" panose="020F0502020204030204" pitchFamily="34" charset="0"/>
              </a:rPr>
              <a:t>   </a:t>
            </a:r>
          </a:p>
          <a:p>
            <a:r>
              <a:rPr lang="es-MX" sz="1200">
                <a:latin typeface="Calibri" panose="020F0502020204030204" pitchFamily="34" charset="0"/>
              </a:rPr>
              <a:t>   Estructura jerárquica:</a:t>
            </a:r>
          </a:p>
          <a:p>
            <a:r>
              <a:rPr lang="es-MX" sz="1200">
                <a:latin typeface="Calibri" panose="020F0502020204030204" pitchFamily="34" charset="0"/>
              </a:rPr>
              <a:t>   {</a:t>
            </a:r>
          </a:p>
          <a:p>
            <a:r>
              <a:rPr lang="es-MX" sz="1200">
                <a:latin typeface="Calibri" panose="020F0502020204030204" pitchFamily="34" charset="0"/>
              </a:rPr>
              <a:t>     'Income (CDMX)': [</a:t>
            </a:r>
          </a:p>
          <a:p>
            <a:r>
              <a:rPr lang="es-MX" sz="1200">
                <a:latin typeface="Calibri" panose="020F0502020204030204" pitchFamily="34" charset="0"/>
              </a:rPr>
              <a:t>       { cuenta: '4100', descripcion: 'Membership Renewals', valor: 150000 },</a:t>
            </a:r>
          </a:p>
          <a:p>
            <a:r>
              <a:rPr lang="es-MX" sz="1200">
                <a:latin typeface="Calibri" panose="020F0502020204030204" pitchFamily="34" charset="0"/>
              </a:rPr>
              <a:t>       { cuenta: '4200', descripcion: 'New Members', valor: 80000 },</a:t>
            </a:r>
          </a:p>
          <a:p>
            <a:r>
              <a:rPr lang="es-MX" sz="1200">
                <a:latin typeface="Calibri" panose="020F0502020204030204" pitchFamily="34" charset="0"/>
              </a:rPr>
              <a:t>       ...</a:t>
            </a:r>
          </a:p>
          <a:p>
            <a:r>
              <a:rPr lang="es-MX" sz="1200">
                <a:latin typeface="Calibri" panose="020F0502020204030204" pitchFamily="34" charset="0"/>
              </a:rPr>
              <a:t>     ],</a:t>
            </a:r>
          </a:p>
          <a:p>
            <a:r>
              <a:rPr lang="es-MX" sz="1200">
                <a:latin typeface="Calibri" panose="020F0502020204030204" pitchFamily="34" charset="0"/>
              </a:rPr>
              <a:t>     'Expense (CDMX)': [</a:t>
            </a:r>
          </a:p>
          <a:p>
            <a:r>
              <a:rPr lang="es-MX" sz="1200">
                <a:latin typeface="Calibri" panose="020F0502020204030204" pitchFamily="34" charset="0"/>
              </a:rPr>
              <a:t>       { cuenta: '5100', descripcion: 'Salaries', valor: -120000 },</a:t>
            </a:r>
          </a:p>
          <a:p>
            <a:r>
              <a:rPr lang="es-MX" sz="1200">
                <a:latin typeface="Calibri" panose="020F0502020204030204" pitchFamily="34" charset="0"/>
              </a:rPr>
              <a:t>       ...</a:t>
            </a:r>
          </a:p>
          <a:p>
            <a:r>
              <a:rPr lang="es-MX" sz="1200">
                <a:latin typeface="Calibri" panose="020F0502020204030204" pitchFamily="34" charset="0"/>
              </a:rPr>
              <a:t>     ]</a:t>
            </a:r>
          </a:p>
          <a:p>
            <a:r>
              <a:rPr lang="es-MX" sz="1200">
                <a:latin typeface="Calibri" panose="020F0502020204030204" pitchFamily="34" charset="0"/>
              </a:rPr>
              <a:t>   }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2. Cargar Operaciones</a:t>
            </a:r>
          </a:p>
          <a:p>
            <a:r>
              <a:rPr lang="es-MX" sz="1200">
                <a:latin typeface="Calibri" panose="020F0502020204030204" pitchFamily="34" charset="0"/>
              </a:rPr>
              <a:t>   operaciones = SELECT * FROM layout_operaciones</a:t>
            </a:r>
          </a:p>
          <a:p>
            <a:r>
              <a:rPr lang="es-MX" sz="1200">
                <a:latin typeface="Calibri" panose="020F0502020204030204" pitchFamily="34" charset="0"/>
              </a:rPr>
              <a:t>   WHERE anio = 2025 AND empresa_id = 'empresa1'</a:t>
            </a:r>
          </a:p>
          <a:p>
            <a:r>
              <a:rPr lang="es-MX" sz="1200">
                <a:latin typeface="Calibri" panose="020F0502020204030204" pitchFamily="34" charset="0"/>
              </a:rPr>
              <a:t>   </a:t>
            </a:r>
          </a:p>
          <a:p>
            <a:r>
              <a:rPr lang="es-MX" sz="1200">
                <a:latin typeface="Calibri" panose="020F0502020204030204" pitchFamily="34" charset="0"/>
              </a:rPr>
              <a:t>   Ejemplo:</a:t>
            </a:r>
          </a:p>
          <a:p>
            <a:r>
              <a:rPr lang="es-MX" sz="1200">
                <a:latin typeface="Calibri" panose="020F0502020204030204" pitchFamily="34" charset="0"/>
              </a:rPr>
              <a:t>   {</a:t>
            </a:r>
          </a:p>
          <a:p>
            <a:r>
              <a:rPr lang="es-MX" sz="1200">
                <a:latin typeface="Calibri" panose="020F0502020204030204" pitchFamily="34" charset="0"/>
              </a:rPr>
              <a:t>     Clase: 'Total Membership Income',</a:t>
            </a:r>
          </a:p>
          <a:p>
            <a:r>
              <a:rPr lang="es-MX" sz="1200">
                <a:latin typeface="Calibri" panose="020F0502020204030204" pitchFamily="34" charset="0"/>
              </a:rPr>
              <a:t>     formula_terms: [</a:t>
            </a:r>
          </a:p>
          <a:p>
            <a:r>
              <a:rPr lang="es-MX" sz="1200">
                <a:latin typeface="Calibri" panose="020F0502020204030204" pitchFamily="34" charset="0"/>
              </a:rPr>
              <a:t>       { operator: '+', type: 'cuenta', value: '4100' },</a:t>
            </a:r>
          </a:p>
          <a:p>
            <a:r>
              <a:rPr lang="es-MX" sz="1200">
                <a:latin typeface="Calibri" panose="020F0502020204030204" pitchFamily="34" charset="0"/>
              </a:rPr>
              <a:t>       { operator: '+', type: 'cuenta', value: '4200' }</a:t>
            </a:r>
          </a:p>
          <a:p>
            <a:r>
              <a:rPr lang="es-MX" sz="1200">
                <a:latin typeface="Calibri" panose="020F0502020204030204" pitchFamily="34" charset="0"/>
              </a:rPr>
              <a:t>     ]</a:t>
            </a:r>
          </a:p>
          <a:p>
            <a:r>
              <a:rPr lang="es-MX" sz="1200">
                <a:latin typeface="Calibri" panose="020F0502020204030204" pitchFamily="34" charset="0"/>
              </a:rPr>
              <a:t>   }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3. Calcular Valor de Operación (recursivo)</a:t>
            </a:r>
          </a:p>
          <a:p>
            <a:r>
              <a:rPr lang="es-MX" sz="1200">
                <a:latin typeface="Calibri" panose="020F0502020204030204" pitchFamily="34" charset="0"/>
              </a:rPr>
              <a:t>   function calcularOperacion(operacion, layoutCuentas) {</a:t>
            </a:r>
          </a:p>
          <a:p>
            <a:r>
              <a:rPr lang="es-MX" sz="1200">
                <a:latin typeface="Calibri" panose="020F0502020204030204" pitchFamily="34" charset="0"/>
              </a:rPr>
              <a:t>     let resultado = 0</a:t>
            </a:r>
          </a:p>
          <a:p>
            <a:r>
              <a:rPr lang="es-MX" sz="1200">
                <a:latin typeface="Calibri" panose="020F0502020204030204" pitchFamily="34" charset="0"/>
              </a:rPr>
              <a:t>     </a:t>
            </a:r>
          </a:p>
          <a:p>
            <a:r>
              <a:rPr lang="es-MX" sz="1200">
                <a:latin typeface="Calibri" panose="020F0502020204030204" pitchFamily="34" charset="0"/>
              </a:rPr>
              <a:t>     for (term of operacion.formula_terms) {</a:t>
            </a:r>
          </a:p>
          <a:p>
            <a:r>
              <a:rPr lang="es-MX" sz="1200">
                <a:latin typeface="Calibri" panose="020F0502020204030204" pitchFamily="34" charset="0"/>
              </a:rPr>
              <a:t>       if (term.type === 'cuenta') {</a:t>
            </a:r>
          </a:p>
          <a:p>
            <a:r>
              <a:rPr lang="es-MX" sz="1200">
                <a:latin typeface="Calibri" panose="020F0502020204030204" pitchFamily="34" charset="0"/>
              </a:rPr>
              <a:t>         // Buscar valor de cuenta</a:t>
            </a:r>
          </a:p>
          <a:p>
            <a:r>
              <a:rPr lang="es-MX" sz="1200">
                <a:latin typeface="Calibri" panose="020F0502020204030204" pitchFamily="34" charset="0"/>
              </a:rPr>
              <a:t>         valor = layoutCuentas.find(c =&gt; c.cuenta === term.value).valor</a:t>
            </a:r>
          </a:p>
          <a:p>
            <a:r>
              <a:rPr lang="es-MX" sz="1200">
                <a:latin typeface="Calibri" panose="020F0502020204030204" pitchFamily="34" charset="0"/>
              </a:rPr>
              <a:t>       }</a:t>
            </a:r>
          </a:p>
          <a:p>
            <a:r>
              <a:rPr lang="es-MX" sz="1200">
                <a:latin typeface="Calibri" panose="020F0502020204030204" pitchFamily="34" charset="0"/>
              </a:rPr>
              <a:t>       else if (term.type === 'section') {</a:t>
            </a:r>
          </a:p>
          <a:p>
            <a:r>
              <a:rPr lang="es-MX" sz="1200">
                <a:latin typeface="Calibri" panose="020F0502020204030204" pitchFamily="34" charset="0"/>
              </a:rPr>
              <a:t>         // Sumar todas las cuentas de la sección</a:t>
            </a:r>
          </a:p>
          <a:p>
            <a:r>
              <a:rPr lang="es-MX" sz="1200">
                <a:latin typeface="Calibri" panose="020F0502020204030204" pitchFamily="34" charset="0"/>
              </a:rPr>
              <a:t>         valor = sumarCuentasSeccion(term.value, layoutCuentas)</a:t>
            </a:r>
          </a:p>
          <a:p>
            <a:r>
              <a:rPr lang="es-MX" sz="1200">
                <a:latin typeface="Calibri" panose="020F0502020204030204" pitchFamily="34" charset="0"/>
              </a:rPr>
              <a:t>       }</a:t>
            </a:r>
          </a:p>
          <a:p>
            <a:r>
              <a:rPr lang="es-MX" sz="1200">
                <a:latin typeface="Calibri" panose="020F0502020204030204" pitchFamily="34" charset="0"/>
              </a:rPr>
              <a:t>       else if (term.type === 'operation') {</a:t>
            </a:r>
          </a:p>
          <a:p>
            <a:r>
              <a:rPr lang="es-MX" sz="1200">
                <a:latin typeface="Calibri" panose="020F0502020204030204" pitchFamily="34" charset="0"/>
              </a:rPr>
              <a:t>         // RECURSIÓN: calcular otra operación</a:t>
            </a:r>
          </a:p>
          <a:p>
            <a:r>
              <a:rPr lang="es-MX" sz="1200">
                <a:latin typeface="Calibri" panose="020F0502020204030204" pitchFamily="34" charset="0"/>
              </a:rPr>
              <a:t>         otraOp = operaciones.find(o =&gt; o.Clase === term.value)</a:t>
            </a:r>
          </a:p>
          <a:p>
            <a:r>
              <a:rPr lang="es-MX" sz="1200">
                <a:latin typeface="Calibri" panose="020F0502020204030204" pitchFamily="34" charset="0"/>
              </a:rPr>
              <a:t>         valor = calcularOperacion(otraOp, layoutCuentas)</a:t>
            </a:r>
          </a:p>
          <a:p>
            <a:r>
              <a:rPr lang="es-MX" sz="1200">
                <a:latin typeface="Calibri" panose="020F0502020204030204" pitchFamily="34" charset="0"/>
              </a:rPr>
              <a:t>       }</a:t>
            </a:r>
          </a:p>
          <a:p>
            <a:r>
              <a:rPr lang="es-MX" sz="1200">
                <a:latin typeface="Calibri" panose="020F0502020204030204" pitchFamily="34" charset="0"/>
              </a:rPr>
              <a:t>       </a:t>
            </a:r>
          </a:p>
          <a:p>
            <a:r>
              <a:rPr lang="es-MX" sz="1200">
                <a:latin typeface="Calibri" panose="020F0502020204030204" pitchFamily="34" charset="0"/>
              </a:rPr>
              <a:t>       // Aplicar operador</a:t>
            </a:r>
          </a:p>
          <a:p>
            <a:r>
              <a:rPr lang="es-MX" sz="1200">
                <a:latin typeface="Calibri" panose="020F0502020204030204" pitchFamily="34" charset="0"/>
              </a:rPr>
              <a:t>       if (term.operator === '+') resultado += valor</a:t>
            </a:r>
          </a:p>
          <a:p>
            <a:r>
              <a:rPr lang="es-MX" sz="1200">
                <a:latin typeface="Calibri" panose="020F0502020204030204" pitchFamily="34" charset="0"/>
              </a:rPr>
              <a:t>       else if (term.operator === '-') resultado -= valor</a:t>
            </a:r>
          </a:p>
          <a:p>
            <a:r>
              <a:rPr lang="es-MX" sz="1200">
                <a:latin typeface="Calibri" panose="020F0502020204030204" pitchFamily="34" charset="0"/>
              </a:rPr>
              <a:t>     }</a:t>
            </a:r>
          </a:p>
          <a:p>
            <a:r>
              <a:rPr lang="es-MX" sz="1200">
                <a:latin typeface="Calibri" panose="020F0502020204030204" pitchFamily="34" charset="0"/>
              </a:rPr>
              <a:t>     </a:t>
            </a:r>
          </a:p>
          <a:p>
            <a:r>
              <a:rPr lang="es-MX" sz="1200">
                <a:latin typeface="Calibri" panose="020F0502020204030204" pitchFamily="34" charset="0"/>
              </a:rPr>
              <a:t>     return resultado</a:t>
            </a:r>
          </a:p>
          <a:p>
            <a:r>
              <a:rPr lang="es-MX" sz="1200">
                <a:latin typeface="Calibri" panose="020F0502020204030204" pitchFamily="34" charset="0"/>
              </a:rPr>
              <a:t>   }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4. Ejemplo CompleFijo:</a:t>
            </a:r>
          </a:p>
          <a:p>
            <a:r>
              <a:rPr lang="es-MX" sz="1200">
                <a:latin typeface="Calibri" panose="020F0502020204030204" pitchFamily="34" charset="0"/>
              </a:rPr>
              <a:t>   NET INCOME = CONSOLIDATED INCOME - CONSOLIDATED EXPENSE</a:t>
            </a:r>
          </a:p>
          <a:p>
            <a:r>
              <a:rPr lang="es-MX" sz="1200">
                <a:latin typeface="Calibri" panose="020F0502020204030204" pitchFamily="34" charset="0"/>
              </a:rPr>
              <a:t>   </a:t>
            </a:r>
          </a:p>
          <a:p>
            <a:r>
              <a:rPr lang="es-MX" sz="1200">
                <a:latin typeface="Calibri" panose="020F0502020204030204" pitchFamily="34" charset="0"/>
              </a:rPr>
              <a:t>   donde:</a:t>
            </a:r>
          </a:p>
          <a:p>
            <a:r>
              <a:rPr lang="es-MX" sz="1200">
                <a:latin typeface="Calibri" panose="020F0502020204030204" pitchFamily="34" charset="0"/>
              </a:rPr>
              <a:t>     CONSOLIDATED INCOME = Income(CDMX) + Income(GDL) + Income(MTY)</a:t>
            </a:r>
          </a:p>
          <a:p>
            <a:r>
              <a:rPr lang="es-MX" sz="1200">
                <a:latin typeface="Calibri" panose="020F0502020204030204" pitchFamily="34" charset="0"/>
              </a:rPr>
              <a:t>     CONSOLIDATED EXPENSE = Expense(CDMX) + Expense(GDL) + Expense(MTY)</a:t>
            </a:r>
          </a:p>
          <a:p>
            <a:r>
              <a:rPr lang="es-MX" sz="1200">
                <a:latin typeface="Calibri" panose="020F0502020204030204" pitchFamily="34" charset="0"/>
              </a:rPr>
              <a:t>   </a:t>
            </a:r>
          </a:p>
          <a:p>
            <a:r>
              <a:rPr lang="es-MX" sz="1200">
                <a:latin typeface="Calibri" panose="020F0502020204030204" pitchFamily="34" charset="0"/>
              </a:rPr>
              <a:t>   Cálculo:</a:t>
            </a:r>
          </a:p>
          <a:p>
            <a:r>
              <a:rPr lang="es-MX" sz="1200">
                <a:latin typeface="Calibri" panose="020F0502020204030204" pitchFamily="34" charset="0"/>
              </a:rPr>
              <a:t>     1. Calcular CONSOLIDATED INCOME (suma secciones)</a:t>
            </a:r>
          </a:p>
          <a:p>
            <a:r>
              <a:rPr lang="es-MX" sz="1200">
                <a:latin typeface="Calibri" panose="020F0502020204030204" pitchFamily="34" charset="0"/>
              </a:rPr>
              <a:t>     2. Calcular CONSOLIDATED EXPENSE (suma secciones)</a:t>
            </a:r>
          </a:p>
          <a:p>
            <a:r>
              <a:rPr lang="es-MX" sz="1200">
                <a:latin typeface="Calibri" panose="020F0502020204030204" pitchFamily="34" charset="0"/>
              </a:rPr>
              <a:t>     3. Restar: INCOME - EXPENSE = NET INCOME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OPTIMIZACIONES:</a:t>
            </a:r>
          </a:p>
          <a:p>
            <a:r>
              <a:rPr lang="es-MX" sz="1200">
                <a:latin typeface="Calibri" panose="020F0502020204030204" pitchFamily="34" charset="0"/>
              </a:rPr>
              <a:t>  • Caché de operaciones calculadas (evitar recálculo)</a:t>
            </a:r>
          </a:p>
          <a:p>
            <a:r>
              <a:rPr lang="es-MX" sz="1200">
                <a:latin typeface="Calibri" panose="020F0502020204030204" pitchFamily="34" charset="0"/>
              </a:rPr>
              <a:t>  • Detección de dependencias circulares</a:t>
            </a:r>
          </a:p>
          <a:p>
            <a:r>
              <a:rPr lang="es-MX" sz="1200">
                <a:latin typeface="Calibri" panose="020F0502020204030204" pitchFamily="34" charset="0"/>
              </a:rPr>
              <a:t>  • Validación de fórmulas antes de guardar</a:t>
            </a:r>
          </a:p>
        </p:txBody>
      </p:sp>
    </p:spTree>
    <p:extLst>
      <p:ext uri="{BB962C8B-B14F-4D97-AF65-F5344CB8AC3E}">
        <p14:creationId xmlns:p14="http://schemas.microsoft.com/office/powerpoint/2010/main" val="1025014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E0A64-C412-E3A0-5144-4B5203C7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Sistema de Layouts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56FA0D-A287-4DAD-8571-9B280D1AC0DF}"/>
              </a:ext>
            </a:extLst>
          </p:cNvPr>
          <p:cNvSpPr txBox="1"/>
          <p:nvPr/>
        </p:nvSpPr>
        <p:spPr>
          <a:xfrm>
            <a:off x="635000" y="1524000"/>
            <a:ext cx="11684000" cy="141378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400">
                <a:latin typeface="Calibri" panose="020F0502020204030204" pitchFamily="34" charset="0"/>
              </a:rPr>
              <a:t>Gestión de Estructuras Contables por Año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¿QUÉ ES UN LAYOUT?</a:t>
            </a:r>
          </a:p>
          <a:p>
            <a:r>
              <a:rPr lang="es-ES" sz="1400">
                <a:latin typeface="Calibri" panose="020F0502020204030204" pitchFamily="34" charset="0"/>
              </a:rPr>
              <a:t>  Plantilla de estructura contable que define:</a:t>
            </a:r>
          </a:p>
          <a:p>
            <a:r>
              <a:rPr lang="es-ES" sz="1400">
                <a:latin typeface="Calibri" panose="020F0502020204030204" pitchFamily="34" charset="0"/>
              </a:rPr>
              <a:t>    • Cuentas contables y su jerarquía</a:t>
            </a:r>
          </a:p>
          <a:p>
            <a:r>
              <a:rPr lang="es-ES" sz="1400">
                <a:latin typeface="Calibri" panose="020F0502020204030204" pitchFamily="34" charset="0"/>
              </a:rPr>
              <a:t>    • Secciones (Income, Expense, Assets, etc.)</a:t>
            </a:r>
          </a:p>
          <a:p>
            <a:r>
              <a:rPr lang="es-ES" sz="1400">
                <a:latin typeface="Calibri" panose="020F0502020204030204" pitchFamily="34" charset="0"/>
              </a:rPr>
              <a:t>    • Operaciones consolidadas</a:t>
            </a:r>
          </a:p>
          <a:p>
            <a:r>
              <a:rPr lang="es-ES" sz="1400">
                <a:latin typeface="Calibri" panose="020F0502020204030204" pitchFamily="34" charset="0"/>
              </a:rPr>
              <a:t>    • Orden de visualización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COMPONENTES PRINCIPALES: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1. LAYOUT_CUENTAS</a:t>
            </a:r>
          </a:p>
          <a:p>
            <a:r>
              <a:rPr lang="es-ES" sz="1400">
                <a:latin typeface="Calibri" panose="020F0502020204030204" pitchFamily="34" charset="0"/>
              </a:rPr>
              <a:t>   Catálogo de cuentas con metadata:</a:t>
            </a:r>
          </a:p>
          <a:p>
            <a:r>
              <a:rPr lang="es-ES" sz="1400">
                <a:latin typeface="Calibri" panose="020F0502020204030204" pitchFamily="34" charset="0"/>
              </a:rPr>
              <a:t>   • cuenta_full: '4100-001'</a:t>
            </a:r>
          </a:p>
          <a:p>
            <a:r>
              <a:rPr lang="es-ES" sz="1400">
                <a:latin typeface="Calibri" panose="020F0502020204030204" pitchFamily="34" charset="0"/>
              </a:rPr>
              <a:t>   • descripcion: 'Membership Renewals'</a:t>
            </a:r>
          </a:p>
          <a:p>
            <a:r>
              <a:rPr lang="es-ES" sz="1400">
                <a:latin typeface="Calibri" panose="020F0502020204030204" pitchFamily="34" charset="0"/>
              </a:rPr>
              <a:t>   • seccion: 'Income (CDMX)'</a:t>
            </a:r>
          </a:p>
          <a:p>
            <a:r>
              <a:rPr lang="es-ES" sz="1400">
                <a:latin typeface="Calibri" panose="020F0502020204030204" pitchFamily="34" charset="0"/>
              </a:rPr>
              <a:t>   • tipo_cuenta: 'Income' | 'Expense' | 'Asset' | 'Liability'</a:t>
            </a:r>
          </a:p>
          <a:p>
            <a:r>
              <a:rPr lang="es-ES" sz="1400">
                <a:latin typeface="Calibri" panose="020F0502020204030204" pitchFamily="34" charset="0"/>
              </a:rPr>
              <a:t>   • orden: número para ordenamiento</a:t>
            </a:r>
          </a:p>
          <a:p>
            <a:r>
              <a:rPr lang="es-ES" sz="1400">
                <a:latin typeface="Calibri" panose="020F0502020204030204" pitchFamily="34" charset="0"/>
              </a:rPr>
              <a:t>   • anio: 2025</a:t>
            </a:r>
          </a:p>
          <a:p>
            <a:r>
              <a:rPr lang="es-ES" sz="1400">
                <a:latin typeface="Calibri" panose="020F0502020204030204" pitchFamily="34" charset="0"/>
              </a:rPr>
              <a:t>   • empresa_id: 'empresa1'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2. LAYOUT_OPERACIONES</a:t>
            </a:r>
          </a:p>
          <a:p>
            <a:r>
              <a:rPr lang="es-ES" sz="1400">
                <a:latin typeface="Calibri" panose="020F0502020204030204" pitchFamily="34" charset="0"/>
              </a:rPr>
              <a:t>   Fórmulas de cálculo:</a:t>
            </a:r>
          </a:p>
          <a:p>
            <a:r>
              <a:rPr lang="es-ES" sz="1400">
                <a:latin typeface="Calibri" panose="020F0502020204030204" pitchFamily="34" charset="0"/>
              </a:rPr>
              <a:t>   • Clase: nombre de la operación</a:t>
            </a:r>
          </a:p>
          <a:p>
            <a:r>
              <a:rPr lang="es-ES" sz="1400">
                <a:latin typeface="Calibri" panose="020F0502020204030204" pitchFamily="34" charset="0"/>
              </a:rPr>
              <a:t>   • SECCION: sección padre</a:t>
            </a:r>
          </a:p>
          <a:p>
            <a:r>
              <a:rPr lang="es-ES" sz="1400">
                <a:latin typeface="Calibri" panose="020F0502020204030204" pitchFamily="34" charset="0"/>
              </a:rPr>
              <a:t>   • formula_terms: array de términos</a:t>
            </a:r>
          </a:p>
          <a:p>
            <a:r>
              <a:rPr lang="es-ES" sz="1400">
                <a:latin typeface="Calibri" panose="020F0502020204030204" pitchFamily="34" charset="0"/>
              </a:rPr>
              <a:t>   • formula_json: serialización de fórmula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3. LAYOUT_SECCIONES</a:t>
            </a:r>
          </a:p>
          <a:p>
            <a:r>
              <a:rPr lang="es-ES" sz="1400">
                <a:latin typeface="Calibri" panose="020F0502020204030204" pitchFamily="34" charset="0"/>
              </a:rPr>
              <a:t>   Agrupaciones visuales:</a:t>
            </a:r>
          </a:p>
          <a:p>
            <a:r>
              <a:rPr lang="es-ES" sz="1400">
                <a:latin typeface="Calibri" panose="020F0502020204030204" pitchFamily="34" charset="0"/>
              </a:rPr>
              <a:t>   • nombre: 'Income (CDMX)'</a:t>
            </a:r>
          </a:p>
          <a:p>
            <a:r>
              <a:rPr lang="es-ES" sz="1400">
                <a:latin typeface="Calibri" panose="020F0502020204030204" pitchFamily="34" charset="0"/>
              </a:rPr>
              <a:t>   • tipo: 'Income' | 'Expense'</a:t>
            </a:r>
          </a:p>
          <a:p>
            <a:r>
              <a:rPr lang="es-ES" sz="1400">
                <a:latin typeface="Calibri" panose="020F0502020204030204" pitchFamily="34" charset="0"/>
              </a:rPr>
              <a:t>   • orden: número</a:t>
            </a:r>
          </a:p>
          <a:p>
            <a:r>
              <a:rPr lang="es-ES" sz="1400">
                <a:latin typeface="Calibri" panose="020F0502020204030204" pitchFamily="34" charset="0"/>
              </a:rPr>
              <a:t>   • empresa_id, anio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FLUJO DE TRABAJO: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1. Importar Layout desde Excel/JSON</a:t>
            </a:r>
          </a:p>
          <a:p>
            <a:r>
              <a:rPr lang="es-ES" sz="1400">
                <a:latin typeface="Calibri" panose="020F0502020204030204" pitchFamily="34" charset="0"/>
              </a:rPr>
              <a:t>   POST /api/layouts/importar</a:t>
            </a:r>
          </a:p>
          <a:p>
            <a:r>
              <a:rPr lang="es-ES" sz="1400">
                <a:latin typeface="Calibri" panose="020F0502020204030204" pitchFamily="34" charset="0"/>
              </a:rPr>
              <a:t>   {</a:t>
            </a:r>
          </a:p>
          <a:p>
            <a:r>
              <a:rPr lang="es-ES" sz="1400">
                <a:latin typeface="Calibri" panose="020F0502020204030204" pitchFamily="34" charset="0"/>
              </a:rPr>
              <a:t>     anio: 2025,</a:t>
            </a:r>
          </a:p>
          <a:p>
            <a:r>
              <a:rPr lang="es-ES" sz="1400">
                <a:latin typeface="Calibri" panose="020F0502020204030204" pitchFamily="34" charset="0"/>
              </a:rPr>
              <a:t>     empresa_id: 'empresa1',</a:t>
            </a:r>
          </a:p>
          <a:p>
            <a:r>
              <a:rPr lang="es-ES" sz="1400">
                <a:latin typeface="Calibri" panose="020F0502020204030204" pitchFamily="34" charset="0"/>
              </a:rPr>
              <a:t>     cuentas: [...],</a:t>
            </a:r>
          </a:p>
          <a:p>
            <a:r>
              <a:rPr lang="es-ES" sz="1400">
                <a:latin typeface="Calibri" panose="020F0502020204030204" pitchFamily="34" charset="0"/>
              </a:rPr>
              <a:t>     operaciones: [...]</a:t>
            </a:r>
          </a:p>
          <a:p>
            <a:r>
              <a:rPr lang="es-ES" sz="1400">
                <a:latin typeface="Calibri" panose="020F0502020204030204" pitchFamily="34" charset="0"/>
              </a:rPr>
              <a:t>   }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2. Cargar Layout en Módulo</a:t>
            </a:r>
          </a:p>
          <a:p>
            <a:r>
              <a:rPr lang="es-ES" sz="1400">
                <a:latin typeface="Calibri" panose="020F0502020204030204" pitchFamily="34" charset="0"/>
              </a:rPr>
              <a:t>   GET /api/layouts/:anio/:empresa</a:t>
            </a:r>
          </a:p>
          <a:p>
            <a:r>
              <a:rPr lang="es-ES" sz="1400">
                <a:latin typeface="Calibri" panose="020F0502020204030204" pitchFamily="34" charset="0"/>
              </a:rPr>
              <a:t>   → Retorna estructura completa con jerarquía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3. Guardar Modificaciones</a:t>
            </a:r>
          </a:p>
          <a:p>
            <a:r>
              <a:rPr lang="es-ES" sz="1400">
                <a:latin typeface="Calibri" panose="020F0502020204030204" pitchFamily="34" charset="0"/>
              </a:rPr>
              <a:t>   PUT /api/layouts/:anio/:empresa/operaciones</a:t>
            </a:r>
          </a:p>
          <a:p>
            <a:r>
              <a:rPr lang="es-ES" sz="1400">
                <a:latin typeface="Calibri" panose="020F0502020204030204" pitchFamily="34" charset="0"/>
              </a:rPr>
              <a:t>   → Actualiza operaciones modificadas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4. Validar Layout</a:t>
            </a:r>
          </a:p>
          <a:p>
            <a:r>
              <a:rPr lang="es-ES" sz="1400">
                <a:latin typeface="Calibri" panose="020F0502020204030204" pitchFamily="34" charset="0"/>
              </a:rPr>
              <a:t>   POST /api/layouts/validar</a:t>
            </a:r>
          </a:p>
          <a:p>
            <a:r>
              <a:rPr lang="es-ES" sz="1400">
                <a:latin typeface="Calibri" panose="020F0502020204030204" pitchFamily="34" charset="0"/>
              </a:rPr>
              <a:t>   → Verifica integridad, dependencias circulares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GESTOR DE PLANTILLAS:</a:t>
            </a:r>
          </a:p>
          <a:p>
            <a:r>
              <a:rPr lang="es-ES" sz="1400">
                <a:latin typeface="Calibri" panose="020F0502020204030204" pitchFamily="34" charset="0"/>
              </a:rPr>
              <a:t>  • Vista: plantillas.html</a:t>
            </a:r>
          </a:p>
          <a:p>
            <a:r>
              <a:rPr lang="es-ES" sz="1400">
                <a:latin typeface="Calibri" panose="020F0502020204030204" pitchFamily="34" charset="0"/>
              </a:rPr>
              <a:t>  • CRUD completo de layouts</a:t>
            </a:r>
          </a:p>
          <a:p>
            <a:r>
              <a:rPr lang="es-ES" sz="1400">
                <a:latin typeface="Calibri" panose="020F0502020204030204" pitchFamily="34" charset="0"/>
              </a:rPr>
              <a:t>  • Importación masiva desde Excel</a:t>
            </a:r>
          </a:p>
          <a:p>
            <a:r>
              <a:rPr lang="es-ES" sz="1400">
                <a:latin typeface="Calibri" panose="020F0502020204030204" pitchFamily="34" charset="0"/>
              </a:rPr>
              <a:t>  • Exportación a JSON</a:t>
            </a:r>
          </a:p>
          <a:p>
            <a:r>
              <a:rPr lang="es-ES" sz="1400">
                <a:latin typeface="Calibri" panose="020F0502020204030204" pitchFamily="34" charset="0"/>
              </a:rPr>
              <a:t>  • Clonación de layouts entre años</a:t>
            </a:r>
          </a:p>
          <a:p>
            <a:r>
              <a:rPr lang="es-ES" sz="1400">
                <a:latin typeface="Calibri" panose="020F0502020204030204" pitchFamily="34" charset="0"/>
              </a:rPr>
              <a:t>  • Bitácora de cambios (layout_bitacora)</a:t>
            </a:r>
            <a:endParaRPr lang="es-MX" sz="14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736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6F768-CDFB-2E89-8A01-418D0507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Interfaces de Usuario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D7355A-1873-C49D-A612-B9E378CFD220}"/>
              </a:ext>
            </a:extLst>
          </p:cNvPr>
          <p:cNvSpPr txBox="1"/>
          <p:nvPr/>
        </p:nvSpPr>
        <p:spPr>
          <a:xfrm>
            <a:off x="635000" y="1524000"/>
            <a:ext cx="11684000" cy="139217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400">
                <a:latin typeface="Calibri" panose="020F0502020204030204" pitchFamily="34" charset="0"/>
              </a:rPr>
              <a:t>Vistas HTML Principales (./vistas/)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🔐 LOGIN (login.html)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Autenticación de usuarios</a:t>
            </a:r>
          </a:p>
          <a:p>
            <a:r>
              <a:rPr lang="es-ES" sz="1400">
                <a:latin typeface="Calibri" panose="020F0502020204030204" pitchFamily="34" charset="0"/>
              </a:rPr>
              <a:t>   • Validación en tiempo real</a:t>
            </a:r>
          </a:p>
          <a:p>
            <a:r>
              <a:rPr lang="es-ES" sz="1400">
                <a:latin typeface="Calibri" panose="020F0502020204030204" pitchFamily="34" charset="0"/>
              </a:rPr>
              <a:t>   • Recuperación de contraseña</a:t>
            </a:r>
          </a:p>
          <a:p>
            <a:r>
              <a:rPr lang="es-ES" sz="1400">
                <a:latin typeface="Calibri" panose="020F0502020204030204" pitchFamily="34" charset="0"/>
              </a:rPr>
              <a:t>   • Rate limiting visual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👥 USUARIOS (usuarios.html)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CRUD de usuarios</a:t>
            </a:r>
          </a:p>
          <a:p>
            <a:r>
              <a:rPr lang="es-ES" sz="1400">
                <a:latin typeface="Calibri" panose="020F0502020204030204" pitchFamily="34" charset="0"/>
              </a:rPr>
              <a:t>   • Asignación de permisos por empresa/módulo</a:t>
            </a:r>
          </a:p>
          <a:p>
            <a:r>
              <a:rPr lang="es-ES" sz="1400">
                <a:latin typeface="Calibri" panose="020F0502020204030204" pitchFamily="34" charset="0"/>
              </a:rPr>
              <a:t>   • Tabla con búsqueda y filtros</a:t>
            </a:r>
          </a:p>
          <a:p>
            <a:r>
              <a:rPr lang="es-ES" sz="1400">
                <a:latin typeface="Calibri" panose="020F0502020204030204" pitchFamily="34" charset="0"/>
              </a:rPr>
              <a:t>   • Modal de edición inline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🏢 EMPRESAS (empresas.html)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Selector de empresa activa</a:t>
            </a:r>
          </a:p>
          <a:p>
            <a:r>
              <a:rPr lang="es-ES" sz="1400">
                <a:latin typeface="Calibri" panose="020F0502020204030204" pitchFamily="34" charset="0"/>
              </a:rPr>
              <a:t>   • Información de empresas disponibles</a:t>
            </a:r>
          </a:p>
          <a:p>
            <a:r>
              <a:rPr lang="es-ES" sz="1400">
                <a:latin typeface="Calibri" panose="020F0502020204030204" pitchFamily="34" charset="0"/>
              </a:rPr>
              <a:t>   • Status de conexión Firebird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📊 PRESUPUESTOS (Presupuestos.html)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 principal de módulos financieros</a:t>
            </a:r>
          </a:p>
          <a:p>
            <a:r>
              <a:rPr lang="es-ES" sz="1400">
                <a:latin typeface="Calibri" panose="020F0502020204030204" pitchFamily="34" charset="0"/>
              </a:rPr>
              <a:t>   • Carga/guardado de presupuestos</a:t>
            </a:r>
          </a:p>
          <a:p>
            <a:r>
              <a:rPr lang="es-ES" sz="1400">
                <a:latin typeface="Calibri" panose="020F0502020204030204" pitchFamily="34" charset="0"/>
              </a:rPr>
              <a:t>   • Estados: sin-cargar, cargado, revisado, aprobado</a:t>
            </a:r>
          </a:p>
          <a:p>
            <a:r>
              <a:rPr lang="es-ES" sz="1400">
                <a:latin typeface="Calibri" panose="020F0502020204030204" pitchFamily="34" charset="0"/>
              </a:rPr>
              <a:t>   • Historial de cambios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📈 RESUMEN (RESUMEN.html)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Dashboard consolidado</a:t>
            </a:r>
          </a:p>
          <a:p>
            <a:r>
              <a:rPr lang="es-ES" sz="1400">
                <a:latin typeface="Calibri" panose="020F0502020204030204" pitchFamily="34" charset="0"/>
              </a:rPr>
              <a:t>   • Visualización de operaciones calculadas</a:t>
            </a:r>
          </a:p>
          <a:p>
            <a:r>
              <a:rPr lang="es-ES" sz="1400">
                <a:latin typeface="Calibri" panose="020F0502020204030204" pitchFamily="34" charset="0"/>
              </a:rPr>
              <a:t>   • Tabla dinámica con sumas automáticas</a:t>
            </a:r>
          </a:p>
          <a:p>
            <a:r>
              <a:rPr lang="es-ES" sz="1400">
                <a:latin typeface="Calibri" panose="020F0502020204030204" pitchFamily="34" charset="0"/>
              </a:rPr>
              <a:t>   • Exportación a Excel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📉 GRÁFICAS (Graficas-Mejoradas.html)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Gráficas interactivas con Chart.js</a:t>
            </a:r>
          </a:p>
          <a:p>
            <a:r>
              <a:rPr lang="es-ES" sz="1400">
                <a:latin typeface="Calibri" panose="020F0502020204030204" pitchFamily="34" charset="0"/>
              </a:rPr>
              <a:t>   • Tipos: línea, barra, pie, doughnut, radar</a:t>
            </a:r>
          </a:p>
          <a:p>
            <a:r>
              <a:rPr lang="es-ES" sz="1400">
                <a:latin typeface="Calibri" panose="020F0502020204030204" pitchFamily="34" charset="0"/>
              </a:rPr>
              <a:t>   • Configuración guardada en BD</a:t>
            </a:r>
          </a:p>
          <a:p>
            <a:r>
              <a:rPr lang="es-ES" sz="1400">
                <a:latin typeface="Calibri" panose="020F0502020204030204" pitchFamily="34" charset="0"/>
              </a:rPr>
              <a:t>   • Exportación a imagen/PDF</a:t>
            </a:r>
          </a:p>
          <a:p>
            <a:r>
              <a:rPr lang="es-ES" sz="1400">
                <a:latin typeface="Calibri" panose="020F0502020204030204" pitchFamily="34" charset="0"/>
              </a:rPr>
              <a:t>   • Asistente de creación guiada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🔧 GESTOR DE PLANTILLAS (plantillas.html)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Administración de layouts</a:t>
            </a:r>
          </a:p>
          <a:p>
            <a:r>
              <a:rPr lang="es-ES" sz="1400">
                <a:latin typeface="Calibri" panose="020F0502020204030204" pitchFamily="34" charset="0"/>
              </a:rPr>
              <a:t>   • Importación desde Excel</a:t>
            </a:r>
          </a:p>
          <a:p>
            <a:r>
              <a:rPr lang="es-ES" sz="1400">
                <a:latin typeface="Calibri" panose="020F0502020204030204" pitchFamily="34" charset="0"/>
              </a:rPr>
              <a:t>   • Edición visual de operaciones</a:t>
            </a:r>
          </a:p>
          <a:p>
            <a:r>
              <a:rPr lang="es-ES" sz="1400">
                <a:latin typeface="Calibri" panose="020F0502020204030204" pitchFamily="34" charset="0"/>
              </a:rPr>
              <a:t>   • Validación de fórmulas</a:t>
            </a:r>
          </a:p>
          <a:p>
            <a:r>
              <a:rPr lang="es-ES" sz="1400">
                <a:latin typeface="Calibri" panose="020F0502020204030204" pitchFamily="34" charset="0"/>
              </a:rPr>
              <a:t>   • Diagnóstico de operaciones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⚙️ CONFIGURACIÓN (firebird-config.html, graficas-config.html)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Configuración de conexiones Firebird</a:t>
            </a:r>
          </a:p>
          <a:p>
            <a:r>
              <a:rPr lang="es-ES" sz="1400">
                <a:latin typeface="Calibri" panose="020F0502020204030204" pitchFamily="34" charset="0"/>
              </a:rPr>
              <a:t>   • Test de conectividad</a:t>
            </a:r>
          </a:p>
          <a:p>
            <a:r>
              <a:rPr lang="es-ES" sz="1400">
                <a:latin typeface="Calibri" panose="020F0502020204030204" pitchFamily="34" charset="0"/>
              </a:rPr>
              <a:t>   • Administración de gráficas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👤 PERFIL (perfil.html)</a:t>
            </a:r>
          </a:p>
          <a:p>
            <a:r>
              <a:rPr lang="es-ES" sz="1400">
                <a:latin typeface="Calibri" panose="020F0502020204030204" pitchFamily="34" charset="0"/>
              </a:rPr>
              <a:t>   • Información del usuario</a:t>
            </a:r>
          </a:p>
          <a:p>
            <a:r>
              <a:rPr lang="es-ES" sz="1400">
                <a:latin typeface="Calibri" panose="020F0502020204030204" pitchFamily="34" charset="0"/>
              </a:rPr>
              <a:t>   • Cambio de contraseña</a:t>
            </a:r>
          </a:p>
          <a:p>
            <a:r>
              <a:rPr lang="es-ES" sz="1400">
                <a:latin typeface="Calibri" panose="020F0502020204030204" pitchFamily="34" charset="0"/>
              </a:rPr>
              <a:t>   • Preferencias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CARACTERÍSTICAS COMUNES:</a:t>
            </a:r>
          </a:p>
          <a:p>
            <a:r>
              <a:rPr lang="es-ES" sz="1400">
                <a:latin typeface="Calibri" panose="020F0502020204030204" pitchFamily="34" charset="0"/>
              </a:rPr>
              <a:t>  ✓ Bootstrap 5 (diseño responsivo)</a:t>
            </a:r>
          </a:p>
          <a:p>
            <a:r>
              <a:rPr lang="es-ES" sz="1400">
                <a:latin typeface="Calibri" panose="020F0502020204030204" pitchFamily="34" charset="0"/>
              </a:rPr>
              <a:t>  ✓ Font Awesome (iconos)</a:t>
            </a:r>
          </a:p>
          <a:p>
            <a:r>
              <a:rPr lang="es-ES" sz="1400">
                <a:latin typeface="Calibri" panose="020F0502020204030204" pitchFamily="34" charset="0"/>
              </a:rPr>
              <a:t>  ✓ DataTables (tablas interactivas)</a:t>
            </a:r>
          </a:p>
          <a:p>
            <a:r>
              <a:rPr lang="es-ES" sz="1400">
                <a:latin typeface="Calibri" panose="020F0502020204030204" pitchFamily="34" charset="0"/>
              </a:rPr>
              <a:t>  ✓ Chart.js (visualizaciones)</a:t>
            </a:r>
          </a:p>
          <a:p>
            <a:r>
              <a:rPr lang="es-ES" sz="1400">
                <a:latin typeface="Calibri" panose="020F0502020204030204" pitchFamily="34" charset="0"/>
              </a:rPr>
              <a:t>  ✓ Sweet Alert 2 (notificaciones)</a:t>
            </a:r>
          </a:p>
          <a:p>
            <a:r>
              <a:rPr lang="es-ES" sz="1400">
                <a:latin typeface="Calibri" panose="020F0502020204030204" pitchFamily="34" charset="0"/>
              </a:rPr>
              <a:t>  ✓ Guardado automático (borradores)</a:t>
            </a:r>
          </a:p>
          <a:p>
            <a:r>
              <a:rPr lang="es-ES" sz="1400">
                <a:latin typeface="Calibri" panose="020F0502020204030204" pitchFamily="34" charset="0"/>
              </a:rPr>
              <a:t>  ✓ Validación en tiempo real</a:t>
            </a:r>
          </a:p>
          <a:p>
            <a:r>
              <a:rPr lang="es-ES" sz="1400">
                <a:latin typeface="Calibri" panose="020F0502020204030204" pitchFamily="34" charset="0"/>
              </a:rPr>
              <a:t>  ✓ Indicadores de carga</a:t>
            </a:r>
            <a:endParaRPr lang="es-MX" sz="14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485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1BAE4-0DB9-5FCF-54DA-CDBDB3E6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Flujos de Autorización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A8884B-FF38-3B49-ACA1-7A8C11F19AE7}"/>
              </a:ext>
            </a:extLst>
          </p:cNvPr>
          <p:cNvSpPr txBox="1"/>
          <p:nvPr/>
        </p:nvSpPr>
        <p:spPr>
          <a:xfrm>
            <a:off x="635000" y="1524000"/>
            <a:ext cx="11684000" cy="134960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300">
                <a:latin typeface="Calibri" panose="020F0502020204030204" pitchFamily="34" charset="0"/>
              </a:rPr>
              <a:t>Workflow de Aprobación de Presupuestos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ESTADOS DE UN PRESUPUESTO: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┌──────────────┐</a:t>
            </a:r>
          </a:p>
          <a:p>
            <a:r>
              <a:rPr lang="es-ES" sz="1300">
                <a:latin typeface="Calibri" panose="020F0502020204030204" pitchFamily="34" charset="0"/>
              </a:rPr>
              <a:t>│ SIN CARGAR   │ Estado inicial, sin datos</a:t>
            </a:r>
          </a:p>
          <a:p>
            <a:r>
              <a:rPr lang="es-ES" sz="1300">
                <a:latin typeface="Calibri" panose="020F0502020204030204" pitchFamily="34" charset="0"/>
              </a:rPr>
              <a:t>└──────┬───────┘</a:t>
            </a:r>
          </a:p>
          <a:p>
            <a:r>
              <a:rPr lang="es-ES" sz="1300">
                <a:latin typeface="Calibri" panose="020F0502020204030204" pitchFamily="34" charset="0"/>
              </a:rPr>
              <a:t>       │ Usuario con permiso "Cargar y guardar"</a:t>
            </a:r>
          </a:p>
          <a:p>
            <a:r>
              <a:rPr lang="es-ES" sz="1300">
                <a:latin typeface="Calibri" panose="020F0502020204030204" pitchFamily="34" charset="0"/>
              </a:rPr>
              <a:t>       │ ingresa datos</a:t>
            </a:r>
          </a:p>
          <a:p>
            <a:r>
              <a:rPr lang="es-ES" sz="1300">
                <a:latin typeface="Calibri" panose="020F0502020204030204" pitchFamily="34" charset="0"/>
              </a:rPr>
              <a:t>       ▼</a:t>
            </a:r>
          </a:p>
          <a:p>
            <a:r>
              <a:rPr lang="es-ES" sz="1300">
                <a:latin typeface="Calibri" panose="020F0502020204030204" pitchFamily="34" charset="0"/>
              </a:rPr>
              <a:t>┌──────────────┐</a:t>
            </a:r>
          </a:p>
          <a:p>
            <a:r>
              <a:rPr lang="es-ES" sz="1300">
                <a:latin typeface="Calibri" panose="020F0502020204030204" pitchFamily="34" charset="0"/>
              </a:rPr>
              <a:t>│   CARGADO    │ Datos ingresados, pendiente revisión</a:t>
            </a:r>
          </a:p>
          <a:p>
            <a:r>
              <a:rPr lang="es-ES" sz="1300">
                <a:latin typeface="Calibri" panose="020F0502020204030204" pitchFamily="34" charset="0"/>
              </a:rPr>
              <a:t>└──────┬───────┘</a:t>
            </a:r>
          </a:p>
          <a:p>
            <a:r>
              <a:rPr lang="es-ES" sz="1300">
                <a:latin typeface="Calibri" panose="020F0502020204030204" pitchFamily="34" charset="0"/>
              </a:rPr>
              <a:t>       │ Usuario con permiso "Revisar"</a:t>
            </a:r>
          </a:p>
          <a:p>
            <a:r>
              <a:rPr lang="es-ES" sz="1300">
                <a:latin typeface="Calibri" panose="020F0502020204030204" pitchFamily="34" charset="0"/>
              </a:rPr>
              <a:t>       │ valida información</a:t>
            </a:r>
          </a:p>
          <a:p>
            <a:r>
              <a:rPr lang="es-ES" sz="1300">
                <a:latin typeface="Calibri" panose="020F0502020204030204" pitchFamily="34" charset="0"/>
              </a:rPr>
              <a:t>       ▼</a:t>
            </a:r>
          </a:p>
          <a:p>
            <a:r>
              <a:rPr lang="es-ES" sz="1300">
                <a:latin typeface="Calibri" panose="020F0502020204030204" pitchFamily="34" charset="0"/>
              </a:rPr>
              <a:t>┌──────────────┐</a:t>
            </a:r>
          </a:p>
          <a:p>
            <a:r>
              <a:rPr lang="es-ES" sz="1300">
                <a:latin typeface="Calibri" panose="020F0502020204030204" pitchFamily="34" charset="0"/>
              </a:rPr>
              <a:t>│   REVISADO   │ Información validada, pendiente aprobación</a:t>
            </a:r>
          </a:p>
          <a:p>
            <a:r>
              <a:rPr lang="es-ES" sz="1300">
                <a:latin typeface="Calibri" panose="020F0502020204030204" pitchFamily="34" charset="0"/>
              </a:rPr>
              <a:t>└──────┬───────┘</a:t>
            </a:r>
          </a:p>
          <a:p>
            <a:r>
              <a:rPr lang="es-ES" sz="1300">
                <a:latin typeface="Calibri" panose="020F0502020204030204" pitchFamily="34" charset="0"/>
              </a:rPr>
              <a:t>       │ Usuario con permiso "Aprobar"</a:t>
            </a:r>
          </a:p>
          <a:p>
            <a:r>
              <a:rPr lang="es-ES" sz="1300">
                <a:latin typeface="Calibri" panose="020F0502020204030204" pitchFamily="34" charset="0"/>
              </a:rPr>
              <a:t>       │ da visto bueno final</a:t>
            </a:r>
          </a:p>
          <a:p>
            <a:r>
              <a:rPr lang="es-ES" sz="1300">
                <a:latin typeface="Calibri" panose="020F0502020204030204" pitchFamily="34" charset="0"/>
              </a:rPr>
              <a:t>       ▼</a:t>
            </a:r>
          </a:p>
          <a:p>
            <a:r>
              <a:rPr lang="es-ES" sz="1300">
                <a:latin typeface="Calibri" panose="020F0502020204030204" pitchFamily="34" charset="0"/>
              </a:rPr>
              <a:t>┌──────────────┐</a:t>
            </a:r>
          </a:p>
          <a:p>
            <a:r>
              <a:rPr lang="es-ES" sz="1300">
                <a:latin typeface="Calibri" panose="020F0502020204030204" pitchFamily="34" charset="0"/>
              </a:rPr>
              <a:t>│   APROBADO   │ Presupuesto cerrado y oficial</a:t>
            </a:r>
          </a:p>
          <a:p>
            <a:r>
              <a:rPr lang="es-ES" sz="1300">
                <a:latin typeface="Calibri" panose="020F0502020204030204" pitchFamily="34" charset="0"/>
              </a:rPr>
              <a:t>└──────────────┘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EJEMPLO DE FLUJO REAL: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1. María (Analista Financiero)</a:t>
            </a:r>
          </a:p>
          <a:p>
            <a:r>
              <a:rPr lang="es-ES" sz="1300">
                <a:latin typeface="Calibri" panose="020F0502020204030204" pitchFamily="34" charset="0"/>
              </a:rPr>
              <a:t>   Permisos: Lectura + Cargar y guardar</a:t>
            </a:r>
          </a:p>
          <a:p>
            <a:r>
              <a:rPr lang="es-ES" sz="1300">
                <a:latin typeface="Calibri" panose="020F0502020204030204" pitchFamily="34" charset="0"/>
              </a:rPr>
              <a:t>   • Ingresa presupuesto de RH 2025</a:t>
            </a:r>
          </a:p>
          <a:p>
            <a:r>
              <a:rPr lang="es-ES" sz="1300">
                <a:latin typeface="Calibri" panose="020F0502020204030204" pitchFamily="34" charset="0"/>
              </a:rPr>
              <a:t>   • Guarda cambios</a:t>
            </a:r>
          </a:p>
          <a:p>
            <a:r>
              <a:rPr lang="es-ES" sz="1300">
                <a:latin typeface="Calibri" panose="020F0502020204030204" pitchFamily="34" charset="0"/>
              </a:rPr>
              <a:t>   • Estado: SIN CARGAR → CARGADO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2. Juan (Supervisor)</a:t>
            </a:r>
          </a:p>
          <a:p>
            <a:r>
              <a:rPr lang="es-ES" sz="1300">
                <a:latin typeface="Calibri" panose="020F0502020204030204" pitchFamily="34" charset="0"/>
              </a:rPr>
              <a:t>   Permisos: Lectura + Revisar</a:t>
            </a:r>
          </a:p>
          <a:p>
            <a:r>
              <a:rPr lang="es-ES" sz="1300">
                <a:latin typeface="Calibri" panose="020F0502020204030204" pitchFamily="34" charset="0"/>
              </a:rPr>
              <a:t>   • Revisa datos ingresados por María</a:t>
            </a:r>
          </a:p>
          <a:p>
            <a:r>
              <a:rPr lang="es-ES" sz="1300">
                <a:latin typeface="Calibri" panose="020F0502020204030204" pitchFamily="34" charset="0"/>
              </a:rPr>
              <a:t>   • Valida consistencia</a:t>
            </a:r>
          </a:p>
          <a:p>
            <a:r>
              <a:rPr lang="es-ES" sz="1300">
                <a:latin typeface="Calibri" panose="020F0502020204030204" pitchFamily="34" charset="0"/>
              </a:rPr>
              <a:t>   • Marca como "Revisado"</a:t>
            </a:r>
          </a:p>
          <a:p>
            <a:r>
              <a:rPr lang="es-ES" sz="1300">
                <a:latin typeface="Calibri" panose="020F0502020204030204" pitchFamily="34" charset="0"/>
              </a:rPr>
              <a:t>   • Estado: CARGADO → REVISADO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3. Directora (Karla)</a:t>
            </a:r>
          </a:p>
          <a:p>
            <a:r>
              <a:rPr lang="es-ES" sz="1300">
                <a:latin typeface="Calibri" panose="020F0502020204030204" pitchFamily="34" charset="0"/>
              </a:rPr>
              <a:t>   Permisos: Lectura + Aprobar</a:t>
            </a:r>
          </a:p>
          <a:p>
            <a:r>
              <a:rPr lang="es-ES" sz="1300">
                <a:latin typeface="Calibri" panose="020F0502020204030204" pitchFamily="34" charset="0"/>
              </a:rPr>
              <a:t>   • Revisa presupuesto revisado</a:t>
            </a:r>
          </a:p>
          <a:p>
            <a:r>
              <a:rPr lang="es-ES" sz="1300">
                <a:latin typeface="Calibri" panose="020F0502020204030204" pitchFamily="34" charset="0"/>
              </a:rPr>
              <a:t>   • Da aprobación final</a:t>
            </a:r>
          </a:p>
          <a:p>
            <a:r>
              <a:rPr lang="es-ES" sz="1300">
                <a:latin typeface="Calibri" panose="020F0502020204030204" pitchFamily="34" charset="0"/>
              </a:rPr>
              <a:t>   • Estado: REVISADO → APROBADO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NOTIFICACIONES AUTOMÁTICAS:</a:t>
            </a:r>
          </a:p>
          <a:p>
            <a:r>
              <a:rPr lang="es-ES" sz="1300">
                <a:latin typeface="Calibri" panose="020F0502020204030204" pitchFamily="34" charset="0"/>
              </a:rPr>
              <a:t>  • Cambio de estado → notificación a usuarios con permisos</a:t>
            </a:r>
          </a:p>
          <a:p>
            <a:r>
              <a:rPr lang="es-ES" sz="1300">
                <a:latin typeface="Calibri" panose="020F0502020204030204" pitchFamily="34" charset="0"/>
              </a:rPr>
              <a:t>  • Comentarios en celdas → notificación al responsable</a:t>
            </a:r>
          </a:p>
          <a:p>
            <a:r>
              <a:rPr lang="es-ES" sz="1300">
                <a:latin typeface="Calibri" panose="020F0502020204030204" pitchFamily="34" charset="0"/>
              </a:rPr>
              <a:t>  • Rechazos → notificación al creador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AUDITORÍA:</a:t>
            </a:r>
          </a:p>
          <a:p>
            <a:r>
              <a:rPr lang="es-ES" sz="1300">
                <a:latin typeface="Calibri" panose="020F0502020204030204" pitchFamily="34" charset="0"/>
              </a:rPr>
              <a:t>  • presupuestos_estado_historial</a:t>
            </a:r>
          </a:p>
          <a:p>
            <a:r>
              <a:rPr lang="es-ES" sz="1300">
                <a:latin typeface="Calibri" panose="020F0502020204030204" pitchFamily="34" charset="0"/>
              </a:rPr>
              <a:t>  • Registro de todos los cambios de estado</a:t>
            </a:r>
          </a:p>
          <a:p>
            <a:r>
              <a:rPr lang="es-ES" sz="1300">
                <a:latin typeface="Calibri" panose="020F0502020204030204" pitchFamily="34" charset="0"/>
              </a:rPr>
              <a:t>  • Usuario que realizó el cambio</a:t>
            </a:r>
          </a:p>
          <a:p>
            <a:r>
              <a:rPr lang="es-ES" sz="1300">
                <a:latin typeface="Calibri" panose="020F0502020204030204" pitchFamily="34" charset="0"/>
              </a:rPr>
              <a:t>  • Timestamp preciso</a:t>
            </a:r>
          </a:p>
          <a:p>
            <a:endParaRPr lang="es-ES" sz="1300">
              <a:latin typeface="Calibri" panose="020F0502020204030204" pitchFamily="34" charset="0"/>
            </a:endParaRPr>
          </a:p>
          <a:p>
            <a:r>
              <a:rPr lang="es-ES" sz="1300">
                <a:latin typeface="Calibri" panose="020F0502020204030204" pitchFamily="34" charset="0"/>
              </a:rPr>
              <a:t>API ENDPOINTS:</a:t>
            </a:r>
          </a:p>
          <a:p>
            <a:r>
              <a:rPr lang="es-ES" sz="1300">
                <a:latin typeface="Calibri" panose="020F0502020204030204" pitchFamily="34" charset="0"/>
              </a:rPr>
              <a:t>  POST /api/presupuestos/estado</a:t>
            </a:r>
          </a:p>
          <a:p>
            <a:r>
              <a:rPr lang="es-ES" sz="1300">
                <a:latin typeface="Calibri" panose="020F0502020204030204" pitchFamily="34" charset="0"/>
              </a:rPr>
              <a:t>    { empresaId, modulo, anio, capitulo, estado }</a:t>
            </a:r>
          </a:p>
          <a:p>
            <a:r>
              <a:rPr lang="es-ES" sz="1300">
                <a:latin typeface="Calibri" panose="020F0502020204030204" pitchFamily="34" charset="0"/>
              </a:rPr>
              <a:t>  </a:t>
            </a:r>
          </a:p>
          <a:p>
            <a:r>
              <a:rPr lang="es-ES" sz="1300">
                <a:latin typeface="Calibri" panose="020F0502020204030204" pitchFamily="34" charset="0"/>
              </a:rPr>
              <a:t>  GET /api/presupuestos/estado/:empresaId/:modulo/:anio</a:t>
            </a:r>
          </a:p>
          <a:p>
            <a:r>
              <a:rPr lang="es-ES" sz="1300">
                <a:latin typeface="Calibri" panose="020F0502020204030204" pitchFamily="34" charset="0"/>
              </a:rPr>
              <a:t>    → Estado actual del presupuesto</a:t>
            </a:r>
          </a:p>
          <a:p>
            <a:r>
              <a:rPr lang="es-ES" sz="1300">
                <a:latin typeface="Calibri" panose="020F0502020204030204" pitchFamily="34" charset="0"/>
              </a:rPr>
              <a:t>  </a:t>
            </a:r>
          </a:p>
          <a:p>
            <a:r>
              <a:rPr lang="es-ES" sz="1300">
                <a:latin typeface="Calibri" panose="020F0502020204030204" pitchFamily="34" charset="0"/>
              </a:rPr>
              <a:t>  GET /api/presupuestos/historial/:empresaId/:modulo/:anio</a:t>
            </a:r>
          </a:p>
          <a:p>
            <a:r>
              <a:rPr lang="es-ES" sz="1300">
                <a:latin typeface="Calibri" panose="020F0502020204030204" pitchFamily="34" charset="0"/>
              </a:rPr>
              <a:t>    → Auditoría completa de cambios</a:t>
            </a:r>
            <a:endParaRPr lang="es-MX" sz="13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33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9A451-7D81-8F2A-15D1-6B9D07DD6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Sistema de Backups Automático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B3CF8B5-B641-76E6-6B14-EFEC3C1DCC94}"/>
              </a:ext>
            </a:extLst>
          </p:cNvPr>
          <p:cNvSpPr txBox="1"/>
          <p:nvPr/>
        </p:nvSpPr>
        <p:spPr>
          <a:xfrm>
            <a:off x="635000" y="1524000"/>
            <a:ext cx="11684000" cy="165276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latin typeface="Calibri" panose="020F0502020204030204" pitchFamily="34" charset="0"/>
              </a:rPr>
              <a:t>Protección de Datos (src/services/backupService.js)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CARACTERÍSTICAS: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1. BACKUP AUTOMÁTICO</a:t>
            </a:r>
          </a:p>
          <a:p>
            <a:r>
              <a:rPr lang="es-MX" sz="1200">
                <a:latin typeface="Calibri" panose="020F0502020204030204" pitchFamily="34" charset="0"/>
              </a:rPr>
              <a:t>   • Intervalo configurable (por defecto: 60 minutos)</a:t>
            </a:r>
          </a:p>
          <a:p>
            <a:r>
              <a:rPr lang="es-MX" sz="1200">
                <a:latin typeface="Calibri" panose="020F0502020204030204" pitchFamily="34" charset="0"/>
              </a:rPr>
              <a:t>   • Se ejecuta en background</a:t>
            </a:r>
          </a:p>
          <a:p>
            <a:r>
              <a:rPr lang="es-MX" sz="1200">
                <a:latin typeface="Calibri" panose="020F0502020204030204" pitchFamily="34" charset="0"/>
              </a:rPr>
              <a:t>   • No interrumpe operaciones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2. RETENCIÓN</a:t>
            </a:r>
          </a:p>
          <a:p>
            <a:r>
              <a:rPr lang="es-MX" sz="1200">
                <a:latin typeface="Calibri" panose="020F0502020204030204" pitchFamily="34" charset="0"/>
              </a:rPr>
              <a:t>   • Máximo de backups configurables (por defecto: 24)</a:t>
            </a:r>
          </a:p>
          <a:p>
            <a:r>
              <a:rPr lang="es-MX" sz="1200">
                <a:latin typeface="Calibri" panose="020F0502020204030204" pitchFamily="34" charset="0"/>
              </a:rPr>
              <a:t>   • Auto-eliminación de backups antiguos</a:t>
            </a:r>
          </a:p>
          <a:p>
            <a:r>
              <a:rPr lang="es-MX" sz="1200">
                <a:latin typeface="Calibri" panose="020F0502020204030204" pitchFamily="34" charset="0"/>
              </a:rPr>
              <a:t>   • FIFO (First In, First Out)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3. FORMATO</a:t>
            </a:r>
          </a:p>
          <a:p>
            <a:r>
              <a:rPr lang="es-MX" sz="1200">
                <a:latin typeface="Calibri" panose="020F0502020204030204" pitchFamily="34" charset="0"/>
              </a:rPr>
              <a:t>   Nombre: panel.sqlite.bak_YYYYMMDD_HHMMSS</a:t>
            </a:r>
          </a:p>
          <a:p>
            <a:r>
              <a:rPr lang="es-MX" sz="1200">
                <a:latin typeface="Calibri" panose="020F0502020204030204" pitchFamily="34" charset="0"/>
              </a:rPr>
              <a:t>   Ejemplo: panel.sqlite.bak_20260209_143022</a:t>
            </a:r>
          </a:p>
          <a:p>
            <a:r>
              <a:rPr lang="es-MX" sz="1200">
                <a:latin typeface="Calibri" panose="020F0502020204030204" pitchFamily="34" charset="0"/>
              </a:rPr>
              <a:t>   </a:t>
            </a:r>
          </a:p>
          <a:p>
            <a:r>
              <a:rPr lang="es-MX" sz="1200">
                <a:latin typeface="Calibri" panose="020F0502020204030204" pitchFamily="34" charset="0"/>
              </a:rPr>
              <a:t>   Ubicación:</a:t>
            </a:r>
          </a:p>
          <a:p>
            <a:r>
              <a:rPr lang="es-MX" sz="1200">
                <a:latin typeface="Calibri" panose="020F0502020204030204" pitchFamily="34" charset="0"/>
              </a:rPr>
              <a:t>   • Por defecto: ./datos/backups/</a:t>
            </a:r>
          </a:p>
          <a:p>
            <a:r>
              <a:rPr lang="es-MX" sz="1200">
                <a:latin typeface="Calibri" panose="020F0502020204030204" pitchFamily="34" charset="0"/>
              </a:rPr>
              <a:t>   • Configurable via BACKUP_PATH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4. TRIGGERS</a:t>
            </a:r>
          </a:p>
          <a:p>
            <a:r>
              <a:rPr lang="es-MX" sz="1200">
                <a:latin typeface="Calibri" panose="020F0502020204030204" pitchFamily="34" charset="0"/>
              </a:rPr>
              <a:t>   • Inicio de aplicación</a:t>
            </a:r>
          </a:p>
          <a:p>
            <a:r>
              <a:rPr lang="es-MX" sz="1200">
                <a:latin typeface="Calibri" panose="020F0502020204030204" pitchFamily="34" charset="0"/>
              </a:rPr>
              <a:t>   • Cada intervalo configurado</a:t>
            </a:r>
          </a:p>
          <a:p>
            <a:r>
              <a:rPr lang="es-MX" sz="1200">
                <a:latin typeface="Calibri" panose="020F0502020204030204" pitchFamily="34" charset="0"/>
              </a:rPr>
              <a:t>   • Antes de operaciones críticas (opcional)</a:t>
            </a:r>
          </a:p>
          <a:p>
            <a:r>
              <a:rPr lang="es-MX" sz="1200">
                <a:latin typeface="Calibri" panose="020F0502020204030204" pitchFamily="34" charset="0"/>
              </a:rPr>
              <a:t>   • Manual vía API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CONFIGURACIÓN (.env):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BACKUP_ENABLED=true</a:t>
            </a:r>
          </a:p>
          <a:p>
            <a:r>
              <a:rPr lang="es-MX" sz="1200">
                <a:latin typeface="Calibri" panose="020F0502020204030204" pitchFamily="34" charset="0"/>
              </a:rPr>
              <a:t>BACKUP_INTERVAL_MINUTES=60</a:t>
            </a:r>
          </a:p>
          <a:p>
            <a:r>
              <a:rPr lang="es-MX" sz="1200">
                <a:latin typeface="Calibri" panose="020F0502020204030204" pitchFamily="34" charset="0"/>
              </a:rPr>
              <a:t>BACKUP_MAX_BACKUPS=24</a:t>
            </a:r>
          </a:p>
          <a:p>
            <a:r>
              <a:rPr lang="es-MX" sz="1200">
                <a:latin typeface="Calibri" panose="020F0502020204030204" pitchFamily="34" charset="0"/>
              </a:rPr>
              <a:t>BACKUP_PATH=./datos/backups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CÓDIGO PRINCIPAL: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class BackupService {</a:t>
            </a:r>
          </a:p>
          <a:p>
            <a:r>
              <a:rPr lang="es-MX" sz="1200">
                <a:latin typeface="Calibri" panose="020F0502020204030204" pitchFamily="34" charset="0"/>
              </a:rPr>
              <a:t>  initialize(config) {</a:t>
            </a:r>
          </a:p>
          <a:p>
            <a:r>
              <a:rPr lang="es-MX" sz="1200">
                <a:latin typeface="Calibri" panose="020F0502020204030204" pitchFamily="34" charset="0"/>
              </a:rPr>
              <a:t>    this.enabled = config.enabled</a:t>
            </a:r>
          </a:p>
          <a:p>
            <a:r>
              <a:rPr lang="es-MX" sz="1200">
                <a:latin typeface="Calibri" panose="020F0502020204030204" pitchFamily="34" charset="0"/>
              </a:rPr>
              <a:t>    this.intervalMs = config.intervalMinutes * 60 * 1000</a:t>
            </a:r>
          </a:p>
          <a:p>
            <a:r>
              <a:rPr lang="es-MX" sz="1200">
                <a:latin typeface="Calibri" panose="020F0502020204030204" pitchFamily="34" charset="0"/>
              </a:rPr>
              <a:t>    this.maxBackups = config.maxBackups</a:t>
            </a:r>
          </a:p>
          <a:p>
            <a:r>
              <a:rPr lang="es-MX" sz="1200">
                <a:latin typeface="Calibri" panose="020F0502020204030204" pitchFamily="34" charset="0"/>
              </a:rPr>
              <a:t>  }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start() {</a:t>
            </a:r>
          </a:p>
          <a:p>
            <a:r>
              <a:rPr lang="es-MX" sz="1200">
                <a:latin typeface="Calibri" panose="020F0502020204030204" pitchFamily="34" charset="0"/>
              </a:rPr>
              <a:t>    if (!this.enabled) return</a:t>
            </a:r>
          </a:p>
          <a:p>
            <a:r>
              <a:rPr lang="es-MX" sz="1200">
                <a:latin typeface="Calibri" panose="020F0502020204030204" pitchFamily="34" charset="0"/>
              </a:rPr>
              <a:t>    </a:t>
            </a:r>
          </a:p>
          <a:p>
            <a:r>
              <a:rPr lang="es-MX" sz="1200">
                <a:latin typeface="Calibri" panose="020F0502020204030204" pitchFamily="34" charset="0"/>
              </a:rPr>
              <a:t>    // Backup inicial</a:t>
            </a:r>
          </a:p>
          <a:p>
            <a:r>
              <a:rPr lang="es-MX" sz="1200">
                <a:latin typeface="Calibri" panose="020F0502020204030204" pitchFamily="34" charset="0"/>
              </a:rPr>
              <a:t>    this.crearBackup()</a:t>
            </a:r>
          </a:p>
          <a:p>
            <a:r>
              <a:rPr lang="es-MX" sz="1200">
                <a:latin typeface="Calibri" panose="020F0502020204030204" pitchFamily="34" charset="0"/>
              </a:rPr>
              <a:t>    </a:t>
            </a:r>
          </a:p>
          <a:p>
            <a:r>
              <a:rPr lang="es-MX" sz="1200">
                <a:latin typeface="Calibri" panose="020F0502020204030204" pitchFamily="34" charset="0"/>
              </a:rPr>
              <a:t>    // Programar backups periódicos</a:t>
            </a:r>
          </a:p>
          <a:p>
            <a:r>
              <a:rPr lang="es-MX" sz="1200">
                <a:latin typeface="Calibri" panose="020F0502020204030204" pitchFamily="34" charset="0"/>
              </a:rPr>
              <a:t>    this.intervalId = setInterval(() =&gt; {</a:t>
            </a:r>
          </a:p>
          <a:p>
            <a:r>
              <a:rPr lang="es-MX" sz="1200">
                <a:latin typeface="Calibri" panose="020F0502020204030204" pitchFamily="34" charset="0"/>
              </a:rPr>
              <a:t>      this.crearBackup()</a:t>
            </a:r>
          </a:p>
          <a:p>
            <a:r>
              <a:rPr lang="es-MX" sz="1200">
                <a:latin typeface="Calibri" panose="020F0502020204030204" pitchFamily="34" charset="0"/>
              </a:rPr>
              <a:t>    }, this.intervalMs)</a:t>
            </a:r>
          </a:p>
          <a:p>
            <a:r>
              <a:rPr lang="es-MX" sz="1200">
                <a:latin typeface="Calibri" panose="020F0502020204030204" pitchFamily="34" charset="0"/>
              </a:rPr>
              <a:t>  }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crearBackup() {</a:t>
            </a:r>
          </a:p>
          <a:p>
            <a:r>
              <a:rPr lang="es-MX" sz="1200">
                <a:latin typeface="Calibri" panose="020F0502020204030204" pitchFamily="34" charset="0"/>
              </a:rPr>
              <a:t>    const timestamp = formatDate(new Date(), 'yyyyMMdd_HHmmss')</a:t>
            </a:r>
          </a:p>
          <a:p>
            <a:r>
              <a:rPr lang="es-MX" sz="1200">
                <a:latin typeface="Calibri" panose="020F0502020204030204" pitchFamily="34" charset="0"/>
              </a:rPr>
              <a:t>    const backupFile = panel.sqlite.bak_</a:t>
            </a:r>
          </a:p>
          <a:p>
            <a:r>
              <a:rPr lang="es-MX" sz="1200">
                <a:latin typeface="Calibri" panose="020F0502020204030204" pitchFamily="34" charset="0"/>
              </a:rPr>
              <a:t>    </a:t>
            </a:r>
          </a:p>
          <a:p>
            <a:r>
              <a:rPr lang="es-MX" sz="1200">
                <a:latin typeface="Calibri" panose="020F0502020204030204" pitchFamily="34" charset="0"/>
              </a:rPr>
              <a:t>    fs.copyFileSync(</a:t>
            </a:r>
          </a:p>
          <a:p>
            <a:r>
              <a:rPr lang="es-MX" sz="1200">
                <a:latin typeface="Calibri" panose="020F0502020204030204" pitchFamily="34" charset="0"/>
              </a:rPr>
              <a:t>      './datos/panel.sqlite',</a:t>
            </a:r>
          </a:p>
          <a:p>
            <a:r>
              <a:rPr lang="es-MX" sz="1200">
                <a:latin typeface="Calibri" panose="020F0502020204030204" pitchFamily="34" charset="0"/>
              </a:rPr>
              <a:t>      ./datos/backups/</a:t>
            </a:r>
          </a:p>
          <a:p>
            <a:r>
              <a:rPr lang="es-MX" sz="1200">
                <a:latin typeface="Calibri" panose="020F0502020204030204" pitchFamily="34" charset="0"/>
              </a:rPr>
              <a:t>    )</a:t>
            </a:r>
          </a:p>
          <a:p>
            <a:r>
              <a:rPr lang="es-MX" sz="1200">
                <a:latin typeface="Calibri" panose="020F0502020204030204" pitchFamily="34" charset="0"/>
              </a:rPr>
              <a:t>    </a:t>
            </a:r>
          </a:p>
          <a:p>
            <a:r>
              <a:rPr lang="es-MX" sz="1200">
                <a:latin typeface="Calibri" panose="020F0502020204030204" pitchFamily="34" charset="0"/>
              </a:rPr>
              <a:t>    this.limpiarBackupsAntiguos()</a:t>
            </a:r>
          </a:p>
          <a:p>
            <a:r>
              <a:rPr lang="es-MX" sz="1200">
                <a:latin typeface="Calibri" panose="020F0502020204030204" pitchFamily="34" charset="0"/>
              </a:rPr>
              <a:t>  }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limpiarBackupsAntiguos() {</a:t>
            </a:r>
          </a:p>
          <a:p>
            <a:r>
              <a:rPr lang="es-MX" sz="1200">
                <a:latin typeface="Calibri" panose="020F0502020204030204" pitchFamily="34" charset="0"/>
              </a:rPr>
              <a:t>    const backups = fs.readdirSync('./datos/backups/')</a:t>
            </a:r>
          </a:p>
          <a:p>
            <a:r>
              <a:rPr lang="es-MX" sz="1200">
                <a:latin typeface="Calibri" panose="020F0502020204030204" pitchFamily="34" charset="0"/>
              </a:rPr>
              <a:t>      .filter(f =&gt; f.startsWith('panel.sqlite.bak_'))</a:t>
            </a:r>
          </a:p>
          <a:p>
            <a:r>
              <a:rPr lang="es-MX" sz="1200">
                <a:latin typeface="Calibri" panose="020F0502020204030204" pitchFamily="34" charset="0"/>
              </a:rPr>
              <a:t>      .sort()</a:t>
            </a:r>
          </a:p>
          <a:p>
            <a:r>
              <a:rPr lang="es-MX" sz="1200">
                <a:latin typeface="Calibri" panose="020F0502020204030204" pitchFamily="34" charset="0"/>
              </a:rPr>
              <a:t>    </a:t>
            </a:r>
          </a:p>
          <a:p>
            <a:r>
              <a:rPr lang="es-MX" sz="1200">
                <a:latin typeface="Calibri" panose="020F0502020204030204" pitchFamily="34" charset="0"/>
              </a:rPr>
              <a:t>    while (backups.length &gt; this.maxBackups) {</a:t>
            </a:r>
          </a:p>
          <a:p>
            <a:r>
              <a:rPr lang="es-MX" sz="1200">
                <a:latin typeface="Calibri" panose="020F0502020204030204" pitchFamily="34" charset="0"/>
              </a:rPr>
              <a:t>      const oldest = backups.shift()</a:t>
            </a:r>
          </a:p>
          <a:p>
            <a:r>
              <a:rPr lang="es-MX" sz="1200">
                <a:latin typeface="Calibri" panose="020F0502020204030204" pitchFamily="34" charset="0"/>
              </a:rPr>
              <a:t>      fs.unlinkSync(./datos/backups/)</a:t>
            </a:r>
          </a:p>
          <a:p>
            <a:r>
              <a:rPr lang="es-MX" sz="1200">
                <a:latin typeface="Calibri" panose="020F0502020204030204" pitchFamily="34" charset="0"/>
              </a:rPr>
              <a:t>    }</a:t>
            </a:r>
          </a:p>
          <a:p>
            <a:r>
              <a:rPr lang="es-MX" sz="1200">
                <a:latin typeface="Calibri" panose="020F0502020204030204" pitchFamily="34" charset="0"/>
              </a:rPr>
              <a:t>  }</a:t>
            </a:r>
          </a:p>
          <a:p>
            <a:r>
              <a:rPr lang="es-MX" sz="1200">
                <a:latin typeface="Calibri" panose="020F0502020204030204" pitchFamily="34" charset="0"/>
              </a:rPr>
              <a:t>}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API ENDPOINTS:</a:t>
            </a:r>
          </a:p>
          <a:p>
            <a:r>
              <a:rPr lang="es-MX" sz="1200">
                <a:latin typeface="Calibri" panose="020F0502020204030204" pitchFamily="34" charset="0"/>
              </a:rPr>
              <a:t>  POST /api/backups/crear</a:t>
            </a:r>
          </a:p>
          <a:p>
            <a:r>
              <a:rPr lang="es-MX" sz="1200">
                <a:latin typeface="Calibri" panose="020F0502020204030204" pitchFamily="34" charset="0"/>
              </a:rPr>
              <a:t>    → Crear backup manual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GET /api/backups/lista</a:t>
            </a:r>
          </a:p>
          <a:p>
            <a:r>
              <a:rPr lang="es-MX" sz="1200">
                <a:latin typeface="Calibri" panose="020F0502020204030204" pitchFamily="34" charset="0"/>
              </a:rPr>
              <a:t>    → Listar backups disponibles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POST /api/backups/restaurar/:filename</a:t>
            </a:r>
          </a:p>
          <a:p>
            <a:r>
              <a:rPr lang="es-MX" sz="1200">
                <a:latin typeface="Calibri" panose="020F0502020204030204" pitchFamily="34" charset="0"/>
              </a:rPr>
              <a:t>    → Restaurar desde backup específico</a:t>
            </a:r>
          </a:p>
        </p:txBody>
      </p:sp>
    </p:spTree>
    <p:extLst>
      <p:ext uri="{BB962C8B-B14F-4D97-AF65-F5344CB8AC3E}">
        <p14:creationId xmlns:p14="http://schemas.microsoft.com/office/powerpoint/2010/main" val="542770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DC554-675F-4335-BEA2-5CD3375B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800" b="1"/>
              <a:t>Sistema de Actualización Automática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24268B-B5BB-8B2B-4559-FD1B50D6E2C5}"/>
              </a:ext>
            </a:extLst>
          </p:cNvPr>
          <p:cNvSpPr txBox="1"/>
          <p:nvPr/>
        </p:nvSpPr>
        <p:spPr>
          <a:xfrm>
            <a:off x="635000" y="1524000"/>
            <a:ext cx="11684000" cy="1685076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100">
                <a:latin typeface="Calibri" panose="020F0502020204030204" pitchFamily="34" charset="0"/>
              </a:rPr>
              <a:t>Auto-Updater con Electron (main.js)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FLUJO DE ACTUALIZACIÓN: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Usuario abre app</a:t>
            </a:r>
          </a:p>
          <a:p>
            <a:r>
              <a:rPr lang="es-MX" sz="1100">
                <a:latin typeface="Calibri" panose="020F0502020204030204" pitchFamily="34" charset="0"/>
              </a:rPr>
              <a:t>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▼ (5 segundos después)</a:t>
            </a:r>
          </a:p>
          <a:p>
            <a:r>
              <a:rPr lang="es-MX" sz="1100">
                <a:latin typeface="Calibri" panose="020F0502020204030204" pitchFamily="34" charset="0"/>
              </a:rPr>
              <a:t>┌────────────────────────────────┐</a:t>
            </a:r>
          </a:p>
          <a:p>
            <a:r>
              <a:rPr lang="es-MX" sz="1100">
                <a:latin typeface="Calibri" panose="020F0502020204030204" pitchFamily="34" charset="0"/>
              </a:rPr>
              <a:t>│ autoUpdater.checkForUpdates()  │</a:t>
            </a:r>
          </a:p>
          <a:p>
            <a:r>
              <a:rPr lang="es-MX" sz="1100">
                <a:latin typeface="Calibri" panose="020F0502020204030204" pitchFamily="34" charset="0"/>
              </a:rPr>
              <a:t>│ Verifica GitHub Releases       │</a:t>
            </a:r>
          </a:p>
          <a:p>
            <a:r>
              <a:rPr lang="es-MX" sz="1100">
                <a:latin typeface="Calibri" panose="020F0502020204030204" pitchFamily="34" charset="0"/>
              </a:rPr>
              <a:t>└────────┬───────────────────────┘</a:t>
            </a:r>
          </a:p>
          <a:p>
            <a:r>
              <a:rPr lang="es-MX" sz="1100">
                <a:latin typeface="Calibri" panose="020F0502020204030204" pitchFamily="34" charset="0"/>
              </a:rPr>
              <a:t>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¿Nueva versión?</a:t>
            </a:r>
          </a:p>
          <a:p>
            <a:r>
              <a:rPr lang="es-MX" sz="1100">
                <a:latin typeface="Calibri" panose="020F0502020204030204" pitchFamily="34" charset="0"/>
              </a:rPr>
              <a:t>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┌────┴────┐</a:t>
            </a:r>
          </a:p>
          <a:p>
            <a:r>
              <a:rPr lang="es-MX" sz="1100">
                <a:latin typeface="Calibri" panose="020F0502020204030204" pitchFamily="34" charset="0"/>
              </a:rPr>
              <a:t>   NO         SÍ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▼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┌──────────────────────────┐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Diálogo: "Nueva versión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X.Y.Z disponible"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[Descargar] [Más tarde]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└──────┬───────────────────┘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Usuario acepta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▼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autoUpdater.downloadUpdate()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Descarga en background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▼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┌──────────────────────────┐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Progreso en título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"Descargando: 45%"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└──────┬───────────────────┘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Descarga completa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▼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┌──────────────────────────┐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Diálogo: "¿Reiniciar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para instalar?"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│ [Reiniciar] [Más tarde]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└──────┬───────────────────┘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Usuario acepta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▼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autoUpdater.quitAndInstall()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Cierra → Instala → Reinicia</a:t>
            </a:r>
          </a:p>
          <a:p>
            <a:r>
              <a:rPr lang="es-MX" sz="1100">
                <a:latin typeface="Calibri" panose="020F0502020204030204" pitchFamily="34" charset="0"/>
              </a:rPr>
              <a:t>    │           │</a:t>
            </a:r>
          </a:p>
          <a:p>
            <a:r>
              <a:rPr lang="es-MX" sz="1100">
                <a:latin typeface="Calibri" panose="020F0502020204030204" pitchFamily="34" charset="0"/>
              </a:rPr>
              <a:t>    └───────────▼</a:t>
            </a:r>
          </a:p>
          <a:p>
            <a:r>
              <a:rPr lang="es-MX" sz="1100">
                <a:latin typeface="Calibri" panose="020F0502020204030204" pitchFamily="34" charset="0"/>
              </a:rPr>
              <a:t>         App continúa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CONFIGURACIÓN: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autoUpdater.autoDownload = false</a:t>
            </a:r>
          </a:p>
          <a:p>
            <a:r>
              <a:rPr lang="es-MX" sz="1100">
                <a:latin typeface="Calibri" panose="020F0502020204030204" pitchFamily="34" charset="0"/>
              </a:rPr>
              <a:t>  • No descargar automáticamente</a:t>
            </a:r>
          </a:p>
          <a:p>
            <a:r>
              <a:rPr lang="es-MX" sz="1100">
                <a:latin typeface="Calibri" panose="020F0502020204030204" pitchFamily="34" charset="0"/>
              </a:rPr>
              <a:t>  • Pedir permiso al usuario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autoUpdater.autoInstallOnAppQuit = true</a:t>
            </a:r>
          </a:p>
          <a:p>
            <a:r>
              <a:rPr lang="es-MX" sz="1100">
                <a:latin typeface="Calibri" panose="020F0502020204030204" pitchFamily="34" charset="0"/>
              </a:rPr>
              <a:t>  • Instalar al cerrar si hay update pendiente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EVENTOS: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'checking-for-update'</a:t>
            </a:r>
          </a:p>
          <a:p>
            <a:r>
              <a:rPr lang="es-MX" sz="1100">
                <a:latin typeface="Calibri" panose="020F0502020204030204" pitchFamily="34" charset="0"/>
              </a:rPr>
              <a:t>  → Log: "Verificando actualizaciones..."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'update-available' (info)</a:t>
            </a:r>
          </a:p>
          <a:p>
            <a:r>
              <a:rPr lang="es-MX" sz="1100">
                <a:latin typeface="Calibri" panose="020F0502020204030204" pitchFamily="34" charset="0"/>
              </a:rPr>
              <a:t>  → Diálogo pregunta si descargar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'update-not-available' (info)</a:t>
            </a:r>
          </a:p>
          <a:p>
            <a:r>
              <a:rPr lang="es-MX" sz="1100">
                <a:latin typeface="Calibri" panose="020F0502020204030204" pitchFamily="34" charset="0"/>
              </a:rPr>
              <a:t>  → Log: "App actualizada"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'download-progress' (progressObj)</a:t>
            </a:r>
          </a:p>
          <a:p>
            <a:r>
              <a:rPr lang="es-MX" sz="1100">
                <a:latin typeface="Calibri" panose="020F0502020204030204" pitchFamily="34" charset="0"/>
              </a:rPr>
              <a:t>  → Actualizar título: "Descargando: X%"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'update-downloaded' (info)</a:t>
            </a:r>
          </a:p>
          <a:p>
            <a:r>
              <a:rPr lang="es-MX" sz="1100">
                <a:latin typeface="Calibri" panose="020F0502020204030204" pitchFamily="34" charset="0"/>
              </a:rPr>
              <a:t>  → Diálogo pregunta si instalar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'error' (err)</a:t>
            </a:r>
          </a:p>
          <a:p>
            <a:r>
              <a:rPr lang="es-MX" sz="1100">
                <a:latin typeface="Calibri" panose="020F0502020204030204" pitchFamily="34" charset="0"/>
              </a:rPr>
              <a:t>  → Mostrar error al usuario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REQUISITOS:</a:t>
            </a:r>
          </a:p>
          <a:p>
            <a:r>
              <a:rPr lang="es-MX" sz="1100">
                <a:latin typeface="Calibri" panose="020F0502020204030204" pitchFamily="34" charset="0"/>
              </a:rPr>
              <a:t>  ✓ GitHub Release con archivos:</a:t>
            </a:r>
          </a:p>
          <a:p>
            <a:r>
              <a:rPr lang="es-MX" sz="1100">
                <a:latin typeface="Calibri" panose="020F0502020204030204" pitchFamily="34" charset="0"/>
              </a:rPr>
              <a:t>    - SummaCham Setup X.Y.Z.exe (instalador)</a:t>
            </a:r>
          </a:p>
          <a:p>
            <a:r>
              <a:rPr lang="es-MX" sz="1100">
                <a:latin typeface="Calibri" panose="020F0502020204030204" pitchFamily="34" charset="0"/>
              </a:rPr>
              <a:t>    - SummaCham X.Y.Z.exe (portable)</a:t>
            </a:r>
          </a:p>
          <a:p>
            <a:r>
              <a:rPr lang="es-MX" sz="1100">
                <a:latin typeface="Calibri" panose="020F0502020204030204" pitchFamily="34" charset="0"/>
              </a:rPr>
              <a:t>    - latest.yml (metadata, OBLIGATORIO)</a:t>
            </a:r>
          </a:p>
          <a:p>
            <a:r>
              <a:rPr lang="es-MX" sz="1100">
                <a:latin typeface="Calibri" panose="020F0502020204030204" pitchFamily="34" charset="0"/>
              </a:rPr>
              <a:t>  </a:t>
            </a:r>
          </a:p>
          <a:p>
            <a:r>
              <a:rPr lang="es-MX" sz="1100">
                <a:latin typeface="Calibri" panose="020F0502020204030204" pitchFamily="34" charset="0"/>
              </a:rPr>
              <a:t>  ✓ Release público o token configurado</a:t>
            </a:r>
          </a:p>
          <a:p>
            <a:r>
              <a:rPr lang="es-MX" sz="1100">
                <a:latin typeface="Calibri" panose="020F0502020204030204" pitchFamily="34" charset="0"/>
              </a:rPr>
              <a:t>  </a:t>
            </a:r>
          </a:p>
          <a:p>
            <a:r>
              <a:rPr lang="es-MX" sz="1100">
                <a:latin typeface="Calibri" panose="020F0502020204030204" pitchFamily="34" charset="0"/>
              </a:rPr>
              <a:t>  ✓ Solo funciona en app empaquetada</a:t>
            </a:r>
          </a:p>
          <a:p>
            <a:r>
              <a:rPr lang="es-MX" sz="1100">
                <a:latin typeface="Calibri" panose="020F0502020204030204" pitchFamily="34" charset="0"/>
              </a:rPr>
              <a:t>    (no en npm start)</a:t>
            </a:r>
          </a:p>
          <a:p>
            <a:endParaRPr lang="es-MX" sz="1100">
              <a:latin typeface="Calibri" panose="020F0502020204030204" pitchFamily="34" charset="0"/>
            </a:endParaRPr>
          </a:p>
          <a:p>
            <a:r>
              <a:rPr lang="es-MX" sz="1100">
                <a:latin typeface="Calibri" panose="020F0502020204030204" pitchFamily="34" charset="0"/>
              </a:rPr>
              <a:t>VENTAJAS:</a:t>
            </a:r>
          </a:p>
          <a:p>
            <a:r>
              <a:rPr lang="es-MX" sz="1100">
                <a:latin typeface="Calibri" panose="020F0502020204030204" pitchFamily="34" charset="0"/>
              </a:rPr>
              <a:t>  • Actualizaciones sin reinstalar</a:t>
            </a:r>
          </a:p>
          <a:p>
            <a:r>
              <a:rPr lang="es-MX" sz="1100">
                <a:latin typeface="Calibri" panose="020F0502020204030204" pitchFamily="34" charset="0"/>
              </a:rPr>
              <a:t>  • Datos del usuario preservados</a:t>
            </a:r>
          </a:p>
          <a:p>
            <a:r>
              <a:rPr lang="es-MX" sz="1100">
                <a:latin typeface="Calibri" panose="020F0502020204030204" pitchFamily="34" charset="0"/>
              </a:rPr>
              <a:t>  • Sin downtime significativo</a:t>
            </a:r>
          </a:p>
          <a:p>
            <a:r>
              <a:rPr lang="es-MX" sz="1100">
                <a:latin typeface="Calibri" panose="020F0502020204030204" pitchFamily="34" charset="0"/>
              </a:rPr>
              <a:t>  • Control total del usuario</a:t>
            </a:r>
          </a:p>
        </p:txBody>
      </p:sp>
    </p:spTree>
    <p:extLst>
      <p:ext uri="{BB962C8B-B14F-4D97-AF65-F5344CB8AC3E}">
        <p14:creationId xmlns:p14="http://schemas.microsoft.com/office/powerpoint/2010/main" val="3220114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FF34F-38AF-2633-0580-C88CE395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4000" b="1"/>
              <a:t>Seguridad: Medidas Implementadas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92F6CF-B6A4-AE35-413E-75102A0D6362}"/>
              </a:ext>
            </a:extLst>
          </p:cNvPr>
          <p:cNvSpPr txBox="1"/>
          <p:nvPr/>
        </p:nvSpPr>
        <p:spPr>
          <a:xfrm>
            <a:off x="635000" y="1524000"/>
            <a:ext cx="11684000" cy="124649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latin typeface="Calibri" panose="020F0502020204030204" pitchFamily="34" charset="0"/>
              </a:rPr>
              <a:t>Protecciones de Seguridad Multicapa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1. GESTIÓN DE SECRETOS</a:t>
            </a:r>
          </a:p>
          <a:p>
            <a:r>
              <a:rPr lang="es-MX" sz="1200">
                <a:latin typeface="Calibri" panose="020F0502020204030204" pitchFamily="34" charset="0"/>
              </a:rPr>
              <a:t>   ✓ Variables de entorno para secrets</a:t>
            </a:r>
          </a:p>
          <a:p>
            <a:r>
              <a:rPr lang="es-MX" sz="1200">
                <a:latin typeface="Calibri" panose="020F0502020204030204" pitchFamily="34" charset="0"/>
              </a:rPr>
              <a:t>   ✓ Generación automática de JWT_SECRET y SESSION_SECRET</a:t>
            </a:r>
          </a:p>
          <a:p>
            <a:r>
              <a:rPr lang="es-MX" sz="1200">
                <a:latin typeface="Calibri" panose="020F0502020204030204" pitchFamily="34" charset="0"/>
              </a:rPr>
              <a:t>   ✓ .env excluido de Git (.gitignore)</a:t>
            </a:r>
          </a:p>
          <a:p>
            <a:r>
              <a:rPr lang="es-MX" sz="1200">
                <a:latin typeface="Calibri" panose="020F0502020204030204" pitchFamily="34" charset="0"/>
              </a:rPr>
              <a:t>   ✓ Validación en startup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2. AUTENTICACIÓN</a:t>
            </a:r>
          </a:p>
          <a:p>
            <a:r>
              <a:rPr lang="es-MX" sz="1200">
                <a:latin typeface="Calibri" panose="020F0502020204030204" pitchFamily="34" charset="0"/>
              </a:rPr>
              <a:t>   ✓ Bcrypt para hashing de contraseñas (saltRounds=10)</a:t>
            </a:r>
          </a:p>
          <a:p>
            <a:r>
              <a:rPr lang="es-MX" sz="1200">
                <a:latin typeface="Calibri" panose="020F0502020204030204" pitchFamily="34" charset="0"/>
              </a:rPr>
              <a:t>   ✓ JWT con expiración (1h access, 7d refresh)</a:t>
            </a:r>
          </a:p>
          <a:p>
            <a:r>
              <a:rPr lang="es-MX" sz="1200">
                <a:latin typeface="Calibri" panose="020F0502020204030204" pitchFamily="34" charset="0"/>
              </a:rPr>
              <a:t>   ✓ Rate limiting (10 intentos/10min, bloqueo 5min)</a:t>
            </a:r>
          </a:p>
          <a:p>
            <a:r>
              <a:rPr lang="es-MX" sz="1200">
                <a:latin typeface="Calibri" panose="020F0502020204030204" pitchFamily="34" charset="0"/>
              </a:rPr>
              <a:t>   ✓ Sesiones con SQLite store persistente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3. AUTORIZACIÓN</a:t>
            </a:r>
          </a:p>
          <a:p>
            <a:r>
              <a:rPr lang="es-MX" sz="1200">
                <a:latin typeface="Calibri" panose="020F0502020204030204" pitchFamily="34" charset="0"/>
              </a:rPr>
              <a:t>   ✓ Middleware requireAuth en todas las rutas protegidas</a:t>
            </a:r>
          </a:p>
          <a:p>
            <a:r>
              <a:rPr lang="es-MX" sz="1200">
                <a:latin typeface="Calibri" panose="020F0502020204030204" pitchFamily="34" charset="0"/>
              </a:rPr>
              <a:t>   ✓ Permisos granulares (empresa + módulo + acción)</a:t>
            </a:r>
          </a:p>
          <a:p>
            <a:r>
              <a:rPr lang="es-MX" sz="1200">
                <a:latin typeface="Calibri" panose="020F0502020204030204" pitchFamily="34" charset="0"/>
              </a:rPr>
              <a:t>   ✓ Validación en backend (nunca confiar en frontend)</a:t>
            </a:r>
          </a:p>
          <a:p>
            <a:r>
              <a:rPr lang="es-MX" sz="1200">
                <a:latin typeface="Calibri" panose="020F0502020204030204" pitchFamily="34" charset="0"/>
              </a:rPr>
              <a:t>   ✓ Admin global con bypass controlado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4. HELMET (Seguridad HTTP)</a:t>
            </a:r>
          </a:p>
          <a:p>
            <a:r>
              <a:rPr lang="es-MX" sz="1200">
                <a:latin typeface="Calibri" panose="020F0502020204030204" pitchFamily="34" charset="0"/>
              </a:rPr>
              <a:t>   ✓ X-Content-Type-Options: nosniff</a:t>
            </a:r>
          </a:p>
          <a:p>
            <a:r>
              <a:rPr lang="es-MX" sz="1200">
                <a:latin typeface="Calibri" panose="020F0502020204030204" pitchFamily="34" charset="0"/>
              </a:rPr>
              <a:t>   ✓ X-Frame-Options: DENY</a:t>
            </a:r>
          </a:p>
          <a:p>
            <a:r>
              <a:rPr lang="es-MX" sz="1200">
                <a:latin typeface="Calibri" panose="020F0502020204030204" pitchFamily="34" charset="0"/>
              </a:rPr>
              <a:t>   ✓ Strict-Transport-Security (HSTS)</a:t>
            </a:r>
          </a:p>
          <a:p>
            <a:r>
              <a:rPr lang="es-MX" sz="1200">
                <a:latin typeface="Calibri" panose="020F0502020204030204" pitchFamily="34" charset="0"/>
              </a:rPr>
              <a:t>   ✓ Content-Security-Policy (CSP)</a:t>
            </a:r>
          </a:p>
          <a:p>
            <a:r>
              <a:rPr lang="es-MX" sz="1200">
                <a:latin typeface="Calibri" panose="020F0502020204030204" pitchFamily="34" charset="0"/>
              </a:rPr>
              <a:t>   ✓ X-XSS-Protection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5. CORS (Cross-Origin Resource Sharing)</a:t>
            </a:r>
          </a:p>
          <a:p>
            <a:r>
              <a:rPr lang="es-MX" sz="1200">
                <a:latin typeface="Calibri" panose="020F0502020204030204" pitchFamily="34" charset="0"/>
              </a:rPr>
              <a:t>   ✓ Lista blanca de orígenes permitidos</a:t>
            </a:r>
          </a:p>
          <a:p>
            <a:r>
              <a:rPr lang="es-MX" sz="1200">
                <a:latin typeface="Calibri" panose="020F0502020204030204" pitchFamily="34" charset="0"/>
              </a:rPr>
              <a:t>   ✓ Credentials habilitados solo para orígenes confiables</a:t>
            </a:r>
          </a:p>
          <a:p>
            <a:r>
              <a:rPr lang="es-MX" sz="1200">
                <a:latin typeface="Calibri" panose="020F0502020204030204" pitchFamily="34" charset="0"/>
              </a:rPr>
              <a:t>   ✓ Validación de headers Origin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6. VALIDACIÓN DE INPUTS</a:t>
            </a:r>
          </a:p>
          <a:p>
            <a:r>
              <a:rPr lang="es-MX" sz="1200">
                <a:latin typeface="Calibri" panose="020F0502020204030204" pitchFamily="34" charset="0"/>
              </a:rPr>
              <a:t>   ✓ Joi para validación de esquemas</a:t>
            </a:r>
          </a:p>
          <a:p>
            <a:r>
              <a:rPr lang="es-MX" sz="1200">
                <a:latin typeface="Calibri" panose="020F0502020204030204" pitchFamily="34" charset="0"/>
              </a:rPr>
              <a:t>   ✓ Sanitización de datos</a:t>
            </a:r>
          </a:p>
          <a:p>
            <a:r>
              <a:rPr lang="es-MX" sz="1200">
                <a:latin typeface="Calibri" panose="020F0502020204030204" pitchFamily="34" charset="0"/>
              </a:rPr>
              <a:t>   ✓ Prevención de inyecciones SQL (queries parametrizadas)</a:t>
            </a:r>
          </a:p>
          <a:p>
            <a:r>
              <a:rPr lang="es-MX" sz="1200">
                <a:latin typeface="Calibri" panose="020F0502020204030204" pitchFamily="34" charset="0"/>
              </a:rPr>
              <a:t>   ✓ Validación de tipos de datos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7. FIREBIRD SEGURO</a:t>
            </a:r>
          </a:p>
          <a:p>
            <a:r>
              <a:rPr lang="es-MX" sz="1200">
                <a:latin typeface="Calibri" panose="020F0502020204030204" pitchFamily="34" charset="0"/>
              </a:rPr>
              <a:t>   ✓ Credenciales en archivo separado</a:t>
            </a:r>
          </a:p>
          <a:p>
            <a:r>
              <a:rPr lang="es-MX" sz="1200">
                <a:latin typeface="Calibri" panose="020F0502020204030204" pitchFamily="34" charset="0"/>
              </a:rPr>
              <a:t>   ✓ Validación de permisos antes de query</a:t>
            </a:r>
          </a:p>
          <a:p>
            <a:r>
              <a:rPr lang="es-MX" sz="1200">
                <a:latin typeface="Calibri" panose="020F0502020204030204" pitchFamily="34" charset="0"/>
              </a:rPr>
              <a:t>   ✓ Connection timeout</a:t>
            </a:r>
          </a:p>
          <a:p>
            <a:r>
              <a:rPr lang="es-MX" sz="1200">
                <a:latin typeface="Calibri" panose="020F0502020204030204" pitchFamily="34" charset="0"/>
              </a:rPr>
              <a:t>   ✓ Queries parametrizadas (no string concatenation)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8. LOGGING Y AUDITORÍA</a:t>
            </a:r>
          </a:p>
          <a:p>
            <a:r>
              <a:rPr lang="es-MX" sz="1200">
                <a:latin typeface="Calibri" panose="020F0502020204030204" pitchFamily="34" charset="0"/>
              </a:rPr>
              <a:t>   ✓ Registro de intentos de login</a:t>
            </a:r>
          </a:p>
          <a:p>
            <a:r>
              <a:rPr lang="es-MX" sz="1200">
                <a:latin typeface="Calibri" panose="020F0502020204030204" pitchFamily="34" charset="0"/>
              </a:rPr>
              <a:t>   ✓ Auditoría de cambios de estado</a:t>
            </a:r>
          </a:p>
          <a:p>
            <a:r>
              <a:rPr lang="es-MX" sz="1200">
                <a:latin typeface="Calibri" panose="020F0502020204030204" pitchFamily="34" charset="0"/>
              </a:rPr>
              <a:t>   ✓ Bitácora de modificaciones a layouts</a:t>
            </a:r>
          </a:p>
          <a:p>
            <a:r>
              <a:rPr lang="es-MX" sz="1200">
                <a:latin typeface="Calibri" panose="020F0502020204030204" pitchFamily="34" charset="0"/>
              </a:rPr>
              <a:t>   ✓ Logs de queries lentas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9. COOKIE SECURITY</a:t>
            </a:r>
          </a:p>
          <a:p>
            <a:r>
              <a:rPr lang="es-MX" sz="1200">
                <a:latin typeface="Calibri" panose="020F0502020204030204" pitchFamily="34" charset="0"/>
              </a:rPr>
              <a:t>   ✓ httpOnly (no accesible desde JS)</a:t>
            </a:r>
          </a:p>
          <a:p>
            <a:r>
              <a:rPr lang="es-MX" sz="1200">
                <a:latin typeface="Calibri" panose="020F0502020204030204" pitchFamily="34" charset="0"/>
              </a:rPr>
              <a:t>   ✓ secure (solo HTTPS en producción)</a:t>
            </a:r>
          </a:p>
          <a:p>
            <a:r>
              <a:rPr lang="es-MX" sz="1200">
                <a:latin typeface="Calibri" panose="020F0502020204030204" pitchFamily="34" charset="0"/>
              </a:rPr>
              <a:t>   ✓ sameSite: 'none' (para túneles HTTPS)</a:t>
            </a:r>
          </a:p>
          <a:p>
            <a:r>
              <a:rPr lang="es-MX" sz="1200">
                <a:latin typeface="Calibri" panose="020F0502020204030204" pitchFamily="34" charset="0"/>
              </a:rPr>
              <a:t>   ✓ Expiración configurada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10. PROTECCIÓN DE DATOS</a:t>
            </a:r>
          </a:p>
          <a:p>
            <a:r>
              <a:rPr lang="es-MX" sz="1200">
                <a:latin typeface="Calibri" panose="020F0502020204030204" pitchFamily="34" charset="0"/>
              </a:rPr>
              <a:t>    ✓ Backups automáticos</a:t>
            </a:r>
          </a:p>
          <a:p>
            <a:r>
              <a:rPr lang="es-MX" sz="1200">
                <a:latin typeface="Calibri" panose="020F0502020204030204" pitchFamily="34" charset="0"/>
              </a:rPr>
              <a:t>    ✓ Datos sensibles nunca en logs</a:t>
            </a:r>
          </a:p>
          <a:p>
            <a:r>
              <a:rPr lang="es-MX" sz="1200">
                <a:latin typeface="Calibri" panose="020F0502020204030204" pitchFamily="34" charset="0"/>
              </a:rPr>
              <a:t>    ✓ Encriptación de contraseñas en reposo</a:t>
            </a:r>
          </a:p>
          <a:p>
            <a:r>
              <a:rPr lang="es-MX" sz="1200">
                <a:latin typeface="Calibri" panose="020F0502020204030204" pitchFamily="34" charset="0"/>
              </a:rPr>
              <a:t>    ✓ Sesiones con expiración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HERRAMIENTAS:</a:t>
            </a:r>
          </a:p>
          <a:p>
            <a:r>
              <a:rPr lang="es-MX" sz="1200">
                <a:latin typeface="Calibri" panose="020F0502020204030204" pitchFamily="34" charset="0"/>
              </a:rPr>
              <a:t>• bcryptjs, jsonwebtoken, helmet, joi</a:t>
            </a:r>
          </a:p>
          <a:p>
            <a:r>
              <a:rPr lang="es-MX" sz="1200">
                <a:latin typeface="Calibri" panose="020F0502020204030204" pitchFamily="34" charset="0"/>
              </a:rPr>
              <a:t>• express-session con SQLite store</a:t>
            </a:r>
          </a:p>
          <a:p>
            <a:r>
              <a:rPr lang="es-MX" sz="1200">
                <a:latin typeface="Calibri" panose="020F0502020204030204" pitchFamily="34" charset="0"/>
              </a:rPr>
              <a:t>• better-sqlite3 (prepared statements)</a:t>
            </a:r>
          </a:p>
          <a:p>
            <a:r>
              <a:rPr lang="es-MX" sz="1200">
                <a:latin typeface="Calibri" panose="020F0502020204030204" pitchFamily="34" charset="0"/>
              </a:rPr>
              <a:t>• node-firebird (parametrización)</a:t>
            </a:r>
          </a:p>
        </p:txBody>
      </p:sp>
    </p:spTree>
    <p:extLst>
      <p:ext uri="{BB962C8B-B14F-4D97-AF65-F5344CB8AC3E}">
        <p14:creationId xmlns:p14="http://schemas.microsoft.com/office/powerpoint/2010/main" val="2402152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E8756-454A-1829-95EE-182C7E4D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Módulos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212A57-A1DE-1B02-D6AD-22B3324C401D}"/>
              </a:ext>
            </a:extLst>
          </p:cNvPr>
          <p:cNvSpPr txBox="1"/>
          <p:nvPr/>
        </p:nvSpPr>
        <p:spPr>
          <a:xfrm>
            <a:off x="635000" y="1524000"/>
            <a:ext cx="11684000" cy="16514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400">
                <a:latin typeface="Calibri" panose="020F0502020204030204" pitchFamily="34" charset="0"/>
              </a:rPr>
              <a:t>Módulos Financieros Disponibles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MÓDULOS OPERATIVOS: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1. RH (Recursos Humanos)</a:t>
            </a:r>
          </a:p>
          <a:p>
            <a:r>
              <a:rPr lang="es-ES" sz="1400">
                <a:latin typeface="Calibri" panose="020F0502020204030204" pitchFamily="34" charset="0"/>
              </a:rPr>
              <a:t>   • Presupuesto de nómina</a:t>
            </a:r>
          </a:p>
          <a:p>
            <a:r>
              <a:rPr lang="es-ES" sz="1400">
                <a:latin typeface="Calibri" panose="020F0502020204030204" pitchFamily="34" charset="0"/>
              </a:rPr>
              <a:t>   • Salarios, bonos, prestaciones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RH.html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2. FINANZAS</a:t>
            </a:r>
          </a:p>
          <a:p>
            <a:r>
              <a:rPr lang="es-ES" sz="1400">
                <a:latin typeface="Calibri" panose="020F0502020204030204" pitchFamily="34" charset="0"/>
              </a:rPr>
              <a:t>   • Ingresos y gastos financieros</a:t>
            </a:r>
          </a:p>
          <a:p>
            <a:r>
              <a:rPr lang="es-ES" sz="1400">
                <a:latin typeface="Calibri" panose="020F0502020204030204" pitchFamily="34" charset="0"/>
              </a:rPr>
              <a:t>   • Inversiones, intereses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Finanzas.html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3. GASTOS GENERALES</a:t>
            </a:r>
          </a:p>
          <a:p>
            <a:r>
              <a:rPr lang="es-ES" sz="1400">
                <a:latin typeface="Calibri" panose="020F0502020204030204" pitchFamily="34" charset="0"/>
              </a:rPr>
              <a:t>   • Gastos administrativos</a:t>
            </a:r>
          </a:p>
          <a:p>
            <a:r>
              <a:rPr lang="es-ES" sz="1400">
                <a:latin typeface="Calibri" panose="020F0502020204030204" pitchFamily="34" charset="0"/>
              </a:rPr>
              <a:t>   • Servicios, suministros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GastosGenerales.html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4. NÓMINA</a:t>
            </a:r>
          </a:p>
          <a:p>
            <a:r>
              <a:rPr lang="es-ES" sz="1400">
                <a:latin typeface="Calibri" panose="020F0502020204030204" pitchFamily="34" charset="0"/>
              </a:rPr>
              <a:t>   • Detalle de nómina por empleado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Nomina.html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5. VPE (Vicepresidencia Ejecutiva)</a:t>
            </a:r>
          </a:p>
          <a:p>
            <a:r>
              <a:rPr lang="es-ES" sz="1400">
                <a:latin typeface="Calibri" panose="020F0502020204030204" pitchFamily="34" charset="0"/>
              </a:rPr>
              <a:t>   • Gastos de dirección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VPE.html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6. T&amp;IC (Tecnología e Innovación)</a:t>
            </a:r>
          </a:p>
          <a:p>
            <a:r>
              <a:rPr lang="es-ES" sz="1400">
                <a:latin typeface="Calibri" panose="020F0502020204030204" pitchFamily="34" charset="0"/>
              </a:rPr>
              <a:t>   • Presupuesto de TI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T&amp;IC.html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7. EVENTOS</a:t>
            </a:r>
          </a:p>
          <a:p>
            <a:r>
              <a:rPr lang="es-ES" sz="1400">
                <a:latin typeface="Calibri" panose="020F0502020204030204" pitchFamily="34" charset="0"/>
              </a:rPr>
              <a:t>   • Ingresos y gastos de eventos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Eventos.html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8. MEMBRESÍA</a:t>
            </a:r>
          </a:p>
          <a:p>
            <a:r>
              <a:rPr lang="es-ES" sz="1400">
                <a:latin typeface="Calibri" panose="020F0502020204030204" pitchFamily="34" charset="0"/>
              </a:rPr>
              <a:t>   • Ingresos por membresías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Membresía.html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9. SERVICIOS MEMBRESÍA</a:t>
            </a:r>
          </a:p>
          <a:p>
            <a:r>
              <a:rPr lang="es-ES" sz="1400">
                <a:latin typeface="Calibri" panose="020F0502020204030204" pitchFamily="34" charset="0"/>
              </a:rPr>
              <a:t>   • Servicios adicionales a miembros</a:t>
            </a:r>
          </a:p>
          <a:p>
            <a:r>
              <a:rPr lang="es-ES" sz="1400">
                <a:latin typeface="Calibri" panose="020F0502020204030204" pitchFamily="34" charset="0"/>
              </a:rPr>
              <a:t>   • Vista: Serv_Membresía.html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MÓDULOS CONSOLIDADOS: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10. RESUMEN</a:t>
            </a:r>
          </a:p>
          <a:p>
            <a:r>
              <a:rPr lang="es-ES" sz="1400">
                <a:latin typeface="Calibri" panose="020F0502020204030204" pitchFamily="34" charset="0"/>
              </a:rPr>
              <a:t>    • Consolidado de todos los módulos</a:t>
            </a:r>
          </a:p>
          <a:p>
            <a:r>
              <a:rPr lang="es-ES" sz="1400">
                <a:latin typeface="Calibri" panose="020F0502020204030204" pitchFamily="34" charset="0"/>
              </a:rPr>
              <a:t>    • Operaciones automáticas</a:t>
            </a:r>
          </a:p>
          <a:p>
            <a:r>
              <a:rPr lang="es-ES" sz="1400">
                <a:latin typeface="Calibri" panose="020F0502020204030204" pitchFamily="34" charset="0"/>
              </a:rPr>
              <a:t>    • Vista: RESUMEN.html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11. SUMMARY</a:t>
            </a:r>
          </a:p>
          <a:p>
            <a:r>
              <a:rPr lang="es-ES" sz="1400">
                <a:latin typeface="Calibri" panose="020F0502020204030204" pitchFamily="34" charset="0"/>
              </a:rPr>
              <a:t>    • Resumen ejecutivo en inglés</a:t>
            </a:r>
          </a:p>
          <a:p>
            <a:r>
              <a:rPr lang="es-ES" sz="1400">
                <a:latin typeface="Calibri" panose="020F0502020204030204" pitchFamily="34" charset="0"/>
              </a:rPr>
              <a:t>    • Reportes gerenciales</a:t>
            </a:r>
          </a:p>
          <a:p>
            <a:r>
              <a:rPr lang="es-ES" sz="1400">
                <a:latin typeface="Calibri" panose="020F0502020204030204" pitchFamily="34" charset="0"/>
              </a:rPr>
              <a:t>    • Vista: RESUMEN.html (mismo)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12. PRESUPUESTOS</a:t>
            </a:r>
          </a:p>
          <a:p>
            <a:r>
              <a:rPr lang="es-ES" sz="1400">
                <a:latin typeface="Calibri" panose="020F0502020204030204" pitchFamily="34" charset="0"/>
              </a:rPr>
              <a:t>    • Gestión centralizada de presupuestos</a:t>
            </a:r>
          </a:p>
          <a:p>
            <a:r>
              <a:rPr lang="es-ES" sz="1400">
                <a:latin typeface="Calibri" panose="020F0502020204030204" pitchFamily="34" charset="0"/>
              </a:rPr>
              <a:t>    • Estados y aprobaciones</a:t>
            </a:r>
          </a:p>
          <a:p>
            <a:r>
              <a:rPr lang="es-ES" sz="1400">
                <a:latin typeface="Calibri" panose="020F0502020204030204" pitchFamily="34" charset="0"/>
              </a:rPr>
              <a:t>    • Vista: Presupuestos.html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CARACTERÍSTICAS POR MÓDULO:</a:t>
            </a:r>
          </a:p>
          <a:p>
            <a:r>
              <a:rPr lang="es-ES" sz="1400">
                <a:latin typeface="Calibri" panose="020F0502020204030204" pitchFamily="34" charset="0"/>
              </a:rPr>
              <a:t>  ✓ Permisos independientes</a:t>
            </a:r>
          </a:p>
          <a:p>
            <a:r>
              <a:rPr lang="es-ES" sz="1400">
                <a:latin typeface="Calibri" panose="020F0502020204030204" pitchFamily="34" charset="0"/>
              </a:rPr>
              <a:t>  ✓ Estados de aprobación</a:t>
            </a:r>
          </a:p>
          <a:p>
            <a:r>
              <a:rPr lang="es-ES" sz="1400">
                <a:latin typeface="Calibri" panose="020F0502020204030204" pitchFamily="34" charset="0"/>
              </a:rPr>
              <a:t>  ✓ Historiales de cambios</a:t>
            </a:r>
          </a:p>
          <a:p>
            <a:r>
              <a:rPr lang="es-ES" sz="1400">
                <a:latin typeface="Calibri" panose="020F0502020204030204" pitchFamily="34" charset="0"/>
              </a:rPr>
              <a:t>  ✓ Comentarios en celdas</a:t>
            </a:r>
          </a:p>
          <a:p>
            <a:r>
              <a:rPr lang="es-ES" sz="1400">
                <a:latin typeface="Calibri" panose="020F0502020204030204" pitchFamily="34" charset="0"/>
              </a:rPr>
              <a:t>  ✓ Guardado automático (borradores)</a:t>
            </a:r>
          </a:p>
          <a:p>
            <a:r>
              <a:rPr lang="es-ES" sz="1400">
                <a:latin typeface="Calibri" panose="020F0502020204030204" pitchFamily="34" charset="0"/>
              </a:rPr>
              <a:t>  ✓ Exportación a Excel</a:t>
            </a:r>
          </a:p>
          <a:p>
            <a:r>
              <a:rPr lang="es-ES" sz="1400">
                <a:latin typeface="Calibri" panose="020F0502020204030204" pitchFamily="34" charset="0"/>
              </a:rPr>
              <a:t>  ✓ Validación de datos</a:t>
            </a:r>
          </a:p>
          <a:p>
            <a:endParaRPr lang="es-ES" sz="1400">
              <a:latin typeface="Calibri" panose="020F0502020204030204" pitchFamily="34" charset="0"/>
            </a:endParaRPr>
          </a:p>
          <a:p>
            <a:r>
              <a:rPr lang="es-ES" sz="1400">
                <a:latin typeface="Calibri" panose="020F0502020204030204" pitchFamily="34" charset="0"/>
              </a:rPr>
              <a:t>ESTRUCTURA DE DATOS:</a:t>
            </a:r>
          </a:p>
          <a:p>
            <a:r>
              <a:rPr lang="es-ES" sz="1400">
                <a:latin typeface="Calibri" panose="020F0502020204030204" pitchFamily="34" charset="0"/>
              </a:rPr>
              <a:t>  Cada módulo tiene:</a:t>
            </a:r>
          </a:p>
          <a:p>
            <a:r>
              <a:rPr lang="es-ES" sz="1400">
                <a:latin typeface="Calibri" panose="020F0502020204030204" pitchFamily="34" charset="0"/>
              </a:rPr>
              <a:t>  • Cuentas contables (layout_cuentas)</a:t>
            </a:r>
          </a:p>
          <a:p>
            <a:r>
              <a:rPr lang="es-ES" sz="1400">
                <a:latin typeface="Calibri" panose="020F0502020204030204" pitchFamily="34" charset="0"/>
              </a:rPr>
              <a:t>  • Operaciones (layout_operaciones)</a:t>
            </a:r>
          </a:p>
          <a:p>
            <a:r>
              <a:rPr lang="es-ES" sz="1400">
                <a:latin typeface="Calibri" panose="020F0502020204030204" pitchFamily="34" charset="0"/>
              </a:rPr>
              <a:t>  • Estado (presupuestos_estado)</a:t>
            </a:r>
          </a:p>
          <a:p>
            <a:r>
              <a:rPr lang="es-ES" sz="1400">
                <a:latin typeface="Calibri" panose="020F0502020204030204" pitchFamily="34" charset="0"/>
              </a:rPr>
              <a:t>  • Borradores (PLAN_BORRADORES)</a:t>
            </a:r>
          </a:p>
          <a:p>
            <a:r>
              <a:rPr lang="es-ES" sz="1400">
                <a:latin typeface="Calibri" panose="020F0502020204030204" pitchFamily="34" charset="0"/>
              </a:rPr>
              <a:t>  • Comentarios (comentarios_celdas)</a:t>
            </a:r>
            <a:endParaRPr lang="es-MX" sz="14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0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976EB-3354-97DB-F474-002C4AEC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Tecnologías de Desarrollo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4FB9EB-A0C3-0108-5B3D-72292EAB9B45}"/>
              </a:ext>
            </a:extLst>
          </p:cNvPr>
          <p:cNvSpPr txBox="1"/>
          <p:nvPr/>
        </p:nvSpPr>
        <p:spPr>
          <a:xfrm>
            <a:off x="635000" y="1524000"/>
            <a:ext cx="11684000" cy="124091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400">
                <a:latin typeface="Calibri" panose="020F0502020204030204" pitchFamily="34" charset="0"/>
              </a:rPr>
              <a:t>Herramientas y Librerías Utilizadas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DESARROLLO:</a:t>
            </a:r>
          </a:p>
          <a:p>
            <a:r>
              <a:rPr lang="es-MX" sz="1400">
                <a:latin typeface="Calibri" panose="020F0502020204030204" pitchFamily="34" charset="0"/>
              </a:rPr>
              <a:t>  • Node.js 18+ (Runtime)</a:t>
            </a:r>
          </a:p>
          <a:p>
            <a:r>
              <a:rPr lang="es-MX" sz="1400">
                <a:latin typeface="Calibri" panose="020F0502020204030204" pitchFamily="34" charset="0"/>
              </a:rPr>
              <a:t>  • npm (Gestor de paquetes)</a:t>
            </a:r>
          </a:p>
          <a:p>
            <a:r>
              <a:rPr lang="es-MX" sz="1400">
                <a:latin typeface="Calibri" panose="020F0502020204030204" pitchFamily="34" charset="0"/>
              </a:rPr>
              <a:t>  • cross-env (Variables de entorno multiplataforma)</a:t>
            </a:r>
          </a:p>
          <a:p>
            <a:r>
              <a:rPr lang="es-MX" sz="1400">
                <a:latin typeface="Calibri" panose="020F0502020204030204" pitchFamily="34" charset="0"/>
              </a:rPr>
              <a:t>  • electron-rebuild (Recompilación de módulos nativos)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FRONTEND FRAMEWORKS:</a:t>
            </a:r>
          </a:p>
          <a:p>
            <a:r>
              <a:rPr lang="es-MX" sz="1400">
                <a:latin typeface="Calibri" panose="020F0502020204030204" pitchFamily="34" charset="0"/>
              </a:rPr>
              <a:t>  • Bootstrap 5.3.0 (CSS Framework)</a:t>
            </a:r>
          </a:p>
          <a:p>
            <a:r>
              <a:rPr lang="es-MX" sz="1400">
                <a:latin typeface="Calibri" panose="020F0502020204030204" pitchFamily="34" charset="0"/>
              </a:rPr>
              <a:t>  • Font Awesome 6.4.0 (Iconos)</a:t>
            </a:r>
          </a:p>
          <a:p>
            <a:r>
              <a:rPr lang="es-MX" sz="1400">
                <a:latin typeface="Calibri" panose="020F0502020204030204" pitchFamily="34" charset="0"/>
              </a:rPr>
              <a:t>  • Chart.js 4.3.0 (Gráficas)</a:t>
            </a:r>
          </a:p>
          <a:p>
            <a:r>
              <a:rPr lang="es-MX" sz="1400">
                <a:latin typeface="Calibri" panose="020F0502020204030204" pitchFamily="34" charset="0"/>
              </a:rPr>
              <a:t>  • DataTables 1.13.4 (Tablas interactivas)</a:t>
            </a:r>
          </a:p>
          <a:p>
            <a:r>
              <a:rPr lang="es-MX" sz="1400">
                <a:latin typeface="Calibri" panose="020F0502020204030204" pitchFamily="34" charset="0"/>
              </a:rPr>
              <a:t>  • Sweet Alert 2 4.0.19 (Notificaciones)</a:t>
            </a:r>
          </a:p>
          <a:p>
            <a:r>
              <a:rPr lang="es-MX" sz="1400">
                <a:latin typeface="Calibri" panose="020F0502020204030204" pitchFamily="34" charset="0"/>
              </a:rPr>
              <a:t>  • Moment.js 2.29.4 (Fechas)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BACKEND FRAMEWORKS:</a:t>
            </a:r>
          </a:p>
          <a:p>
            <a:r>
              <a:rPr lang="es-MX" sz="1400">
                <a:latin typeface="Calibri" panose="020F0502020204030204" pitchFamily="34" charset="0"/>
              </a:rPr>
              <a:t>  • Express.js 4.18.2 (Servidor web)</a:t>
            </a:r>
          </a:p>
          <a:p>
            <a:r>
              <a:rPr lang="es-MX" sz="1400">
                <a:latin typeface="Calibri" panose="020F0502020204030204" pitchFamily="34" charset="0"/>
              </a:rPr>
              <a:t>  • Helmet 7.0.0 (Seguridad HTTP)</a:t>
            </a:r>
          </a:p>
          <a:p>
            <a:r>
              <a:rPr lang="es-MX" sz="1400">
                <a:latin typeface="Calibri" panose="020F0502020204030204" pitchFamily="34" charset="0"/>
              </a:rPr>
              <a:t>  • CORS 2.8.5 (Cross-Origin Resource Sharing)</a:t>
            </a:r>
          </a:p>
          <a:p>
            <a:r>
              <a:rPr lang="es-MX" sz="1400">
                <a:latin typeface="Calibri" panose="020F0502020204030204" pitchFamily="34" charset="0"/>
              </a:rPr>
              <a:t>  • Cookie Parser 1.4.6 (Manejo de cookies)</a:t>
            </a:r>
          </a:p>
          <a:p>
            <a:r>
              <a:rPr lang="es-MX" sz="1400">
                <a:latin typeface="Calibri" panose="020F0502020204030204" pitchFamily="34" charset="0"/>
              </a:rPr>
              <a:t>  • Express Session 1.17.3 (Sesiones)</a:t>
            </a:r>
          </a:p>
          <a:p>
            <a:r>
              <a:rPr lang="es-MX" sz="1400">
                <a:latin typeface="Calibri" panose="020F0502020204030204" pitchFamily="34" charset="0"/>
              </a:rPr>
              <a:t>  • Better-SQLite3 Session Store 0.1.0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AUTENTICACIÓN Y SEGURIDAD:</a:t>
            </a:r>
          </a:p>
          <a:p>
            <a:r>
              <a:rPr lang="es-MX" sz="1400">
                <a:latin typeface="Calibri" panose="020F0502020204030204" pitchFamily="34" charset="0"/>
              </a:rPr>
              <a:t>  • jsonwebtoken 9.0.2 (JWT)</a:t>
            </a:r>
          </a:p>
          <a:p>
            <a:r>
              <a:rPr lang="es-MX" sz="1400">
                <a:latin typeface="Calibri" panose="020F0502020204030204" pitchFamily="34" charset="0"/>
              </a:rPr>
              <a:t>  • bcryptjs 2.4.3 (Hashing)</a:t>
            </a:r>
          </a:p>
          <a:p>
            <a:r>
              <a:rPr lang="es-MX" sz="1400">
                <a:latin typeface="Calibri" panose="020F0502020204030204" pitchFamily="34" charset="0"/>
              </a:rPr>
              <a:t>  • Joi 17.9.2 (Validación)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BASES DE DATOS:</a:t>
            </a:r>
          </a:p>
          <a:p>
            <a:r>
              <a:rPr lang="es-MX" sz="1400">
                <a:latin typeface="Calibri" panose="020F0502020204030204" pitchFamily="34" charset="0"/>
              </a:rPr>
              <a:t>  • better-sqlite3 8.5.0 (SQLite)</a:t>
            </a:r>
          </a:p>
          <a:p>
            <a:r>
              <a:rPr lang="es-MX" sz="1400">
                <a:latin typeface="Calibri" panose="020F0502020204030204" pitchFamily="34" charset="0"/>
              </a:rPr>
              <a:t>  • node-firebird 1.1.8 (Firebird)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ELECTRON:</a:t>
            </a:r>
          </a:p>
          <a:p>
            <a:r>
              <a:rPr lang="es-MX" sz="1400">
                <a:latin typeface="Calibri" panose="020F0502020204030204" pitchFamily="34" charset="0"/>
              </a:rPr>
              <a:t>  • electron 39.2.7 (Framework desktop)</a:t>
            </a:r>
          </a:p>
          <a:p>
            <a:r>
              <a:rPr lang="es-MX" sz="1400">
                <a:latin typeface="Calibri" panose="020F0502020204030204" pitchFamily="34" charset="0"/>
              </a:rPr>
              <a:t>  • electron-builder 25.1.8 (Empaquetado)</a:t>
            </a:r>
          </a:p>
          <a:p>
            <a:r>
              <a:rPr lang="es-MX" sz="1400">
                <a:latin typeface="Calibri" panose="020F0502020204030204" pitchFamily="34" charset="0"/>
              </a:rPr>
              <a:t>  • electron-updater (Auto-updates)</a:t>
            </a:r>
          </a:p>
          <a:p>
            <a:r>
              <a:rPr lang="es-MX" sz="1400">
                <a:latin typeface="Calibri" panose="020F0502020204030204" pitchFamily="34" charset="0"/>
              </a:rPr>
              <a:t>  • auto-launch 5.0.5 (Inicio automático)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UTILIDADES:</a:t>
            </a:r>
          </a:p>
          <a:p>
            <a:r>
              <a:rPr lang="es-MX" sz="1400">
                <a:latin typeface="Calibri" panose="020F0502020204030204" pitchFamily="34" charset="0"/>
              </a:rPr>
              <a:t>  • esbuild 0.27.1 (Bundler opcional)</a:t>
            </a:r>
          </a:p>
          <a:p>
            <a:r>
              <a:rPr lang="es-MX" sz="1400">
                <a:latin typeface="Calibri" panose="020F0502020204030204" pitchFamily="34" charset="0"/>
              </a:rPr>
              <a:t>  • dotenv (Variables de entorno)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BUILD Y DEPLOYMENT:</a:t>
            </a:r>
          </a:p>
          <a:p>
            <a:r>
              <a:rPr lang="es-MX" sz="1400">
                <a:latin typeface="Calibri" panose="020F0502020204030204" pitchFamily="34" charset="0"/>
              </a:rPr>
              <a:t>  • electron-builder (Empaquetado)</a:t>
            </a:r>
          </a:p>
          <a:p>
            <a:r>
              <a:rPr lang="es-MX" sz="1400">
                <a:latin typeface="Calibri" panose="020F0502020204030204" pitchFamily="34" charset="0"/>
              </a:rPr>
              <a:t>  • GitHub Releases (Distribución)</a:t>
            </a:r>
          </a:p>
          <a:p>
            <a:r>
              <a:rPr lang="es-MX" sz="1400">
                <a:latin typeface="Calibri" panose="020F0502020204030204" pitchFamily="34" charset="0"/>
              </a:rPr>
              <a:t>  • NSIS (Instalador Windows)</a:t>
            </a:r>
          </a:p>
          <a:p>
            <a:r>
              <a:rPr lang="es-MX" sz="1400">
                <a:latin typeface="Calibri" panose="020F0502020204030204" pitchFamily="34" charset="0"/>
              </a:rPr>
              <a:t>  • Portable build (Sin instalación)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TESTING:</a:t>
            </a:r>
          </a:p>
          <a:p>
            <a:r>
              <a:rPr lang="es-MX" sz="1400">
                <a:latin typeface="Calibri" panose="020F0502020204030204" pitchFamily="34" charset="0"/>
              </a:rPr>
              <a:t>  • Node.js built-in test runner</a:t>
            </a:r>
          </a:p>
          <a:p>
            <a:r>
              <a:rPr lang="es-MX" sz="1400">
                <a:latin typeface="Calibri" panose="020F0502020204030204" pitchFamily="34" charset="0"/>
              </a:rPr>
              <a:t>  • Scripts de validación personalizados</a:t>
            </a:r>
          </a:p>
          <a:p>
            <a:endParaRPr lang="es-MX" sz="1400">
              <a:latin typeface="Calibri" panose="020F0502020204030204" pitchFamily="34" charset="0"/>
            </a:endParaRPr>
          </a:p>
          <a:p>
            <a:r>
              <a:rPr lang="es-MX" sz="1400">
                <a:latin typeface="Calibri" panose="020F0502020204030204" pitchFamily="34" charset="0"/>
              </a:rPr>
              <a:t>CONTROL DE VERSIONES:</a:t>
            </a:r>
          </a:p>
          <a:p>
            <a:r>
              <a:rPr lang="es-MX" sz="1400">
                <a:latin typeface="Calibri" panose="020F0502020204030204" pitchFamily="34" charset="0"/>
              </a:rPr>
              <a:t>  • Git + GitHub</a:t>
            </a:r>
          </a:p>
          <a:p>
            <a:r>
              <a:rPr lang="es-MX" sz="1400">
                <a:latin typeface="Calibri" panose="020F0502020204030204" pitchFamily="34" charset="0"/>
              </a:rPr>
              <a:t>  • Semantic Versioning (X.Y.Z)</a:t>
            </a:r>
          </a:p>
          <a:p>
            <a:r>
              <a:rPr lang="es-MX" sz="1400">
                <a:latin typeface="Calibri" panose="020F0502020204030204" pitchFamily="34" charset="0"/>
              </a:rPr>
              <a:t>  • Changelog automatizado</a:t>
            </a:r>
          </a:p>
        </p:txBody>
      </p:sp>
    </p:spTree>
    <p:extLst>
      <p:ext uri="{BB962C8B-B14F-4D97-AF65-F5344CB8AC3E}">
        <p14:creationId xmlns:p14="http://schemas.microsoft.com/office/powerpoint/2010/main" val="2126273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5541C-7A0F-3ECA-35D5-59617EB0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Estructura de Directorios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84C909-4E19-BDFB-9F39-F8755BD3011C}"/>
              </a:ext>
            </a:extLst>
          </p:cNvPr>
          <p:cNvSpPr txBox="1"/>
          <p:nvPr/>
        </p:nvSpPr>
        <p:spPr>
          <a:xfrm>
            <a:off x="635000" y="1524000"/>
            <a:ext cx="11684000" cy="120956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300">
                <a:latin typeface="Calibri" panose="020F0502020204030204" pitchFamily="34" charset="0"/>
              </a:rPr>
              <a:t>Organización del Proyecto</a:t>
            </a:r>
          </a:p>
          <a:p>
            <a:endParaRPr lang="es-MX" sz="1300">
              <a:latin typeface="Calibri" panose="020F0502020204030204" pitchFamily="34" charset="0"/>
            </a:endParaRPr>
          </a:p>
          <a:p>
            <a:r>
              <a:rPr lang="es-MX" sz="1300">
                <a:latin typeface="Calibri" panose="020F0502020204030204" pitchFamily="34" charset="0"/>
              </a:rPr>
              <a:t>SummaCham/</a:t>
            </a:r>
          </a:p>
          <a:p>
            <a:r>
              <a:rPr lang="es-MX" sz="1300">
                <a:latin typeface="Calibri" panose="020F0502020204030204" pitchFamily="34" charset="0"/>
              </a:rPr>
              <a:t>├── main.js                    # Punto de entrada Electron</a:t>
            </a:r>
          </a:p>
          <a:p>
            <a:r>
              <a:rPr lang="es-MX" sz="1300">
                <a:latin typeface="Calibri" panose="020F0502020204030204" pitchFamily="34" charset="0"/>
              </a:rPr>
              <a:t>├── package.json               # Configuración npm</a:t>
            </a:r>
          </a:p>
          <a:p>
            <a:r>
              <a:rPr lang="es-MX" sz="1300">
                <a:latin typeface="Calibri" panose="020F0502020204030204" pitchFamily="34" charset="0"/>
              </a:rPr>
              <a:t>├── .env                       # Variables de entorno (no en Git)</a:t>
            </a:r>
          </a:p>
          <a:p>
            <a:r>
              <a:rPr lang="es-MX" sz="1300">
                <a:latin typeface="Calibri" panose="020F0502020204030204" pitchFamily="34" charset="0"/>
              </a:rPr>
              <a:t>│</a:t>
            </a:r>
          </a:p>
          <a:p>
            <a:r>
              <a:rPr lang="es-MX" sz="1300">
                <a:latin typeface="Calibri" panose="020F0502020204030204" pitchFamily="34" charset="0"/>
              </a:rPr>
              <a:t>├── src/                       # Código fuente backend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server.js              # Servidor Express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db/                    # Capa de base de datos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sqlite.js          # SQLite connection + schemas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└── nedb.js            # Legacy (no usado)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middleware/            # Middleware de Express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└── auth.js            # Autenticación y autorización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routes/                # Controladores (endpoints)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auth.js            # Login, logout, refresh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usuarios.js        # CRUD usuarios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empresas.js        # Gestión empresas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presupuestos.js    # Presupuestos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layouts.js         # Layouts/plantillas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reportes.js        # Generación reportes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insercion.js       # Inserción de datos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borradores.js      # Guardado automático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└── ...                # Otros módulos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services/              # Lógica de negocio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firebirdService.js # Integración Firebird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permisosService.js # Gestión permisos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layoutService.js   # Operaciones layouts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backupService.js   # Backups automáticos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└── ...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config/                # Configuración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modulos.js         # Definición módulos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├── empresas.js        # Definición empresas</a:t>
            </a:r>
          </a:p>
          <a:p>
            <a:r>
              <a:rPr lang="es-MX" sz="1300">
                <a:latin typeface="Calibri" panose="020F0502020204030204" pitchFamily="34" charset="0"/>
              </a:rPr>
              <a:t>│   │   └── seed_users.json    # Usuarios iniciales</a:t>
            </a:r>
          </a:p>
          <a:p>
            <a:r>
              <a:rPr lang="es-MX" sz="1300">
                <a:latin typeface="Calibri" panose="020F0502020204030204" pitchFamily="34" charset="0"/>
              </a:rPr>
              <a:t>│   └── utils/                 # Utilidades</a:t>
            </a:r>
          </a:p>
          <a:p>
            <a:r>
              <a:rPr lang="es-MX" sz="1300">
                <a:latin typeface="Calibri" panose="020F0502020204030204" pitchFamily="34" charset="0"/>
              </a:rPr>
              <a:t>│</a:t>
            </a:r>
          </a:p>
          <a:p>
            <a:r>
              <a:rPr lang="es-MX" sz="1300">
                <a:latin typeface="Calibri" panose="020F0502020204030204" pitchFamily="34" charset="0"/>
              </a:rPr>
              <a:t>├── vistas/                    # Frontend (HTML)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login.html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usuarios.html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presupuestos.html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RESUMEN.html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Graficas-Mejoradas.html</a:t>
            </a:r>
          </a:p>
          <a:p>
            <a:r>
              <a:rPr lang="es-MX" sz="1300">
                <a:latin typeface="Calibri" panose="020F0502020204030204" pitchFamily="34" charset="0"/>
              </a:rPr>
              <a:t>│   └── ...</a:t>
            </a:r>
          </a:p>
          <a:p>
            <a:r>
              <a:rPr lang="es-MX" sz="1300">
                <a:latin typeface="Calibri" panose="020F0502020204030204" pitchFamily="34" charset="0"/>
              </a:rPr>
              <a:t>│</a:t>
            </a:r>
          </a:p>
          <a:p>
            <a:r>
              <a:rPr lang="es-MX" sz="1300">
                <a:latin typeface="Calibri" panose="020F0502020204030204" pitchFamily="34" charset="0"/>
              </a:rPr>
              <a:t>├── datos/                     # Datos persistentes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panel.sqlite           # Base de datos principal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firebird-connections.json # Config Firebird</a:t>
            </a:r>
          </a:p>
          <a:p>
            <a:r>
              <a:rPr lang="es-MX" sz="1300">
                <a:latin typeface="Calibri" panose="020F0502020204030204" pitchFamily="34" charset="0"/>
              </a:rPr>
              <a:t>│   └── backups/               # Backups automáticos</a:t>
            </a:r>
          </a:p>
          <a:p>
            <a:r>
              <a:rPr lang="es-MX" sz="1300">
                <a:latin typeface="Calibri" panose="020F0502020204030204" pitchFamily="34" charset="0"/>
              </a:rPr>
              <a:t>│</a:t>
            </a:r>
          </a:p>
          <a:p>
            <a:r>
              <a:rPr lang="es-MX" sz="1300">
                <a:latin typeface="Calibri" panose="020F0502020204030204" pitchFamily="34" charset="0"/>
              </a:rPr>
              <a:t>├── scripts/                   # Scripts de utilidad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prepublish.js          # Pre-publicación</a:t>
            </a:r>
          </a:p>
          <a:p>
            <a:r>
              <a:rPr lang="es-MX" sz="1300">
                <a:latin typeface="Calibri" panose="020F0502020204030204" pitchFamily="34" charset="0"/>
              </a:rPr>
              <a:t>│   ├── manage-native.js       # Módulos nativos</a:t>
            </a:r>
          </a:p>
          <a:p>
            <a:r>
              <a:rPr lang="es-MX" sz="1300">
                <a:latin typeface="Calibri" panose="020F0502020204030204" pitchFamily="34" charset="0"/>
              </a:rPr>
              <a:t>│   └── ...</a:t>
            </a:r>
          </a:p>
          <a:p>
            <a:r>
              <a:rPr lang="es-MX" sz="1300">
                <a:latin typeface="Calibri" panose="020F0502020204030204" pitchFamily="34" charset="0"/>
              </a:rPr>
              <a:t>│</a:t>
            </a:r>
          </a:p>
          <a:p>
            <a:r>
              <a:rPr lang="es-MX" sz="1300">
                <a:latin typeface="Calibri" panose="020F0502020204030204" pitchFamily="34" charset="0"/>
              </a:rPr>
              <a:t>├── icono/                     # Iconos de la aplicación</a:t>
            </a:r>
          </a:p>
          <a:p>
            <a:r>
              <a:rPr lang="es-MX" sz="1300">
                <a:latin typeface="Calibri" panose="020F0502020204030204" pitchFamily="34" charset="0"/>
              </a:rPr>
              <a:t>├── image/                     # Imágenes y assets</a:t>
            </a:r>
          </a:p>
          <a:p>
            <a:r>
              <a:rPr lang="es-MX" sz="1300">
                <a:latin typeface="Calibri" panose="020F0502020204030204" pitchFamily="34" charset="0"/>
              </a:rPr>
              <a:t>├── docs/                      # Documentación consolidada</a:t>
            </a:r>
          </a:p>
          <a:p>
            <a:r>
              <a:rPr lang="es-MX" sz="1300">
                <a:latin typeface="Calibri" panose="020F0502020204030204" pitchFamily="34" charset="0"/>
              </a:rPr>
              <a:t>├── tests/                     # Tests automatizados</a:t>
            </a:r>
          </a:p>
          <a:p>
            <a:r>
              <a:rPr lang="es-MX" sz="1300">
                <a:latin typeface="Calibri" panose="020F0502020204030204" pitchFamily="34" charset="0"/>
              </a:rPr>
              <a:t>├── native_modules/            # Módulos nativos compilados</a:t>
            </a:r>
          </a:p>
          <a:p>
            <a:r>
              <a:rPr lang="es-MX" sz="1300">
                <a:latin typeface="Calibri" panose="020F0502020204030204" pitchFamily="34" charset="0"/>
              </a:rPr>
              <a:t>└── dist/                      # Build final (generado)</a:t>
            </a:r>
          </a:p>
        </p:txBody>
      </p:sp>
    </p:spTree>
    <p:extLst>
      <p:ext uri="{BB962C8B-B14F-4D97-AF65-F5344CB8AC3E}">
        <p14:creationId xmlns:p14="http://schemas.microsoft.com/office/powerpoint/2010/main" val="288084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DDB-FC5B-E0B1-C39D-C9845A7B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/>
              <a:t>Deployment y Distribución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965EDF9-5B19-44F2-C08D-FBCE02E1B2DD}"/>
              </a:ext>
            </a:extLst>
          </p:cNvPr>
          <p:cNvSpPr txBox="1"/>
          <p:nvPr/>
        </p:nvSpPr>
        <p:spPr>
          <a:xfrm>
            <a:off x="635000" y="1524000"/>
            <a:ext cx="11684000" cy="148656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latin typeface="Calibri" panose="020F0502020204030204" pitchFamily="34" charset="0"/>
              </a:rPr>
              <a:t>Proceso de Compilación y Distribución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1. PREPARACIÓN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   npm install                    # Instalar dependencias</a:t>
            </a:r>
          </a:p>
          <a:p>
            <a:r>
              <a:rPr lang="es-MX" sz="1200">
                <a:latin typeface="Calibri" panose="020F0502020204030204" pitchFamily="34" charset="0"/>
              </a:rPr>
              <a:t>   npm run rebuild-native-electron # Recompilar módulos nativos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2. BUILD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   npm run dist                   # Crear instalador NSIS</a:t>
            </a:r>
          </a:p>
          <a:p>
            <a:r>
              <a:rPr lang="es-MX" sz="1200">
                <a:latin typeface="Calibri" panose="020F0502020204030204" pitchFamily="34" charset="0"/>
              </a:rPr>
              <a:t>   npm run build:portable         # Crear versión portable</a:t>
            </a:r>
          </a:p>
          <a:p>
            <a:r>
              <a:rPr lang="es-MX" sz="1200">
                <a:latin typeface="Calibri" panose="020F0502020204030204" pitchFamily="34" charset="0"/>
              </a:rPr>
              <a:t>   npm run build:all              # Ambos formatos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   Salida en ./dist/:</a:t>
            </a:r>
          </a:p>
          <a:p>
            <a:r>
              <a:rPr lang="es-MX" sz="1200">
                <a:latin typeface="Calibri" panose="020F0502020204030204" pitchFamily="34" charset="0"/>
              </a:rPr>
              <a:t>   • SummaCham Setup 4.1.0.exe         (Instalador)</a:t>
            </a:r>
          </a:p>
          <a:p>
            <a:r>
              <a:rPr lang="es-MX" sz="1200">
                <a:latin typeface="Calibri" panose="020F0502020204030204" pitchFamily="34" charset="0"/>
              </a:rPr>
              <a:t>   • SummaCham 4.1.0.exe               (Portable)</a:t>
            </a:r>
          </a:p>
          <a:p>
            <a:r>
              <a:rPr lang="es-MX" sz="1200">
                <a:latin typeface="Calibri" panose="020F0502020204030204" pitchFamily="34" charset="0"/>
              </a:rPr>
              <a:t>   • latest.yml                         (Metadata)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3. PUBLICACIÓN EN GITHUB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   git tag -a v4.1.0 -m "Release 4.1.0"</a:t>
            </a:r>
          </a:p>
          <a:p>
            <a:r>
              <a:rPr lang="es-MX" sz="1200">
                <a:latin typeface="Calibri" panose="020F0502020204030204" pitchFamily="34" charset="0"/>
              </a:rPr>
              <a:t>   git push origin v4.1.0</a:t>
            </a:r>
          </a:p>
          <a:p>
            <a:r>
              <a:rPr lang="es-MX" sz="1200">
                <a:latin typeface="Calibri" panose="020F0502020204030204" pitchFamily="34" charset="0"/>
              </a:rPr>
              <a:t>   </a:t>
            </a:r>
          </a:p>
          <a:p>
            <a:r>
              <a:rPr lang="es-MX" sz="1200">
                <a:latin typeface="Calibri" panose="020F0502020204030204" pitchFamily="34" charset="0"/>
              </a:rPr>
              <a:t>   Crear Release en GitHub:</a:t>
            </a:r>
          </a:p>
          <a:p>
            <a:r>
              <a:rPr lang="es-MX" sz="1200">
                <a:latin typeface="Calibri" panose="020F0502020204030204" pitchFamily="34" charset="0"/>
              </a:rPr>
              <a:t>   • Subir archivos de ./dist/</a:t>
            </a:r>
          </a:p>
          <a:p>
            <a:r>
              <a:rPr lang="es-MX" sz="1200">
                <a:latin typeface="Calibri" panose="020F0502020204030204" pitchFamily="34" charset="0"/>
              </a:rPr>
              <a:t>   • latest.yml (OBLIGATORIO)</a:t>
            </a:r>
          </a:p>
          <a:p>
            <a:r>
              <a:rPr lang="es-MX" sz="1200">
                <a:latin typeface="Calibri" panose="020F0502020204030204" pitchFamily="34" charset="0"/>
              </a:rPr>
              <a:t>   • Release notes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4. AUTO-UPDATE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   Los usuarios existentes recibirán notificación:</a:t>
            </a:r>
          </a:p>
          <a:p>
            <a:r>
              <a:rPr lang="es-MX" sz="1200">
                <a:latin typeface="Calibri" panose="020F0502020204030204" pitchFamily="34" charset="0"/>
              </a:rPr>
              <a:t>   "Nueva versión 4.1.0 disponible"</a:t>
            </a:r>
          </a:p>
          <a:p>
            <a:r>
              <a:rPr lang="es-MX" sz="1200">
                <a:latin typeface="Calibri" panose="020F0502020204030204" pitchFamily="34" charset="0"/>
              </a:rPr>
              <a:t>   → Descarga → Instalación automática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ELECTRON-BUILDER CONFIGURACIÓN: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build: {</a:t>
            </a:r>
          </a:p>
          <a:p>
            <a:r>
              <a:rPr lang="es-MX" sz="1200">
                <a:latin typeface="Calibri" panose="020F0502020204030204" pitchFamily="34" charset="0"/>
              </a:rPr>
              <a:t>  appId: "com.summa.cham.panelamcham",</a:t>
            </a:r>
          </a:p>
          <a:p>
            <a:r>
              <a:rPr lang="es-MX" sz="1200">
                <a:latin typeface="Calibri" panose="020F0502020204030204" pitchFamily="34" charset="0"/>
              </a:rPr>
              <a:t>  productName: "PanelAMCHAM",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asar: true,                    # Empaquetar código</a:t>
            </a:r>
          </a:p>
          <a:p>
            <a:r>
              <a:rPr lang="es-MX" sz="1200">
                <a:latin typeface="Calibri" panose="020F0502020204030204" pitchFamily="34" charset="0"/>
              </a:rPr>
              <a:t>  asarUnpack: [                  # Excepciones</a:t>
            </a:r>
          </a:p>
          <a:p>
            <a:r>
              <a:rPr lang="es-MX" sz="1200">
                <a:latin typeface="Calibri" panose="020F0502020204030204" pitchFamily="34" charset="0"/>
              </a:rPr>
              <a:t>    "node_modules/better-sqlite3/**/*",</a:t>
            </a:r>
          </a:p>
          <a:p>
            <a:r>
              <a:rPr lang="es-MX" sz="1200">
                <a:latin typeface="Calibri" panose="020F0502020204030204" pitchFamily="34" charset="0"/>
              </a:rPr>
              <a:t>    "node_modules/node-firebird/**/*",</a:t>
            </a:r>
          </a:p>
          <a:p>
            <a:r>
              <a:rPr lang="es-MX" sz="1200">
                <a:latin typeface="Calibri" panose="020F0502020204030204" pitchFamily="34" charset="0"/>
              </a:rPr>
              <a:t>    "native_modules/**/*"</a:t>
            </a:r>
          </a:p>
          <a:p>
            <a:r>
              <a:rPr lang="es-MX" sz="1200">
                <a:latin typeface="Calibri" panose="020F0502020204030204" pitchFamily="34" charset="0"/>
              </a:rPr>
              <a:t>  ],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compression: "maximum",        # Máxima compresión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publish: [{</a:t>
            </a:r>
          </a:p>
          <a:p>
            <a:r>
              <a:rPr lang="es-MX" sz="1200">
                <a:latin typeface="Calibri" panose="020F0502020204030204" pitchFamily="34" charset="0"/>
              </a:rPr>
              <a:t>    provider: "github",</a:t>
            </a:r>
          </a:p>
          <a:p>
            <a:r>
              <a:rPr lang="es-MX" sz="1200">
                <a:latin typeface="Calibri" panose="020F0502020204030204" pitchFamily="34" charset="0"/>
              </a:rPr>
              <a:t>    owner: "IustusRenidet",</a:t>
            </a:r>
          </a:p>
          <a:p>
            <a:r>
              <a:rPr lang="es-MX" sz="1200">
                <a:latin typeface="Calibri" panose="020F0502020204030204" pitchFamily="34" charset="0"/>
              </a:rPr>
              <a:t>    repo: "SummaCham"</a:t>
            </a:r>
          </a:p>
          <a:p>
            <a:r>
              <a:rPr lang="es-MX" sz="1200">
                <a:latin typeface="Calibri" panose="020F0502020204030204" pitchFamily="34" charset="0"/>
              </a:rPr>
              <a:t>  }],</a:t>
            </a:r>
          </a:p>
          <a:p>
            <a:r>
              <a:rPr lang="es-MX" sz="1200">
                <a:latin typeface="Calibri" panose="020F0502020204030204" pitchFamily="34" charset="0"/>
              </a:rPr>
              <a:t>  </a:t>
            </a:r>
          </a:p>
          <a:p>
            <a:r>
              <a:rPr lang="es-MX" sz="1200">
                <a:latin typeface="Calibri" panose="020F0502020204030204" pitchFamily="34" charset="0"/>
              </a:rPr>
              <a:t>  win: {</a:t>
            </a:r>
          </a:p>
          <a:p>
            <a:r>
              <a:rPr lang="es-MX" sz="1200">
                <a:latin typeface="Calibri" panose="020F0502020204030204" pitchFamily="34" charset="0"/>
              </a:rPr>
              <a:t>    target: ["nsis", "portable"],</a:t>
            </a:r>
          </a:p>
          <a:p>
            <a:r>
              <a:rPr lang="es-MX" sz="1200">
                <a:latin typeface="Calibri" panose="020F0502020204030204" pitchFamily="34" charset="0"/>
              </a:rPr>
              <a:t>    icon: "icono/icono.ico"</a:t>
            </a:r>
          </a:p>
          <a:p>
            <a:r>
              <a:rPr lang="es-MX" sz="1200">
                <a:latin typeface="Calibri" panose="020F0502020204030204" pitchFamily="34" charset="0"/>
              </a:rPr>
              <a:t>  }</a:t>
            </a:r>
          </a:p>
          <a:p>
            <a:r>
              <a:rPr lang="es-MX" sz="1200">
                <a:latin typeface="Calibri" panose="020F0502020204030204" pitchFamily="34" charset="0"/>
              </a:rPr>
              <a:t>}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MODOS DE DISTRIBUCIÓN: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1. INSTALADOR (NSIS)</a:t>
            </a:r>
          </a:p>
          <a:p>
            <a:r>
              <a:rPr lang="es-MX" sz="1200">
                <a:latin typeface="Calibri" panose="020F0502020204030204" pitchFamily="34" charset="0"/>
              </a:rPr>
              <a:t>   • Requiere privilegios de administrador</a:t>
            </a:r>
          </a:p>
          <a:p>
            <a:r>
              <a:rPr lang="es-MX" sz="1200">
                <a:latin typeface="Calibri" panose="020F0502020204030204" pitchFamily="34" charset="0"/>
              </a:rPr>
              <a:t>   • Instalación en Program Files</a:t>
            </a:r>
          </a:p>
          <a:p>
            <a:r>
              <a:rPr lang="es-MX" sz="1200">
                <a:latin typeface="Calibri" panose="020F0502020204030204" pitchFamily="34" charset="0"/>
              </a:rPr>
              <a:t>   • Shortcuts en Desktop y Start Menu</a:t>
            </a:r>
          </a:p>
          <a:p>
            <a:r>
              <a:rPr lang="es-MX" sz="1200">
                <a:latin typeface="Calibri" panose="020F0502020204030204" pitchFamily="34" charset="0"/>
              </a:rPr>
              <a:t>   • Desinstalador incluido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2. PORTABLE</a:t>
            </a:r>
          </a:p>
          <a:p>
            <a:r>
              <a:rPr lang="es-MX" sz="1200">
                <a:latin typeface="Calibri" panose="020F0502020204030204" pitchFamily="34" charset="0"/>
              </a:rPr>
              <a:t>   • No requiere instalación</a:t>
            </a:r>
          </a:p>
          <a:p>
            <a:r>
              <a:rPr lang="es-MX" sz="1200">
                <a:latin typeface="Calibri" panose="020F0502020204030204" pitchFamily="34" charset="0"/>
              </a:rPr>
              <a:t>   • Ejecutable único</a:t>
            </a:r>
          </a:p>
          <a:p>
            <a:r>
              <a:rPr lang="es-MX" sz="1200">
                <a:latin typeface="Calibri" panose="020F0502020204030204" pitchFamily="34" charset="0"/>
              </a:rPr>
              <a:t>   • Datos en carpeta local</a:t>
            </a:r>
          </a:p>
          <a:p>
            <a:r>
              <a:rPr lang="es-MX" sz="1200">
                <a:latin typeface="Calibri" panose="020F0502020204030204" pitchFamily="34" charset="0"/>
              </a:rPr>
              <a:t>   • Ideal para USB</a:t>
            </a:r>
          </a:p>
          <a:p>
            <a:endParaRPr lang="es-MX" sz="1200">
              <a:latin typeface="Calibri" panose="020F0502020204030204" pitchFamily="34" charset="0"/>
            </a:endParaRPr>
          </a:p>
          <a:p>
            <a:r>
              <a:rPr lang="es-MX" sz="1200">
                <a:latin typeface="Calibri" panose="020F0502020204030204" pitchFamily="34" charset="0"/>
              </a:rPr>
              <a:t>VENTAJAS:</a:t>
            </a:r>
          </a:p>
          <a:p>
            <a:r>
              <a:rPr lang="es-MX" sz="1200">
                <a:latin typeface="Calibri" panose="020F0502020204030204" pitchFamily="34" charset="0"/>
              </a:rPr>
              <a:t>  ✓ Actualizaciones automáticas</a:t>
            </a:r>
          </a:p>
          <a:p>
            <a:r>
              <a:rPr lang="es-MX" sz="1200">
                <a:latin typeface="Calibri" panose="020F0502020204030204" pitchFamily="34" charset="0"/>
              </a:rPr>
              <a:t>  ✓ Firma digital (opcional)</a:t>
            </a:r>
          </a:p>
          <a:p>
            <a:r>
              <a:rPr lang="es-MX" sz="1200">
                <a:latin typeface="Calibri" panose="020F0502020204030204" pitchFamily="34" charset="0"/>
              </a:rPr>
              <a:t>  ✓ Instalación silenciosa</a:t>
            </a:r>
          </a:p>
          <a:p>
            <a:r>
              <a:rPr lang="es-MX" sz="1200">
                <a:latin typeface="Calibri" panose="020F0502020204030204" pitchFamily="34" charset="0"/>
              </a:rPr>
              <a:t>  ✓ Multi-arquitectura (x64 + ia32)</a:t>
            </a:r>
          </a:p>
        </p:txBody>
      </p:sp>
    </p:spTree>
    <p:extLst>
      <p:ext uri="{BB962C8B-B14F-4D97-AF65-F5344CB8AC3E}">
        <p14:creationId xmlns:p14="http://schemas.microsoft.com/office/powerpoint/2010/main" val="357858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0CBFD-4F75-95B5-51DB-F073D739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800" b="1"/>
              <a:t>Conclusiones y Mejores Prácticas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7A0ADC-91A5-0841-531A-FDB14EF0B859}"/>
              </a:ext>
            </a:extLst>
          </p:cNvPr>
          <p:cNvSpPr txBox="1"/>
          <p:nvPr/>
        </p:nvSpPr>
        <p:spPr>
          <a:xfrm>
            <a:off x="635000" y="1524000"/>
            <a:ext cx="11684000" cy="119109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200">
                <a:latin typeface="Calibri" panose="020F0502020204030204" pitchFamily="34" charset="0"/>
              </a:rPr>
              <a:t>Resumen Técnico del Sistema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FORTALEZAS ARQUITECTÓNICAS: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Arquitectura en capas bien definida</a:t>
            </a:r>
          </a:p>
          <a:p>
            <a:r>
              <a:rPr lang="es-ES" sz="1200">
                <a:latin typeface="Calibri" panose="020F0502020204030204" pitchFamily="34" charset="0"/>
              </a:rPr>
              <a:t>  Separación de responsabilidades (MVC + Services)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Sistema de permisos granular robusto</a:t>
            </a:r>
          </a:p>
          <a:p>
            <a:r>
              <a:rPr lang="es-ES" sz="1200">
                <a:latin typeface="Calibri" panose="020F0502020204030204" pitchFamily="34" charset="0"/>
              </a:rPr>
              <a:t>  Multi-nivel: usuario → empresa → módulo → acción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Seguridad multicapa</a:t>
            </a:r>
          </a:p>
          <a:p>
            <a:r>
              <a:rPr lang="es-ES" sz="1200">
                <a:latin typeface="Calibri" panose="020F0502020204030204" pitchFamily="34" charset="0"/>
              </a:rPr>
              <a:t>  Autenticación, autorización, validación, auditoría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Integración dual de bases de datos</a:t>
            </a:r>
          </a:p>
          <a:p>
            <a:r>
              <a:rPr lang="es-ES" sz="1200">
                <a:latin typeface="Calibri" panose="020F0502020204030204" pitchFamily="34" charset="0"/>
              </a:rPr>
              <a:t>  SQLite (local) + Firebird (externa contable)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Auto-actualización sin downtime</a:t>
            </a:r>
          </a:p>
          <a:p>
            <a:r>
              <a:rPr lang="es-ES" sz="1200">
                <a:latin typeface="Calibri" panose="020F0502020204030204" pitchFamily="34" charset="0"/>
              </a:rPr>
              <a:t>  Usuarios siempre en última versión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Sistema de backups automático</a:t>
            </a:r>
          </a:p>
          <a:p>
            <a:r>
              <a:rPr lang="es-ES" sz="1200">
                <a:latin typeface="Calibri" panose="020F0502020204030204" pitchFamily="34" charset="0"/>
              </a:rPr>
              <a:t>  Protección de datos sin intervención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Algoritmos de cálculo avanzados</a:t>
            </a:r>
          </a:p>
          <a:p>
            <a:r>
              <a:rPr lang="es-ES" sz="1200">
                <a:latin typeface="Calibri" panose="020F0502020204030204" pitchFamily="34" charset="0"/>
              </a:rPr>
              <a:t>  Operaciones consolidadas auto-construidas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✓ Multi-usuario real</a:t>
            </a:r>
          </a:p>
          <a:p>
            <a:r>
              <a:rPr lang="es-ES" sz="1200">
                <a:latin typeface="Calibri" panose="020F0502020204030204" pitchFamily="34" charset="0"/>
              </a:rPr>
              <a:t>  Sesiones independientes, trabajo colaborativo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MEJORES PRÁCTICAS IMPLEMENTADAS: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• Validación de inputs (Joi)</a:t>
            </a:r>
          </a:p>
          <a:p>
            <a:r>
              <a:rPr lang="es-ES" sz="1200">
                <a:latin typeface="Calibri" panose="020F0502020204030204" pitchFamily="34" charset="0"/>
              </a:rPr>
              <a:t>• Prepared statements (SQL injection prevention)</a:t>
            </a:r>
          </a:p>
          <a:p>
            <a:r>
              <a:rPr lang="es-ES" sz="1200">
                <a:latin typeface="Calibri" panose="020F0502020204030204" pitchFamily="34" charset="0"/>
              </a:rPr>
              <a:t>• Rate limiting (brute force protection)</a:t>
            </a:r>
          </a:p>
          <a:p>
            <a:r>
              <a:rPr lang="es-ES" sz="1200">
                <a:latin typeface="Calibri" panose="020F0502020204030204" pitchFamily="34" charset="0"/>
              </a:rPr>
              <a:t>• Bcrypt para contraseñas (nunca texto plano)</a:t>
            </a:r>
          </a:p>
          <a:p>
            <a:r>
              <a:rPr lang="es-ES" sz="1200">
                <a:latin typeface="Calibri" panose="020F0502020204030204" pitchFamily="34" charset="0"/>
              </a:rPr>
              <a:t>• JWT con expiración y refresh tokens</a:t>
            </a:r>
          </a:p>
          <a:p>
            <a:r>
              <a:rPr lang="es-ES" sz="1200">
                <a:latin typeface="Calibri" panose="020F0502020204030204" pitchFamily="34" charset="0"/>
              </a:rPr>
              <a:t>• Auditoría completa de acciones</a:t>
            </a:r>
          </a:p>
          <a:p>
            <a:r>
              <a:rPr lang="es-ES" sz="1200">
                <a:latin typeface="Calibri" panose="020F0502020204030204" pitchFamily="34" charset="0"/>
              </a:rPr>
              <a:t>• Logging estructurado</a:t>
            </a:r>
          </a:p>
          <a:p>
            <a:r>
              <a:rPr lang="es-ES" sz="1200">
                <a:latin typeface="Calibri" panose="020F0502020204030204" pitchFamily="34" charset="0"/>
              </a:rPr>
              <a:t>• Código modular y mantenible</a:t>
            </a:r>
          </a:p>
          <a:p>
            <a:r>
              <a:rPr lang="es-ES" sz="1200">
                <a:latin typeface="Calibri" panose="020F0502020204030204" pitchFamily="34" charset="0"/>
              </a:rPr>
              <a:t>• Separación de configuración (env vars)</a:t>
            </a:r>
          </a:p>
          <a:p>
            <a:r>
              <a:rPr lang="es-ES" sz="1200">
                <a:latin typeface="Calibri" panose="020F0502020204030204" pitchFamily="34" charset="0"/>
              </a:rPr>
              <a:t>• Versionado semántico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ESCALABILIDAD: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• Agregar nuevos módulos: crear ruta + vista</a:t>
            </a:r>
          </a:p>
          <a:p>
            <a:r>
              <a:rPr lang="es-ES" sz="1200">
                <a:latin typeface="Calibri" panose="020F0502020204030204" pitchFamily="34" charset="0"/>
              </a:rPr>
              <a:t>• Nuevas operaciones: sistema auto-construccion</a:t>
            </a:r>
          </a:p>
          <a:p>
            <a:r>
              <a:rPr lang="es-ES" sz="1200">
                <a:latin typeface="Calibri" panose="020F0502020204030204" pitchFamily="34" charset="0"/>
              </a:rPr>
              <a:t>• Nuevas empresas: configuración en empresas.js</a:t>
            </a:r>
          </a:p>
          <a:p>
            <a:r>
              <a:rPr lang="es-ES" sz="1200">
                <a:latin typeface="Calibri" panose="020F0502020204030204" pitchFamily="34" charset="0"/>
              </a:rPr>
              <a:t>• Nuevos usuarios: CRUD completo disponible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MANTENIBILIDAD: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• Documentación consolidada exhaustiva</a:t>
            </a:r>
          </a:p>
          <a:p>
            <a:r>
              <a:rPr lang="es-ES" sz="1200">
                <a:latin typeface="Calibri" panose="020F0502020204030204" pitchFamily="34" charset="0"/>
              </a:rPr>
              <a:t>• Código comentado en puntos críticos</a:t>
            </a:r>
          </a:p>
          <a:p>
            <a:r>
              <a:rPr lang="es-ES" sz="1200">
                <a:latin typeface="Calibri" panose="020F0502020204030204" pitchFamily="34" charset="0"/>
              </a:rPr>
              <a:t>• Estructura de directorios lógica</a:t>
            </a:r>
          </a:p>
          <a:p>
            <a:r>
              <a:rPr lang="es-ES" sz="1200">
                <a:latin typeface="Calibri" panose="020F0502020204030204" pitchFamily="34" charset="0"/>
              </a:rPr>
              <a:t>• Tests automatizables</a:t>
            </a:r>
          </a:p>
          <a:p>
            <a:r>
              <a:rPr lang="es-ES" sz="1200">
                <a:latin typeface="Calibri" panose="020F0502020204030204" pitchFamily="34" charset="0"/>
              </a:rPr>
              <a:t>• Scripts de utilidad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ÁREAS DE MEJORA FUTURAS:</a:t>
            </a:r>
          </a:p>
          <a:p>
            <a:endParaRPr lang="es-ES" sz="1200">
              <a:latin typeface="Calibri" panose="020F0502020204030204" pitchFamily="34" charset="0"/>
            </a:endParaRPr>
          </a:p>
          <a:p>
            <a:r>
              <a:rPr lang="es-ES" sz="1200">
                <a:latin typeface="Calibri" panose="020F0502020204030204" pitchFamily="34" charset="0"/>
              </a:rPr>
              <a:t>• Migrar sesiones a Redis (producción distribuida)</a:t>
            </a:r>
          </a:p>
          <a:p>
            <a:r>
              <a:rPr lang="es-ES" sz="1200">
                <a:latin typeface="Calibri" panose="020F0502020204030204" pitchFamily="34" charset="0"/>
              </a:rPr>
              <a:t>• Implementar WebSockets (notificaciones real-time)</a:t>
            </a:r>
          </a:p>
          <a:p>
            <a:r>
              <a:rPr lang="es-ES" sz="1200">
                <a:latin typeface="Calibri" panose="020F0502020204030204" pitchFamily="34" charset="0"/>
              </a:rPr>
              <a:t>• Tests unitarios completos</a:t>
            </a:r>
          </a:p>
          <a:p>
            <a:r>
              <a:rPr lang="es-ES" sz="1200">
                <a:latin typeface="Calibri" panose="020F0502020204030204" pitchFamily="34" charset="0"/>
              </a:rPr>
              <a:t>• CI/CD pipeline (GitHub Actions)</a:t>
            </a:r>
          </a:p>
          <a:p>
            <a:r>
              <a:rPr lang="es-ES" sz="1200">
                <a:latin typeface="Calibri" panose="020F0502020204030204" pitchFamily="34" charset="0"/>
              </a:rPr>
              <a:t>• Logging centralizado (ELK stack)</a:t>
            </a:r>
          </a:p>
          <a:p>
            <a:r>
              <a:rPr lang="es-ES" sz="1200">
                <a:latin typeface="Calibri" panose="020F0502020204030204" pitchFamily="34" charset="0"/>
              </a:rPr>
              <a:t>• Métricas y monitoring (Prometheus/Grafana)</a:t>
            </a:r>
            <a:endParaRPr lang="es-MX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676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A1C63-7D76-9E7A-2304-156B1B20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4800" b="1">
                <a:solidFill>
                  <a:srgbClr val="2980B9"/>
                </a:solidFill>
              </a:rPr>
              <a:t>SummaCham - PanelAMCHAM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75B371-2217-CD30-7E65-4579EE71603A}"/>
              </a:ext>
            </a:extLst>
          </p:cNvPr>
          <p:cNvSpPr txBox="1"/>
          <p:nvPr/>
        </p:nvSpPr>
        <p:spPr>
          <a:xfrm>
            <a:off x="1905000" y="2921000"/>
            <a:ext cx="889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600" b="1">
                <a:latin typeface="Calibri" panose="020F0502020204030204" pitchFamily="34" charset="0"/>
              </a:rPr>
              <a:t>Gracias por su atención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4C338E-FEDC-323F-154D-D8DD921AB721}"/>
              </a:ext>
            </a:extLst>
          </p:cNvPr>
          <p:cNvSpPr txBox="1"/>
          <p:nvPr/>
        </p:nvSpPr>
        <p:spPr>
          <a:xfrm>
            <a:off x="1905000" y="39370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400">
                <a:latin typeface="Calibri" panose="020F0502020204030204" pitchFamily="34" charset="0"/>
              </a:rPr>
              <a:t>Sistema robusto, seguro y escalable</a:t>
            </a:r>
            <a:endParaRPr lang="es-MX" sz="240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A42DA4-D4CD-A781-19AB-651183D98AE5}"/>
              </a:ext>
            </a:extLst>
          </p:cNvPr>
          <p:cNvSpPr txBox="1"/>
          <p:nvPr/>
        </p:nvSpPr>
        <p:spPr>
          <a:xfrm>
            <a:off x="1905000" y="4699000"/>
            <a:ext cx="889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800">
                <a:latin typeface="Calibri" panose="020F0502020204030204" pitchFamily="34" charset="0"/>
              </a:rPr>
              <a:t>Versión 4.1.0 - Febrero 2026
Desarrollado por: Iustus Renidet &amp; J02V4N</a:t>
            </a:r>
            <a:endParaRPr lang="es-MX" sz="18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010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7209</Words>
  <Application>Microsoft Office PowerPoint</Application>
  <PresentationFormat>Presentación en pantalla (16:10)</PresentationFormat>
  <Paragraphs>1355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Tema de Office</vt:lpstr>
      <vt:lpstr>SummaCham - PanelAMCHAM</vt:lpstr>
      <vt:lpstr>Tabla de Contenido</vt:lpstr>
      <vt:lpstr>Stack Tecnológico - Frontend</vt:lpstr>
      <vt:lpstr>Stack Tecnológico - Backend</vt:lpstr>
      <vt:lpstr>Arquitectura del Sistema</vt:lpstr>
      <vt:lpstr>Arquitectura en Capas</vt:lpstr>
      <vt:lpstr>Sistema de Autenticación</vt:lpstr>
      <vt:lpstr>Middleware: requireAuth</vt:lpstr>
      <vt:lpstr>Sistema de Permisos Granular</vt:lpstr>
      <vt:lpstr>Validación de Permisos</vt:lpstr>
      <vt:lpstr>Base de Datos SQLite - Tablas Principales</vt:lpstr>
      <vt:lpstr>Integración con Firebird</vt:lpstr>
      <vt:lpstr>Algoritmos: Operaciones Consolidadas</vt:lpstr>
      <vt:lpstr>Algoritmos: Cálculo de Sumas por Operación</vt:lpstr>
      <vt:lpstr>Sistema de Layouts</vt:lpstr>
      <vt:lpstr>Interfaces de Usuario</vt:lpstr>
      <vt:lpstr>Flujos de Autorización</vt:lpstr>
      <vt:lpstr>Sistema de Backups Automático</vt:lpstr>
      <vt:lpstr>Sistema de Actualización Automática</vt:lpstr>
      <vt:lpstr>Seguridad: Medidas Implementadas</vt:lpstr>
      <vt:lpstr>Módulos del Sistema</vt:lpstr>
      <vt:lpstr>Tecnologías de Desarrollo</vt:lpstr>
      <vt:lpstr>Estructura de Directorios</vt:lpstr>
      <vt:lpstr>Deployment y Distribución</vt:lpstr>
      <vt:lpstr>Conclusiones y Mejores Prácticas</vt:lpstr>
      <vt:lpstr>SummaCham - PanelAMCHAM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guevara</dc:creator>
  <cp:lastModifiedBy>sophie guevara</cp:lastModifiedBy>
  <cp:revision>1</cp:revision>
  <dcterms:created xsi:type="dcterms:W3CDTF">2026-02-09T14:10:15Z</dcterms:created>
  <dcterms:modified xsi:type="dcterms:W3CDTF">2026-02-09T14:10:15Z</dcterms:modified>
</cp:coreProperties>
</file>