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9" r:id="rId3"/>
    <p:sldId id="258" r:id="rId4"/>
    <p:sldId id="320" r:id="rId5"/>
    <p:sldId id="321" r:id="rId6"/>
    <p:sldId id="259" r:id="rId7"/>
    <p:sldId id="322" r:id="rId8"/>
    <p:sldId id="260" r:id="rId9"/>
    <p:sldId id="262" r:id="rId10"/>
    <p:sldId id="263" r:id="rId11"/>
    <p:sldId id="264" r:id="rId12"/>
    <p:sldId id="265" r:id="rId13"/>
    <p:sldId id="266" r:id="rId14"/>
    <p:sldId id="267" r:id="rId15"/>
    <p:sldId id="261" r:id="rId16"/>
    <p:sldId id="323" r:id="rId17"/>
    <p:sldId id="270" r:id="rId18"/>
    <p:sldId id="324" r:id="rId19"/>
    <p:sldId id="273" r:id="rId20"/>
    <p:sldId id="325" r:id="rId21"/>
    <p:sldId id="326" r:id="rId22"/>
    <p:sldId id="276" r:id="rId23"/>
    <p:sldId id="327" r:id="rId24"/>
    <p:sldId id="278" r:id="rId25"/>
    <p:sldId id="328" r:id="rId26"/>
    <p:sldId id="280" r:id="rId27"/>
    <p:sldId id="268" r:id="rId28"/>
    <p:sldId id="282" r:id="rId29"/>
    <p:sldId id="283" r:id="rId30"/>
    <p:sldId id="284" r:id="rId31"/>
    <p:sldId id="330" r:id="rId32"/>
    <p:sldId id="286" r:id="rId33"/>
    <p:sldId id="329" r:id="rId34"/>
    <p:sldId id="288" r:id="rId35"/>
    <p:sldId id="289" r:id="rId36"/>
    <p:sldId id="290" r:id="rId37"/>
    <p:sldId id="291" r:id="rId38"/>
    <p:sldId id="292" r:id="rId39"/>
    <p:sldId id="293" r:id="rId40"/>
    <p:sldId id="271" r:id="rId41"/>
    <p:sldId id="295" r:id="rId42"/>
    <p:sldId id="296" r:id="rId43"/>
    <p:sldId id="272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4C3C"/>
    <a:srgbClr val="E67E22"/>
    <a:srgbClr val="2ECC71"/>
    <a:srgbClr val="0D47A1"/>
    <a:srgbClr val="34495E"/>
    <a:srgbClr val="2980B9"/>
    <a:srgbClr val="8E44AD"/>
    <a:srgbClr val="0096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83" autoAdjust="0"/>
  </p:normalViewPr>
  <p:slideViewPr>
    <p:cSldViewPr snapToGrid="0" snapToObjects="1">
      <p:cViewPr varScale="1">
        <p:scale>
          <a:sx n="78" d="100"/>
          <a:sy n="78" d="100"/>
        </p:scale>
        <p:origin x="67" y="6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A025E5-B95C-494A-BAA6-6C571BC5989E}" type="doc">
      <dgm:prSet loTypeId="urn:microsoft.com/office/officeart/2009/3/layout/PieProces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AFC6ED4F-AE67-4DEB-82E8-829EA477BC4A}">
      <dgm:prSet phldrT="[Texto]" phldr="0"/>
      <dgm:spPr/>
      <dgm:t>
        <a:bodyPr/>
        <a:lstStyle/>
        <a:p>
          <a:r>
            <a:rPr lang="es-MX" dirty="0"/>
            <a:t>EDITANDO</a:t>
          </a:r>
        </a:p>
      </dgm:t>
    </dgm:pt>
    <dgm:pt modelId="{30EE7192-D66C-44CF-B129-53F4B005838E}" type="parTrans" cxnId="{D8A1183F-2B50-46B2-B67F-CB51633DFB4C}">
      <dgm:prSet/>
      <dgm:spPr/>
      <dgm:t>
        <a:bodyPr/>
        <a:lstStyle/>
        <a:p>
          <a:endParaRPr lang="es-MX"/>
        </a:p>
      </dgm:t>
    </dgm:pt>
    <dgm:pt modelId="{C7F70778-2AA3-4D99-ABBC-409F3E67900D}" type="sibTrans" cxnId="{D8A1183F-2B50-46B2-B67F-CB51633DFB4C}">
      <dgm:prSet/>
      <dgm:spPr/>
      <dgm:t>
        <a:bodyPr/>
        <a:lstStyle/>
        <a:p>
          <a:endParaRPr lang="es-MX"/>
        </a:p>
      </dgm:t>
    </dgm:pt>
    <dgm:pt modelId="{A0BABDDB-C9AE-449D-83BE-A6AF204DF863}">
      <dgm:prSet phldrT="[Texto]" phldr="0"/>
      <dgm:spPr/>
      <dgm:t>
        <a:bodyPr/>
        <a:lstStyle/>
        <a:p>
          <a:r>
            <a:rPr lang="es-MX" dirty="0"/>
            <a:t>PENDIENTE</a:t>
          </a:r>
        </a:p>
      </dgm:t>
    </dgm:pt>
    <dgm:pt modelId="{059AEBE6-3D81-4FB2-A2DA-0F36191071AB}" type="parTrans" cxnId="{6481BC4A-4A5A-4225-B388-2DDE7D1F0861}">
      <dgm:prSet/>
      <dgm:spPr/>
      <dgm:t>
        <a:bodyPr/>
        <a:lstStyle/>
        <a:p>
          <a:endParaRPr lang="es-MX"/>
        </a:p>
      </dgm:t>
    </dgm:pt>
    <dgm:pt modelId="{8C5336D1-50E0-42A5-95E7-C800E732FBC0}" type="sibTrans" cxnId="{6481BC4A-4A5A-4225-B388-2DDE7D1F0861}">
      <dgm:prSet/>
      <dgm:spPr/>
      <dgm:t>
        <a:bodyPr/>
        <a:lstStyle/>
        <a:p>
          <a:endParaRPr lang="es-MX"/>
        </a:p>
      </dgm:t>
    </dgm:pt>
    <dgm:pt modelId="{D71AFDB1-940D-49FC-808F-9ED05873FDA3}">
      <dgm:prSet phldrT="[Texto]" phldr="0"/>
      <dgm:spPr/>
      <dgm:t>
        <a:bodyPr/>
        <a:lstStyle/>
        <a:p>
          <a:r>
            <a:rPr lang="es-MX" dirty="0"/>
            <a:t>enviar</a:t>
          </a:r>
        </a:p>
      </dgm:t>
    </dgm:pt>
    <dgm:pt modelId="{22C71554-720E-4F22-B837-4781F0F2B318}" type="parTrans" cxnId="{3C69E0C8-11CB-468D-90F3-D905F1232C07}">
      <dgm:prSet/>
      <dgm:spPr/>
      <dgm:t>
        <a:bodyPr/>
        <a:lstStyle/>
        <a:p>
          <a:endParaRPr lang="es-MX"/>
        </a:p>
      </dgm:t>
    </dgm:pt>
    <dgm:pt modelId="{0BD1F28C-1A7D-4368-92AF-E12D36C55E4B}" type="sibTrans" cxnId="{3C69E0C8-11CB-468D-90F3-D905F1232C07}">
      <dgm:prSet/>
      <dgm:spPr/>
      <dgm:t>
        <a:bodyPr/>
        <a:lstStyle/>
        <a:p>
          <a:endParaRPr lang="es-MX"/>
        </a:p>
      </dgm:t>
    </dgm:pt>
    <dgm:pt modelId="{18CB064C-12D4-4EF2-A73C-3FDF8159CC7E}">
      <dgm:prSet phldrT="[Texto]" phldr="0"/>
      <dgm:spPr/>
      <dgm:t>
        <a:bodyPr/>
        <a:lstStyle/>
        <a:p>
          <a:r>
            <a:rPr lang="es-MX" dirty="0"/>
            <a:t>REVISAR</a:t>
          </a:r>
        </a:p>
      </dgm:t>
    </dgm:pt>
    <dgm:pt modelId="{AEF905CF-0F9B-4315-9738-87D7BF7DD80C}" type="parTrans" cxnId="{1292A1F0-FB4D-4733-A203-A594D7351B88}">
      <dgm:prSet/>
      <dgm:spPr/>
      <dgm:t>
        <a:bodyPr/>
        <a:lstStyle/>
        <a:p>
          <a:endParaRPr lang="es-MX"/>
        </a:p>
      </dgm:t>
    </dgm:pt>
    <dgm:pt modelId="{C0F39782-48AB-4F86-B88C-B556DA8AF2E2}" type="sibTrans" cxnId="{1292A1F0-FB4D-4733-A203-A594D7351B88}">
      <dgm:prSet/>
      <dgm:spPr/>
      <dgm:t>
        <a:bodyPr/>
        <a:lstStyle/>
        <a:p>
          <a:endParaRPr lang="es-MX"/>
        </a:p>
      </dgm:t>
    </dgm:pt>
    <dgm:pt modelId="{26133724-6FBE-4920-883A-42C72F610012}">
      <dgm:prSet phldrT="[Texto]" phldr="0"/>
      <dgm:spPr/>
      <dgm:t>
        <a:bodyPr/>
        <a:lstStyle/>
        <a:p>
          <a:r>
            <a:rPr lang="es-MX" dirty="0"/>
            <a:t>rechazar</a:t>
          </a:r>
        </a:p>
      </dgm:t>
    </dgm:pt>
    <dgm:pt modelId="{9D8D3569-EF9B-4BED-ABEB-031F024D53FF}" type="parTrans" cxnId="{05EA6BBF-28E2-4690-98EF-F10680E87C66}">
      <dgm:prSet/>
      <dgm:spPr/>
      <dgm:t>
        <a:bodyPr/>
        <a:lstStyle/>
        <a:p>
          <a:endParaRPr lang="es-MX"/>
        </a:p>
      </dgm:t>
    </dgm:pt>
    <dgm:pt modelId="{05F39F38-798C-44F0-8E02-A63B1FD6EFE2}" type="sibTrans" cxnId="{05EA6BBF-28E2-4690-98EF-F10680E87C66}">
      <dgm:prSet/>
      <dgm:spPr/>
      <dgm:t>
        <a:bodyPr/>
        <a:lstStyle/>
        <a:p>
          <a:endParaRPr lang="es-MX"/>
        </a:p>
      </dgm:t>
    </dgm:pt>
    <dgm:pt modelId="{3FAB90EF-18A4-4FAD-8B4A-D34CA2E614DF}">
      <dgm:prSet phldrT="[Texto]" phldr="0"/>
      <dgm:spPr/>
      <dgm:t>
        <a:bodyPr/>
        <a:lstStyle/>
        <a:p>
          <a:r>
            <a:rPr lang="es-MX" dirty="0"/>
            <a:t>APROBAR</a:t>
          </a:r>
        </a:p>
      </dgm:t>
    </dgm:pt>
    <dgm:pt modelId="{645F45E4-C3A4-45A1-85C9-8FA10B0F31EA}" type="parTrans" cxnId="{5681DD83-EC4A-4AFC-9D32-C77946580EC0}">
      <dgm:prSet/>
      <dgm:spPr/>
      <dgm:t>
        <a:bodyPr/>
        <a:lstStyle/>
        <a:p>
          <a:endParaRPr lang="es-MX"/>
        </a:p>
      </dgm:t>
    </dgm:pt>
    <dgm:pt modelId="{8F4083E2-74E4-4451-921D-886A108418F7}" type="sibTrans" cxnId="{5681DD83-EC4A-4AFC-9D32-C77946580EC0}">
      <dgm:prSet/>
      <dgm:spPr/>
      <dgm:t>
        <a:bodyPr/>
        <a:lstStyle/>
        <a:p>
          <a:endParaRPr lang="es-MX"/>
        </a:p>
      </dgm:t>
    </dgm:pt>
    <dgm:pt modelId="{34EE21B9-9E5D-4DFF-B71B-900B0A19CDAD}">
      <dgm:prSet phldrT="[Texto]" phldr="0"/>
      <dgm:spPr/>
      <dgm:t>
        <a:bodyPr/>
        <a:lstStyle/>
        <a:p>
          <a:r>
            <a:rPr lang="es-MX" dirty="0"/>
            <a:t>rechazar</a:t>
          </a:r>
        </a:p>
      </dgm:t>
    </dgm:pt>
    <dgm:pt modelId="{3F891199-7018-4CA4-8A26-201629A6B887}" type="parTrans" cxnId="{9E4EB837-1BCD-4EFB-8340-3C891AAC10D8}">
      <dgm:prSet/>
      <dgm:spPr/>
      <dgm:t>
        <a:bodyPr/>
        <a:lstStyle/>
        <a:p>
          <a:endParaRPr lang="es-MX"/>
        </a:p>
      </dgm:t>
    </dgm:pt>
    <dgm:pt modelId="{C01B4211-3BE4-4EA8-A157-0674B1E7BBAD}" type="sibTrans" cxnId="{9E4EB837-1BCD-4EFB-8340-3C891AAC10D8}">
      <dgm:prSet/>
      <dgm:spPr/>
      <dgm:t>
        <a:bodyPr/>
        <a:lstStyle/>
        <a:p>
          <a:endParaRPr lang="es-MX"/>
        </a:p>
      </dgm:t>
    </dgm:pt>
    <dgm:pt modelId="{8F3F225B-21BF-46BC-8081-3B097C90B6D7}">
      <dgm:prSet phldrT="[Texto]" phldr="0"/>
      <dgm:spPr/>
      <dgm:t>
        <a:bodyPr/>
        <a:lstStyle/>
        <a:p>
          <a:r>
            <a:rPr lang="es-MX" dirty="0"/>
            <a:t>RECHAZAR</a:t>
          </a:r>
        </a:p>
      </dgm:t>
    </dgm:pt>
    <dgm:pt modelId="{38404ED6-53AC-4079-8B42-A324A3B43F17}" type="parTrans" cxnId="{B7A6134D-73FC-4570-87C8-844397F46177}">
      <dgm:prSet/>
      <dgm:spPr/>
      <dgm:t>
        <a:bodyPr/>
        <a:lstStyle/>
        <a:p>
          <a:endParaRPr lang="es-MX"/>
        </a:p>
      </dgm:t>
    </dgm:pt>
    <dgm:pt modelId="{220BF5C2-F831-458B-A8F0-28A9F90E0626}" type="sibTrans" cxnId="{B7A6134D-73FC-4570-87C8-844397F46177}">
      <dgm:prSet/>
      <dgm:spPr/>
      <dgm:t>
        <a:bodyPr/>
        <a:lstStyle/>
        <a:p>
          <a:endParaRPr lang="es-MX"/>
        </a:p>
      </dgm:t>
    </dgm:pt>
    <dgm:pt modelId="{EF2327FB-52AF-48AC-A9AE-8F62251D5B14}">
      <dgm:prSet phldrT="[Texto]" phldr="0"/>
      <dgm:spPr/>
      <dgm:t>
        <a:bodyPr/>
        <a:lstStyle/>
        <a:p>
          <a:r>
            <a:rPr lang="es-MX" dirty="0"/>
            <a:t>regresa a editar</a:t>
          </a:r>
        </a:p>
      </dgm:t>
    </dgm:pt>
    <dgm:pt modelId="{448401D6-BA81-42A7-B6EE-C667E1B9DEC8}" type="parTrans" cxnId="{A719C990-D5CA-4131-B60A-E954E1AE8E14}">
      <dgm:prSet/>
      <dgm:spPr/>
      <dgm:t>
        <a:bodyPr/>
        <a:lstStyle/>
        <a:p>
          <a:endParaRPr lang="es-MX"/>
        </a:p>
      </dgm:t>
    </dgm:pt>
    <dgm:pt modelId="{02585F14-A0A2-4CFD-924D-1A349880288B}" type="sibTrans" cxnId="{A719C990-D5CA-4131-B60A-E954E1AE8E14}">
      <dgm:prSet/>
      <dgm:spPr/>
      <dgm:t>
        <a:bodyPr/>
        <a:lstStyle/>
        <a:p>
          <a:endParaRPr lang="es-MX"/>
        </a:p>
      </dgm:t>
    </dgm:pt>
    <dgm:pt modelId="{14EC650C-F426-42C4-85AA-ACD4D25B6481}">
      <dgm:prSet phldrT="[Texto]" phldr="0"/>
      <dgm:spPr/>
      <dgm:t>
        <a:bodyPr/>
        <a:lstStyle/>
        <a:p>
          <a:r>
            <a:rPr lang="es-MX" dirty="0"/>
            <a:t>borrador</a:t>
          </a:r>
        </a:p>
      </dgm:t>
    </dgm:pt>
    <dgm:pt modelId="{86031459-F865-4F8C-83E1-07F4170B00C4}" type="parTrans" cxnId="{07984F7A-4DB0-453E-A695-82B23AC091C9}">
      <dgm:prSet/>
      <dgm:spPr/>
      <dgm:t>
        <a:bodyPr/>
        <a:lstStyle/>
        <a:p>
          <a:endParaRPr lang="es-MX"/>
        </a:p>
      </dgm:t>
    </dgm:pt>
    <dgm:pt modelId="{8E1F72B5-2064-483F-BC15-661B780B54DC}" type="sibTrans" cxnId="{07984F7A-4DB0-453E-A695-82B23AC091C9}">
      <dgm:prSet/>
      <dgm:spPr/>
      <dgm:t>
        <a:bodyPr/>
        <a:lstStyle/>
        <a:p>
          <a:endParaRPr lang="es-MX"/>
        </a:p>
      </dgm:t>
    </dgm:pt>
    <dgm:pt modelId="{EF61BA0F-C103-43F7-A800-32FB3EA60782}" type="pres">
      <dgm:prSet presAssocID="{50A025E5-B95C-494A-BAA6-6C571BC5989E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80F60505-018E-4042-811B-F89B14B6D56F}" type="pres">
      <dgm:prSet presAssocID="{AFC6ED4F-AE67-4DEB-82E8-829EA477BC4A}" presName="ParentComposite" presStyleCnt="0"/>
      <dgm:spPr/>
    </dgm:pt>
    <dgm:pt modelId="{CBC18AA6-693A-4FE1-ACA2-781F45F77633}" type="pres">
      <dgm:prSet presAssocID="{AFC6ED4F-AE67-4DEB-82E8-829EA477BC4A}" presName="Chord" presStyleLbl="bgShp" presStyleIdx="0" presStyleCnt="5"/>
      <dgm:spPr/>
    </dgm:pt>
    <dgm:pt modelId="{D119ABB7-8ABB-4BD7-B558-750400D361A0}" type="pres">
      <dgm:prSet presAssocID="{AFC6ED4F-AE67-4DEB-82E8-829EA477BC4A}" presName="Pie" presStyleLbl="alignNode1" presStyleIdx="0" presStyleCnt="5"/>
      <dgm:spPr/>
    </dgm:pt>
    <dgm:pt modelId="{FEC6E16B-E1C2-46FA-B6F3-408AC71CD5D2}" type="pres">
      <dgm:prSet presAssocID="{AFC6ED4F-AE67-4DEB-82E8-829EA477BC4A}" presName="Parent" presStyleLbl="revTx" presStyleIdx="0" presStyleCnt="10">
        <dgm:presLayoutVars>
          <dgm:chMax val="1"/>
          <dgm:chPref val="1"/>
          <dgm:bulletEnabled val="1"/>
        </dgm:presLayoutVars>
      </dgm:prSet>
      <dgm:spPr/>
    </dgm:pt>
    <dgm:pt modelId="{EB1DFE1E-7157-48E2-B3B8-03D056B7A603}" type="pres">
      <dgm:prSet presAssocID="{8E1F72B5-2064-483F-BC15-661B780B54DC}" presName="negSibTrans" presStyleCnt="0"/>
      <dgm:spPr/>
    </dgm:pt>
    <dgm:pt modelId="{2CBE9547-51B4-4163-B71E-465FE9EEDFC3}" type="pres">
      <dgm:prSet presAssocID="{AFC6ED4F-AE67-4DEB-82E8-829EA477BC4A}" presName="composite" presStyleCnt="0"/>
      <dgm:spPr/>
    </dgm:pt>
    <dgm:pt modelId="{4ED98CCB-0B44-48F0-9B18-D87B8255B686}" type="pres">
      <dgm:prSet presAssocID="{AFC6ED4F-AE67-4DEB-82E8-829EA477BC4A}" presName="Child" presStyleLbl="revTx" presStyleIdx="1" presStyleCnt="10">
        <dgm:presLayoutVars>
          <dgm:chMax val="0"/>
          <dgm:chPref val="0"/>
          <dgm:bulletEnabled val="1"/>
        </dgm:presLayoutVars>
      </dgm:prSet>
      <dgm:spPr/>
    </dgm:pt>
    <dgm:pt modelId="{060A749F-4092-4629-A455-4D4B9AB8747A}" type="pres">
      <dgm:prSet presAssocID="{C7F70778-2AA3-4D99-ABBC-409F3E67900D}" presName="sibTrans" presStyleCnt="0"/>
      <dgm:spPr/>
    </dgm:pt>
    <dgm:pt modelId="{B524A3CB-166D-4856-AD91-35E72DE2DA15}" type="pres">
      <dgm:prSet presAssocID="{A0BABDDB-C9AE-449D-83BE-A6AF204DF863}" presName="ParentComposite" presStyleCnt="0"/>
      <dgm:spPr/>
    </dgm:pt>
    <dgm:pt modelId="{3D0A66E7-5579-46C5-923A-94931A4D505A}" type="pres">
      <dgm:prSet presAssocID="{A0BABDDB-C9AE-449D-83BE-A6AF204DF863}" presName="Chord" presStyleLbl="bgShp" presStyleIdx="1" presStyleCnt="5"/>
      <dgm:spPr/>
    </dgm:pt>
    <dgm:pt modelId="{305760AE-87CA-4861-AA97-9516ADAB49F1}" type="pres">
      <dgm:prSet presAssocID="{A0BABDDB-C9AE-449D-83BE-A6AF204DF863}" presName="Pie" presStyleLbl="alignNode1" presStyleIdx="1" presStyleCnt="5"/>
      <dgm:spPr/>
    </dgm:pt>
    <dgm:pt modelId="{557EC1DF-A55A-406A-A0BD-0BF4EC522FF2}" type="pres">
      <dgm:prSet presAssocID="{A0BABDDB-C9AE-449D-83BE-A6AF204DF863}" presName="Parent" presStyleLbl="revTx" presStyleIdx="2" presStyleCnt="10">
        <dgm:presLayoutVars>
          <dgm:chMax val="1"/>
          <dgm:chPref val="1"/>
          <dgm:bulletEnabled val="1"/>
        </dgm:presLayoutVars>
      </dgm:prSet>
      <dgm:spPr/>
    </dgm:pt>
    <dgm:pt modelId="{E3CBD628-7A78-450E-A4F3-487388520FFD}" type="pres">
      <dgm:prSet presAssocID="{0BD1F28C-1A7D-4368-92AF-E12D36C55E4B}" presName="negSibTrans" presStyleCnt="0"/>
      <dgm:spPr/>
    </dgm:pt>
    <dgm:pt modelId="{29ACC278-B89D-480A-A629-E9654941E14E}" type="pres">
      <dgm:prSet presAssocID="{A0BABDDB-C9AE-449D-83BE-A6AF204DF863}" presName="composite" presStyleCnt="0"/>
      <dgm:spPr/>
    </dgm:pt>
    <dgm:pt modelId="{06066C87-E5F5-45B1-A2FB-9E18F32451D8}" type="pres">
      <dgm:prSet presAssocID="{A0BABDDB-C9AE-449D-83BE-A6AF204DF863}" presName="Child" presStyleLbl="revTx" presStyleIdx="3" presStyleCnt="10">
        <dgm:presLayoutVars>
          <dgm:chMax val="0"/>
          <dgm:chPref val="0"/>
          <dgm:bulletEnabled val="1"/>
        </dgm:presLayoutVars>
      </dgm:prSet>
      <dgm:spPr/>
    </dgm:pt>
    <dgm:pt modelId="{B710A01C-1FEA-4A77-AA1E-563C1F1A7284}" type="pres">
      <dgm:prSet presAssocID="{8C5336D1-50E0-42A5-95E7-C800E732FBC0}" presName="sibTrans" presStyleCnt="0"/>
      <dgm:spPr/>
    </dgm:pt>
    <dgm:pt modelId="{D7AAE421-176E-450E-9887-EE28423880B0}" type="pres">
      <dgm:prSet presAssocID="{18CB064C-12D4-4EF2-A73C-3FDF8159CC7E}" presName="ParentComposite" presStyleCnt="0"/>
      <dgm:spPr/>
    </dgm:pt>
    <dgm:pt modelId="{80D3403A-1858-4D0F-8D10-1BF6562CC1CB}" type="pres">
      <dgm:prSet presAssocID="{18CB064C-12D4-4EF2-A73C-3FDF8159CC7E}" presName="Chord" presStyleLbl="bgShp" presStyleIdx="2" presStyleCnt="5"/>
      <dgm:spPr/>
    </dgm:pt>
    <dgm:pt modelId="{6071426D-5C29-4F78-93B0-9762BA8FC034}" type="pres">
      <dgm:prSet presAssocID="{18CB064C-12D4-4EF2-A73C-3FDF8159CC7E}" presName="Pie" presStyleLbl="alignNode1" presStyleIdx="2" presStyleCnt="5"/>
      <dgm:spPr/>
    </dgm:pt>
    <dgm:pt modelId="{9FB2DB92-C98E-473E-A6AF-4F78BCBA4B8E}" type="pres">
      <dgm:prSet presAssocID="{18CB064C-12D4-4EF2-A73C-3FDF8159CC7E}" presName="Parent" presStyleLbl="revTx" presStyleIdx="4" presStyleCnt="10">
        <dgm:presLayoutVars>
          <dgm:chMax val="1"/>
          <dgm:chPref val="1"/>
          <dgm:bulletEnabled val="1"/>
        </dgm:presLayoutVars>
      </dgm:prSet>
      <dgm:spPr/>
    </dgm:pt>
    <dgm:pt modelId="{BCB9F9C7-96D8-49F2-BC3D-2AB8006A1614}" type="pres">
      <dgm:prSet presAssocID="{05F39F38-798C-44F0-8E02-A63B1FD6EFE2}" presName="negSibTrans" presStyleCnt="0"/>
      <dgm:spPr/>
    </dgm:pt>
    <dgm:pt modelId="{C07EB46C-A2C3-4239-AD40-62C9245BC473}" type="pres">
      <dgm:prSet presAssocID="{18CB064C-12D4-4EF2-A73C-3FDF8159CC7E}" presName="composite" presStyleCnt="0"/>
      <dgm:spPr/>
    </dgm:pt>
    <dgm:pt modelId="{4084B0C6-9031-4FDA-860C-27330825BBEE}" type="pres">
      <dgm:prSet presAssocID="{18CB064C-12D4-4EF2-A73C-3FDF8159CC7E}" presName="Child" presStyleLbl="revTx" presStyleIdx="5" presStyleCnt="10">
        <dgm:presLayoutVars>
          <dgm:chMax val="0"/>
          <dgm:chPref val="0"/>
          <dgm:bulletEnabled val="1"/>
        </dgm:presLayoutVars>
      </dgm:prSet>
      <dgm:spPr/>
    </dgm:pt>
    <dgm:pt modelId="{C4F825D2-E71C-410C-A16D-E1D172A43217}" type="pres">
      <dgm:prSet presAssocID="{C0F39782-48AB-4F86-B88C-B556DA8AF2E2}" presName="sibTrans" presStyleCnt="0"/>
      <dgm:spPr/>
    </dgm:pt>
    <dgm:pt modelId="{FE06EFED-7FEA-439A-B030-41A51E6B075D}" type="pres">
      <dgm:prSet presAssocID="{3FAB90EF-18A4-4FAD-8B4A-D34CA2E614DF}" presName="ParentComposite" presStyleCnt="0"/>
      <dgm:spPr/>
    </dgm:pt>
    <dgm:pt modelId="{AF495375-28B3-4992-9B41-C434F1899A09}" type="pres">
      <dgm:prSet presAssocID="{3FAB90EF-18A4-4FAD-8B4A-D34CA2E614DF}" presName="Chord" presStyleLbl="bgShp" presStyleIdx="3" presStyleCnt="5"/>
      <dgm:spPr/>
    </dgm:pt>
    <dgm:pt modelId="{510E0262-1DF6-48E0-843D-C9326F46974A}" type="pres">
      <dgm:prSet presAssocID="{3FAB90EF-18A4-4FAD-8B4A-D34CA2E614DF}" presName="Pie" presStyleLbl="alignNode1" presStyleIdx="3" presStyleCnt="5"/>
      <dgm:spPr/>
    </dgm:pt>
    <dgm:pt modelId="{3766296F-11B2-48DC-BDDB-42AE2EDA0A9E}" type="pres">
      <dgm:prSet presAssocID="{3FAB90EF-18A4-4FAD-8B4A-D34CA2E614DF}" presName="Parent" presStyleLbl="revTx" presStyleIdx="6" presStyleCnt="10">
        <dgm:presLayoutVars>
          <dgm:chMax val="1"/>
          <dgm:chPref val="1"/>
          <dgm:bulletEnabled val="1"/>
        </dgm:presLayoutVars>
      </dgm:prSet>
      <dgm:spPr/>
    </dgm:pt>
    <dgm:pt modelId="{900E6C03-AAD0-44C3-B3D9-99FCE4AB6B58}" type="pres">
      <dgm:prSet presAssocID="{C01B4211-3BE4-4EA8-A157-0674B1E7BBAD}" presName="negSibTrans" presStyleCnt="0"/>
      <dgm:spPr/>
    </dgm:pt>
    <dgm:pt modelId="{76D365CD-C964-4183-B7D8-625EBA04E5EB}" type="pres">
      <dgm:prSet presAssocID="{3FAB90EF-18A4-4FAD-8B4A-D34CA2E614DF}" presName="composite" presStyleCnt="0"/>
      <dgm:spPr/>
    </dgm:pt>
    <dgm:pt modelId="{622E98EA-69DF-4CA9-8649-42AF7FA106CA}" type="pres">
      <dgm:prSet presAssocID="{3FAB90EF-18A4-4FAD-8B4A-D34CA2E614DF}" presName="Child" presStyleLbl="revTx" presStyleIdx="7" presStyleCnt="10">
        <dgm:presLayoutVars>
          <dgm:chMax val="0"/>
          <dgm:chPref val="0"/>
          <dgm:bulletEnabled val="1"/>
        </dgm:presLayoutVars>
      </dgm:prSet>
      <dgm:spPr/>
    </dgm:pt>
    <dgm:pt modelId="{59899D5D-5714-4F5D-9712-882EC810E411}" type="pres">
      <dgm:prSet presAssocID="{8F4083E2-74E4-4451-921D-886A108418F7}" presName="sibTrans" presStyleCnt="0"/>
      <dgm:spPr/>
    </dgm:pt>
    <dgm:pt modelId="{9A309026-3E7F-4ABB-B9D1-9C81A65A52B8}" type="pres">
      <dgm:prSet presAssocID="{8F3F225B-21BF-46BC-8081-3B097C90B6D7}" presName="ParentComposite" presStyleCnt="0"/>
      <dgm:spPr/>
    </dgm:pt>
    <dgm:pt modelId="{183A2264-FF8D-408A-B0B0-47B7EB435FBE}" type="pres">
      <dgm:prSet presAssocID="{8F3F225B-21BF-46BC-8081-3B097C90B6D7}" presName="Chord" presStyleLbl="bgShp" presStyleIdx="4" presStyleCnt="5"/>
      <dgm:spPr/>
    </dgm:pt>
    <dgm:pt modelId="{BA43B000-D132-42F9-8761-1F22C08866A4}" type="pres">
      <dgm:prSet presAssocID="{8F3F225B-21BF-46BC-8081-3B097C90B6D7}" presName="Pie" presStyleLbl="alignNode1" presStyleIdx="4" presStyleCnt="5"/>
      <dgm:spPr/>
    </dgm:pt>
    <dgm:pt modelId="{C39A8DB1-6309-4699-84FF-AC0240869EB4}" type="pres">
      <dgm:prSet presAssocID="{8F3F225B-21BF-46BC-8081-3B097C90B6D7}" presName="Parent" presStyleLbl="revTx" presStyleIdx="8" presStyleCnt="10">
        <dgm:presLayoutVars>
          <dgm:chMax val="1"/>
          <dgm:chPref val="1"/>
          <dgm:bulletEnabled val="1"/>
        </dgm:presLayoutVars>
      </dgm:prSet>
      <dgm:spPr/>
    </dgm:pt>
    <dgm:pt modelId="{0A3B24F6-05C6-4F5C-9F87-64CA903DD4AF}" type="pres">
      <dgm:prSet presAssocID="{02585F14-A0A2-4CFD-924D-1A349880288B}" presName="negSibTrans" presStyleCnt="0"/>
      <dgm:spPr/>
    </dgm:pt>
    <dgm:pt modelId="{731CEB68-E820-4FCE-990D-646E9A0CE9E3}" type="pres">
      <dgm:prSet presAssocID="{8F3F225B-21BF-46BC-8081-3B097C90B6D7}" presName="composite" presStyleCnt="0"/>
      <dgm:spPr/>
    </dgm:pt>
    <dgm:pt modelId="{EC00001A-0031-43C2-9243-57376D77D8C6}" type="pres">
      <dgm:prSet presAssocID="{8F3F225B-21BF-46BC-8081-3B097C90B6D7}" presName="Child" presStyleLbl="revTx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21EE5C0A-32AC-42D5-8E91-3EF76D0E4EA9}" type="presOf" srcId="{34EE21B9-9E5D-4DFF-B71B-900B0A19CDAD}" destId="{622E98EA-69DF-4CA9-8649-42AF7FA106CA}" srcOrd="0" destOrd="0" presId="urn:microsoft.com/office/officeart/2009/3/layout/PieProcess"/>
    <dgm:cxn modelId="{9E4EB837-1BCD-4EFB-8340-3C891AAC10D8}" srcId="{3FAB90EF-18A4-4FAD-8B4A-D34CA2E614DF}" destId="{34EE21B9-9E5D-4DFF-B71B-900B0A19CDAD}" srcOrd="0" destOrd="0" parTransId="{3F891199-7018-4CA4-8A26-201629A6B887}" sibTransId="{C01B4211-3BE4-4EA8-A157-0674B1E7BBAD}"/>
    <dgm:cxn modelId="{D8A1183F-2B50-46B2-B67F-CB51633DFB4C}" srcId="{50A025E5-B95C-494A-BAA6-6C571BC5989E}" destId="{AFC6ED4F-AE67-4DEB-82E8-829EA477BC4A}" srcOrd="0" destOrd="0" parTransId="{30EE7192-D66C-44CF-B129-53F4B005838E}" sibTransId="{C7F70778-2AA3-4D99-ABBC-409F3E67900D}"/>
    <dgm:cxn modelId="{F6FED245-F65A-413F-A460-B7839DE9877B}" type="presOf" srcId="{26133724-6FBE-4920-883A-42C72F610012}" destId="{4084B0C6-9031-4FDA-860C-27330825BBEE}" srcOrd="0" destOrd="0" presId="urn:microsoft.com/office/officeart/2009/3/layout/PieProcess"/>
    <dgm:cxn modelId="{6481BC4A-4A5A-4225-B388-2DDE7D1F0861}" srcId="{50A025E5-B95C-494A-BAA6-6C571BC5989E}" destId="{A0BABDDB-C9AE-449D-83BE-A6AF204DF863}" srcOrd="1" destOrd="0" parTransId="{059AEBE6-3D81-4FB2-A2DA-0F36191071AB}" sibTransId="{8C5336D1-50E0-42A5-95E7-C800E732FBC0}"/>
    <dgm:cxn modelId="{461EBA6B-67CE-4759-839A-37E89C76F5E9}" type="presOf" srcId="{14EC650C-F426-42C4-85AA-ACD4D25B6481}" destId="{4ED98CCB-0B44-48F0-9B18-D87B8255B686}" srcOrd="0" destOrd="0" presId="urn:microsoft.com/office/officeart/2009/3/layout/PieProcess"/>
    <dgm:cxn modelId="{B7A6134D-73FC-4570-87C8-844397F46177}" srcId="{50A025E5-B95C-494A-BAA6-6C571BC5989E}" destId="{8F3F225B-21BF-46BC-8081-3B097C90B6D7}" srcOrd="4" destOrd="0" parTransId="{38404ED6-53AC-4079-8B42-A324A3B43F17}" sibTransId="{220BF5C2-F831-458B-A8F0-28A9F90E0626}"/>
    <dgm:cxn modelId="{55EEA26E-E4B1-4B95-ACAB-0CCC24570B61}" type="presOf" srcId="{18CB064C-12D4-4EF2-A73C-3FDF8159CC7E}" destId="{9FB2DB92-C98E-473E-A6AF-4F78BCBA4B8E}" srcOrd="0" destOrd="0" presId="urn:microsoft.com/office/officeart/2009/3/layout/PieProcess"/>
    <dgm:cxn modelId="{07984F7A-4DB0-453E-A695-82B23AC091C9}" srcId="{AFC6ED4F-AE67-4DEB-82E8-829EA477BC4A}" destId="{14EC650C-F426-42C4-85AA-ACD4D25B6481}" srcOrd="0" destOrd="0" parTransId="{86031459-F865-4F8C-83E1-07F4170B00C4}" sibTransId="{8E1F72B5-2064-483F-BC15-661B780B54DC}"/>
    <dgm:cxn modelId="{3D711D7C-D003-49E4-8982-50FB385B02C1}" type="presOf" srcId="{EF2327FB-52AF-48AC-A9AE-8F62251D5B14}" destId="{EC00001A-0031-43C2-9243-57376D77D8C6}" srcOrd="0" destOrd="0" presId="urn:microsoft.com/office/officeart/2009/3/layout/PieProcess"/>
    <dgm:cxn modelId="{5681DD83-EC4A-4AFC-9D32-C77946580EC0}" srcId="{50A025E5-B95C-494A-BAA6-6C571BC5989E}" destId="{3FAB90EF-18A4-4FAD-8B4A-D34CA2E614DF}" srcOrd="3" destOrd="0" parTransId="{645F45E4-C3A4-45A1-85C9-8FA10B0F31EA}" sibTransId="{8F4083E2-74E4-4451-921D-886A108418F7}"/>
    <dgm:cxn modelId="{A719C990-D5CA-4131-B60A-E954E1AE8E14}" srcId="{8F3F225B-21BF-46BC-8081-3B097C90B6D7}" destId="{EF2327FB-52AF-48AC-A9AE-8F62251D5B14}" srcOrd="0" destOrd="0" parTransId="{448401D6-BA81-42A7-B6EE-C667E1B9DEC8}" sibTransId="{02585F14-A0A2-4CFD-924D-1A349880288B}"/>
    <dgm:cxn modelId="{ABA5C8A4-4E34-4B18-9B71-1F3D87B39BE6}" type="presOf" srcId="{3FAB90EF-18A4-4FAD-8B4A-D34CA2E614DF}" destId="{3766296F-11B2-48DC-BDDB-42AE2EDA0A9E}" srcOrd="0" destOrd="0" presId="urn:microsoft.com/office/officeart/2009/3/layout/PieProcess"/>
    <dgm:cxn modelId="{05EA6BBF-28E2-4690-98EF-F10680E87C66}" srcId="{18CB064C-12D4-4EF2-A73C-3FDF8159CC7E}" destId="{26133724-6FBE-4920-883A-42C72F610012}" srcOrd="0" destOrd="0" parTransId="{9D8D3569-EF9B-4BED-ABEB-031F024D53FF}" sibTransId="{05F39F38-798C-44F0-8E02-A63B1FD6EFE2}"/>
    <dgm:cxn modelId="{DC10FCBF-EB95-44D3-ABB5-52FFD997F80F}" type="presOf" srcId="{A0BABDDB-C9AE-449D-83BE-A6AF204DF863}" destId="{557EC1DF-A55A-406A-A0BD-0BF4EC522FF2}" srcOrd="0" destOrd="0" presId="urn:microsoft.com/office/officeart/2009/3/layout/PieProcess"/>
    <dgm:cxn modelId="{5583D6C0-772E-4805-B45A-305666FE33C3}" type="presOf" srcId="{8F3F225B-21BF-46BC-8081-3B097C90B6D7}" destId="{C39A8DB1-6309-4699-84FF-AC0240869EB4}" srcOrd="0" destOrd="0" presId="urn:microsoft.com/office/officeart/2009/3/layout/PieProcess"/>
    <dgm:cxn modelId="{EBB0B6C5-EDFE-41AB-AEC4-F735D9CFB890}" type="presOf" srcId="{D71AFDB1-940D-49FC-808F-9ED05873FDA3}" destId="{06066C87-E5F5-45B1-A2FB-9E18F32451D8}" srcOrd="0" destOrd="0" presId="urn:microsoft.com/office/officeart/2009/3/layout/PieProcess"/>
    <dgm:cxn modelId="{3C69E0C8-11CB-468D-90F3-D905F1232C07}" srcId="{A0BABDDB-C9AE-449D-83BE-A6AF204DF863}" destId="{D71AFDB1-940D-49FC-808F-9ED05873FDA3}" srcOrd="0" destOrd="0" parTransId="{22C71554-720E-4F22-B837-4781F0F2B318}" sibTransId="{0BD1F28C-1A7D-4368-92AF-E12D36C55E4B}"/>
    <dgm:cxn modelId="{C961BED5-BCB2-420B-A36E-BE6E0991EED9}" type="presOf" srcId="{50A025E5-B95C-494A-BAA6-6C571BC5989E}" destId="{EF61BA0F-C103-43F7-A800-32FB3EA60782}" srcOrd="0" destOrd="0" presId="urn:microsoft.com/office/officeart/2009/3/layout/PieProcess"/>
    <dgm:cxn modelId="{1292A1F0-FB4D-4733-A203-A594D7351B88}" srcId="{50A025E5-B95C-494A-BAA6-6C571BC5989E}" destId="{18CB064C-12D4-4EF2-A73C-3FDF8159CC7E}" srcOrd="2" destOrd="0" parTransId="{AEF905CF-0F9B-4315-9738-87D7BF7DD80C}" sibTransId="{C0F39782-48AB-4F86-B88C-B556DA8AF2E2}"/>
    <dgm:cxn modelId="{6715A4FD-69C6-4C0D-9733-CB53777274C7}" type="presOf" srcId="{AFC6ED4F-AE67-4DEB-82E8-829EA477BC4A}" destId="{FEC6E16B-E1C2-46FA-B6F3-408AC71CD5D2}" srcOrd="0" destOrd="0" presId="urn:microsoft.com/office/officeart/2009/3/layout/PieProcess"/>
    <dgm:cxn modelId="{B6DB7AE4-DE25-4174-BA8F-4A28AD3E13DD}" type="presParOf" srcId="{EF61BA0F-C103-43F7-A800-32FB3EA60782}" destId="{80F60505-018E-4042-811B-F89B14B6D56F}" srcOrd="0" destOrd="0" presId="urn:microsoft.com/office/officeart/2009/3/layout/PieProcess"/>
    <dgm:cxn modelId="{6CB4FA98-FCD9-4A69-A942-0F5B36E3EEFF}" type="presParOf" srcId="{80F60505-018E-4042-811B-F89B14B6D56F}" destId="{CBC18AA6-693A-4FE1-ACA2-781F45F77633}" srcOrd="0" destOrd="0" presId="urn:microsoft.com/office/officeart/2009/3/layout/PieProcess"/>
    <dgm:cxn modelId="{5EE9FF59-57F3-4FCE-9951-F040FE0B194C}" type="presParOf" srcId="{80F60505-018E-4042-811B-F89B14B6D56F}" destId="{D119ABB7-8ABB-4BD7-B558-750400D361A0}" srcOrd="1" destOrd="0" presId="urn:microsoft.com/office/officeart/2009/3/layout/PieProcess"/>
    <dgm:cxn modelId="{55A6FA2E-360D-4542-B308-1A162ABA5894}" type="presParOf" srcId="{80F60505-018E-4042-811B-F89B14B6D56F}" destId="{FEC6E16B-E1C2-46FA-B6F3-408AC71CD5D2}" srcOrd="2" destOrd="0" presId="urn:microsoft.com/office/officeart/2009/3/layout/PieProcess"/>
    <dgm:cxn modelId="{EEA50338-481F-413B-908E-D5F4F794F653}" type="presParOf" srcId="{EF61BA0F-C103-43F7-A800-32FB3EA60782}" destId="{EB1DFE1E-7157-48E2-B3B8-03D056B7A603}" srcOrd="1" destOrd="0" presId="urn:microsoft.com/office/officeart/2009/3/layout/PieProcess"/>
    <dgm:cxn modelId="{EC6F1EE4-470B-4EFA-BB60-75913211E483}" type="presParOf" srcId="{EF61BA0F-C103-43F7-A800-32FB3EA60782}" destId="{2CBE9547-51B4-4163-B71E-465FE9EEDFC3}" srcOrd="2" destOrd="0" presId="urn:microsoft.com/office/officeart/2009/3/layout/PieProcess"/>
    <dgm:cxn modelId="{A035C027-436F-4ACE-B8F0-BFB691B24391}" type="presParOf" srcId="{2CBE9547-51B4-4163-B71E-465FE9EEDFC3}" destId="{4ED98CCB-0B44-48F0-9B18-D87B8255B686}" srcOrd="0" destOrd="0" presId="urn:microsoft.com/office/officeart/2009/3/layout/PieProcess"/>
    <dgm:cxn modelId="{3E50452D-3F50-4AAB-811F-6825EE63FA59}" type="presParOf" srcId="{EF61BA0F-C103-43F7-A800-32FB3EA60782}" destId="{060A749F-4092-4629-A455-4D4B9AB8747A}" srcOrd="3" destOrd="0" presId="urn:microsoft.com/office/officeart/2009/3/layout/PieProcess"/>
    <dgm:cxn modelId="{1798DD61-06AB-4BE8-B988-8547D0B922DF}" type="presParOf" srcId="{EF61BA0F-C103-43F7-A800-32FB3EA60782}" destId="{B524A3CB-166D-4856-AD91-35E72DE2DA15}" srcOrd="4" destOrd="0" presId="urn:microsoft.com/office/officeart/2009/3/layout/PieProcess"/>
    <dgm:cxn modelId="{88C9C4D0-57DE-47AC-B551-CDDB0C861DE9}" type="presParOf" srcId="{B524A3CB-166D-4856-AD91-35E72DE2DA15}" destId="{3D0A66E7-5579-46C5-923A-94931A4D505A}" srcOrd="0" destOrd="0" presId="urn:microsoft.com/office/officeart/2009/3/layout/PieProcess"/>
    <dgm:cxn modelId="{5B1D27CB-BAD8-43D3-BB26-A452A36FA22A}" type="presParOf" srcId="{B524A3CB-166D-4856-AD91-35E72DE2DA15}" destId="{305760AE-87CA-4861-AA97-9516ADAB49F1}" srcOrd="1" destOrd="0" presId="urn:microsoft.com/office/officeart/2009/3/layout/PieProcess"/>
    <dgm:cxn modelId="{1793024B-0D17-4738-B2E0-DD926989E1AE}" type="presParOf" srcId="{B524A3CB-166D-4856-AD91-35E72DE2DA15}" destId="{557EC1DF-A55A-406A-A0BD-0BF4EC522FF2}" srcOrd="2" destOrd="0" presId="urn:microsoft.com/office/officeart/2009/3/layout/PieProcess"/>
    <dgm:cxn modelId="{029D8698-F5DA-4B7F-921B-7D39D56C1A28}" type="presParOf" srcId="{EF61BA0F-C103-43F7-A800-32FB3EA60782}" destId="{E3CBD628-7A78-450E-A4F3-487388520FFD}" srcOrd="5" destOrd="0" presId="urn:microsoft.com/office/officeart/2009/3/layout/PieProcess"/>
    <dgm:cxn modelId="{449B26AE-EE75-415C-BB20-9925ABFD9FC5}" type="presParOf" srcId="{EF61BA0F-C103-43F7-A800-32FB3EA60782}" destId="{29ACC278-B89D-480A-A629-E9654941E14E}" srcOrd="6" destOrd="0" presId="urn:microsoft.com/office/officeart/2009/3/layout/PieProcess"/>
    <dgm:cxn modelId="{F672A4E8-47F5-4305-8E2C-679C28BDF880}" type="presParOf" srcId="{29ACC278-B89D-480A-A629-E9654941E14E}" destId="{06066C87-E5F5-45B1-A2FB-9E18F32451D8}" srcOrd="0" destOrd="0" presId="urn:microsoft.com/office/officeart/2009/3/layout/PieProcess"/>
    <dgm:cxn modelId="{951A5DA5-CD4C-43FB-AEA4-0664E4E27379}" type="presParOf" srcId="{EF61BA0F-C103-43F7-A800-32FB3EA60782}" destId="{B710A01C-1FEA-4A77-AA1E-563C1F1A7284}" srcOrd="7" destOrd="0" presId="urn:microsoft.com/office/officeart/2009/3/layout/PieProcess"/>
    <dgm:cxn modelId="{6A5F46CA-5670-475E-BE3D-907E62B3A2AF}" type="presParOf" srcId="{EF61BA0F-C103-43F7-A800-32FB3EA60782}" destId="{D7AAE421-176E-450E-9887-EE28423880B0}" srcOrd="8" destOrd="0" presId="urn:microsoft.com/office/officeart/2009/3/layout/PieProcess"/>
    <dgm:cxn modelId="{4EA77B11-EB45-4E27-892D-A893577B71DB}" type="presParOf" srcId="{D7AAE421-176E-450E-9887-EE28423880B0}" destId="{80D3403A-1858-4D0F-8D10-1BF6562CC1CB}" srcOrd="0" destOrd="0" presId="urn:microsoft.com/office/officeart/2009/3/layout/PieProcess"/>
    <dgm:cxn modelId="{58B2DA3E-E74C-4845-BCB5-71C185B2DF58}" type="presParOf" srcId="{D7AAE421-176E-450E-9887-EE28423880B0}" destId="{6071426D-5C29-4F78-93B0-9762BA8FC034}" srcOrd="1" destOrd="0" presId="urn:microsoft.com/office/officeart/2009/3/layout/PieProcess"/>
    <dgm:cxn modelId="{1796863E-4838-4D2D-88ED-CAD8128872B2}" type="presParOf" srcId="{D7AAE421-176E-450E-9887-EE28423880B0}" destId="{9FB2DB92-C98E-473E-A6AF-4F78BCBA4B8E}" srcOrd="2" destOrd="0" presId="urn:microsoft.com/office/officeart/2009/3/layout/PieProcess"/>
    <dgm:cxn modelId="{F8A8135B-A135-4C36-8BEC-E0A85A57A5A5}" type="presParOf" srcId="{EF61BA0F-C103-43F7-A800-32FB3EA60782}" destId="{BCB9F9C7-96D8-49F2-BC3D-2AB8006A1614}" srcOrd="9" destOrd="0" presId="urn:microsoft.com/office/officeart/2009/3/layout/PieProcess"/>
    <dgm:cxn modelId="{D619CA14-9689-4D3B-8456-9755B89930D7}" type="presParOf" srcId="{EF61BA0F-C103-43F7-A800-32FB3EA60782}" destId="{C07EB46C-A2C3-4239-AD40-62C9245BC473}" srcOrd="10" destOrd="0" presId="urn:microsoft.com/office/officeart/2009/3/layout/PieProcess"/>
    <dgm:cxn modelId="{1E64EB29-797D-4331-BE24-E3A002600FB4}" type="presParOf" srcId="{C07EB46C-A2C3-4239-AD40-62C9245BC473}" destId="{4084B0C6-9031-4FDA-860C-27330825BBEE}" srcOrd="0" destOrd="0" presId="urn:microsoft.com/office/officeart/2009/3/layout/PieProcess"/>
    <dgm:cxn modelId="{E9024B39-C97B-45BC-8A8C-6CB1ABC59B1E}" type="presParOf" srcId="{EF61BA0F-C103-43F7-A800-32FB3EA60782}" destId="{C4F825D2-E71C-410C-A16D-E1D172A43217}" srcOrd="11" destOrd="0" presId="urn:microsoft.com/office/officeart/2009/3/layout/PieProcess"/>
    <dgm:cxn modelId="{D49AE656-BB92-45A2-B8B8-2627D1C1F6FF}" type="presParOf" srcId="{EF61BA0F-C103-43F7-A800-32FB3EA60782}" destId="{FE06EFED-7FEA-439A-B030-41A51E6B075D}" srcOrd="12" destOrd="0" presId="urn:microsoft.com/office/officeart/2009/3/layout/PieProcess"/>
    <dgm:cxn modelId="{4A6221AD-0D20-46EC-B9C4-AC040FB49AC3}" type="presParOf" srcId="{FE06EFED-7FEA-439A-B030-41A51E6B075D}" destId="{AF495375-28B3-4992-9B41-C434F1899A09}" srcOrd="0" destOrd="0" presId="urn:microsoft.com/office/officeart/2009/3/layout/PieProcess"/>
    <dgm:cxn modelId="{963D2736-F8C5-4D9F-B680-09CD410C45B0}" type="presParOf" srcId="{FE06EFED-7FEA-439A-B030-41A51E6B075D}" destId="{510E0262-1DF6-48E0-843D-C9326F46974A}" srcOrd="1" destOrd="0" presId="urn:microsoft.com/office/officeart/2009/3/layout/PieProcess"/>
    <dgm:cxn modelId="{6F771957-84EF-44C7-96C1-7AC4FFF390B9}" type="presParOf" srcId="{FE06EFED-7FEA-439A-B030-41A51E6B075D}" destId="{3766296F-11B2-48DC-BDDB-42AE2EDA0A9E}" srcOrd="2" destOrd="0" presId="urn:microsoft.com/office/officeart/2009/3/layout/PieProcess"/>
    <dgm:cxn modelId="{86AC27BA-2C79-4828-9EA1-DF5F25C8EA64}" type="presParOf" srcId="{EF61BA0F-C103-43F7-A800-32FB3EA60782}" destId="{900E6C03-AAD0-44C3-B3D9-99FCE4AB6B58}" srcOrd="13" destOrd="0" presId="urn:microsoft.com/office/officeart/2009/3/layout/PieProcess"/>
    <dgm:cxn modelId="{691A95BC-1CBA-46B4-8C62-B32BB5339DC9}" type="presParOf" srcId="{EF61BA0F-C103-43F7-A800-32FB3EA60782}" destId="{76D365CD-C964-4183-B7D8-625EBA04E5EB}" srcOrd="14" destOrd="0" presId="urn:microsoft.com/office/officeart/2009/3/layout/PieProcess"/>
    <dgm:cxn modelId="{F91C573B-E944-4249-875D-5B1F7E1E591E}" type="presParOf" srcId="{76D365CD-C964-4183-B7D8-625EBA04E5EB}" destId="{622E98EA-69DF-4CA9-8649-42AF7FA106CA}" srcOrd="0" destOrd="0" presId="urn:microsoft.com/office/officeart/2009/3/layout/PieProcess"/>
    <dgm:cxn modelId="{D686BE6D-2677-4D7E-A799-3AB71DA9A015}" type="presParOf" srcId="{EF61BA0F-C103-43F7-A800-32FB3EA60782}" destId="{59899D5D-5714-4F5D-9712-882EC810E411}" srcOrd="15" destOrd="0" presId="urn:microsoft.com/office/officeart/2009/3/layout/PieProcess"/>
    <dgm:cxn modelId="{12AB2571-267A-458C-A3D2-26E15301A2ED}" type="presParOf" srcId="{EF61BA0F-C103-43F7-A800-32FB3EA60782}" destId="{9A309026-3E7F-4ABB-B9D1-9C81A65A52B8}" srcOrd="16" destOrd="0" presId="urn:microsoft.com/office/officeart/2009/3/layout/PieProcess"/>
    <dgm:cxn modelId="{DF663B57-0E8D-4D37-933A-65108ED14A8E}" type="presParOf" srcId="{9A309026-3E7F-4ABB-B9D1-9C81A65A52B8}" destId="{183A2264-FF8D-408A-B0B0-47B7EB435FBE}" srcOrd="0" destOrd="0" presId="urn:microsoft.com/office/officeart/2009/3/layout/PieProcess"/>
    <dgm:cxn modelId="{C220A7C3-0041-4F14-B4AE-25D3FD7F910F}" type="presParOf" srcId="{9A309026-3E7F-4ABB-B9D1-9C81A65A52B8}" destId="{BA43B000-D132-42F9-8761-1F22C08866A4}" srcOrd="1" destOrd="0" presId="urn:microsoft.com/office/officeart/2009/3/layout/PieProcess"/>
    <dgm:cxn modelId="{3160463A-3418-4FC8-B3E5-7A2B699E805E}" type="presParOf" srcId="{9A309026-3E7F-4ABB-B9D1-9C81A65A52B8}" destId="{C39A8DB1-6309-4699-84FF-AC0240869EB4}" srcOrd="2" destOrd="0" presId="urn:microsoft.com/office/officeart/2009/3/layout/PieProcess"/>
    <dgm:cxn modelId="{310D746C-31D7-432C-AFA9-68665D8F86B6}" type="presParOf" srcId="{EF61BA0F-C103-43F7-A800-32FB3EA60782}" destId="{0A3B24F6-05C6-4F5C-9F87-64CA903DD4AF}" srcOrd="17" destOrd="0" presId="urn:microsoft.com/office/officeart/2009/3/layout/PieProcess"/>
    <dgm:cxn modelId="{0084680B-5A77-4FB4-B908-049FBE788FED}" type="presParOf" srcId="{EF61BA0F-C103-43F7-A800-32FB3EA60782}" destId="{731CEB68-E820-4FCE-990D-646E9A0CE9E3}" srcOrd="18" destOrd="0" presId="urn:microsoft.com/office/officeart/2009/3/layout/PieProcess"/>
    <dgm:cxn modelId="{3E8B93A8-2DBD-4510-A61D-7F9154DE4D95}" type="presParOf" srcId="{731CEB68-E820-4FCE-990D-646E9A0CE9E3}" destId="{EC00001A-0031-43C2-9243-57376D77D8C6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18AA6-693A-4FE1-ACA2-781F45F77633}">
      <dsp:nvSpPr>
        <dsp:cNvPr id="0" name=""/>
        <dsp:cNvSpPr/>
      </dsp:nvSpPr>
      <dsp:spPr>
        <a:xfrm>
          <a:off x="108108" y="0"/>
          <a:ext cx="358775" cy="358775"/>
        </a:xfrm>
        <a:prstGeom prst="chord">
          <a:avLst>
            <a:gd name="adj1" fmla="val 4800000"/>
            <a:gd name="adj2" fmla="val 1680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9ABB7-8ABB-4BD7-B558-750400D361A0}">
      <dsp:nvSpPr>
        <dsp:cNvPr id="0" name=""/>
        <dsp:cNvSpPr/>
      </dsp:nvSpPr>
      <dsp:spPr>
        <a:xfrm>
          <a:off x="143986" y="35877"/>
          <a:ext cx="287020" cy="287020"/>
        </a:xfrm>
        <a:prstGeom prst="pie">
          <a:avLst>
            <a:gd name="adj1" fmla="val 1404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6E16B-E1C2-46FA-B6F3-408AC71CD5D2}">
      <dsp:nvSpPr>
        <dsp:cNvPr id="0" name=""/>
        <dsp:cNvSpPr/>
      </dsp:nvSpPr>
      <dsp:spPr>
        <a:xfrm rot="16200000">
          <a:off x="-304482" y="807243"/>
          <a:ext cx="1040447" cy="215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EDITANDO</a:t>
          </a:r>
        </a:p>
      </dsp:txBody>
      <dsp:txXfrm>
        <a:off x="-304482" y="807243"/>
        <a:ext cx="1040447" cy="215265"/>
      </dsp:txXfrm>
    </dsp:sp>
    <dsp:sp modelId="{4ED98CCB-0B44-48F0-9B18-D87B8255B686}">
      <dsp:nvSpPr>
        <dsp:cNvPr id="0" name=""/>
        <dsp:cNvSpPr/>
      </dsp:nvSpPr>
      <dsp:spPr>
        <a:xfrm>
          <a:off x="359251" y="0"/>
          <a:ext cx="717550" cy="1435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borrador</a:t>
          </a:r>
        </a:p>
      </dsp:txBody>
      <dsp:txXfrm>
        <a:off x="359251" y="0"/>
        <a:ext cx="717550" cy="1435100"/>
      </dsp:txXfrm>
    </dsp:sp>
    <dsp:sp modelId="{3D0A66E7-5579-46C5-923A-94931A4D505A}">
      <dsp:nvSpPr>
        <dsp:cNvPr id="0" name=""/>
        <dsp:cNvSpPr/>
      </dsp:nvSpPr>
      <dsp:spPr>
        <a:xfrm>
          <a:off x="1335881" y="0"/>
          <a:ext cx="358775" cy="358775"/>
        </a:xfrm>
        <a:prstGeom prst="chord">
          <a:avLst>
            <a:gd name="adj1" fmla="val 4800000"/>
            <a:gd name="adj2" fmla="val 1680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760AE-87CA-4861-AA97-9516ADAB49F1}">
      <dsp:nvSpPr>
        <dsp:cNvPr id="0" name=""/>
        <dsp:cNvSpPr/>
      </dsp:nvSpPr>
      <dsp:spPr>
        <a:xfrm>
          <a:off x="1371758" y="35877"/>
          <a:ext cx="287020" cy="287020"/>
        </a:xfrm>
        <a:prstGeom prst="pie">
          <a:avLst>
            <a:gd name="adj1" fmla="val 11880000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EC1DF-A55A-406A-A0BD-0BF4EC522FF2}">
      <dsp:nvSpPr>
        <dsp:cNvPr id="0" name=""/>
        <dsp:cNvSpPr/>
      </dsp:nvSpPr>
      <dsp:spPr>
        <a:xfrm rot="16200000">
          <a:off x="923289" y="807243"/>
          <a:ext cx="1040447" cy="215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PENDIENTE</a:t>
          </a:r>
        </a:p>
      </dsp:txBody>
      <dsp:txXfrm>
        <a:off x="923289" y="807243"/>
        <a:ext cx="1040447" cy="215265"/>
      </dsp:txXfrm>
    </dsp:sp>
    <dsp:sp modelId="{06066C87-E5F5-45B1-A2FB-9E18F32451D8}">
      <dsp:nvSpPr>
        <dsp:cNvPr id="0" name=""/>
        <dsp:cNvSpPr/>
      </dsp:nvSpPr>
      <dsp:spPr>
        <a:xfrm>
          <a:off x="1587023" y="0"/>
          <a:ext cx="717550" cy="1435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enviar</a:t>
          </a:r>
        </a:p>
      </dsp:txBody>
      <dsp:txXfrm>
        <a:off x="1587023" y="0"/>
        <a:ext cx="717550" cy="1435100"/>
      </dsp:txXfrm>
    </dsp:sp>
    <dsp:sp modelId="{80D3403A-1858-4D0F-8D10-1BF6562CC1CB}">
      <dsp:nvSpPr>
        <dsp:cNvPr id="0" name=""/>
        <dsp:cNvSpPr/>
      </dsp:nvSpPr>
      <dsp:spPr>
        <a:xfrm>
          <a:off x="2563653" y="0"/>
          <a:ext cx="358775" cy="358775"/>
        </a:xfrm>
        <a:prstGeom prst="chord">
          <a:avLst>
            <a:gd name="adj1" fmla="val 4800000"/>
            <a:gd name="adj2" fmla="val 1680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71426D-5C29-4F78-93B0-9762BA8FC034}">
      <dsp:nvSpPr>
        <dsp:cNvPr id="0" name=""/>
        <dsp:cNvSpPr/>
      </dsp:nvSpPr>
      <dsp:spPr>
        <a:xfrm>
          <a:off x="2599531" y="35877"/>
          <a:ext cx="287020" cy="287020"/>
        </a:xfrm>
        <a:prstGeom prst="pie">
          <a:avLst>
            <a:gd name="adj1" fmla="val 972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2DB92-C98E-473E-A6AF-4F78BCBA4B8E}">
      <dsp:nvSpPr>
        <dsp:cNvPr id="0" name=""/>
        <dsp:cNvSpPr/>
      </dsp:nvSpPr>
      <dsp:spPr>
        <a:xfrm rot="16200000">
          <a:off x="2151062" y="807243"/>
          <a:ext cx="1040447" cy="215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REVISAR</a:t>
          </a:r>
        </a:p>
      </dsp:txBody>
      <dsp:txXfrm>
        <a:off x="2151062" y="807243"/>
        <a:ext cx="1040447" cy="215265"/>
      </dsp:txXfrm>
    </dsp:sp>
    <dsp:sp modelId="{4084B0C6-9031-4FDA-860C-27330825BBEE}">
      <dsp:nvSpPr>
        <dsp:cNvPr id="0" name=""/>
        <dsp:cNvSpPr/>
      </dsp:nvSpPr>
      <dsp:spPr>
        <a:xfrm>
          <a:off x="2814796" y="0"/>
          <a:ext cx="717550" cy="1435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rechazar</a:t>
          </a:r>
        </a:p>
      </dsp:txBody>
      <dsp:txXfrm>
        <a:off x="2814796" y="0"/>
        <a:ext cx="717550" cy="1435100"/>
      </dsp:txXfrm>
    </dsp:sp>
    <dsp:sp modelId="{AF495375-28B3-4992-9B41-C434F1899A09}">
      <dsp:nvSpPr>
        <dsp:cNvPr id="0" name=""/>
        <dsp:cNvSpPr/>
      </dsp:nvSpPr>
      <dsp:spPr>
        <a:xfrm>
          <a:off x="3791426" y="0"/>
          <a:ext cx="358775" cy="358775"/>
        </a:xfrm>
        <a:prstGeom prst="chord">
          <a:avLst>
            <a:gd name="adj1" fmla="val 4800000"/>
            <a:gd name="adj2" fmla="val 1680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0E0262-1DF6-48E0-843D-C9326F46974A}">
      <dsp:nvSpPr>
        <dsp:cNvPr id="0" name=""/>
        <dsp:cNvSpPr/>
      </dsp:nvSpPr>
      <dsp:spPr>
        <a:xfrm>
          <a:off x="3827303" y="35877"/>
          <a:ext cx="287020" cy="287020"/>
        </a:xfrm>
        <a:prstGeom prst="pie">
          <a:avLst>
            <a:gd name="adj1" fmla="val 7560000"/>
            <a:gd name="adj2" fmla="val 162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6296F-11B2-48DC-BDDB-42AE2EDA0A9E}">
      <dsp:nvSpPr>
        <dsp:cNvPr id="0" name=""/>
        <dsp:cNvSpPr/>
      </dsp:nvSpPr>
      <dsp:spPr>
        <a:xfrm rot="16200000">
          <a:off x="3378835" y="807243"/>
          <a:ext cx="1040447" cy="215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APROBAR</a:t>
          </a:r>
        </a:p>
      </dsp:txBody>
      <dsp:txXfrm>
        <a:off x="3378835" y="807243"/>
        <a:ext cx="1040447" cy="215265"/>
      </dsp:txXfrm>
    </dsp:sp>
    <dsp:sp modelId="{622E98EA-69DF-4CA9-8649-42AF7FA106CA}">
      <dsp:nvSpPr>
        <dsp:cNvPr id="0" name=""/>
        <dsp:cNvSpPr/>
      </dsp:nvSpPr>
      <dsp:spPr>
        <a:xfrm>
          <a:off x="4042568" y="0"/>
          <a:ext cx="717550" cy="1435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rechazar</a:t>
          </a:r>
        </a:p>
      </dsp:txBody>
      <dsp:txXfrm>
        <a:off x="4042568" y="0"/>
        <a:ext cx="717550" cy="1435100"/>
      </dsp:txXfrm>
    </dsp:sp>
    <dsp:sp modelId="{183A2264-FF8D-408A-B0B0-47B7EB435FBE}">
      <dsp:nvSpPr>
        <dsp:cNvPr id="0" name=""/>
        <dsp:cNvSpPr/>
      </dsp:nvSpPr>
      <dsp:spPr>
        <a:xfrm>
          <a:off x="5019198" y="0"/>
          <a:ext cx="358775" cy="358775"/>
        </a:xfrm>
        <a:prstGeom prst="chord">
          <a:avLst>
            <a:gd name="adj1" fmla="val 4800000"/>
            <a:gd name="adj2" fmla="val 1680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3B000-D132-42F9-8761-1F22C08866A4}">
      <dsp:nvSpPr>
        <dsp:cNvPr id="0" name=""/>
        <dsp:cNvSpPr/>
      </dsp:nvSpPr>
      <dsp:spPr>
        <a:xfrm>
          <a:off x="5055076" y="35877"/>
          <a:ext cx="287020" cy="287020"/>
        </a:xfrm>
        <a:prstGeom prst="pie">
          <a:avLst>
            <a:gd name="adj1" fmla="val 5400000"/>
            <a:gd name="adj2" fmla="val 162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A8DB1-6309-4699-84FF-AC0240869EB4}">
      <dsp:nvSpPr>
        <dsp:cNvPr id="0" name=""/>
        <dsp:cNvSpPr/>
      </dsp:nvSpPr>
      <dsp:spPr>
        <a:xfrm rot="16200000">
          <a:off x="4606607" y="807243"/>
          <a:ext cx="1040447" cy="215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RECHAZAR</a:t>
          </a:r>
        </a:p>
      </dsp:txBody>
      <dsp:txXfrm>
        <a:off x="4606607" y="807243"/>
        <a:ext cx="1040447" cy="215265"/>
      </dsp:txXfrm>
    </dsp:sp>
    <dsp:sp modelId="{EC00001A-0031-43C2-9243-57376D77D8C6}">
      <dsp:nvSpPr>
        <dsp:cNvPr id="0" name=""/>
        <dsp:cNvSpPr/>
      </dsp:nvSpPr>
      <dsp:spPr>
        <a:xfrm>
          <a:off x="5270341" y="0"/>
          <a:ext cx="717550" cy="1435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regresa a editar</a:t>
          </a:r>
        </a:p>
      </dsp:txBody>
      <dsp:txXfrm>
        <a:off x="5270341" y="0"/>
        <a:ext cx="717550" cy="1435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SummaCham</a:t>
            </a:r>
            <a:r>
              <a:t> - PanelAMCHAM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t>Documentación Técnica Completa y Detallada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A5FA"/>
                </a:solidFill>
                <a:latin typeface="Segoe UI"/>
              </a:defRPr>
            </a:pPr>
            <a:r>
              <a:t>Arquitectura, APIs, Queries, Plantillas, Gráficas, Base de Datos y más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Versión 4.1.0  |  Febrero 2026  |  Iustus Renidet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19B5E94-65AB-D11E-9A30-CEA5D3A2D402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Que es SummaCham?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36E8B3-7EC6-BEC1-FBDF-E003571F7D43}"/>
              </a:ext>
            </a:extLst>
          </p:cNvPr>
          <p:cNvSpPr txBox="1"/>
          <p:nvPr/>
        </p:nvSpPr>
        <p:spPr>
          <a:xfrm>
            <a:off x="508000" y="863600"/>
            <a:ext cx="81280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500" dirty="0">
                <a:solidFill>
                  <a:srgbClr val="111827"/>
                </a:solidFill>
                <a:latin typeface="Segoe UI" panose="020B0502040204020203" pitchFamily="34" charset="0"/>
              </a:rPr>
              <a:t>Es una aplicación de escritorio para gestionar presupuestos financieros.
Imagina un Excel inteligente que:</a:t>
            </a:r>
            <a:endParaRPr lang="es-MX" sz="15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67CE0D6-61EC-F77C-9D27-E8AFE323853A}"/>
              </a:ext>
            </a:extLst>
          </p:cNvPr>
          <p:cNvSpPr/>
          <p:nvPr/>
        </p:nvSpPr>
        <p:spPr>
          <a:xfrm>
            <a:off x="571500" y="1651000"/>
            <a:ext cx="1800000" cy="8255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Se conecta al sistema
contable (Aspel COI)
para leer saldos reales</a:t>
            </a:r>
            <a:endParaRPr lang="es-MX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7052782-F03A-0DAD-859E-906A45938BB5}"/>
              </a:ext>
            </a:extLst>
          </p:cNvPr>
          <p:cNvSpPr/>
          <p:nvPr/>
        </p:nvSpPr>
        <p:spPr>
          <a:xfrm>
            <a:off x="2567940" y="1651000"/>
            <a:ext cx="1800000" cy="8255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Permite que varios
usuarios trabajen
al mismo tiempo</a:t>
            </a:r>
            <a:endParaRPr lang="es-MX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07DCD89-B0F0-A2EE-585D-97DC75DEA2C5}"/>
              </a:ext>
            </a:extLst>
          </p:cNvPr>
          <p:cNvSpPr/>
          <p:nvPr/>
        </p:nvSpPr>
        <p:spPr>
          <a:xfrm>
            <a:off x="4572000" y="1651000"/>
            <a:ext cx="1800000" cy="8255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Tiene un flujo de
aprobación:
cargar &gt; revisar &gt; aprobar</a:t>
            </a:r>
            <a:endParaRPr lang="es-MX" sz="11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7903AD5-4020-0C87-B544-DBD9E39A95BA}"/>
              </a:ext>
            </a:extLst>
          </p:cNvPr>
          <p:cNvSpPr/>
          <p:nvPr/>
        </p:nvSpPr>
        <p:spPr>
          <a:xfrm>
            <a:off x="6576060" y="1651000"/>
            <a:ext cx="1800000" cy="8255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Genera reportes
y gráficas
automáticamente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414A87-6694-EA7B-728C-54F79167564A}"/>
              </a:ext>
            </a:extLst>
          </p:cNvPr>
          <p:cNvSpPr txBox="1"/>
          <p:nvPr/>
        </p:nvSpPr>
        <p:spPr>
          <a:xfrm>
            <a:off x="508000" y="2667000"/>
            <a:ext cx="8128000" cy="18928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dirty="0">
                <a:solidFill>
                  <a:srgbClr val="111827"/>
                </a:solidFill>
                <a:latin typeface="Segoe UI" panose="020B0502040204020203" pitchFamily="34" charset="0"/>
              </a:rPr>
              <a:t>USUARIOS TÍPICOS:
  Analistas: Cargan datos de presupuesto (RH, Finanzas, Eventos, etc.)
  Supervisores: Revisan que los datos estén correctos
  Directores: Aprueban los presupuestos finales
  Administradores: Configuran usuarios, permisos y conexiones
COMO SE ACCEDE:
  Local: http://localhost:3005  (en la misma computadora)
  Remoto: https://panelamcham.iconetcloud.com.mx  (desde cualquier lugar)</a:t>
            </a:r>
            <a:endParaRPr lang="es-MX" sz="13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81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Contenido de esta Presentación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1:  </a:t>
            </a:r>
            <a:r>
              <a:rPr dirty="0" err="1"/>
              <a:t>Arquitectura</a:t>
            </a:r>
            <a:r>
              <a:rPr dirty="0"/>
              <a:t> General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2:  </a:t>
            </a:r>
            <a:r>
              <a:rPr dirty="0" err="1"/>
              <a:t>Proceso</a:t>
            </a:r>
            <a:r>
              <a:rPr dirty="0"/>
              <a:t> Electron (Desktop)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3:  Express: Middleware y </a:t>
            </a:r>
            <a:r>
              <a:rPr dirty="0" err="1"/>
              <a:t>Servidor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4:  Login, Cookies, </a:t>
            </a:r>
            <a:r>
              <a:rPr dirty="0" err="1"/>
              <a:t>Sesiones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5:  Sistema de </a:t>
            </a:r>
            <a:r>
              <a:rPr dirty="0" err="1"/>
              <a:t>Permisos</a:t>
            </a:r>
            <a:r>
              <a:rPr dirty="0"/>
              <a:t> (3 </a:t>
            </a:r>
            <a:r>
              <a:rPr dirty="0" err="1"/>
              <a:t>niveles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6:  ¿</a:t>
            </a:r>
            <a:r>
              <a:rPr dirty="0" err="1"/>
              <a:t>Qué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API? + </a:t>
            </a:r>
            <a:r>
              <a:rPr dirty="0" err="1"/>
              <a:t>Ejemplo</a:t>
            </a:r>
            <a:r>
              <a:rPr dirty="0"/>
              <a:t> real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7:  APIs de </a:t>
            </a:r>
            <a:r>
              <a:rPr dirty="0" err="1"/>
              <a:t>Autenticación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8:  APIs de Reportes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9:  APIs de </a:t>
            </a:r>
            <a:r>
              <a:rPr dirty="0" err="1"/>
              <a:t>Presupuestos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PARTE 10: APIs de </a:t>
            </a:r>
            <a:r>
              <a:rPr dirty="0" err="1"/>
              <a:t>Borradores</a:t>
            </a:r>
            <a:r>
              <a:rPr dirty="0"/>
              <a:t> (Drafts)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11: APIs de Usuarios y Perfil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12: APIs de Plantillas (Layouts)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13: APIs de Saldos, Módulos y más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14: Mapa completo de TODAS las APIs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15: Firebird: De dónde salen los números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16: Cálculos: Real, Presupuesto, YTD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17: Motor de Reportes (Engine)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18: Gestor de Plantillas (14,700+ líneas)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19: Sistema de Gráficas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PARTE 20: Base de Datos, Backups,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A59C332-80D9-0895-90A5-13010C275826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Contenido de esta Presentación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E4E9453-427A-7B10-C7B9-56E76EC7BC51}"/>
              </a:ext>
            </a:extLst>
          </p:cNvPr>
          <p:cNvSpPr/>
          <p:nvPr/>
        </p:nvSpPr>
        <p:spPr>
          <a:xfrm>
            <a:off x="571500" y="914400"/>
            <a:ext cx="1270000" cy="3556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8AB2C67-768A-237B-7CC6-6A68DB634BBB}"/>
              </a:ext>
            </a:extLst>
          </p:cNvPr>
          <p:cNvSpPr txBox="1"/>
          <p:nvPr/>
        </p:nvSpPr>
        <p:spPr>
          <a:xfrm>
            <a:off x="1968500" y="9144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MX" sz="1400" dirty="0"/>
              <a:t>Arquitectura General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4B844D6-4653-27D5-8115-36CE91C5DE10}"/>
              </a:ext>
            </a:extLst>
          </p:cNvPr>
          <p:cNvSpPr/>
          <p:nvPr/>
        </p:nvSpPr>
        <p:spPr>
          <a:xfrm>
            <a:off x="571500" y="1358900"/>
            <a:ext cx="1270000" cy="3556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22E2EF-24E1-F1FF-703C-37C1E03064AA}"/>
              </a:ext>
            </a:extLst>
          </p:cNvPr>
          <p:cNvSpPr txBox="1"/>
          <p:nvPr/>
        </p:nvSpPr>
        <p:spPr>
          <a:xfrm>
            <a:off x="1968500" y="13589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MX" sz="1400" dirty="0"/>
              <a:t>Proceso Electron (Desktop)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BB1C94F-FEEC-19C5-E066-BD91FCF6E9B9}"/>
              </a:ext>
            </a:extLst>
          </p:cNvPr>
          <p:cNvSpPr/>
          <p:nvPr/>
        </p:nvSpPr>
        <p:spPr>
          <a:xfrm>
            <a:off x="571500" y="1803400"/>
            <a:ext cx="1270000" cy="3556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408540-0D42-5DF4-8997-7DC8F59DABC6}"/>
              </a:ext>
            </a:extLst>
          </p:cNvPr>
          <p:cNvSpPr txBox="1"/>
          <p:nvPr/>
        </p:nvSpPr>
        <p:spPr>
          <a:xfrm>
            <a:off x="1968500" y="18034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 dirty="0">
                <a:solidFill>
                  <a:srgbClr val="111827"/>
                </a:solidFill>
                <a:latin typeface="Segoe UI" panose="020B0502040204020203" pitchFamily="34" charset="0"/>
              </a:rPr>
              <a:t>Express: Middleware y Servidor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3D78636-A645-54C9-6F91-AEA7EFDFB3A0}"/>
              </a:ext>
            </a:extLst>
          </p:cNvPr>
          <p:cNvSpPr/>
          <p:nvPr/>
        </p:nvSpPr>
        <p:spPr>
          <a:xfrm>
            <a:off x="571500" y="2247900"/>
            <a:ext cx="1270000" cy="3556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B230112-B29C-3D58-F0FA-8DC92EBFF6DE}"/>
              </a:ext>
            </a:extLst>
          </p:cNvPr>
          <p:cNvSpPr txBox="1"/>
          <p:nvPr/>
        </p:nvSpPr>
        <p:spPr>
          <a:xfrm>
            <a:off x="1968500" y="22479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MX" sz="1400" dirty="0"/>
              <a:t>Login, Cookies, Sesiones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C43F1D1-DFC3-6315-6DE3-8C8B948448B4}"/>
              </a:ext>
            </a:extLst>
          </p:cNvPr>
          <p:cNvSpPr/>
          <p:nvPr/>
        </p:nvSpPr>
        <p:spPr>
          <a:xfrm>
            <a:off x="571500" y="2692400"/>
            <a:ext cx="1270000" cy="3556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84BE406-B0FE-9D4C-D38F-BC25137543FB}"/>
              </a:ext>
            </a:extLst>
          </p:cNvPr>
          <p:cNvSpPr txBox="1"/>
          <p:nvPr/>
        </p:nvSpPr>
        <p:spPr>
          <a:xfrm>
            <a:off x="1968500" y="26924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400" dirty="0"/>
              <a:t>Sistema de Permisos (3 niveles)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7C16F3A-2A4E-6E9C-D2B5-B0C46BB46454}"/>
              </a:ext>
            </a:extLst>
          </p:cNvPr>
          <p:cNvSpPr/>
          <p:nvPr/>
        </p:nvSpPr>
        <p:spPr>
          <a:xfrm>
            <a:off x="571500" y="3136900"/>
            <a:ext cx="1270000" cy="3556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53E565-C59C-98CC-654A-9804EDCD3BAB}"/>
              </a:ext>
            </a:extLst>
          </p:cNvPr>
          <p:cNvSpPr txBox="1"/>
          <p:nvPr/>
        </p:nvSpPr>
        <p:spPr>
          <a:xfrm>
            <a:off x="1968500" y="31369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 dirty="0"/>
              <a:t>¿Qué es una API? + Ejemplo real</a:t>
            </a:r>
            <a:endParaRPr lang="es-MX" sz="14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74C590F-F9F0-EEE8-9731-955649DAB908}"/>
              </a:ext>
            </a:extLst>
          </p:cNvPr>
          <p:cNvSpPr/>
          <p:nvPr/>
        </p:nvSpPr>
        <p:spPr>
          <a:xfrm>
            <a:off x="571500" y="3581400"/>
            <a:ext cx="1270000" cy="3556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7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BBAF23C-8150-114E-050B-F0847F681736}"/>
              </a:ext>
            </a:extLst>
          </p:cNvPr>
          <p:cNvSpPr txBox="1"/>
          <p:nvPr/>
        </p:nvSpPr>
        <p:spPr>
          <a:xfrm>
            <a:off x="1968500" y="3581400"/>
            <a:ext cx="508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MX" sz="1400" dirty="0"/>
              <a:t>APIs de Autenticación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55072A7-D6C6-D9D5-EB44-33B48A81210E}"/>
              </a:ext>
            </a:extLst>
          </p:cNvPr>
          <p:cNvSpPr/>
          <p:nvPr/>
        </p:nvSpPr>
        <p:spPr>
          <a:xfrm>
            <a:off x="571500" y="4025900"/>
            <a:ext cx="1270000" cy="3556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033DEEB-0C7A-93B6-9C08-84BD521D299A}"/>
              </a:ext>
            </a:extLst>
          </p:cNvPr>
          <p:cNvSpPr txBox="1"/>
          <p:nvPr/>
        </p:nvSpPr>
        <p:spPr>
          <a:xfrm>
            <a:off x="1968500" y="40259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Gráficas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85DB0304-76C8-50C5-4D26-4956B0C1B96B}"/>
              </a:ext>
            </a:extLst>
          </p:cNvPr>
          <p:cNvSpPr/>
          <p:nvPr/>
        </p:nvSpPr>
        <p:spPr>
          <a:xfrm>
            <a:off x="571500" y="4470400"/>
            <a:ext cx="1270000" cy="3556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9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666B4A5-ACA5-10F4-1131-706B399F7EC7}"/>
              </a:ext>
            </a:extLst>
          </p:cNvPr>
          <p:cNvSpPr txBox="1"/>
          <p:nvPr/>
        </p:nvSpPr>
        <p:spPr>
          <a:xfrm>
            <a:off x="1968500" y="44704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 dirty="0">
                <a:solidFill>
                  <a:srgbClr val="111827"/>
                </a:solidFill>
                <a:latin typeface="Segoe UI" panose="020B0502040204020203" pitchFamily="34" charset="0"/>
              </a:rPr>
              <a:t>Base de Datos, Backups y Deployment</a:t>
            </a:r>
            <a:endParaRPr lang="es-MX" sz="14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4795D8A-8355-9513-CCF9-D3600B139B61}"/>
              </a:ext>
            </a:extLst>
          </p:cNvPr>
          <p:cNvSpPr/>
          <p:nvPr/>
        </p:nvSpPr>
        <p:spPr>
          <a:xfrm>
            <a:off x="571500" y="4914900"/>
            <a:ext cx="1270000" cy="3556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938F83E-00E0-34D5-BD48-768CFC856BFE}"/>
              </a:ext>
            </a:extLst>
          </p:cNvPr>
          <p:cNvSpPr txBox="1"/>
          <p:nvPr/>
        </p:nvSpPr>
        <p:spPr>
          <a:xfrm>
            <a:off x="1968500" y="49149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Seguridad (Login, Cookies, Permisos)</a:t>
            </a:r>
          </a:p>
        </p:txBody>
      </p:sp>
    </p:spTree>
    <p:extLst>
      <p:ext uri="{BB962C8B-B14F-4D97-AF65-F5344CB8AC3E}">
        <p14:creationId xmlns:p14="http://schemas.microsoft.com/office/powerpoint/2010/main" val="121854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1DF9-3330-3F9C-D6B6-20007AA2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2D8B068-50EC-7538-821E-632AB44D13DE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Contenido de esta Presentación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F3EE717-4169-DC09-DA65-85181BC897C5}"/>
              </a:ext>
            </a:extLst>
          </p:cNvPr>
          <p:cNvSpPr/>
          <p:nvPr/>
        </p:nvSpPr>
        <p:spPr>
          <a:xfrm>
            <a:off x="571500" y="914400"/>
            <a:ext cx="1270000" cy="3556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46C1A3-0C7C-0017-A8C8-0628FBF2B683}"/>
              </a:ext>
            </a:extLst>
          </p:cNvPr>
          <p:cNvSpPr txBox="1"/>
          <p:nvPr/>
        </p:nvSpPr>
        <p:spPr>
          <a:xfrm>
            <a:off x="1968500" y="9144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Arquitectura y Tecnologías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B8CBA91-F39D-CB11-14F9-49CD0BBAC4DE}"/>
              </a:ext>
            </a:extLst>
          </p:cNvPr>
          <p:cNvSpPr/>
          <p:nvPr/>
        </p:nvSpPr>
        <p:spPr>
          <a:xfrm>
            <a:off x="571500" y="1358900"/>
            <a:ext cx="1270000" cy="3556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5BA575-7758-6384-D14C-7FE1493AC836}"/>
              </a:ext>
            </a:extLst>
          </p:cNvPr>
          <p:cNvSpPr txBox="1"/>
          <p:nvPr/>
        </p:nvSpPr>
        <p:spPr>
          <a:xfrm>
            <a:off x="1968500" y="13589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Seguridad (Login, Cookies, Permisos)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2B790B7-8F6B-837B-E587-A62918E58E4B}"/>
              </a:ext>
            </a:extLst>
          </p:cNvPr>
          <p:cNvSpPr/>
          <p:nvPr/>
        </p:nvSpPr>
        <p:spPr>
          <a:xfrm>
            <a:off x="571500" y="1803400"/>
            <a:ext cx="1270000" cy="3556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A1112B-79D0-3A88-9600-ADDDC5531C7C}"/>
              </a:ext>
            </a:extLst>
          </p:cNvPr>
          <p:cNvSpPr txBox="1"/>
          <p:nvPr/>
        </p:nvSpPr>
        <p:spPr>
          <a:xfrm>
            <a:off x="1968500" y="18034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 dirty="0">
                <a:solidFill>
                  <a:srgbClr val="111827"/>
                </a:solidFill>
                <a:latin typeface="Segoe UI" panose="020B0502040204020203" pitchFamily="34" charset="0"/>
              </a:rPr>
              <a:t>APIs - Que son, rutas reales con ejemplos</a:t>
            </a:r>
            <a:endParaRPr lang="es-MX" sz="14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D5BDECA-221C-255A-08D6-502B9717E74E}"/>
              </a:ext>
            </a:extLst>
          </p:cNvPr>
          <p:cNvSpPr/>
          <p:nvPr/>
        </p:nvSpPr>
        <p:spPr>
          <a:xfrm>
            <a:off x="571500" y="2247900"/>
            <a:ext cx="1270000" cy="3556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7AFC830-4049-4145-2BF3-563D685B8346}"/>
              </a:ext>
            </a:extLst>
          </p:cNvPr>
          <p:cNvSpPr txBox="1"/>
          <p:nvPr/>
        </p:nvSpPr>
        <p:spPr>
          <a:xfrm>
            <a:off x="1968500" y="22479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APIs - Mapa completo de todas las rutas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E633BD6-EB75-5169-7129-4A0F83C8C4EF}"/>
              </a:ext>
            </a:extLst>
          </p:cNvPr>
          <p:cNvSpPr/>
          <p:nvPr/>
        </p:nvSpPr>
        <p:spPr>
          <a:xfrm>
            <a:off x="571500" y="2692400"/>
            <a:ext cx="1270000" cy="3556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B9DBC78-72E5-2F85-62A5-15EE86936FE9}"/>
              </a:ext>
            </a:extLst>
          </p:cNvPr>
          <p:cNvSpPr txBox="1"/>
          <p:nvPr/>
        </p:nvSpPr>
        <p:spPr>
          <a:xfrm>
            <a:off x="1968500" y="26924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 dirty="0">
                <a:solidFill>
                  <a:srgbClr val="111827"/>
                </a:solidFill>
                <a:latin typeface="Segoe UI" panose="020B0502040204020203" pitchFamily="34" charset="0"/>
              </a:rPr>
              <a:t>Queries - Como se calcula el Real</a:t>
            </a:r>
            <a:endParaRPr lang="es-MX" sz="14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FFC0E01-21D3-0547-AFB0-192155B988D0}"/>
              </a:ext>
            </a:extLst>
          </p:cNvPr>
          <p:cNvSpPr/>
          <p:nvPr/>
        </p:nvSpPr>
        <p:spPr>
          <a:xfrm>
            <a:off x="571500" y="3136900"/>
            <a:ext cx="1270000" cy="3556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8128C90-DFE9-6AD0-75CB-2AFB495D7CD8}"/>
              </a:ext>
            </a:extLst>
          </p:cNvPr>
          <p:cNvSpPr txBox="1"/>
          <p:nvPr/>
        </p:nvSpPr>
        <p:spPr>
          <a:xfrm>
            <a:off x="1968500" y="31369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Queries - Presupuesto y Acumulados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40CCDBC-EDE7-7309-A955-5C611FA61665}"/>
              </a:ext>
            </a:extLst>
          </p:cNvPr>
          <p:cNvSpPr/>
          <p:nvPr/>
        </p:nvSpPr>
        <p:spPr>
          <a:xfrm>
            <a:off x="571500" y="3581400"/>
            <a:ext cx="1270000" cy="3556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17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278F9F7-0760-6FC1-D58A-2BC9CD37BB3F}"/>
              </a:ext>
            </a:extLst>
          </p:cNvPr>
          <p:cNvSpPr txBox="1"/>
          <p:nvPr/>
        </p:nvSpPr>
        <p:spPr>
          <a:xfrm>
            <a:off x="1968500" y="35814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Gestor de Plantillas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710384D-16C0-2D2B-62F5-ECC283BAA946}"/>
              </a:ext>
            </a:extLst>
          </p:cNvPr>
          <p:cNvSpPr/>
          <p:nvPr/>
        </p:nvSpPr>
        <p:spPr>
          <a:xfrm>
            <a:off x="571500" y="4025900"/>
            <a:ext cx="1270000" cy="3556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64E83FB-2154-9D4B-7059-CC76E8E2F0EB}"/>
              </a:ext>
            </a:extLst>
          </p:cNvPr>
          <p:cNvSpPr txBox="1"/>
          <p:nvPr/>
        </p:nvSpPr>
        <p:spPr>
          <a:xfrm>
            <a:off x="1968500" y="40259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Gráficas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005B58F-1634-E241-62D3-14EE76F87247}"/>
              </a:ext>
            </a:extLst>
          </p:cNvPr>
          <p:cNvSpPr/>
          <p:nvPr/>
        </p:nvSpPr>
        <p:spPr>
          <a:xfrm>
            <a:off x="571500" y="4470400"/>
            <a:ext cx="1270000" cy="3556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19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6B2D181-6965-20D8-A6B8-8B9150644800}"/>
              </a:ext>
            </a:extLst>
          </p:cNvPr>
          <p:cNvSpPr txBox="1"/>
          <p:nvPr/>
        </p:nvSpPr>
        <p:spPr>
          <a:xfrm>
            <a:off x="1968500" y="44704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 dirty="0">
                <a:solidFill>
                  <a:srgbClr val="111827"/>
                </a:solidFill>
                <a:latin typeface="Segoe UI" panose="020B0502040204020203" pitchFamily="34" charset="0"/>
              </a:rPr>
              <a:t>Base de Datos, Backups y Deployment</a:t>
            </a:r>
            <a:endParaRPr lang="es-MX" sz="14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632F069-4335-EDFD-1F1D-DF1369119253}"/>
              </a:ext>
            </a:extLst>
          </p:cNvPr>
          <p:cNvSpPr/>
          <p:nvPr/>
        </p:nvSpPr>
        <p:spPr>
          <a:xfrm>
            <a:off x="571500" y="4914900"/>
            <a:ext cx="1270000" cy="3556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PARTE 20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739F4D8-A4D0-69DD-CFC5-551AB6EB8AFF}"/>
              </a:ext>
            </a:extLst>
          </p:cNvPr>
          <p:cNvSpPr txBox="1"/>
          <p:nvPr/>
        </p:nvSpPr>
        <p:spPr>
          <a:xfrm>
            <a:off x="1968500" y="4914900"/>
            <a:ext cx="5080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 dirty="0">
                <a:solidFill>
                  <a:srgbClr val="111827"/>
                </a:solidFill>
                <a:latin typeface="Segoe UI" panose="020B0502040204020203" pitchFamily="34" charset="0"/>
              </a:rPr>
              <a:t>Seguridad (Login, Cookies, Permisos)</a:t>
            </a:r>
          </a:p>
        </p:txBody>
      </p:sp>
    </p:spTree>
    <p:extLst>
      <p:ext uri="{BB962C8B-B14F-4D97-AF65-F5344CB8AC3E}">
        <p14:creationId xmlns:p14="http://schemas.microsoft.com/office/powerpoint/2010/main" val="285558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Arquitectura 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D8F325B-5251-B050-0C4D-94F76EB49AF6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PARTE 1: Como esta construido SummaCham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5DBAF8-896F-4E86-0171-339C19992716}"/>
              </a:ext>
            </a:extLst>
          </p:cNvPr>
          <p:cNvSpPr txBox="1"/>
          <p:nvPr/>
        </p:nvSpPr>
        <p:spPr>
          <a:xfrm>
            <a:off x="508000" y="863600"/>
            <a:ext cx="8128000" cy="3175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 dirty="0">
                <a:solidFill>
                  <a:srgbClr val="111827"/>
                </a:solidFill>
                <a:latin typeface="Segoe UI" panose="020B0502040204020203" pitchFamily="34" charset="0"/>
              </a:rPr>
              <a:t>El sistema tiene 3 grandes partes que se comunican entre si:</a:t>
            </a:r>
            <a:endParaRPr lang="es-MX" sz="14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8132B6B-5F9E-F327-C2D2-192B9F088E30}"/>
              </a:ext>
            </a:extLst>
          </p:cNvPr>
          <p:cNvSpPr/>
          <p:nvPr/>
        </p:nvSpPr>
        <p:spPr>
          <a:xfrm>
            <a:off x="571500" y="1270000"/>
            <a:ext cx="1980000" cy="635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Segoe UI" panose="020B0502040204020203" pitchFamily="34" charset="0"/>
              </a:rPr>
              <a:t>FRONTEND
(Lo que VE el usuario)</a:t>
            </a:r>
            <a:endParaRPr lang="es-MX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287F9F-D089-CE8A-EBB9-53CCF4B11337}"/>
              </a:ext>
            </a:extLst>
          </p:cNvPr>
          <p:cNvSpPr txBox="1"/>
          <p:nvPr/>
        </p:nvSpPr>
        <p:spPr>
          <a:xfrm>
            <a:off x="571500" y="1968500"/>
            <a:ext cx="317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dirty="0">
                <a:solidFill>
                  <a:srgbClr val="6B7280"/>
                </a:solidFill>
                <a:latin typeface="Segoe UI" panose="020B0502040204020203" pitchFamily="34" charset="0"/>
              </a:rPr>
              <a:t>HTML + JavaScript + CSS
Navegador dentro de Electron</a:t>
            </a:r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E4FD58F3-B434-9E56-0722-63958BB0ADC2}"/>
              </a:ext>
            </a:extLst>
          </p:cNvPr>
          <p:cNvSpPr/>
          <p:nvPr/>
        </p:nvSpPr>
        <p:spPr>
          <a:xfrm>
            <a:off x="2921000" y="1460500"/>
            <a:ext cx="508000" cy="2540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5C53CA2-8FA3-5267-29A3-2120169EA0DC}"/>
              </a:ext>
            </a:extLst>
          </p:cNvPr>
          <p:cNvSpPr/>
          <p:nvPr/>
        </p:nvSpPr>
        <p:spPr>
          <a:xfrm>
            <a:off x="3556000" y="1270000"/>
            <a:ext cx="1980000" cy="635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b="1" dirty="0">
                <a:solidFill>
                  <a:srgbClr val="FFFFFF"/>
                </a:solidFill>
                <a:latin typeface="Segoe UI" panose="020B0502040204020203" pitchFamily="34" charset="0"/>
              </a:rPr>
              <a:t>BACKEND
(El servidor que procesa)</a:t>
            </a:r>
            <a:endParaRPr lang="es-MX" sz="13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F8F6900-9C04-BB3C-A850-750A0B38549F}"/>
              </a:ext>
            </a:extLst>
          </p:cNvPr>
          <p:cNvSpPr txBox="1"/>
          <p:nvPr/>
        </p:nvSpPr>
        <p:spPr>
          <a:xfrm>
            <a:off x="3556000" y="1968500"/>
            <a:ext cx="317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dirty="0">
                <a:solidFill>
                  <a:srgbClr val="6B7280"/>
                </a:solidFill>
                <a:latin typeface="Segoe UI" panose="020B0502040204020203" pitchFamily="34" charset="0"/>
              </a:rPr>
              <a:t>Node.js + Express
Puerto 3005</a:t>
            </a:r>
            <a:endParaRPr lang="es-MX" sz="1000" dirty="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4B57DF0C-C258-356F-9866-EA151D7A75B3}"/>
              </a:ext>
            </a:extLst>
          </p:cNvPr>
          <p:cNvSpPr/>
          <p:nvPr/>
        </p:nvSpPr>
        <p:spPr>
          <a:xfrm>
            <a:off x="5778500" y="1311335"/>
            <a:ext cx="508000" cy="1905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34B24B6-8804-A876-927F-6F9723DF902E}"/>
              </a:ext>
            </a:extLst>
          </p:cNvPr>
          <p:cNvSpPr/>
          <p:nvPr/>
        </p:nvSpPr>
        <p:spPr>
          <a:xfrm>
            <a:off x="6413500" y="1184335"/>
            <a:ext cx="1980000" cy="381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SQLite
(Config local)</a:t>
            </a:r>
          </a:p>
        </p:txBody>
      </p:sp>
      <p:sp>
        <p:nvSpPr>
          <p:cNvPr id="11" name="Cilindro 10">
            <a:extLst>
              <a:ext uri="{FF2B5EF4-FFF2-40B4-BE49-F238E27FC236}">
                <a16:creationId xmlns:a16="http://schemas.microsoft.com/office/drawing/2014/main" id="{433FC8F1-5504-DA61-F849-F055C7BC96F4}"/>
              </a:ext>
            </a:extLst>
          </p:cNvPr>
          <p:cNvSpPr/>
          <p:nvPr/>
        </p:nvSpPr>
        <p:spPr>
          <a:xfrm>
            <a:off x="5778500" y="1692335"/>
            <a:ext cx="508000" cy="1905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7F19E40-07ED-1317-61A1-F7D1E3C63E84}"/>
              </a:ext>
            </a:extLst>
          </p:cNvPr>
          <p:cNvSpPr/>
          <p:nvPr/>
        </p:nvSpPr>
        <p:spPr>
          <a:xfrm>
            <a:off x="6413500" y="1628835"/>
            <a:ext cx="1980000" cy="381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Firebird
(Datos contables)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3B6EBCC-D623-C0A0-5863-469A293E3168}"/>
              </a:ext>
            </a:extLst>
          </p:cNvPr>
          <p:cNvSpPr/>
          <p:nvPr/>
        </p:nvSpPr>
        <p:spPr>
          <a:xfrm>
            <a:off x="508000" y="2540000"/>
            <a:ext cx="8128000" cy="1905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D153DEC-B1C2-B66B-4C48-EEC243BBF204}"/>
              </a:ext>
            </a:extLst>
          </p:cNvPr>
          <p:cNvSpPr txBox="1"/>
          <p:nvPr/>
        </p:nvSpPr>
        <p:spPr>
          <a:xfrm>
            <a:off x="508000" y="2667000"/>
            <a:ext cx="8128000" cy="21236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 dirty="0">
                <a:solidFill>
                  <a:srgbClr val="111827"/>
                </a:solidFill>
                <a:latin typeface="Segoe UI" panose="020B0502040204020203" pitchFamily="34" charset="0"/>
              </a:rPr>
              <a:t>CÓMO FUNCIONA PASO A PASO:
1. El usuario abre la app (Electron abre una ventana con un navegador integrado)
2. El navegador carga http://localhost:3005 (la página del sistema)
3. Cuando necesita datos, el frontend envía una PETICIÓN al backend
     Ejemplo: "Dame el reporte RESUMEN de empresa1 para Junio 2025"
4. El backend recibe la petición y busca los datos en 2 lugares:
     SQLite: Que cuentas mostrar, que fórmulas aplicar, que permisos tiene el usuario
     Firebird: Los saldos reales del sistema contable Aspel COI
5. El backend responde con los datos en formato JSON
6. El frontend muestra los datos en tablas y gráficas</a:t>
            </a:r>
            <a:endParaRPr lang="es-MX" sz="12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00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8B30F8B-082B-4341-5AFA-046DFAB53812}"/>
              </a:ext>
            </a:extLst>
          </p:cNvPr>
          <p:cNvSpPr/>
          <p:nvPr/>
        </p:nvSpPr>
        <p:spPr>
          <a:xfrm>
            <a:off x="571500" y="1300480"/>
            <a:ext cx="3873500" cy="3556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 dirty="0">
                <a:solidFill>
                  <a:srgbClr val="FFFFFF"/>
                </a:solidFill>
                <a:latin typeface="Segoe UI" panose="020B0502040204020203" pitchFamily="34" charset="0"/>
              </a:rPr>
              <a:t>FRONTEND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8D56570-3439-AF21-2EBC-888EB9AF7B0A}"/>
              </a:ext>
            </a:extLst>
          </p:cNvPr>
          <p:cNvSpPr/>
          <p:nvPr/>
        </p:nvSpPr>
        <p:spPr>
          <a:xfrm>
            <a:off x="4699000" y="1300480"/>
            <a:ext cx="3873500" cy="3556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 dirty="0">
                <a:solidFill>
                  <a:srgbClr val="FFFFFF"/>
                </a:solidFill>
                <a:latin typeface="Segoe UI" panose="020B0502040204020203" pitchFamily="34" charset="0"/>
              </a:rPr>
              <a:t>BACKEND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CD72B6-73C5-EE44-6324-540E74438ACE}"/>
              </a:ext>
            </a:extLst>
          </p:cNvPr>
          <p:cNvSpPr/>
          <p:nvPr/>
        </p:nvSpPr>
        <p:spPr>
          <a:xfrm>
            <a:off x="508000" y="4373880"/>
            <a:ext cx="8128000" cy="1905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0030D83-1922-B729-5495-E9A0C7533D1D}"/>
              </a:ext>
            </a:extLst>
          </p:cNvPr>
          <p:cNvSpPr txBox="1"/>
          <p:nvPr/>
        </p:nvSpPr>
        <p:spPr>
          <a:xfrm>
            <a:off x="4577080" y="1764030"/>
            <a:ext cx="4206240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Node.js            →  Motor JavaScript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Express.js         →  Framework web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Better-SQLite3     →  BD local (</a:t>
            </a:r>
            <a:r>
              <a:rPr dirty="0" err="1"/>
              <a:t>síncrona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node-firebird      →  </a:t>
            </a:r>
            <a:r>
              <a:rPr dirty="0" err="1"/>
              <a:t>Conexión</a:t>
            </a:r>
            <a:r>
              <a:rPr dirty="0"/>
              <a:t> a Aspel COI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bcryptjs</a:t>
            </a:r>
            <a:r>
              <a:rPr dirty="0"/>
              <a:t>           →  </a:t>
            </a:r>
            <a:r>
              <a:rPr dirty="0" err="1"/>
              <a:t>Encriptar</a:t>
            </a:r>
            <a:r>
              <a:rPr dirty="0"/>
              <a:t> </a:t>
            </a:r>
            <a:r>
              <a:rPr dirty="0" err="1"/>
              <a:t>contraseñas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jsonwebtoken</a:t>
            </a:r>
            <a:r>
              <a:rPr dirty="0"/>
              <a:t>       →  Tokens JWT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Joi                →  Validar </a:t>
            </a:r>
            <a:r>
              <a:rPr dirty="0" err="1"/>
              <a:t>datos</a:t>
            </a:r>
            <a:r>
              <a:rPr dirty="0"/>
              <a:t> entrada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Helmet             →  </a:t>
            </a:r>
            <a:r>
              <a:rPr dirty="0" err="1"/>
              <a:t>Seguridad</a:t>
            </a:r>
            <a:r>
              <a:rPr dirty="0"/>
              <a:t> HTTP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express-session    →  </a:t>
            </a:r>
            <a:r>
              <a:rPr dirty="0" err="1"/>
              <a:t>Sesiones</a:t>
            </a:r>
            <a:r>
              <a:rPr dirty="0"/>
              <a:t> de </a:t>
            </a:r>
            <a:r>
              <a:rPr dirty="0" err="1"/>
              <a:t>usuario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express-rate-limit →  </a:t>
            </a:r>
            <a:r>
              <a:rPr dirty="0" err="1"/>
              <a:t>Limitar</a:t>
            </a:r>
            <a:r>
              <a:rPr dirty="0"/>
              <a:t> </a:t>
            </a:r>
            <a:r>
              <a:rPr dirty="0" err="1"/>
              <a:t>intentos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compression        →  </a:t>
            </a:r>
            <a:r>
              <a:rPr dirty="0" err="1"/>
              <a:t>Compresión</a:t>
            </a:r>
            <a:r>
              <a:rPr dirty="0"/>
              <a:t> </a:t>
            </a:r>
            <a:r>
              <a:rPr dirty="0" err="1"/>
              <a:t>gzip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cors</a:t>
            </a:r>
            <a:r>
              <a:rPr dirty="0"/>
              <a:t>               →  Control de </a:t>
            </a:r>
            <a:r>
              <a:rPr dirty="0" err="1"/>
              <a:t>orígenes</a:t>
            </a:r>
            <a:endParaRPr dirty="0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9644D83-C685-B718-04AC-06EE08C77EF5}"/>
              </a:ext>
            </a:extLst>
          </p:cNvPr>
          <p:cNvSpPr txBox="1"/>
          <p:nvPr/>
        </p:nvSpPr>
        <p:spPr>
          <a:xfrm>
            <a:off x="508000" y="1764030"/>
            <a:ext cx="393192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Electron 39.2.7  →  App de </a:t>
            </a:r>
            <a:r>
              <a:rPr dirty="0" err="1"/>
              <a:t>escritorio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Bootstrap 5       →  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profesional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Chart.js 4.3      →  </a:t>
            </a:r>
            <a:r>
              <a:rPr dirty="0" err="1"/>
              <a:t>Gráficas</a:t>
            </a:r>
            <a:r>
              <a:rPr dirty="0"/>
              <a:t> </a:t>
            </a:r>
            <a:r>
              <a:rPr dirty="0" err="1"/>
              <a:t>interactivas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DataTables</a:t>
            </a:r>
            <a:r>
              <a:rPr dirty="0"/>
              <a:t> 1.13   →  </a:t>
            </a:r>
            <a:r>
              <a:rPr dirty="0" err="1"/>
              <a:t>Tablas</a:t>
            </a:r>
            <a:r>
              <a:rPr dirty="0"/>
              <a:t> con </a:t>
            </a:r>
            <a:r>
              <a:rPr dirty="0" err="1"/>
              <a:t>filtros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SweetAlert2        →  </a:t>
            </a:r>
            <a:r>
              <a:rPr dirty="0" err="1"/>
              <a:t>Diálogos</a:t>
            </a:r>
            <a:r>
              <a:rPr dirty="0"/>
              <a:t> bonitos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ExcelJS</a:t>
            </a:r>
            <a:r>
              <a:rPr dirty="0"/>
              <a:t> / XLSX    →  </a:t>
            </a:r>
            <a:r>
              <a:rPr dirty="0" err="1"/>
              <a:t>Exportar</a:t>
            </a:r>
            <a:r>
              <a:rPr dirty="0"/>
              <a:t> a Excel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jsPDF</a:t>
            </a:r>
            <a:r>
              <a:rPr dirty="0"/>
              <a:t>             →  </a:t>
            </a:r>
            <a:r>
              <a:rPr dirty="0" err="1"/>
              <a:t>Exportar</a:t>
            </a:r>
            <a:r>
              <a:rPr dirty="0"/>
              <a:t> a PDF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Font Awesome 6.4  →  </a:t>
            </a:r>
            <a:r>
              <a:rPr dirty="0" err="1"/>
              <a:t>Íconos</a:t>
            </a:r>
            <a:endParaRPr dirty="0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6FCBCE53-E84D-05A8-FC1E-0589F44D0C3A}"/>
              </a:ext>
            </a:extLst>
          </p:cNvPr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Tecnologías utilizadas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FC46F14-A0F9-AD7F-6020-91D09ECE2C35}"/>
              </a:ext>
            </a:extLst>
          </p:cNvPr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981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Proceso Electron (Desktop)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Cómo funciona Electron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Electron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página</a:t>
            </a:r>
            <a:r>
              <a:rPr dirty="0"/>
              <a:t> web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aplicación</a:t>
            </a:r>
            <a:r>
              <a:rPr dirty="0"/>
              <a:t> de </a:t>
            </a:r>
            <a:r>
              <a:rPr dirty="0" err="1"/>
              <a:t>escritorio</a:t>
            </a:r>
            <a:r>
              <a:rPr dirty="0"/>
              <a:t> </a:t>
            </a:r>
            <a:r>
              <a:rPr dirty="0" err="1"/>
              <a:t>nativa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 err="1"/>
              <a:t>SummaCham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Electron 39.2.7 para </a:t>
            </a:r>
            <a:r>
              <a:rPr dirty="0" err="1"/>
              <a:t>correr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Windows.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PROCESO PRINCIPAL (main.js):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1. Crea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ventana</a:t>
            </a:r>
            <a:r>
              <a:rPr dirty="0"/>
              <a:t> </a:t>
            </a:r>
            <a:r>
              <a:rPr dirty="0" err="1"/>
              <a:t>BrowserWindow</a:t>
            </a:r>
            <a:r>
              <a:rPr dirty="0"/>
              <a:t> con </a:t>
            </a:r>
            <a:r>
              <a:rPr dirty="0" err="1"/>
              <a:t>navegador</a:t>
            </a:r>
            <a:r>
              <a:rPr dirty="0"/>
              <a:t> Chromium </a:t>
            </a:r>
            <a:r>
              <a:rPr dirty="0" err="1"/>
              <a:t>integrado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2. </a:t>
            </a:r>
            <a:r>
              <a:rPr dirty="0" err="1"/>
              <a:t>Inicia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servidor</a:t>
            </a:r>
            <a:r>
              <a:rPr dirty="0"/>
              <a:t> Express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puerto</a:t>
            </a:r>
            <a:r>
              <a:rPr dirty="0"/>
              <a:t> 3005 (</a:t>
            </a:r>
            <a:r>
              <a:rPr dirty="0" err="1"/>
              <a:t>dentro</a:t>
            </a:r>
            <a:r>
              <a:rPr dirty="0"/>
              <a:t> del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proceso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3. Carga http://localhost:3005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ventana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4. </a:t>
            </a:r>
            <a:r>
              <a:rPr dirty="0" err="1"/>
              <a:t>Configura</a:t>
            </a:r>
            <a:r>
              <a:rPr dirty="0"/>
              <a:t> auto-update para </a:t>
            </a: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nuevas</a:t>
            </a:r>
            <a:r>
              <a:rPr dirty="0"/>
              <a:t> </a:t>
            </a:r>
            <a:r>
              <a:rPr dirty="0" err="1"/>
              <a:t>versiones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GitHub Releases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CONFIGURACIÓN DE LA VENTANA: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• </a:t>
            </a:r>
            <a:r>
              <a:rPr dirty="0" err="1"/>
              <a:t>Tamaño</a:t>
            </a:r>
            <a:r>
              <a:rPr dirty="0"/>
              <a:t>: 1280x800 </a:t>
            </a:r>
            <a:r>
              <a:rPr dirty="0" err="1"/>
              <a:t>mínimo</a:t>
            </a:r>
            <a:r>
              <a:rPr dirty="0"/>
              <a:t>, </a:t>
            </a:r>
            <a:r>
              <a:rPr dirty="0" err="1"/>
              <a:t>maximizado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defecto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• </a:t>
            </a:r>
            <a:r>
              <a:rPr dirty="0" err="1"/>
              <a:t>nodeIntegration</a:t>
            </a:r>
            <a:r>
              <a:rPr dirty="0"/>
              <a:t>: false (</a:t>
            </a:r>
            <a:r>
              <a:rPr dirty="0" err="1"/>
              <a:t>seguridad</a:t>
            </a:r>
            <a:r>
              <a:rPr dirty="0"/>
              <a:t> - JS del frontend NO </a:t>
            </a:r>
            <a:r>
              <a:rPr dirty="0" err="1"/>
              <a:t>puede</a:t>
            </a:r>
            <a:r>
              <a:rPr dirty="0"/>
              <a:t> acceder a Node)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• </a:t>
            </a:r>
            <a:r>
              <a:rPr dirty="0" err="1"/>
              <a:t>contextIsolation</a:t>
            </a:r>
            <a:r>
              <a:rPr dirty="0"/>
              <a:t>: true (</a:t>
            </a:r>
            <a:r>
              <a:rPr dirty="0" err="1"/>
              <a:t>aislamiento</a:t>
            </a:r>
            <a:r>
              <a:rPr dirty="0"/>
              <a:t> entre </a:t>
            </a:r>
            <a:r>
              <a:rPr dirty="0" err="1"/>
              <a:t>procesos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• </a:t>
            </a:r>
            <a:r>
              <a:rPr dirty="0" err="1"/>
              <a:t>webSecurity</a:t>
            </a:r>
            <a:r>
              <a:rPr dirty="0"/>
              <a:t>: true (</a:t>
            </a:r>
            <a:r>
              <a:rPr dirty="0" err="1"/>
              <a:t>protección</a:t>
            </a:r>
            <a:r>
              <a:rPr dirty="0"/>
              <a:t> contra XSS)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EMPAQUETADO (electron-builder):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• Target: NSIS installer (</a:t>
            </a:r>
            <a:r>
              <a:rPr dirty="0" err="1"/>
              <a:t>SummaCham</a:t>
            </a:r>
            <a:r>
              <a:rPr dirty="0"/>
              <a:t> Setup 4.1.0.exe)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• También genera portable (.exe sin </a:t>
            </a:r>
            <a:r>
              <a:rPr dirty="0" err="1"/>
              <a:t>instalación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• Auto-update </a:t>
            </a:r>
            <a:r>
              <a:rPr dirty="0" err="1"/>
              <a:t>vía</a:t>
            </a:r>
            <a:r>
              <a:rPr dirty="0"/>
              <a:t> GitHub Releases (</a:t>
            </a:r>
            <a:r>
              <a:rPr dirty="0" err="1"/>
              <a:t>verifica</a:t>
            </a:r>
            <a:r>
              <a:rPr dirty="0"/>
              <a:t>, </a:t>
            </a:r>
            <a:r>
              <a:rPr dirty="0" err="1"/>
              <a:t>descarga</a:t>
            </a:r>
            <a:r>
              <a:rPr dirty="0"/>
              <a:t>, </a:t>
            </a:r>
            <a:r>
              <a:rPr dirty="0" err="1"/>
              <a:t>instala</a:t>
            </a:r>
            <a:r>
              <a:rPr dirty="0"/>
              <a:t> al </a:t>
            </a:r>
            <a:r>
              <a:rPr dirty="0" err="1"/>
              <a:t>cerrar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• Los DATOS del </a:t>
            </a:r>
            <a:r>
              <a:rPr dirty="0" err="1"/>
              <a:t>usuario</a:t>
            </a:r>
            <a:r>
              <a:rPr dirty="0"/>
              <a:t> se </a:t>
            </a:r>
            <a:r>
              <a:rPr dirty="0" err="1"/>
              <a:t>conservan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userData</a:t>
            </a:r>
            <a:r>
              <a:rPr dirty="0"/>
              <a:t>/</a:t>
            </a:r>
            <a:r>
              <a:rPr dirty="0" err="1"/>
              <a:t>datos</a:t>
            </a:r>
            <a:r>
              <a:rPr dirty="0"/>
              <a:t>/ (solo se </a:t>
            </a:r>
            <a:r>
              <a:rPr dirty="0" err="1"/>
              <a:t>actualiza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Express: Middleware y Servidor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Cadena de Middleware (orden exacto)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Cada </a:t>
            </a:r>
            <a:r>
              <a:rPr dirty="0" err="1"/>
              <a:t>petición</a:t>
            </a:r>
            <a:r>
              <a:rPr dirty="0"/>
              <a:t> HTTP </a:t>
            </a:r>
            <a:r>
              <a:rPr dirty="0" err="1"/>
              <a:t>pasa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cadena</a:t>
            </a:r>
            <a:r>
              <a:rPr dirty="0"/>
              <a:t> de middleware </a:t>
            </a:r>
            <a:r>
              <a:rPr dirty="0" err="1"/>
              <a:t>en</a:t>
            </a:r>
            <a:r>
              <a:rPr dirty="0"/>
              <a:t> src/server.js: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1. helmet()          → Cabeceras de </a:t>
            </a:r>
            <a:r>
              <a:rPr dirty="0" err="1"/>
              <a:t>seguridad</a:t>
            </a:r>
            <a:r>
              <a:rPr dirty="0"/>
              <a:t> (X-XSS-Protection, HSTS,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2. compression()     → </a:t>
            </a:r>
            <a:r>
              <a:rPr dirty="0" err="1"/>
              <a:t>Compresión</a:t>
            </a:r>
            <a:r>
              <a:rPr dirty="0"/>
              <a:t> </a:t>
            </a:r>
            <a:r>
              <a:rPr dirty="0" err="1"/>
              <a:t>gzip</a:t>
            </a:r>
            <a:r>
              <a:rPr dirty="0"/>
              <a:t> para </a:t>
            </a:r>
            <a:r>
              <a:rPr dirty="0" err="1"/>
              <a:t>respuestas</a:t>
            </a:r>
            <a:r>
              <a:rPr dirty="0"/>
              <a:t> </a:t>
            </a:r>
            <a:r>
              <a:rPr dirty="0" err="1"/>
              <a:t>grandes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3. </a:t>
            </a:r>
            <a:r>
              <a:rPr dirty="0" err="1"/>
              <a:t>cors</a:t>
            </a:r>
            <a:r>
              <a:rPr dirty="0"/>
              <a:t>({             → Control de </a:t>
            </a:r>
            <a:r>
              <a:rPr dirty="0" err="1"/>
              <a:t>orígenes</a:t>
            </a:r>
            <a:r>
              <a:rPr dirty="0"/>
              <a:t> </a:t>
            </a:r>
            <a:r>
              <a:rPr dirty="0" err="1"/>
              <a:t>permitidos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     origin: [...],     </a:t>
            </a:r>
            <a:r>
              <a:rPr dirty="0" err="1"/>
              <a:t>Permite</a:t>
            </a:r>
            <a:r>
              <a:rPr dirty="0"/>
              <a:t> localhost:3005 y panelamcham.amcham.com.mx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     credentials: true 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enviar</a:t>
            </a:r>
            <a:r>
              <a:rPr dirty="0"/>
              <a:t> cookies cross-origin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   })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4. </a:t>
            </a:r>
            <a:r>
              <a:rPr dirty="0" err="1"/>
              <a:t>express.json</a:t>
            </a:r>
            <a:r>
              <a:rPr dirty="0"/>
              <a:t>({limit:'20mb'})   → Parsear </a:t>
            </a:r>
            <a:r>
              <a:rPr dirty="0" err="1"/>
              <a:t>cuerpo</a:t>
            </a:r>
            <a:r>
              <a:rPr dirty="0"/>
              <a:t> JSON (hasta 20MB)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5. </a:t>
            </a:r>
            <a:r>
              <a:rPr dirty="0" err="1"/>
              <a:t>express.urlencoded</a:t>
            </a:r>
            <a:r>
              <a:rPr dirty="0"/>
              <a:t>()            → Parsear </a:t>
            </a:r>
            <a:r>
              <a:rPr dirty="0" err="1"/>
              <a:t>formularios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6. express-session({   → </a:t>
            </a: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sesiones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     store: </a:t>
            </a:r>
            <a:r>
              <a:rPr dirty="0" err="1"/>
              <a:t>SQLiteStore</a:t>
            </a:r>
            <a:r>
              <a:rPr dirty="0"/>
              <a:t>  Guarda </a:t>
            </a:r>
            <a:r>
              <a:rPr dirty="0" err="1"/>
              <a:t>sesiones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SQLite (no memoria)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     name: '</a:t>
            </a:r>
            <a:r>
              <a:rPr dirty="0" err="1"/>
              <a:t>panelamcham.sid</a:t>
            </a:r>
            <a:r>
              <a:rPr dirty="0"/>
              <a:t>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     cookie: { </a:t>
            </a:r>
            <a:r>
              <a:rPr dirty="0" err="1"/>
              <a:t>httpOnly</a:t>
            </a:r>
            <a:r>
              <a:rPr dirty="0"/>
              <a:t>, secure, maxAge:30min, </a:t>
            </a:r>
            <a:r>
              <a:rPr dirty="0" err="1"/>
              <a:t>rolling:true</a:t>
            </a:r>
            <a:r>
              <a:rPr dirty="0"/>
              <a:t>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   })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7. express-rate-limit   → Login: </a:t>
            </a:r>
            <a:r>
              <a:rPr dirty="0" err="1"/>
              <a:t>máx</a:t>
            </a:r>
            <a:r>
              <a:rPr dirty="0"/>
              <a:t> 10 </a:t>
            </a:r>
            <a:r>
              <a:rPr dirty="0" err="1"/>
              <a:t>intentos</a:t>
            </a:r>
            <a:r>
              <a:rPr dirty="0"/>
              <a:t>/10min, </a:t>
            </a:r>
            <a:r>
              <a:rPr dirty="0" err="1"/>
              <a:t>bloqueo</a:t>
            </a:r>
            <a:r>
              <a:rPr dirty="0"/>
              <a:t> 5min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8. </a:t>
            </a:r>
            <a:r>
              <a:rPr dirty="0" err="1"/>
              <a:t>express.static</a:t>
            </a:r>
            <a:r>
              <a:rPr dirty="0"/>
              <a:t>()     → </a:t>
            </a:r>
            <a:r>
              <a:rPr dirty="0" err="1"/>
              <a:t>Archivos</a:t>
            </a:r>
            <a:r>
              <a:rPr dirty="0"/>
              <a:t> </a:t>
            </a:r>
            <a:r>
              <a:rPr dirty="0" err="1"/>
              <a:t>estáticos</a:t>
            </a:r>
            <a:r>
              <a:rPr dirty="0"/>
              <a:t> (HTML, CSS, JS, </a:t>
            </a:r>
            <a:r>
              <a:rPr dirty="0" err="1"/>
              <a:t>imágenes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  9. Rutas API (/api/*)   → Cada </a:t>
            </a:r>
            <a:r>
              <a:rPr dirty="0" err="1"/>
              <a:t>ruta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requireAuth</a:t>
            </a:r>
            <a:r>
              <a:rPr dirty="0"/>
              <a:t> + Joi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Registro de Rutas en el Servidor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Todas las rutas se registran en src/server.js así: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app.use('/api/auth',            require('./routes/auth'))           // Login/Logout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app.use('/api/usuarios',        require('./routes/usuarios'))       // CRUD usuarios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app.use('/api/perfil',          require('./routes/perfil'))         // Mi perfil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app.use('/api/empresas',        require('./routes/empresas'))       // Lista empresas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app.use('/api/modulos',         require('./routes/modulos'))        // Info módulos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app.use('/api/reportes',        require('./routes/reportes'))       // Summary/Resumen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app.use('/api/presupuestos',    require('./routes/presupuestos'))   // Presupuestos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app.use('/api/borradores',      require('./routes/borradores'))     // Drafts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app.use('/api/saldos',          require('./routes/saldos'))         // Saldos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app.use('/api/layouts-config',  require('./routes/layoutRoutes'))   // Plantillas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app.use('/api/insercion',       require('./routes/insercion'))      // Inserción filas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app.use('/api/graficas-config', require('./routes/graficas-config'))// Gráficas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app.use('/api/backups',         require('./routes/backups'))        // Backups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app.use('/api/notificaciones',  require('./routes/notificaciones')) // Alertas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app.use('/api/firebird-config', require('./routes/firebird-config'))// Config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app.use('/api/comentarios',     require('./routes/comentarios'))    // Comentarios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TOTAL: 16+ grupos de rutas, 80+ endpoints individuales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Login, Cookies y Sesiones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F382AD5-2E7A-4B77-E895-27C249E77024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ES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PARTE 4: Como funciona el Login</a:t>
            </a:r>
            <a:endParaRPr lang="es-MX" sz="2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FCBB6E-3EB0-C677-775B-F9514B323B82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dirty="0">
                <a:solidFill>
                  <a:srgbClr val="111827"/>
                </a:solidFill>
                <a:latin typeface="Segoe UI" panose="020B0502040204020203" pitchFamily="34" charset="0"/>
              </a:rPr>
              <a:t>Cuando escribes tu usuario y contraseña, pasa esto:</a:t>
            </a:r>
            <a:endParaRPr lang="es-MX" sz="13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6F64B5B-758C-F15E-CE3F-2E09B2B8DAF1}"/>
              </a:ext>
            </a:extLst>
          </p:cNvPr>
          <p:cNvSpPr/>
          <p:nvPr/>
        </p:nvSpPr>
        <p:spPr>
          <a:xfrm>
            <a:off x="571500" y="1206500"/>
            <a:ext cx="330200" cy="3048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69828B-2C9E-A3AC-6BC4-DC0206745D6D}"/>
              </a:ext>
            </a:extLst>
          </p:cNvPr>
          <p:cNvSpPr txBox="1"/>
          <p:nvPr/>
        </p:nvSpPr>
        <p:spPr>
          <a:xfrm>
            <a:off x="1016000" y="12319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 dirty="0">
                <a:solidFill>
                  <a:srgbClr val="111827"/>
                </a:solidFill>
                <a:latin typeface="Segoe UI" panose="020B0502040204020203" pitchFamily="34" charset="0"/>
              </a:rPr>
              <a:t>El frontend envía:  POST /api/auth/login  con { usuario: 'JPEREZ', contrasena: '...' }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5825E6C-8FA0-3F93-FAFA-90EB098DD61F}"/>
              </a:ext>
            </a:extLst>
          </p:cNvPr>
          <p:cNvSpPr/>
          <p:nvPr/>
        </p:nvSpPr>
        <p:spPr>
          <a:xfrm>
            <a:off x="571500" y="1587500"/>
            <a:ext cx="330200" cy="3048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73F0FC-D80F-E8AC-FD24-D366A002F1D6}"/>
              </a:ext>
            </a:extLst>
          </p:cNvPr>
          <p:cNvSpPr txBox="1"/>
          <p:nvPr/>
        </p:nvSpPr>
        <p:spPr>
          <a:xfrm>
            <a:off x="1016000" y="16129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 dirty="0">
                <a:solidFill>
                  <a:srgbClr val="111827"/>
                </a:solidFill>
                <a:latin typeface="Segoe UI" panose="020B0502040204020203" pitchFamily="34" charset="0"/>
              </a:rPr>
              <a:t>El servidor valida con Joi: usuario mínimo 2 caracteres, contraseña mínimo 6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4355380-A1B7-1B6B-B699-5B61BD268DB6}"/>
              </a:ext>
            </a:extLst>
          </p:cNvPr>
          <p:cNvSpPr/>
          <p:nvPr/>
        </p:nvSpPr>
        <p:spPr>
          <a:xfrm>
            <a:off x="571500" y="1968500"/>
            <a:ext cx="330200" cy="3048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BF743B9-324B-2321-E436-3F5549798ABA}"/>
              </a:ext>
            </a:extLst>
          </p:cNvPr>
          <p:cNvSpPr txBox="1"/>
          <p:nvPr/>
        </p:nvSpPr>
        <p:spPr>
          <a:xfrm>
            <a:off x="1016000" y="19939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Rate Limiting: Si hay 10+ intentos fallidos en 10 min, la IP se bloquea 5 minutos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ADFD888-02D2-D3A8-BA3E-50E32211771E}"/>
              </a:ext>
            </a:extLst>
          </p:cNvPr>
          <p:cNvSpPr/>
          <p:nvPr/>
        </p:nvSpPr>
        <p:spPr>
          <a:xfrm>
            <a:off x="571500" y="2349500"/>
            <a:ext cx="330200" cy="3048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380618-6A66-9C9B-22E0-5737D0A8D33D}"/>
              </a:ext>
            </a:extLst>
          </p:cNvPr>
          <p:cNvSpPr txBox="1"/>
          <p:nvPr/>
        </p:nvSpPr>
        <p:spPr>
          <a:xfrm>
            <a:off x="1016000" y="23749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Busca en SQLite: SELECT * FROM usuarios WHERE usuario = 'JPEREZ'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8D90093-1266-F9B1-E5DD-5112297B8984}"/>
              </a:ext>
            </a:extLst>
          </p:cNvPr>
          <p:cNvSpPr/>
          <p:nvPr/>
        </p:nvSpPr>
        <p:spPr>
          <a:xfrm>
            <a:off x="571500" y="2730500"/>
            <a:ext cx="330200" cy="3048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8DAE55-9490-7B20-E7E2-482694F25C2B}"/>
              </a:ext>
            </a:extLst>
          </p:cNvPr>
          <p:cNvSpPr txBox="1"/>
          <p:nvPr/>
        </p:nvSpPr>
        <p:spPr>
          <a:xfrm>
            <a:off x="1016000" y="27559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Compara contraseña con bcrypt (hash irreversible, nadie puede leerla)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6B12F63-64E4-0AB1-3AA5-42857EDA23B8}"/>
              </a:ext>
            </a:extLst>
          </p:cNvPr>
          <p:cNvSpPr/>
          <p:nvPr/>
        </p:nvSpPr>
        <p:spPr>
          <a:xfrm>
            <a:off x="571500" y="3111500"/>
            <a:ext cx="330200" cy="3048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E99DF6F-1F61-CC56-6C80-20DFF53C7C9D}"/>
              </a:ext>
            </a:extLst>
          </p:cNvPr>
          <p:cNvSpPr txBox="1"/>
          <p:nvPr/>
        </p:nvSpPr>
        <p:spPr>
          <a:xfrm>
            <a:off x="1016000" y="31369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 dirty="0">
                <a:solidFill>
                  <a:srgbClr val="111827"/>
                </a:solidFill>
                <a:latin typeface="Segoe UI" panose="020B0502040204020203" pitchFamily="34" charset="0"/>
              </a:rPr>
              <a:t>Crea sesión + cookie 'panelamcham.sid' + JWT token (valido 1 hora)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22F27F9-4828-E11D-39ED-6228D1A32C94}"/>
              </a:ext>
            </a:extLst>
          </p:cNvPr>
          <p:cNvSpPr/>
          <p:nvPr/>
        </p:nvSpPr>
        <p:spPr>
          <a:xfrm>
            <a:off x="571500" y="3492500"/>
            <a:ext cx="330200" cy="3048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EF5160C-2BC7-EFDB-A85F-F241F021B9B1}"/>
              </a:ext>
            </a:extLst>
          </p:cNvPr>
          <p:cNvSpPr txBox="1"/>
          <p:nvPr/>
        </p:nvSpPr>
        <p:spPr>
          <a:xfrm>
            <a:off x="1016000" y="35179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Carga permisos del usuario (que empresas y módulos puede ver)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33088B1-01D6-F3EA-AF4F-B674F0EE1D08}"/>
              </a:ext>
            </a:extLst>
          </p:cNvPr>
          <p:cNvSpPr/>
          <p:nvPr/>
        </p:nvSpPr>
        <p:spPr>
          <a:xfrm>
            <a:off x="508000" y="3937000"/>
            <a:ext cx="8128000" cy="1905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70D3C41-97C5-7AF4-F696-CDD21F8C53A6}"/>
              </a:ext>
            </a:extLst>
          </p:cNvPr>
          <p:cNvSpPr txBox="1"/>
          <p:nvPr/>
        </p:nvSpPr>
        <p:spPr>
          <a:xfrm>
            <a:off x="508000" y="4025900"/>
            <a:ext cx="812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RESULTADO: El usuario entra al sistema con sus permisos cargados.
ARCHIVOS: src/routes/auth.js (login/logout)  |  src/middleware/auth.js (verificar sesión)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959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E89EDA4-FC9A-1FC1-C26E-D87C0B769226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Cookies y Sesiones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990FC2-3174-21D6-D1E4-BAF57E227083}"/>
              </a:ext>
            </a:extLst>
          </p:cNvPr>
          <p:cNvSpPr txBox="1"/>
          <p:nvPr/>
        </p:nvSpPr>
        <p:spPr>
          <a:xfrm>
            <a:off x="508000" y="863600"/>
            <a:ext cx="812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dirty="0">
                <a:solidFill>
                  <a:srgbClr val="111827"/>
                </a:solidFill>
                <a:latin typeface="Segoe UI" panose="020B0502040204020203" pitchFamily="34" charset="0"/>
              </a:rPr>
              <a:t>Una cookie es un dato que el servidor manda al navegador.
Es como una PULSERA de acceso: la muestras cada vez que haces una petición.</a:t>
            </a:r>
            <a:endParaRPr lang="es-MX" sz="13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B72355-D5BE-4577-6033-900E8F200CD4}"/>
              </a:ext>
            </a:extLst>
          </p:cNvPr>
          <p:cNvSpPr/>
          <p:nvPr/>
        </p:nvSpPr>
        <p:spPr>
          <a:xfrm>
            <a:off x="508000" y="1460500"/>
            <a:ext cx="8128000" cy="1905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r>
              <a:rPr lang="es-MX" sz="1100" dirty="0">
                <a:solidFill>
                  <a:srgbClr val="111827"/>
                </a:solidFill>
                <a:latin typeface="Consolas" panose="020B0609020204030204" pitchFamily="49" charset="0"/>
              </a:rPr>
              <a:t>Cookie de SummaCham:
  Nombre:   "panelamcham.sid"
  httpOnly:  true   (JavaScript del navegador NO puede leerla - protege contra ataques)
  secure:    true   (Solo funciona con HTTPS en producción)
  maxAge:    30 min (Si no haces nada en 30 min, se cierra la sesión)
  rolling:   true   (Se renueva con cada click, así no expira mientras trabajas)
Token JWT (va en el header de cada petición):
  Duración:  1 hora (access token)
  Refresh:   7 días (permite renovar el access token sin re-login)
  Header:    Authorization: Bearer eyJhbGciOiJIUzI1NiIs...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4FC37E-9A47-D799-5F3D-21E146BA2C01}"/>
              </a:ext>
            </a:extLst>
          </p:cNvPr>
          <p:cNvSpPr txBox="1"/>
          <p:nvPr/>
        </p:nvSpPr>
        <p:spPr>
          <a:xfrm>
            <a:off x="508000" y="3556000"/>
            <a:ext cx="8128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 dirty="0">
                <a:solidFill>
                  <a:srgbClr val="111827"/>
                </a:solidFill>
                <a:latin typeface="Segoe UI" panose="020B0502040204020203" pitchFamily="34" charset="0"/>
              </a:rPr>
              <a:t>COMO SE MANTIENE LA SESIÓN:
  Login a las 09:00 -&gt; expira 09:30
  Click a las 09:15 -&gt; se extiende a 09:45 (rolling)
  Sin actividad 30 min -&gt; sesión cerrada, debe re-loguearse
DONDE SE GUARDA: En SQLite (tabla de sesiones), NO en memoria del servidor</a:t>
            </a:r>
            <a:endParaRPr lang="es-MX" sz="12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398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Sistema de Permisos (3 niveles)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6945116-A7CB-4290-B552-BFA940EA60C6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Sistema de Permisos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A7FFBA-A705-76BF-4BCA-FFF0E37E9AAE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dirty="0">
                <a:solidFill>
                  <a:srgbClr val="111827"/>
                </a:solidFill>
                <a:latin typeface="Segoe UI" panose="020B0502040204020203" pitchFamily="34" charset="0"/>
              </a:rPr>
              <a:t>Cada usuario tiene permisos en 3 niveles:</a:t>
            </a:r>
            <a:endParaRPr lang="es-MX" sz="13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9843FD9-9CD2-743B-8622-9DCF4332AE94}"/>
              </a:ext>
            </a:extLst>
          </p:cNvPr>
          <p:cNvSpPr/>
          <p:nvPr/>
        </p:nvSpPr>
        <p:spPr>
          <a:xfrm>
            <a:off x="571500" y="1206500"/>
            <a:ext cx="8001000" cy="3175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NIVEL 1: USUARIO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09FC1D-E376-DA50-92F9-FA14031BEA43}"/>
              </a:ext>
            </a:extLst>
          </p:cNvPr>
          <p:cNvSpPr txBox="1"/>
          <p:nvPr/>
        </p:nvSpPr>
        <p:spPr>
          <a:xfrm>
            <a:off x="698500" y="1562100"/>
            <a:ext cx="7747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es_admin_global (acceso total) | puede_agregar | puede_modificar | puede_eliminar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CF633D6-6020-80E3-B22E-B020269E160F}"/>
              </a:ext>
            </a:extLst>
          </p:cNvPr>
          <p:cNvSpPr/>
          <p:nvPr/>
        </p:nvSpPr>
        <p:spPr>
          <a:xfrm>
            <a:off x="571500" y="1905000"/>
            <a:ext cx="8001000" cy="3175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NIVEL 2: EMPRESA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F69AD00-9EF8-950C-F0B2-B5CFAEB998E7}"/>
              </a:ext>
            </a:extLst>
          </p:cNvPr>
          <p:cNvSpPr txBox="1"/>
          <p:nvPr/>
        </p:nvSpPr>
        <p:spPr>
          <a:xfrm>
            <a:off x="698500" y="2260600"/>
            <a:ext cx="7747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Un usuario puede tener acceso a: empresa1 (CDMX), empresa2 (GDL), empresa3 (MTY), empresa4 (QRO)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6511A16-AE7D-DBAA-E6C9-AD6C2C1EE2E6}"/>
              </a:ext>
            </a:extLst>
          </p:cNvPr>
          <p:cNvSpPr/>
          <p:nvPr/>
        </p:nvSpPr>
        <p:spPr>
          <a:xfrm>
            <a:off x="571500" y="2603500"/>
            <a:ext cx="8001000" cy="3175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NIVEL 3: MODULO + ACCION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EAB2CAF-2AFD-243D-3654-5B4C4C23760D}"/>
              </a:ext>
            </a:extLst>
          </p:cNvPr>
          <p:cNvSpPr/>
          <p:nvPr/>
        </p:nvSpPr>
        <p:spPr>
          <a:xfrm>
            <a:off x="508000" y="2984500"/>
            <a:ext cx="8128000" cy="1778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r>
              <a:rPr lang="es-MX" sz="1100" dirty="0">
                <a:solidFill>
                  <a:srgbClr val="111827"/>
                </a:solidFill>
                <a:latin typeface="Consolas" panose="020B0609020204030204" pitchFamily="49" charset="0"/>
              </a:rPr>
              <a:t>Ejemplo: Juan Pérez en empresa1 (CDMX):
  Modulo       | Ver | Cargar | Revisar | Aprobar
  -------------|-----|--------|---------|--------
  RH           | SI  |   SI   |   NO    |   NO     (puede ver y cargar datos)
  Finanzas     | SI  |   NO   |   SI    |   NO     (puede ver y revisar)
  RESUMEN      | SI  |   NO   |   NO    |   NO     (solo lectura)
Tabla SQLite: permisos_modulo  (usuario_id + empresa_id + módulo + permisos)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6C27CA-FB57-FA8A-10D9-D61E2108D802}"/>
              </a:ext>
            </a:extLst>
          </p:cNvPr>
          <p:cNvSpPr txBox="1"/>
          <p:nvPr/>
        </p:nvSpPr>
        <p:spPr>
          <a:xfrm>
            <a:off x="508000" y="4889500"/>
            <a:ext cx="812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ADMIN GLOBAL: Salta todas las verificaciones, puede hacer todo en todo.
VERIFICACION: Cada petición al servidor se valida con requireAuth + tienePermisoModulo()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121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¿Qué es una API? + Ejemplo real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487C1C1-174B-4129-5EAD-D5CB0280AB99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ES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PARTE 6: ¿Qué es una API?</a:t>
            </a:r>
            <a:endParaRPr lang="es-MX" sz="2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9965A8-BEEE-F7BA-98FD-A55DD6B80163}"/>
              </a:ext>
            </a:extLst>
          </p:cNvPr>
          <p:cNvSpPr txBox="1"/>
          <p:nvPr/>
        </p:nvSpPr>
        <p:spPr>
          <a:xfrm>
            <a:off x="508000" y="863600"/>
            <a:ext cx="8128000" cy="3084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400" dirty="0">
                <a:solidFill>
                  <a:srgbClr val="111827"/>
                </a:solidFill>
                <a:latin typeface="Segoe UI" panose="020B0502040204020203" pitchFamily="34" charset="0"/>
              </a:rPr>
              <a:t>API = el MENSAJERO entre lo que ves en pantalla y donde están los datos.</a:t>
            </a:r>
            <a:endParaRPr lang="es-MX" sz="14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3C24244-41CE-3AC7-FE95-577EBBA8BD10}"/>
              </a:ext>
            </a:extLst>
          </p:cNvPr>
          <p:cNvSpPr/>
          <p:nvPr/>
        </p:nvSpPr>
        <p:spPr>
          <a:xfrm>
            <a:off x="340360" y="1270000"/>
            <a:ext cx="1651000" cy="635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TU
(navegador)</a:t>
            </a:r>
          </a:p>
        </p:txBody>
      </p:sp>
      <p:sp>
        <p:nvSpPr>
          <p:cNvPr id="5" name="Cilindro 4">
            <a:extLst>
              <a:ext uri="{FF2B5EF4-FFF2-40B4-BE49-F238E27FC236}">
                <a16:creationId xmlns:a16="http://schemas.microsoft.com/office/drawing/2014/main" id="{BBC68918-5198-09C2-8F5E-6683F56A0C47}"/>
              </a:ext>
            </a:extLst>
          </p:cNvPr>
          <p:cNvSpPr/>
          <p:nvPr/>
        </p:nvSpPr>
        <p:spPr>
          <a:xfrm>
            <a:off x="2080260" y="1460500"/>
            <a:ext cx="457200" cy="2286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ABA9E38-468F-4FFE-C637-061AAABB15E8}"/>
              </a:ext>
            </a:extLst>
          </p:cNvPr>
          <p:cNvSpPr/>
          <p:nvPr/>
        </p:nvSpPr>
        <p:spPr>
          <a:xfrm>
            <a:off x="2626360" y="1270000"/>
            <a:ext cx="1651000" cy="6350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API
(mensajero)</a:t>
            </a:r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ACC1B6F2-F651-842B-608A-80F083339B3B}"/>
              </a:ext>
            </a:extLst>
          </p:cNvPr>
          <p:cNvSpPr/>
          <p:nvPr/>
        </p:nvSpPr>
        <p:spPr>
          <a:xfrm>
            <a:off x="4366260" y="1460500"/>
            <a:ext cx="457200" cy="2286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CDC8B55-8BFC-FF2F-08A9-4BC6ED3BF79A}"/>
              </a:ext>
            </a:extLst>
          </p:cNvPr>
          <p:cNvSpPr/>
          <p:nvPr/>
        </p:nvSpPr>
        <p:spPr>
          <a:xfrm>
            <a:off x="4912360" y="1270000"/>
            <a:ext cx="1651000" cy="6350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SERVIDOR
(procesa)</a:t>
            </a:r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89D4D5C2-06D3-6A89-2901-6474FF506CF8}"/>
              </a:ext>
            </a:extLst>
          </p:cNvPr>
          <p:cNvSpPr/>
          <p:nvPr/>
        </p:nvSpPr>
        <p:spPr>
          <a:xfrm>
            <a:off x="6652260" y="1460500"/>
            <a:ext cx="457200" cy="2286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63E0A76-C0A3-7B26-F330-AB5DC03F7C08}"/>
              </a:ext>
            </a:extLst>
          </p:cNvPr>
          <p:cNvSpPr/>
          <p:nvPr/>
        </p:nvSpPr>
        <p:spPr>
          <a:xfrm>
            <a:off x="7198360" y="1270000"/>
            <a:ext cx="1651000" cy="635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rgbClr val="FFFFFF"/>
                </a:solidFill>
                <a:latin typeface="Segoe UI" panose="020B0502040204020203" pitchFamily="34" charset="0"/>
              </a:rPr>
              <a:t>BASE DE
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FC1A0C4-FAC8-36C7-6887-A7CD4653CCC7}"/>
              </a:ext>
            </a:extLst>
          </p:cNvPr>
          <p:cNvSpPr txBox="1"/>
          <p:nvPr/>
        </p:nvSpPr>
        <p:spPr>
          <a:xfrm>
            <a:off x="508000" y="2095500"/>
            <a:ext cx="8128000" cy="30469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 dirty="0">
                <a:solidFill>
                  <a:srgbClr val="111827"/>
                </a:solidFill>
                <a:latin typeface="Segoe UI" panose="020B0502040204020203" pitchFamily="34" charset="0"/>
              </a:rPr>
              <a:t>Como funciona en SummaCham:
1. Haces click en "RESUMEN" en la app
2. El frontend automáticamente envía esta petición HTTP:
     GET http://localhost:3005/api/reportes/resumen?empresaId=empresa1&amp;anio=2025&amp;mes=6
3. La petición viaja con tu cookie de sesión y token JWT
4. El servidor la recibe, verifica que tengas permiso, y busca los datos
5. Responde con un JSON (datos estructurados)
6. El frontend pinta la tabla con esos datos
CADA PETICION LLEVA:
  Cookie:      panelamcham.sid=abc123...  (identifica tu sesión)
  Header:      Authorization: Bearer eyJhbG...  (tu token JWT)
  Header:      X-Empresa-Activa: empresa1  (empresa seleccionada)</a:t>
            </a:r>
            <a:endParaRPr lang="es-MX" sz="12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993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35DAA71-BC88-29F1-69F8-D60984BAB94C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ES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Ejemplo real: Abrir el RESUMEN paso a paso</a:t>
            </a:r>
            <a:endParaRPr lang="es-MX" sz="2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386324D-639A-2304-B78D-0FD778FC789E}"/>
              </a:ext>
            </a:extLst>
          </p:cNvPr>
          <p:cNvSpPr/>
          <p:nvPr/>
        </p:nvSpPr>
        <p:spPr>
          <a:xfrm>
            <a:off x="533400" y="863600"/>
            <a:ext cx="355600" cy="2794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3BF1A8-F1B1-0CB3-C34C-81C6B5D9A3A8}"/>
              </a:ext>
            </a:extLst>
          </p:cNvPr>
          <p:cNvSpPr txBox="1"/>
          <p:nvPr/>
        </p:nvSpPr>
        <p:spPr>
          <a:xfrm>
            <a:off x="990600" y="8763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Abres RESUMEN.html en la app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E4BB831-EABF-2359-036D-D82E53E970B7}"/>
              </a:ext>
            </a:extLst>
          </p:cNvPr>
          <p:cNvSpPr/>
          <p:nvPr/>
        </p:nvSpPr>
        <p:spPr>
          <a:xfrm>
            <a:off x="533400" y="1206500"/>
            <a:ext cx="355600" cy="2794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D860E3-2B8A-F150-988A-3B1002089F4A}"/>
              </a:ext>
            </a:extLst>
          </p:cNvPr>
          <p:cNvSpPr txBox="1"/>
          <p:nvPr/>
        </p:nvSpPr>
        <p:spPr>
          <a:xfrm>
            <a:off x="990600" y="12192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resumen-view.js prepara la petición con empresa, año y mes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E8F84C9-8AF2-E848-9396-497B5D83539D}"/>
              </a:ext>
            </a:extLst>
          </p:cNvPr>
          <p:cNvSpPr/>
          <p:nvPr/>
        </p:nvSpPr>
        <p:spPr>
          <a:xfrm>
            <a:off x="533400" y="1549400"/>
            <a:ext cx="355600" cy="2794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45883EA-2F83-E645-9C37-9AB06DC27A5E}"/>
              </a:ext>
            </a:extLst>
          </p:cNvPr>
          <p:cNvSpPr txBox="1"/>
          <p:nvPr/>
        </p:nvSpPr>
        <p:spPr>
          <a:xfrm>
            <a:off x="990600" y="15621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 dirty="0">
                <a:solidFill>
                  <a:srgbClr val="111827"/>
                </a:solidFill>
                <a:latin typeface="Segoe UI" panose="020B0502040204020203" pitchFamily="34" charset="0"/>
              </a:rPr>
              <a:t>Envía:  GET /api/reportes/resumen?empresaId=empresa1&amp;anio=2025&amp;mes=6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F53927A-E55E-7167-B23B-CD8BC511EEEE}"/>
              </a:ext>
            </a:extLst>
          </p:cNvPr>
          <p:cNvSpPr/>
          <p:nvPr/>
        </p:nvSpPr>
        <p:spPr>
          <a:xfrm>
            <a:off x="533400" y="1892300"/>
            <a:ext cx="355600" cy="2794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F3B03F-C9D8-3352-B961-4D59D4D2517C}"/>
              </a:ext>
            </a:extLst>
          </p:cNvPr>
          <p:cNvSpPr txBox="1"/>
          <p:nvPr/>
        </p:nvSpPr>
        <p:spPr>
          <a:xfrm>
            <a:off x="990600" y="19050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 dirty="0">
                <a:solidFill>
                  <a:srgbClr val="111827"/>
                </a:solidFill>
                <a:latin typeface="Segoe UI" panose="020B0502040204020203" pitchFamily="34" charset="0"/>
              </a:rPr>
              <a:t>src/server.js dirige /api/reportes/* a src/routes/reportes.js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8CF3A2B-B429-70A2-09DD-8C5E55C38749}"/>
              </a:ext>
            </a:extLst>
          </p:cNvPr>
          <p:cNvSpPr/>
          <p:nvPr/>
        </p:nvSpPr>
        <p:spPr>
          <a:xfrm>
            <a:off x="533400" y="2235200"/>
            <a:ext cx="355600" cy="2794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C84076-DECE-415D-1D8D-44CE3832FB9F}"/>
              </a:ext>
            </a:extLst>
          </p:cNvPr>
          <p:cNvSpPr txBox="1"/>
          <p:nvPr/>
        </p:nvSpPr>
        <p:spPr>
          <a:xfrm>
            <a:off x="990600" y="22479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middleware/auth.js verifica tu cookie y JWT -&gt; carga tus permisos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4736F26-11B9-AEB1-22D4-CF987DBA0B00}"/>
              </a:ext>
            </a:extLst>
          </p:cNvPr>
          <p:cNvSpPr/>
          <p:nvPr/>
        </p:nvSpPr>
        <p:spPr>
          <a:xfrm>
            <a:off x="533400" y="2578100"/>
            <a:ext cx="355600" cy="279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C40F109-ED50-01CD-FDD6-9A34BD7A6A5E}"/>
              </a:ext>
            </a:extLst>
          </p:cNvPr>
          <p:cNvSpPr txBox="1"/>
          <p:nvPr/>
        </p:nvSpPr>
        <p:spPr>
          <a:xfrm>
            <a:off x="990600" y="25908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 dirty="0">
                <a:solidFill>
                  <a:srgbClr val="111827"/>
                </a:solidFill>
                <a:latin typeface="Segoe UI" panose="020B0502040204020203" pitchFamily="34" charset="0"/>
              </a:rPr>
              <a:t>reportes.js valida parámetros y llama a planeacionReportesEngine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C7358FD-B960-131D-595A-C7E87BC8D4BA}"/>
              </a:ext>
            </a:extLst>
          </p:cNvPr>
          <p:cNvSpPr/>
          <p:nvPr/>
        </p:nvSpPr>
        <p:spPr>
          <a:xfrm>
            <a:off x="533400" y="2921000"/>
            <a:ext cx="355600" cy="279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F452CB8-0D3F-2CC6-A7D5-2D71DD40E1E3}"/>
              </a:ext>
            </a:extLst>
          </p:cNvPr>
          <p:cNvSpPr txBox="1"/>
          <p:nvPr/>
        </p:nvSpPr>
        <p:spPr>
          <a:xfrm>
            <a:off x="990600" y="29337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Engine carga layout de SQLite: que cuentas y operaciones tiene RESUMEN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5474F8A-E4F9-983A-DF11-B441701977C6}"/>
              </a:ext>
            </a:extLst>
          </p:cNvPr>
          <p:cNvSpPr/>
          <p:nvPr/>
        </p:nvSpPr>
        <p:spPr>
          <a:xfrm>
            <a:off x="533400" y="3263900"/>
            <a:ext cx="355600" cy="2794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4C24884-E7FC-D015-14AE-C9C02A8786AF}"/>
              </a:ext>
            </a:extLst>
          </p:cNvPr>
          <p:cNvSpPr txBox="1"/>
          <p:nvPr/>
        </p:nvSpPr>
        <p:spPr>
          <a:xfrm>
            <a:off x="990600" y="32766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Engine consulta Firebird: saldos reales de SALDOS25 y presupuestos de PRESUP25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DC5D0DF-5B83-2800-2D99-76D15DF55ED7}"/>
              </a:ext>
            </a:extLst>
          </p:cNvPr>
          <p:cNvSpPr/>
          <p:nvPr/>
        </p:nvSpPr>
        <p:spPr>
          <a:xfrm>
            <a:off x="533400" y="3606800"/>
            <a:ext cx="355600" cy="2794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9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58E2784-6958-B26A-6339-8FDD3BAB3EA6}"/>
              </a:ext>
            </a:extLst>
          </p:cNvPr>
          <p:cNvSpPr txBox="1"/>
          <p:nvPr/>
        </p:nvSpPr>
        <p:spPr>
          <a:xfrm>
            <a:off x="990600" y="36195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Engine calcula: Real, Presupuesto, Acumulados, Variaciones, Totales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1D57670D-F259-83EF-924E-2E412A7523AA}"/>
              </a:ext>
            </a:extLst>
          </p:cNvPr>
          <p:cNvSpPr/>
          <p:nvPr/>
        </p:nvSpPr>
        <p:spPr>
          <a:xfrm>
            <a:off x="533400" y="3949700"/>
            <a:ext cx="355600" cy="2794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b="1" dirty="0">
                <a:solidFill>
                  <a:srgbClr val="FFFFFF"/>
                </a:solidFill>
                <a:latin typeface="Segoe UI" panose="020B0502040204020203" pitchFamily="34" charset="0"/>
              </a:rPr>
              <a:t>10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62D6B20-E5A6-7AF6-35AC-1E431F5D254A}"/>
              </a:ext>
            </a:extLst>
          </p:cNvPr>
          <p:cNvSpPr txBox="1"/>
          <p:nvPr/>
        </p:nvSpPr>
        <p:spPr>
          <a:xfrm>
            <a:off x="990600" y="3962400"/>
            <a:ext cx="762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100" dirty="0">
                <a:solidFill>
                  <a:srgbClr val="111827"/>
                </a:solidFill>
                <a:latin typeface="Segoe UI" panose="020B0502040204020203" pitchFamily="34" charset="0"/>
              </a:rPr>
              <a:t>Servidor responde JSON -&gt; resumen-view.js pinta la tabla</a:t>
            </a:r>
            <a:endParaRPr lang="es-MX" sz="11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C0F8DC3-41D4-E76A-27A1-CFAA5F1905EB}"/>
              </a:ext>
            </a:extLst>
          </p:cNvPr>
          <p:cNvSpPr/>
          <p:nvPr/>
        </p:nvSpPr>
        <p:spPr>
          <a:xfrm>
            <a:off x="508000" y="4330700"/>
            <a:ext cx="8128000" cy="1905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AFAFCFE-2905-5338-8D59-63673E31CF00}"/>
              </a:ext>
            </a:extLst>
          </p:cNvPr>
          <p:cNvSpPr txBox="1"/>
          <p:nvPr/>
        </p:nvSpPr>
        <p:spPr>
          <a:xfrm>
            <a:off x="508000" y="43942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 dirty="0">
                <a:solidFill>
                  <a:srgbClr val="111827"/>
                </a:solidFill>
                <a:latin typeface="Segoe UI" panose="020B0502040204020203" pitchFamily="34" charset="0"/>
              </a:rPr>
              <a:t>ARCHIVOS INVOLUCRADOS:
  Frontend: vistas/js/resumen-view.js  -&gt;  Backend: src/routes/reportes.js
  Motor: src/services/reportes/planeacionReportesEngine.js  -&gt;  Firebird: planeacionCuentasService.js</a:t>
            </a:r>
          </a:p>
        </p:txBody>
      </p:sp>
    </p:spTree>
    <p:extLst>
      <p:ext uri="{BB962C8B-B14F-4D97-AF65-F5344CB8AC3E}">
        <p14:creationId xmlns:p14="http://schemas.microsoft.com/office/powerpoint/2010/main" val="2816799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Autenticación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19616B1-6C83-BCAE-47EF-C5C2544983CF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Autenticación (/api/auth)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1AEA26-2F52-BF34-69C6-BA8D708A322F}"/>
              </a:ext>
            </a:extLst>
          </p:cNvPr>
          <p:cNvSpPr txBox="1"/>
          <p:nvPr/>
        </p:nvSpPr>
        <p:spPr>
          <a:xfrm>
            <a:off x="508000" y="8636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 dirty="0">
                <a:solidFill>
                  <a:srgbClr val="111827"/>
                </a:solidFill>
                <a:latin typeface="Segoe UI" panose="020B0502040204020203" pitchFamily="34" charset="0"/>
              </a:rPr>
              <a:t>Estas son las rutas que manejan login, logout y renovación de sesión:</a:t>
            </a:r>
            <a:endParaRPr lang="es-MX" sz="12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134223-53DC-1364-1742-F64B51ECDD3E}"/>
              </a:ext>
            </a:extLst>
          </p:cNvPr>
          <p:cNvSpPr/>
          <p:nvPr/>
        </p:nvSpPr>
        <p:spPr>
          <a:xfrm>
            <a:off x="508000" y="1206500"/>
            <a:ext cx="8128000" cy="28575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r>
              <a:rPr lang="es-MX" sz="1100" dirty="0">
                <a:solidFill>
                  <a:srgbClr val="111827"/>
                </a:solidFill>
                <a:latin typeface="Consolas" panose="020B0609020204030204" pitchFamily="49" charset="0"/>
              </a:rPr>
              <a:t>POST /api/auth/login
  Que hace: Iniciar sesión
  Envía:    { "usuario": "JPEREZ", "contraseña": "MiClave123" }
  Responde: { token: "eyJhbG...", refreshToken: "eyJhbG...",
              usuario: { id: 5, nombre: "Juan", esAdmin: false },
              permisos: { empresa1: { RH: {ver:true, cargar:true}, ... } } }
  Errores:  400 (datos inválidos) | 401 (credenciales incorrectas) | 429 (bloqueado)
POST /api/auth/refresh
  Que hace: Renovar el token sin re-login (cuando el access token expira)
  Envía:    { "refreshToken": "eyJhbG..." }
  Responde: { token: "nuevoToken...", refreshToken: "nuevoRefresh..." }
POST /api/auth/logout
  Que hace: Cerrar sesión (destruye cookie y sesión del servidor)
  Responde: { mensaje: "Sesión cerrada" 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DCAB2E5-6633-A435-432C-92CE22E0B1B1}"/>
              </a:ext>
            </a:extLst>
          </p:cNvPr>
          <p:cNvSpPr txBox="1"/>
          <p:nvPr/>
        </p:nvSpPr>
        <p:spPr>
          <a:xfrm>
            <a:off x="508000" y="4064000"/>
            <a:ext cx="812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100" dirty="0">
                <a:solidFill>
                  <a:srgbClr val="111827"/>
                </a:solidFill>
                <a:latin typeface="Segoe UI" panose="020B0502040204020203" pitchFamily="34" charset="0"/>
              </a:rPr>
              <a:t>ARCHIVO: src/routes/auth.js
PROTECCIÓN: Rate limiting (10 intentos / 10 min, bloqueo 5 min)</a:t>
            </a:r>
          </a:p>
        </p:txBody>
      </p:sp>
    </p:spTree>
    <p:extLst>
      <p:ext uri="{BB962C8B-B14F-4D97-AF65-F5344CB8AC3E}">
        <p14:creationId xmlns:p14="http://schemas.microsoft.com/office/powerpoint/2010/main" val="1594894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Reportes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CC9BD1D-450E-1016-64C3-9AEB10FC79C1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APIs reales: Reportes (/api/reportes)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B6E6138-B1CB-C181-AF43-051C94066061}"/>
              </a:ext>
            </a:extLst>
          </p:cNvPr>
          <p:cNvSpPr txBox="1"/>
          <p:nvPr/>
        </p:nvSpPr>
        <p:spPr>
          <a:xfrm>
            <a:off x="508000" y="8636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 dirty="0">
                <a:solidFill>
                  <a:srgbClr val="111827"/>
                </a:solidFill>
                <a:latin typeface="Segoe UI" panose="020B0502040204020203" pitchFamily="34" charset="0"/>
              </a:rPr>
              <a:t>Estas rutas generan los reportes financieros:</a:t>
            </a:r>
            <a:endParaRPr lang="es-MX" sz="12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DBDDA3-2D39-5DC2-50F8-DB6B29216D9B}"/>
              </a:ext>
            </a:extLst>
          </p:cNvPr>
          <p:cNvSpPr/>
          <p:nvPr/>
        </p:nvSpPr>
        <p:spPr>
          <a:xfrm>
            <a:off x="508000" y="1206500"/>
            <a:ext cx="8128000" cy="307594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r>
              <a:rPr lang="es-MX" sz="1100" dirty="0">
                <a:solidFill>
                  <a:srgbClr val="111827"/>
                </a:solidFill>
                <a:latin typeface="Consolas" panose="020B0609020204030204" pitchFamily="49" charset="0"/>
              </a:rPr>
              <a:t>GET /api/reportes/summary?empresaId=empresa1&amp;anio=2025&amp;mes=6
  Que hace:  Genera el reporte SUMMARY (ingles) para empresa1, Jun 2025
  Responde:  { layout: [...], cuentas: [...], operaciones: [...], totales: {...} }
  Archivo:   src/routes/reportes.js -&gt; summaryEngine -&gt; planeacionReportesEngine
GET /api/reportes/resumen?empresaId=empresa1&amp;anio=2025&amp;mes=6
  Que hace:  Genera el reporte RESUMEN (español) para empresa1, Jun 2025
  Responde:  Misma estructura que summary pero con layout de RESUMEN
  Archivo:   src/routes/reportes.js -&gt; planeacionReportesEngine.generarReporte()
GET /api/reportes/diagnostico-firebird?empresaId=empresa1
  Que hace:  Prueba si la conexión a Firebird funciona para esa empresa
  Responde:  { conectado: true/false, mensaje: "...", tiempoMs: 45 }
POST /api/reportes/operativo-excel-native
  Que hace:  Importa datos desde un archivo Excel al modulo operativo
  Envía:     Archivo Excel (.xlsx) como binario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FD1952-EE4D-F778-FA31-C64C80D175DA}"/>
              </a:ext>
            </a:extLst>
          </p:cNvPr>
          <p:cNvSpPr txBox="1"/>
          <p:nvPr/>
        </p:nvSpPr>
        <p:spPr>
          <a:xfrm>
            <a:off x="508000" y="4348341"/>
            <a:ext cx="8128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 dirty="0">
                <a:solidFill>
                  <a:srgbClr val="111827"/>
                </a:solidFill>
                <a:latin typeface="Segoe UI" panose="020B0502040204020203" pitchFamily="34" charset="0"/>
              </a:rPr>
              <a:t>PARÁMETROS COMUNES:
  empresaId = empresa1, empresa2, empresa3, empresa4 (cual empresa)
  año = 2024, 2025, 2026 (que año fiscal)
  mes = 1-12 (que mes quieres ver)</a:t>
            </a:r>
          </a:p>
        </p:txBody>
      </p:sp>
    </p:spTree>
    <p:extLst>
      <p:ext uri="{BB962C8B-B14F-4D97-AF65-F5344CB8AC3E}">
        <p14:creationId xmlns:p14="http://schemas.microsoft.com/office/powerpoint/2010/main" val="3618556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Presupuestos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AE3B1DC-99BE-E06B-0920-911197891790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ES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APIs: /api/presupuestos (lectura y estado)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C28100-6A99-8A6F-0EBB-859E8E403D0E}"/>
              </a:ext>
            </a:extLst>
          </p:cNvPr>
          <p:cNvSpPr/>
          <p:nvPr/>
        </p:nvSpPr>
        <p:spPr>
          <a:xfrm>
            <a:off x="508000" y="863600"/>
            <a:ext cx="8128000" cy="3629742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GET /api/presupuestos?empresaId=empresa1&amp;modulo=RH&amp;anio=2025&amp;capitulo=DEFAULT
  Que hace:  Trae los datos de presupuesto guardados para RH 2025
  Responde:  { datos: [...], estado: "cargado" }
GET /api/presupuestos/anios?empresaId=empresa1
  Que hace:  Lista los años disponibles en Firebird para esa empresa
  Responde:  { anios: [2023, 2024, 2025, 2026] }
GET /api/presupuestos/estado?empresaId=empresa1&amp;modulo=RH&amp;anio=2025
  Que hace:  Ver estado actual del presupuesto
  Responde:  { estado: "revisado", usuario: "JPEREZ", fecha: "2025-06-15" }
POST /api/presupuestos/estado
  Que hace:  Cambiar estado (ej: de "cargado" a "revisado")
  Envía:     { empresaId: "empresa1", modulo: "RH", anio: 2025,
               nuevoEstado: "revisado" }
GET /api/presupuestos/totales-capitulo?empresaId=empresa1&amp;modulo=RH&amp;anio=2025
  Que hace:  Totales resumidos por capitulo (CDMX, GDL, MTY, QRO)</a:t>
            </a:r>
            <a:endParaRPr lang="es-MX" sz="1100" dirty="0">
              <a:solidFill>
                <a:srgbClr val="111827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EAE201-45B8-4BAD-38EE-9C9DAC40992C}"/>
              </a:ext>
            </a:extLst>
          </p:cNvPr>
          <p:cNvSpPr txBox="1"/>
          <p:nvPr/>
        </p:nvSpPr>
        <p:spPr>
          <a:xfrm>
            <a:off x="508000" y="4980038"/>
            <a:ext cx="812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000" dirty="0">
                <a:solidFill>
                  <a:srgbClr val="111827"/>
                </a:solidFill>
                <a:latin typeface="Segoe UI" panose="020B0502040204020203" pitchFamily="34" charset="0"/>
              </a:rPr>
              <a:t>ARCHIVO: src/routes/presupuestos.js | Permisos: según modulo y empresa</a:t>
            </a:r>
            <a:endParaRPr lang="es-MX" sz="10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010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rPr dirty="0"/>
              <a:t>APIs: /api/</a:t>
            </a:r>
            <a:r>
              <a:rPr dirty="0" err="1"/>
              <a:t>presupuestos</a:t>
            </a:r>
            <a:r>
              <a:rPr dirty="0"/>
              <a:t> (</a:t>
            </a:r>
            <a:r>
              <a:rPr dirty="0" err="1"/>
              <a:t>guardar</a:t>
            </a:r>
            <a:r>
              <a:rPr dirty="0"/>
              <a:t> y </a:t>
            </a:r>
            <a:r>
              <a:rPr dirty="0" err="1"/>
              <a:t>consolidar</a:t>
            </a:r>
            <a:r>
              <a:rPr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1A812D6-B5C3-0DFE-3CDF-144AFCCA67AA}"/>
              </a:ext>
            </a:extLst>
          </p:cNvPr>
          <p:cNvSpPr/>
          <p:nvPr/>
        </p:nvSpPr>
        <p:spPr>
          <a:xfrm>
            <a:off x="508000" y="1081548"/>
            <a:ext cx="8128000" cy="395256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POST /api/presupuestos/guardar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Registra presupuesto guardado oficialmente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Envía: { empresaId, modulo, anio, datos: [...]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Guarda en SQLite (tabla </a:t>
            </a:r>
            <a:r>
              <a:rPr lang="es-ES" sz="1100" dirty="0" err="1">
                <a:solidFill>
                  <a:srgbClr val="111827"/>
                </a:solidFill>
                <a:latin typeface="Consolas" panose="020B0609020204030204" pitchFamily="49" charset="0"/>
              </a:rPr>
              <a:t>presupuestos_guardados</a:t>
            </a: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) como respaldo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ES" sz="1100" dirty="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POST /api/presupuestos/actualizar-consolidados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Actualiza cuentas de presupuesto consolidadas en Firebird (PRESUP[</a:t>
            </a:r>
            <a:r>
              <a:rPr lang="es-ES" sz="1100" dirty="0" err="1">
                <a:solidFill>
                  <a:srgbClr val="111827"/>
                </a:solidFill>
                <a:latin typeface="Consolas" panose="020B0609020204030204" pitchFamily="49" charset="0"/>
              </a:rPr>
              <a:t>yy</a:t>
            </a: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])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Envía: { anio, cuentas: [{ </a:t>
            </a:r>
            <a:r>
              <a:rPr lang="es-ES" sz="1100" dirty="0" err="1">
                <a:solidFill>
                  <a:srgbClr val="111827"/>
                </a:solidFill>
                <a:latin typeface="Consolas" panose="020B0609020204030204" pitchFamily="49" charset="0"/>
              </a:rPr>
              <a:t>numCta</a:t>
            </a: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, valores: { ene, feb, ..., dic } }]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Comportamiento especial: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  • Normaliza </a:t>
            </a:r>
            <a:r>
              <a:rPr lang="es-ES" sz="1100" dirty="0" err="1">
                <a:solidFill>
                  <a:srgbClr val="111827"/>
                </a:solidFill>
                <a:latin typeface="Consolas" panose="020B0609020204030204" pitchFamily="49" charset="0"/>
              </a:rPr>
              <a:t>numCta</a:t>
            </a: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a formato canónico de 21 caracteres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  • Actualiza cada mes individualmente en PRESUP[</a:t>
            </a:r>
            <a:r>
              <a:rPr lang="es-ES" sz="1100" dirty="0" err="1">
                <a:solidFill>
                  <a:srgbClr val="111827"/>
                </a:solidFill>
                <a:latin typeface="Consolas" panose="020B0609020204030204" pitchFamily="49" charset="0"/>
              </a:rPr>
              <a:t>yy</a:t>
            </a: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  • Recalcula cuentas PADRE (450-000-000-00 ingresos, 950-000-000-00 gastos)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  • Consolida desde cuentas detalle (450-001/002/003, 950-001/002/003)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ES" sz="1100" dirty="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GET /api/presupuestos/totales-capitulo?empresaId=EMPRESA01&amp;anio=2025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Totales directos de la tabla PRESUP en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  Responde: { empresaId, empresa, anio, totales: { </a:t>
            </a:r>
            <a:r>
              <a:rPr lang="es-ES" sz="1100" dirty="0" err="1">
                <a:solidFill>
                  <a:srgbClr val="111827"/>
                </a:solidFill>
                <a:latin typeface="Consolas" panose="020B0609020204030204" pitchFamily="49" charset="0"/>
              </a:rPr>
              <a:t>income</a:t>
            </a: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, expense }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ES" sz="1100" dirty="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ARCHIVO: src/routes/presupuestos.js (24KB)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Borradores (Draft System)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Flujo completo de Borradores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Los </a:t>
            </a:r>
            <a:r>
              <a:rPr dirty="0" err="1"/>
              <a:t>borradores</a:t>
            </a:r>
            <a:r>
              <a:rPr dirty="0"/>
              <a:t> </a:t>
            </a:r>
            <a:r>
              <a:rPr dirty="0" err="1"/>
              <a:t>manejan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vida</a:t>
            </a:r>
            <a:r>
              <a:rPr dirty="0"/>
              <a:t> del </a:t>
            </a:r>
            <a:r>
              <a:rPr dirty="0" err="1"/>
              <a:t>presupuesto</a:t>
            </a:r>
            <a:r>
              <a:rPr dirty="0"/>
              <a:t> antes de </a:t>
            </a:r>
            <a:r>
              <a:rPr dirty="0" err="1"/>
              <a:t>guardarse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COI: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MX"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MX"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MX"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MX"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MX"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MX"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lang="es-MX"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POST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guardar</a:t>
            </a:r>
            <a:r>
              <a:rPr dirty="0"/>
              <a:t>    → Crea o </a:t>
            </a:r>
            <a:r>
              <a:rPr dirty="0" err="1"/>
              <a:t>actualiza</a:t>
            </a:r>
            <a:r>
              <a:rPr dirty="0"/>
              <a:t> </a:t>
            </a:r>
            <a:r>
              <a:rPr dirty="0" err="1"/>
              <a:t>borrador</a:t>
            </a:r>
            <a:r>
              <a:rPr dirty="0"/>
              <a:t> (</a:t>
            </a:r>
            <a:r>
              <a:rPr dirty="0" err="1"/>
              <a:t>autoguardado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POST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enviar</a:t>
            </a:r>
            <a:r>
              <a:rPr dirty="0"/>
              <a:t>     → EDITANDO → PENDIENTE (</a:t>
            </a:r>
            <a:r>
              <a:rPr dirty="0" err="1"/>
              <a:t>si</a:t>
            </a:r>
            <a:r>
              <a:rPr dirty="0"/>
              <a:t> admin: auto-</a:t>
            </a:r>
            <a:r>
              <a:rPr dirty="0" err="1"/>
              <a:t>aprueba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POST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revisar</a:t>
            </a:r>
            <a:r>
              <a:rPr dirty="0"/>
              <a:t>    → EDITANDO → REVISADO (o </a:t>
            </a:r>
            <a:r>
              <a:rPr dirty="0" err="1"/>
              <a:t>cancelar</a:t>
            </a:r>
            <a:r>
              <a:rPr dirty="0"/>
              <a:t>: PENDIENTE → EDITANDO)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POST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autorizar</a:t>
            </a:r>
            <a:r>
              <a:rPr dirty="0"/>
              <a:t>  → PENDIENTE → APROBADO (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permiso</a:t>
            </a:r>
            <a:r>
              <a:rPr dirty="0"/>
              <a:t> '</a:t>
            </a:r>
            <a:r>
              <a:rPr dirty="0" err="1"/>
              <a:t>Aprobar</a:t>
            </a:r>
            <a:r>
              <a:rPr dirty="0"/>
              <a:t>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POST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rechazar</a:t>
            </a:r>
            <a:r>
              <a:rPr dirty="0"/>
              <a:t>   →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→ RECHAZADO (con </a:t>
            </a:r>
            <a:r>
              <a:rPr dirty="0" err="1"/>
              <a:t>motivo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POST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finalizar</a:t>
            </a:r>
            <a:r>
              <a:rPr dirty="0"/>
              <a:t>  → APROBADO → GUARDADO (escribe </a:t>
            </a:r>
            <a:r>
              <a:rPr dirty="0" err="1"/>
              <a:t>en</a:t>
            </a:r>
            <a:r>
              <a:rPr dirty="0"/>
              <a:t> Firebird COI)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POST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descartar</a:t>
            </a:r>
            <a:r>
              <a:rPr dirty="0"/>
              <a:t>  → </a:t>
            </a:r>
            <a:r>
              <a:rPr dirty="0" err="1"/>
              <a:t>Elimina</a:t>
            </a:r>
            <a:r>
              <a:rPr dirty="0"/>
              <a:t> </a:t>
            </a:r>
            <a:r>
              <a:rPr dirty="0" err="1"/>
              <a:t>borrador</a:t>
            </a:r>
            <a:r>
              <a:rPr dirty="0"/>
              <a:t> </a:t>
            </a:r>
            <a:r>
              <a:rPr dirty="0" err="1"/>
              <a:t>completamente</a:t>
            </a:r>
            <a:r>
              <a:rPr dirty="0"/>
              <a:t> (hard delete)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GET 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listar</a:t>
            </a:r>
            <a:r>
              <a:rPr dirty="0"/>
              <a:t>     → Lista </a:t>
            </a:r>
            <a:r>
              <a:rPr dirty="0" err="1"/>
              <a:t>borradores</a:t>
            </a:r>
            <a:r>
              <a:rPr dirty="0"/>
              <a:t> (</a:t>
            </a:r>
            <a:r>
              <a:rPr dirty="0" err="1"/>
              <a:t>filtrado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permisos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GET 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estado</a:t>
            </a:r>
            <a:r>
              <a:rPr dirty="0"/>
              <a:t>     → Estado actual + </a:t>
            </a:r>
            <a:r>
              <a:rPr dirty="0" err="1"/>
              <a:t>progreso</a:t>
            </a:r>
            <a:r>
              <a:rPr dirty="0"/>
              <a:t> </a:t>
            </a:r>
            <a:r>
              <a:rPr dirty="0" err="1"/>
              <a:t>recontabilización</a:t>
            </a: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GET 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historial</a:t>
            </a:r>
            <a:r>
              <a:rPr dirty="0"/>
              <a:t>  → </a:t>
            </a:r>
            <a:r>
              <a:rPr dirty="0" err="1"/>
              <a:t>Historial</a:t>
            </a:r>
            <a:r>
              <a:rPr dirty="0"/>
              <a:t> con </a:t>
            </a:r>
            <a:r>
              <a:rPr dirty="0" err="1"/>
              <a:t>filtros</a:t>
            </a:r>
            <a:r>
              <a:rPr dirty="0"/>
              <a:t> (</a:t>
            </a:r>
            <a:r>
              <a:rPr dirty="0" err="1"/>
              <a:t>fecha</a:t>
            </a:r>
            <a:r>
              <a:rPr dirty="0"/>
              <a:t>, </a:t>
            </a:r>
            <a:r>
              <a:rPr dirty="0" err="1"/>
              <a:t>estado</a:t>
            </a:r>
            <a:r>
              <a:rPr dirty="0"/>
              <a:t>, </a:t>
            </a:r>
            <a:r>
              <a:rPr dirty="0" err="1"/>
              <a:t>acción</a:t>
            </a:r>
            <a:r>
              <a:rPr dirty="0"/>
              <a:t>, </a:t>
            </a:r>
            <a:r>
              <a:rPr dirty="0" err="1"/>
              <a:t>usuario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rPr dirty="0"/>
              <a:t>GET  /api/</a:t>
            </a:r>
            <a:r>
              <a:rPr dirty="0" err="1"/>
              <a:t>borradores</a:t>
            </a:r>
            <a:r>
              <a:rPr dirty="0"/>
              <a:t>/</a:t>
            </a:r>
            <a:r>
              <a:rPr dirty="0" err="1"/>
              <a:t>detalle</a:t>
            </a:r>
            <a:r>
              <a:rPr dirty="0"/>
              <a:t>/:id → Datos </a:t>
            </a:r>
            <a:r>
              <a:rPr dirty="0" err="1"/>
              <a:t>completos</a:t>
            </a:r>
            <a:r>
              <a:rPr dirty="0"/>
              <a:t> del </a:t>
            </a:r>
            <a:r>
              <a:rPr dirty="0" err="1"/>
              <a:t>borrador</a:t>
            </a:r>
            <a:endParaRPr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5F4187F2-5CEA-5D3B-4003-675E270DD2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2962253"/>
              </p:ext>
            </p:extLst>
          </p:nvPr>
        </p:nvGraphicFramePr>
        <p:xfrm>
          <a:off x="1524000" y="1376680"/>
          <a:ext cx="6096000" cy="1435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255798F-D255-56F3-7AB1-2A66AB4DC514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pt-BR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APIs reales: Borradores (/api/borradores)</a:t>
            </a:r>
            <a:endParaRPr lang="es-MX" sz="2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E2A815C-8D83-B094-53CC-7C79D88CBB03}"/>
              </a:ext>
            </a:extLst>
          </p:cNvPr>
          <p:cNvSpPr txBox="1"/>
          <p:nvPr/>
        </p:nvSpPr>
        <p:spPr>
          <a:xfrm>
            <a:off x="508000" y="863600"/>
            <a:ext cx="812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 dirty="0">
                <a:solidFill>
                  <a:srgbClr val="111827"/>
                </a:solidFill>
                <a:latin typeface="Segoe UI" panose="020B0502040204020203" pitchFamily="34" charset="0"/>
              </a:rPr>
              <a:t>Los borradores guardan automáticamente el trabajo del usuario:</a:t>
            </a:r>
            <a:endParaRPr lang="es-MX" sz="12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1322E2F-A8B7-A531-7CE4-9078A4C699B9}"/>
              </a:ext>
            </a:extLst>
          </p:cNvPr>
          <p:cNvSpPr/>
          <p:nvPr/>
        </p:nvSpPr>
        <p:spPr>
          <a:xfrm>
            <a:off x="508000" y="1140599"/>
            <a:ext cx="8128000" cy="4066401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POST /api/borradores/guardar
  Que hace:  Guarda automáticamente mientras el usuario escribe (autoguardado)
  Envía:     { empresaId: "empresa1", modulo: "RH", anio: 2025,
               capitulo: "DEFAULT", datos: [...] }
  Nota:      Se ejecuta automáticamente cada poco segundo
GET /api/borradores/listar?empresaId=empresa1&amp;modulo=RH&amp;anio=2025
  Que hace:  Lista todos los borradores guardados para ese modulo
  Responde:  [{ id: 12, fecha: "2025-06-15 10:30", estado: "borrador" }]
POST /api/borradores/enviar
  Que hace:  Marca el borrador como "enviado" (listo para revisión)
POST /api/borradores/revisar
  Que hace:  Un supervisor marca como "revisado"
POST /api/borradores/autorizar
  Que hace:  Un director da su aprobación final
POST /api/borradores/rechazar
  Que hace:  Regresa el borrador al estado anterior con comentarios
POST /api/borradores/recontabilizar
  Que hace:  Recalcula los saldos desde Firebird (refresca datos reales)</a:t>
            </a:r>
            <a:endParaRPr lang="es-MX" sz="1100" dirty="0">
              <a:solidFill>
                <a:srgbClr val="111827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5DC5F4-AB90-2742-6B40-9E3D82E63C71}"/>
              </a:ext>
            </a:extLst>
          </p:cNvPr>
          <p:cNvSpPr txBox="1"/>
          <p:nvPr/>
        </p:nvSpPr>
        <p:spPr>
          <a:xfrm>
            <a:off x="508000" y="5207000"/>
            <a:ext cx="812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BR" sz="1000" dirty="0">
                <a:solidFill>
                  <a:srgbClr val="111827"/>
                </a:solidFill>
                <a:latin typeface="Segoe UI" panose="020B0502040204020203" pitchFamily="34" charset="0"/>
              </a:rPr>
              <a:t>ARCHIVO: src/routes/borradores.js | FLUJO: borrador &gt; enviado &gt; revisado &gt; autorizado</a:t>
            </a:r>
            <a:endParaRPr lang="es-MX" sz="10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79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Usuarios y Perfil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5552E52-F8BC-6542-AB79-29B35F79F50B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ES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Usuarios (/api/usuarios)</a:t>
            </a:r>
            <a:endParaRPr lang="es-MX" sz="2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ADAA03-6638-60DD-005D-EB78CF399E63}"/>
              </a:ext>
            </a:extLst>
          </p:cNvPr>
          <p:cNvSpPr/>
          <p:nvPr/>
        </p:nvSpPr>
        <p:spPr>
          <a:xfrm>
            <a:off x="508000" y="772160"/>
            <a:ext cx="8128000" cy="44704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77800" tIns="127000" rIns="177800" rtlCol="0" anchor="ctr"/>
          <a:lstStyle/>
          <a:p>
            <a:r>
              <a:rPr lang="es-ES" sz="1100" dirty="0">
                <a:solidFill>
                  <a:srgbClr val="111827"/>
                </a:solidFill>
                <a:latin typeface="Consolas" panose="020B0609020204030204" pitchFamily="49" charset="0"/>
              </a:rPr>
              <a:t>GET /api/usuarios
  Que hace:  Lista todos los usuarios del sistema
  Responde:  [{ id: 1, usuario: "ICONET", nombre: "Admin", esAdmin: true },
              { id: 5, usuario: "JPEREZ", nombre: "Juan Pérez", esAdmin: false }]
GET /api/usuarios/5
  Que hace:  Datos de un usuario especifico (por id)
  Responde:  { id: 5, usuario: "JPEREZ", nombres: "Juan Carlos", ... }
POST /api/usuarios
  Que hace:  Crear un usuario nuevo (requiere permiso puede_agregar)
  Envía:     { usuario: "MLOPEZ", nombres: "Maria", contraseña: "Segura123",
               correo: "maria@empresa.com", es_admin_global: 0 }
PUT /api/usuarios/5
  Que hace:  Editar un usuario existente (requiere permiso puede_modificar)
  Envía:     { nombres: "Juan Carlos", correo: "nuevo@empresa.com" }
DELETE /api/usuarios/5
  Que hace:  Eliminar un usuario (requiere permiso puede_eliminar)
  Nota:      También elimina todos sus permisos (CASCADE)
POST /api/usuarios/5/permisos
  Que hace:  Asignar permisos a un usuario
  Envía:     { empresa_id: "empresa1", modulo: "RH",
               puede_leer: 1, puede_cargar_guardar: 1, puede_revisar: 0 }</a:t>
            </a:r>
            <a:endParaRPr lang="es-MX" sz="1100" dirty="0">
              <a:solidFill>
                <a:srgbClr val="111827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C6998E-5F1C-3C3D-C49A-68D262E205E5}"/>
              </a:ext>
            </a:extLst>
          </p:cNvPr>
          <p:cNvSpPr txBox="1"/>
          <p:nvPr/>
        </p:nvSpPr>
        <p:spPr>
          <a:xfrm>
            <a:off x="508000" y="5334000"/>
            <a:ext cx="812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000" dirty="0">
                <a:solidFill>
                  <a:srgbClr val="111827"/>
                </a:solidFill>
                <a:latin typeface="Segoe UI" panose="020B0502040204020203" pitchFamily="34" charset="0"/>
              </a:rPr>
              <a:t>ARCHIVO: src/routes/usuarios.js | REQUIERE: ser admin o tener permisos generales</a:t>
            </a:r>
            <a:endParaRPr lang="es-MX" sz="10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4001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 de Plantillas (Layouts)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/api/layouts-config (cargar y guardar)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BASE: /api/layouts-config    ARCHIVO: src/routes/layoutRoutes.js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CARGAR: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/.../RESUMEN/2025/DEFAULT          → Layout completo (cuentas + operaciones)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/.../RESUMEN/anios                  → Qué años existen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/.../RESUMEN/2025/capitulos         → Qué capítulos hay (CDMX, GDL,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/.../RESUMEN/2025/estadisticas      → Cuántas cuentas y operaciones tiene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/.../RESUMEN/2025/existe            → Verificar si ya existe este layout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GUARDAR (2 llamadas separadas para cuentas y operaciones):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/.../RESUMEN/2025/DEFAULT/cuentas   → Guardar todas las 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Body: { empresaId, cuentas: [{ CUENTA, NOMBRE, CAPITULO,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'SECCION Principal', 'SECCION Secundaria',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operacion_factor, orden_presentacion, visible }]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/.../RESUMEN/2025/operaciones       → Guardar todas las operaciones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Body: { empresaId, capitulo, operaciones: [{ Clase, SECCION,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'sum-row', 'result-row', 'net-row', formula_terms,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        signos, orden_presentacion, visible }]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NOTA: El guardado es TRANSACCIONAL → todo o nada (SQLite transaction)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/api/layouts-config (edición y administración)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EDICIÓN INDIVIDUAL: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  /.../RESUMEN/2025/DEFAULT/cuenta/4100    → Editar cuenta 4100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 /.../RESUMEN/2025/DEFAULT/cuenta/4100    → Eliminar cuenta 4100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  /.../RESUMEN/2025/operacion/TOTAL_INCOME → Editar una operación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 /.../RESUMEN/2025/operacion/TOTAL_INCOME → Eliminar una operación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ADMINISTRACIÓN: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  /.../RESUMEN/copiar                      → Copiar layout de otro año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Body: { origen: 2024, destino: 2025 }  (transaccional, borra destino primero)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  /.../RESUMEN/2025/DEFAULT/reordenar      → Cambiar orden de filas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 Body: [{ cuenta: '4100', orden_presentacion: 10 }, ...]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 /.../RESUMEN/2025                         → Eliminar layout completo del año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 /.../RESUMEN/2025/DEFAULT                 → Eliminar solo un capítulo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  /.../RESUMEN/2025/DEFAULT/bitacora        → Ver registro de cambios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SECCIONES: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  /.../seccion/crear       → Crear nueva sección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  /.../seccion/renombrar   → Renombrar (actualiza cuentas y secciones en cascada)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INSERCIÓN (/api/insercion):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/api/insercion/agregar-fila    → Agregar fila con validación anti-duplicados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/api/insercion/agregar-seccion → Agregar sección con validación jerárquica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APIs: Saldos, Módulos, Notificaciones y más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APIs: Saldos, Módulos, Config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SALDOS (/api/saldos):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/api/saldos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Saldos de cuentas desde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Params: anio, empresaId, 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Resp: 12 meses de cargo/abono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/api/saldos/anios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Años disponibles en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/api/saldos/cuentas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Cuentas por año (filtrable)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/api/saldos/catalogo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Catálogo completo de 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MÓDULOS (/api/modulos):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/api/modulos → Listar todos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/api/modulos/:id → Detalle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/api/modulos/summary-resumen-e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Detalle con comparación presupuesto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/api/modulos/summary-anios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Años desde tablas SALDOS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NOTIFICACIONES (/api/notificaciones):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  → Lista alertas (límite 20)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PATCH /limpiar → Marcar todas leídas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PATCH /:id/leida → Marcar una leída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COMENTARIOS (/api/comentarios):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CRUD para comentarios en celdas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 presupuesto (por celda_id)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GRÁFICAS (/api/graficas-config):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 → Cargar config guardada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 → Guardar config (admin)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FIREBIRD CONFIG: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 / → Ver config actual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/base → Cambiar host/puerto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PUT  /empresa/:id → Cambiar ruta BD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/probar/:id → Test conexión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EMPRESAS (/api/empresas):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 / → Lista de empresas disponibles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Mapa completo de TODAS las APIs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480FBB1-6509-7F98-3EC4-2A3AF3D66513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ES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Mapa completo de TODAS las APIs</a:t>
            </a:r>
            <a:endParaRPr lang="es-MX" sz="2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36551D-4A97-DAC7-6A22-5BECF8F7F5F1}"/>
              </a:ext>
            </a:extLst>
          </p:cNvPr>
          <p:cNvSpPr txBox="1"/>
          <p:nvPr/>
        </p:nvSpPr>
        <p:spPr>
          <a:xfrm>
            <a:off x="406400" y="876300"/>
            <a:ext cx="336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dirty="0">
                <a:solidFill>
                  <a:srgbClr val="6B7280"/>
                </a:solidFill>
                <a:latin typeface="Segoe UI" panose="020B0502040204020203" pitchFamily="34" charset="0"/>
              </a:rPr>
              <a:t>AUTENTICACION Y USUARIOS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617AEB6-35DB-48C3-D396-409F00B38CA3}"/>
              </a:ext>
            </a:extLst>
          </p:cNvPr>
          <p:cNvSpPr/>
          <p:nvPr/>
        </p:nvSpPr>
        <p:spPr>
          <a:xfrm>
            <a:off x="406400" y="1122680"/>
            <a:ext cx="2700000" cy="3048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 /api/auth/login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AB3BF1B-19B3-B334-A7A2-77988017D528}"/>
              </a:ext>
            </a:extLst>
          </p:cNvPr>
          <p:cNvSpPr/>
          <p:nvPr/>
        </p:nvSpPr>
        <p:spPr>
          <a:xfrm>
            <a:off x="406400" y="1478280"/>
            <a:ext cx="2700000" cy="3048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 /api/auth/refresh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CBE1291-E545-FAF0-CEF9-0593C1DBD2E7}"/>
              </a:ext>
            </a:extLst>
          </p:cNvPr>
          <p:cNvSpPr/>
          <p:nvPr/>
        </p:nvSpPr>
        <p:spPr>
          <a:xfrm>
            <a:off x="406400" y="1833880"/>
            <a:ext cx="2700000" cy="3048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 /api/auth/logout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93453D2-2F2C-25C0-3485-CC396D391B2B}"/>
              </a:ext>
            </a:extLst>
          </p:cNvPr>
          <p:cNvSpPr/>
          <p:nvPr/>
        </p:nvSpPr>
        <p:spPr>
          <a:xfrm>
            <a:off x="406400" y="2189480"/>
            <a:ext cx="2700000" cy="3048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GET|POST|PUT|DEL /api/usuarios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F7A5745-B1EF-4524-3440-FC0BC61C18BE}"/>
              </a:ext>
            </a:extLst>
          </p:cNvPr>
          <p:cNvSpPr/>
          <p:nvPr/>
        </p:nvSpPr>
        <p:spPr>
          <a:xfrm>
            <a:off x="406400" y="2545080"/>
            <a:ext cx="2700000" cy="3048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  /api/empresas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578AE7D-5F23-8925-ED61-0D49AACDFBA3}"/>
              </a:ext>
            </a:extLst>
          </p:cNvPr>
          <p:cNvSpPr txBox="1"/>
          <p:nvPr/>
        </p:nvSpPr>
        <p:spPr>
          <a:xfrm>
            <a:off x="406400" y="2971800"/>
            <a:ext cx="270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dirty="0">
                <a:solidFill>
                  <a:srgbClr val="6B7280"/>
                </a:solidFill>
                <a:latin typeface="Segoe UI" panose="020B0502040204020203" pitchFamily="34" charset="0"/>
              </a:rPr>
              <a:t>REPORTES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9DF78EF-EFA5-3FE2-DF1D-EB712220FAA1}"/>
              </a:ext>
            </a:extLst>
          </p:cNvPr>
          <p:cNvSpPr/>
          <p:nvPr/>
        </p:nvSpPr>
        <p:spPr>
          <a:xfrm>
            <a:off x="406400" y="3241040"/>
            <a:ext cx="2700000" cy="3048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  /api/reportes/summary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B9BD83F-E7CA-D27D-9E7E-B4B35AB00EE4}"/>
              </a:ext>
            </a:extLst>
          </p:cNvPr>
          <p:cNvSpPr/>
          <p:nvPr/>
        </p:nvSpPr>
        <p:spPr>
          <a:xfrm>
            <a:off x="406400" y="3596640"/>
            <a:ext cx="2700000" cy="3048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  /api/reportes/resumen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C36871-664C-BF69-615E-FDA6F71DB817}"/>
              </a:ext>
            </a:extLst>
          </p:cNvPr>
          <p:cNvSpPr/>
          <p:nvPr/>
        </p:nvSpPr>
        <p:spPr>
          <a:xfrm>
            <a:off x="406400" y="3952240"/>
            <a:ext cx="2700000" cy="3048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  /api/saldos/:empresaId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57A812B-5256-67EE-35E4-7863D9BB1C87}"/>
              </a:ext>
            </a:extLst>
          </p:cNvPr>
          <p:cNvSpPr txBox="1"/>
          <p:nvPr/>
        </p:nvSpPr>
        <p:spPr>
          <a:xfrm>
            <a:off x="3248660" y="876300"/>
            <a:ext cx="336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dirty="0">
                <a:solidFill>
                  <a:srgbClr val="6B7280"/>
                </a:solidFill>
                <a:latin typeface="Segoe UI" panose="020B0502040204020203" pitchFamily="34" charset="0"/>
              </a:rPr>
              <a:t>PRESUPUESTOS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6E10799-111E-B060-21A1-0603353BC93F}"/>
              </a:ext>
            </a:extLst>
          </p:cNvPr>
          <p:cNvSpPr/>
          <p:nvPr/>
        </p:nvSpPr>
        <p:spPr>
          <a:xfrm>
            <a:off x="3248660" y="1122680"/>
            <a:ext cx="2700000" cy="3048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  /api/presupuestos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C4B9F22-0F95-B7E2-AAC0-B3F5B0A2A810}"/>
              </a:ext>
            </a:extLst>
          </p:cNvPr>
          <p:cNvSpPr/>
          <p:nvPr/>
        </p:nvSpPr>
        <p:spPr>
          <a:xfrm>
            <a:off x="3248660" y="1478280"/>
            <a:ext cx="2700000" cy="3048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/api/presupuestos/guardar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8FFE952-EEF1-9FA2-26D3-4A97100B6153}"/>
              </a:ext>
            </a:extLst>
          </p:cNvPr>
          <p:cNvSpPr/>
          <p:nvPr/>
        </p:nvSpPr>
        <p:spPr>
          <a:xfrm>
            <a:off x="3248660" y="1833880"/>
            <a:ext cx="2700000" cy="3048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GET|POST /api/presupuestos/estado</a:t>
            </a:r>
            <a:endParaRPr lang="es-MX" sz="10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14D26FC-5F65-A5E7-8458-94838BC8CCC1}"/>
              </a:ext>
            </a:extLst>
          </p:cNvPr>
          <p:cNvSpPr txBox="1"/>
          <p:nvPr/>
        </p:nvSpPr>
        <p:spPr>
          <a:xfrm>
            <a:off x="3248660" y="2260600"/>
            <a:ext cx="270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dirty="0">
                <a:solidFill>
                  <a:srgbClr val="6B7280"/>
                </a:solidFill>
                <a:latin typeface="Segoe UI" panose="020B0502040204020203" pitchFamily="34" charset="0"/>
              </a:rPr>
              <a:t>BORRADORES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89B9FC5E-C2F4-43A6-7769-24F7235B4FE3}"/>
              </a:ext>
            </a:extLst>
          </p:cNvPr>
          <p:cNvSpPr/>
          <p:nvPr/>
        </p:nvSpPr>
        <p:spPr>
          <a:xfrm>
            <a:off x="3248660" y="2534920"/>
            <a:ext cx="2700000" cy="3048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/api/borradores/guardar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1428535-BCBB-DE88-6748-5CD6906C9522}"/>
              </a:ext>
            </a:extLst>
          </p:cNvPr>
          <p:cNvSpPr/>
          <p:nvPr/>
        </p:nvSpPr>
        <p:spPr>
          <a:xfrm>
            <a:off x="3248660" y="2890520"/>
            <a:ext cx="2700000" cy="3048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/api/borradores/enviar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ED19B35-532F-F5D5-9434-C595BBA13973}"/>
              </a:ext>
            </a:extLst>
          </p:cNvPr>
          <p:cNvSpPr/>
          <p:nvPr/>
        </p:nvSpPr>
        <p:spPr>
          <a:xfrm>
            <a:off x="3248660" y="3246120"/>
            <a:ext cx="2700000" cy="3048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/api/borradores/revisar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A70252F-7F22-508E-FF3B-13F98056B9E0}"/>
              </a:ext>
            </a:extLst>
          </p:cNvPr>
          <p:cNvSpPr/>
          <p:nvPr/>
        </p:nvSpPr>
        <p:spPr>
          <a:xfrm>
            <a:off x="3248660" y="3601720"/>
            <a:ext cx="2700000" cy="3048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/api/borradores/autorizar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C12E391-5878-DE2A-F071-A780AB17F802}"/>
              </a:ext>
            </a:extLst>
          </p:cNvPr>
          <p:cNvSpPr/>
          <p:nvPr/>
        </p:nvSpPr>
        <p:spPr>
          <a:xfrm>
            <a:off x="3248660" y="3957320"/>
            <a:ext cx="2700000" cy="3048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/api/borradores/recontabilizar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9119934-F9BE-76A2-44EA-00B2476989F6}"/>
              </a:ext>
            </a:extLst>
          </p:cNvPr>
          <p:cNvSpPr txBox="1"/>
          <p:nvPr/>
        </p:nvSpPr>
        <p:spPr>
          <a:xfrm>
            <a:off x="6090920" y="876300"/>
            <a:ext cx="3365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dirty="0">
                <a:solidFill>
                  <a:srgbClr val="6B7280"/>
                </a:solidFill>
                <a:latin typeface="Segoe UI" panose="020B0502040204020203" pitchFamily="34" charset="0"/>
              </a:rPr>
              <a:t>PLANTILLAS (LAYOUTS)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62F23BD-1758-CBD8-5EC8-A5564FCAEA92}"/>
              </a:ext>
            </a:extLst>
          </p:cNvPr>
          <p:cNvSpPr/>
          <p:nvPr/>
        </p:nvSpPr>
        <p:spPr>
          <a:xfrm>
            <a:off x="6090920" y="1122680"/>
            <a:ext cx="2700000" cy="3048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GET|POST /api/layouts-config/...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BD07D5D-4613-28EB-CC22-020D520667DE}"/>
              </a:ext>
            </a:extLst>
          </p:cNvPr>
          <p:cNvSpPr/>
          <p:nvPr/>
        </p:nvSpPr>
        <p:spPr>
          <a:xfrm>
            <a:off x="6090920" y="1478280"/>
            <a:ext cx="2700000" cy="3048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PUT|DEL  /api/layouts-config/...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B6A4BDE8-2BA2-E6AE-972E-E356360DD091}"/>
              </a:ext>
            </a:extLst>
          </p:cNvPr>
          <p:cNvSpPr/>
          <p:nvPr/>
        </p:nvSpPr>
        <p:spPr>
          <a:xfrm>
            <a:off x="6090920" y="1833880"/>
            <a:ext cx="2700000" cy="3048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POST /api/insercion/...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AC85F48-07C3-DE0A-1DDF-DE19B454DD63}"/>
              </a:ext>
            </a:extLst>
          </p:cNvPr>
          <p:cNvSpPr txBox="1"/>
          <p:nvPr/>
        </p:nvSpPr>
        <p:spPr>
          <a:xfrm>
            <a:off x="6090920" y="2260600"/>
            <a:ext cx="270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 dirty="0">
                <a:solidFill>
                  <a:srgbClr val="6B7280"/>
                </a:solidFill>
                <a:latin typeface="Segoe UI" panose="020B0502040204020203" pitchFamily="34" charset="0"/>
              </a:rPr>
              <a:t>GRÁFICAS Y CONFIG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B68E08B-0B5C-913B-5A62-64B0FFB48E28}"/>
              </a:ext>
            </a:extLst>
          </p:cNvPr>
          <p:cNvSpPr/>
          <p:nvPr/>
        </p:nvSpPr>
        <p:spPr>
          <a:xfrm>
            <a:off x="6090920" y="2534920"/>
            <a:ext cx="2700000" cy="304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GET|POST /api/graficas-config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375C449-925D-DE9B-85E8-CD0AD166E750}"/>
              </a:ext>
            </a:extLst>
          </p:cNvPr>
          <p:cNvSpPr/>
          <p:nvPr/>
        </p:nvSpPr>
        <p:spPr>
          <a:xfrm>
            <a:off x="6090920" y="2890520"/>
            <a:ext cx="2700000" cy="304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GET|PUT  /api/firebird-config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CC5534D7-77F2-0861-9703-DAC77FA2BBB4}"/>
              </a:ext>
            </a:extLst>
          </p:cNvPr>
          <p:cNvSpPr/>
          <p:nvPr/>
        </p:nvSpPr>
        <p:spPr>
          <a:xfrm>
            <a:off x="6090920" y="3246120"/>
            <a:ext cx="2700000" cy="304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GET|POST /api/backups/...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A1A4D09A-A05B-88FC-8D2A-232893396D3D}"/>
              </a:ext>
            </a:extLst>
          </p:cNvPr>
          <p:cNvSpPr/>
          <p:nvPr/>
        </p:nvSpPr>
        <p:spPr>
          <a:xfrm>
            <a:off x="6090920" y="3601720"/>
            <a:ext cx="2700000" cy="304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GET|POST /api/notificaciones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33961153-CBAC-E56B-D9A2-1C5643B0770B}"/>
              </a:ext>
            </a:extLst>
          </p:cNvPr>
          <p:cNvSpPr/>
          <p:nvPr/>
        </p:nvSpPr>
        <p:spPr>
          <a:xfrm>
            <a:off x="6090920" y="3957320"/>
            <a:ext cx="2700000" cy="304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GET|PUT  /api/perfil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E6EC8B6-8F24-A06D-1FC3-A5F3BCD5567C}"/>
              </a:ext>
            </a:extLst>
          </p:cNvPr>
          <p:cNvSpPr txBox="1"/>
          <p:nvPr/>
        </p:nvSpPr>
        <p:spPr>
          <a:xfrm>
            <a:off x="508000" y="5334000"/>
            <a:ext cx="812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000" dirty="0">
                <a:solidFill>
                  <a:srgbClr val="111827"/>
                </a:solidFill>
                <a:latin typeface="Segoe UI" panose="020B0502040204020203" pitchFamily="34" charset="0"/>
              </a:rPr>
              <a:t>Todas las rutas se registran en src/server.js y se definen en src/routes/*.js</a:t>
            </a:r>
            <a:endParaRPr lang="es-MX" sz="10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476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Firebird: De dónde salen los números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Conexión a Firebird (Aspel COI)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Firebird es la base de datos del sistema contable Aspel COI.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SummaCham se CONECTA a Firebird para LEER los datos reales.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CONFIGURACIÓN DE CONEXIÓN (src/services/firebirdService.js):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host: IP del servidor (localhost o remoto)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port: 3050 (default Firebird)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database: ruta al archivo .fdb de cada empresa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user/password: credenciales del servidor Firebird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DETECCIÓN AUTOMÁTICA LOCAL vs REMOTA: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LOCAL  → host = localhost/127.0.0.1, timeout 3s, 0 reintentos, query timeout 10s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REMOTA → cualquier otro host, timeout 120s, 3 reintentos, query timeout 120s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TABLAS POR AÑO (Firebird tiene tablas separadas por año fiscal):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2024: CUENTAS24, SALDOS24, PRESUP24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2025: CUENTAS25, SALDOS25, PRESUP25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2026: CUENTAS26, SALDOS26, PRESUP26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PERFORMANCE: Queries lentas (&gt;2s) se loguean automáticamente con duración y filas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src/services/firebirdService.js → ejecutarConsulta(empresaId, sql, params)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2183573-72F1-A357-E371-F8894E4FCA60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01600" rtlCol="0" anchor="ctr"/>
          <a:lstStyle/>
          <a:p>
            <a:pPr algn="ctr"/>
            <a:r>
              <a:rPr lang="es-ES" sz="2400" b="1" dirty="0">
                <a:solidFill>
                  <a:srgbClr val="FFFFFF"/>
                </a:solidFill>
                <a:latin typeface="Segoe UI" panose="020B0502040204020203" pitchFamily="34" charset="0"/>
              </a:rPr>
              <a:t>  ¿De dónde salen los números?</a:t>
            </a:r>
            <a:endParaRPr lang="es-MX" sz="2400" b="1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460449-C66D-05E8-6A6F-45BED932D92A}"/>
              </a:ext>
            </a:extLst>
          </p:cNvPr>
          <p:cNvSpPr txBox="1"/>
          <p:nvPr/>
        </p:nvSpPr>
        <p:spPr>
          <a:xfrm>
            <a:off x="508000" y="77216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 dirty="0">
                <a:solidFill>
                  <a:srgbClr val="111827"/>
                </a:solidFill>
                <a:latin typeface="Segoe UI" panose="020B0502040204020203" pitchFamily="34" charset="0"/>
              </a:rPr>
              <a:t>Los números que ves en pantalla vienen de Firebird (Aspel COI):</a:t>
            </a:r>
            <a:endParaRPr lang="es-MX" sz="13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EB1556C-7B47-C080-66ED-8BEC87F11370}"/>
              </a:ext>
            </a:extLst>
          </p:cNvPr>
          <p:cNvSpPr/>
          <p:nvPr/>
        </p:nvSpPr>
        <p:spPr>
          <a:xfrm>
            <a:off x="571500" y="1178560"/>
            <a:ext cx="1905000" cy="508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 dirty="0">
                <a:solidFill>
                  <a:srgbClr val="FFFFFF"/>
                </a:solidFill>
                <a:latin typeface="Segoe UI" panose="020B0502040204020203" pitchFamily="34" charset="0"/>
              </a:rPr>
              <a:t>Firebird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50BAAF7-6230-6A16-BB9F-06D4E5538097}"/>
              </a:ext>
            </a:extLst>
          </p:cNvPr>
          <p:cNvSpPr txBox="1"/>
          <p:nvPr/>
        </p:nvSpPr>
        <p:spPr>
          <a:xfrm>
            <a:off x="571500" y="172466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900" dirty="0">
                <a:solidFill>
                  <a:srgbClr val="6B7280"/>
                </a:solidFill>
                <a:latin typeface="Segoe UI" panose="020B0502040204020203" pitchFamily="34" charset="0"/>
              </a:rPr>
              <a:t>Base de datos del sistema
contable (Aspel COI)</a:t>
            </a:r>
            <a:endParaRPr lang="es-MX" sz="900" dirty="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Cilindro 5">
            <a:extLst>
              <a:ext uri="{FF2B5EF4-FFF2-40B4-BE49-F238E27FC236}">
                <a16:creationId xmlns:a16="http://schemas.microsoft.com/office/drawing/2014/main" id="{E19C7057-4D66-0294-BDBD-03AA1379602E}"/>
              </a:ext>
            </a:extLst>
          </p:cNvPr>
          <p:cNvSpPr/>
          <p:nvPr/>
        </p:nvSpPr>
        <p:spPr>
          <a:xfrm>
            <a:off x="2603500" y="1305560"/>
            <a:ext cx="457200" cy="2286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B4C70EC-171A-3357-1F32-89052CFF3AB5}"/>
              </a:ext>
            </a:extLst>
          </p:cNvPr>
          <p:cNvSpPr/>
          <p:nvPr/>
        </p:nvSpPr>
        <p:spPr>
          <a:xfrm>
            <a:off x="3175000" y="1115060"/>
            <a:ext cx="1968500" cy="2794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CUENTAS25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C09B6C-0B36-314B-62D2-F6A211C1343D}"/>
              </a:ext>
            </a:extLst>
          </p:cNvPr>
          <p:cNvSpPr txBox="1"/>
          <p:nvPr/>
        </p:nvSpPr>
        <p:spPr>
          <a:xfrm>
            <a:off x="3175000" y="141986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900" dirty="0">
                <a:solidFill>
                  <a:srgbClr val="6B7280"/>
                </a:solidFill>
                <a:latin typeface="Segoe UI" panose="020B0502040204020203" pitchFamily="34" charset="0"/>
              </a:rPr>
              <a:t>Catalogo de cuentas del ano 2025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131BE4D-36FF-7E58-C4A2-6BD361D7A25C}"/>
              </a:ext>
            </a:extLst>
          </p:cNvPr>
          <p:cNvSpPr/>
          <p:nvPr/>
        </p:nvSpPr>
        <p:spPr>
          <a:xfrm>
            <a:off x="3175000" y="1686560"/>
            <a:ext cx="1968500" cy="279400"/>
          </a:xfrm>
          <a:prstGeom prst="roundRect">
            <a:avLst/>
          </a:prstGeom>
          <a:solidFill>
            <a:srgbClr val="E67E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SALDOS25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CA1AEA7-D798-C1E7-49FE-F0F6581F35E4}"/>
              </a:ext>
            </a:extLst>
          </p:cNvPr>
          <p:cNvSpPr txBox="1"/>
          <p:nvPr/>
        </p:nvSpPr>
        <p:spPr>
          <a:xfrm>
            <a:off x="3175000" y="1991360"/>
            <a:ext cx="279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900" dirty="0">
                <a:solidFill>
                  <a:srgbClr val="6B7280"/>
                </a:solidFill>
                <a:latin typeface="Segoe UI" panose="020B0502040204020203" pitchFamily="34" charset="0"/>
              </a:rPr>
              <a:t>Movimientos mensuales (cargos/abonos)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B23DDD2-F91A-6483-8D52-D9B25596EB89}"/>
              </a:ext>
            </a:extLst>
          </p:cNvPr>
          <p:cNvSpPr/>
          <p:nvPr/>
        </p:nvSpPr>
        <p:spPr>
          <a:xfrm>
            <a:off x="3175000" y="2258060"/>
            <a:ext cx="1968500" cy="279400"/>
          </a:xfrm>
          <a:prstGeom prst="roundRect">
            <a:avLst/>
          </a:prstGeom>
          <a:solidFill>
            <a:srgbClr val="2ECC7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rgbClr val="FFFFFF"/>
                </a:solidFill>
                <a:latin typeface="Segoe UI" panose="020B0502040204020203" pitchFamily="34" charset="0"/>
              </a:rPr>
              <a:t>PRESUP25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8AEDF55-BD96-637C-246E-EBEB8CD5E3F5}"/>
              </a:ext>
            </a:extLst>
          </p:cNvPr>
          <p:cNvSpPr txBox="1"/>
          <p:nvPr/>
        </p:nvSpPr>
        <p:spPr>
          <a:xfrm>
            <a:off x="3175000" y="256286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900" dirty="0">
                <a:solidFill>
                  <a:srgbClr val="6B7280"/>
                </a:solidFill>
                <a:latin typeface="Segoe UI" panose="020B0502040204020203" pitchFamily="34" charset="0"/>
              </a:rPr>
              <a:t>Presupuestos por mes</a:t>
            </a:r>
          </a:p>
        </p:txBody>
      </p:sp>
      <p:sp>
        <p:nvSpPr>
          <p:cNvPr id="13" name="Cilindro 12">
            <a:extLst>
              <a:ext uri="{FF2B5EF4-FFF2-40B4-BE49-F238E27FC236}">
                <a16:creationId xmlns:a16="http://schemas.microsoft.com/office/drawing/2014/main" id="{30ABCF7E-2B32-BAB4-1900-1BE265BA356E}"/>
              </a:ext>
            </a:extLst>
          </p:cNvPr>
          <p:cNvSpPr/>
          <p:nvPr/>
        </p:nvSpPr>
        <p:spPr>
          <a:xfrm>
            <a:off x="5270500" y="1559560"/>
            <a:ext cx="457200" cy="228600"/>
          </a:xfrm>
          <a:prstGeom prst="can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9BFDA42-A374-B3C9-15C6-5CBE7BD85B89}"/>
              </a:ext>
            </a:extLst>
          </p:cNvPr>
          <p:cNvSpPr/>
          <p:nvPr/>
        </p:nvSpPr>
        <p:spPr>
          <a:xfrm>
            <a:off x="5842000" y="1242060"/>
            <a:ext cx="1905000" cy="635000"/>
          </a:xfrm>
          <a:prstGeom prst="roundRect">
            <a:avLst/>
          </a:prstGeom>
          <a:solidFill>
            <a:srgbClr val="0D47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b="1" dirty="0">
                <a:solidFill>
                  <a:srgbClr val="FFFFFF"/>
                </a:solidFill>
                <a:latin typeface="Segoe UI" panose="020B0502040204020203" pitchFamily="34" charset="0"/>
              </a:rPr>
              <a:t>SummaCham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6251BE3-0A5F-7CBE-A53E-07D198EA77DB}"/>
              </a:ext>
            </a:extLst>
          </p:cNvPr>
          <p:cNvSpPr txBox="1"/>
          <p:nvPr/>
        </p:nvSpPr>
        <p:spPr>
          <a:xfrm>
            <a:off x="5842000" y="191516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900" dirty="0">
                <a:solidFill>
                  <a:srgbClr val="6B7280"/>
                </a:solidFill>
                <a:latin typeface="Segoe UI" panose="020B0502040204020203" pitchFamily="34" charset="0"/>
              </a:rPr>
              <a:t>Lee, calcula y
muestra los datos</a:t>
            </a:r>
            <a:endParaRPr lang="es-MX" sz="900" dirty="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EF45C10-96AF-7BD2-1DDD-378CEBCBCEAD}"/>
              </a:ext>
            </a:extLst>
          </p:cNvPr>
          <p:cNvSpPr/>
          <p:nvPr/>
        </p:nvSpPr>
        <p:spPr>
          <a:xfrm>
            <a:off x="508000" y="2829560"/>
            <a:ext cx="8128000" cy="19050"/>
          </a:xfrm>
          <a:prstGeom prst="rect">
            <a:avLst/>
          </a:prstGeom>
          <a:solidFill>
            <a:srgbClr val="E5E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AC307E1-3A4B-29BF-8B8C-D96470C2190D}"/>
              </a:ext>
            </a:extLst>
          </p:cNvPr>
          <p:cNvSpPr txBox="1"/>
          <p:nvPr/>
        </p:nvSpPr>
        <p:spPr>
          <a:xfrm>
            <a:off x="508000" y="2931160"/>
            <a:ext cx="8128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200" dirty="0">
                <a:solidFill>
                  <a:srgbClr val="111827"/>
                </a:solidFill>
                <a:latin typeface="Segoe UI" panose="020B0502040204020203" pitchFamily="34" charset="0"/>
              </a:rPr>
              <a:t>TABLAS POR ANO: Firebird tiene tablas separadas para cada año fiscal:
  2024: CUENTAS24, SALDOS24, PRESUP24
  2025: CUENTAS25, SALDOS25, PRESUP25
  2026: CUENTAS26, SALDOS26, PRESUP26
CADA CUENTA EN SALDOS TIENE:
  12 columnas de CARGO (CARGO01...CARGO12) = dinero que ENTRA a la cuenta
  12 columnas de ABONO (ABONO01...ABONO12) = dinero que SALE de la cuenta
QUE HACE SUMMACHAM CON ESTOS DATOS:
  1. Lee las cuentas del layout (cuales mostrar)
  2. Busca sus saldos en Firebird
  3. Aplica la regla de NATURALEZA (siguiente slide)
  4. Calcula Real, Presupuesto, Acumulados y Variaciones</a:t>
            </a:r>
            <a:endParaRPr lang="es-MX" sz="1200" dirty="0">
              <a:solidFill>
                <a:srgbClr val="111827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232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Estructura de las tablas Firebird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CUENTAS[yy] — Catálogo de cuentas contables: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NUM_CTA:     Número de cuenta (ej: '401-000-000-00')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NOMBRE:      Descripción (ej: 'Membership')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NIVEL:       1=mayor, 2=sub, 3=detalle, 4=auxiliar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NATURALEZA:  'D'=Deudora(gasto) o 'A'=Acreedora(ingreso)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STATUS:      'A'=Activa (solo se consultan activas)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SALDOS[yy] — Movimientos mensuales: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NUM_CTA:     Cuenta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EJERCICIO:   Año fiscal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CARGO01..12: Dinero que ENTRA (débitos) por mes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ABONO01..12: Dinero que SALE (créditos) por mes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PRESUP[yy] — Presupuestos por mes: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NUM_CTA:       Cuenta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EJERCICIO:     Año fiscal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PRESUP01..12:  Monto presupuestado por mes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RESOLUCIÓN DE EMPRESA → BASE DE DATOS: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EMPRESA01 → ruta/empresa1.fdb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EMPRESA02 → ruta/empresa2.fdb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EMPRESA09 → alias a EMPRESA01 (comparativos)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Cálculos: Real, Presupuesto, Acumulado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Cómo se calcula el REAL (dato contable actual)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 NATURALEZA de la cuenta decide la fórmula: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CUENTA ACREEDORA (ingresos) — cuentas que empiezan con 2, 3, 4: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= ABONOS - CARGOS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Ejemplo: Cuenta 4100 'Membership' en Junio: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ABONO06 = 150,000 (créditos)   CARGO06 = 15,000 (débitos)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REAL = 150,000 - 15,000 = 135,000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CUENTA DEUDORA (gastos) — cuentas que empiezan con 1, 5-9: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= CARGOS - ABONOS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Ejemplo: Cuenta 5100 'Salaries' en Junio: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CARGO06 = 120,000 (débitos)   ABONO06 = 5,000 (créditos)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REAL = 120,000 - 5,000 = 115,000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¿POR QUÉ ES DIFERENTE?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 contabilidad, un ingreso AUMENTA con abonos (créditos)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y un gasto AUMENTA con cargos (débitos). La fórmula ajusta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para que el número siempre sea POSITIVO cuando la cuenta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tiene saldo a favor.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src/services/planeacionCuentasService.js → determinarNaturalezaReal()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Presupuesto y Acumulados (YTD)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PRESUPUESTO (se lee directo, sin cálculo):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SELECT PRESUP06 FROM PRESUP25 WHERE NUM_CTA = '4100'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Resultado: 140,000 → se usa TAL CUAL, no necesita fórmula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ACUMULADOS (YTD = Year-To-Date):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Si seleccionas MES = 6 (Junio):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Acumulado  = Real Ene + Real Feb + ... + Real Jun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Ppto Acumulado  = PRESUP01 + PRESUP02 + ... + PRESUP06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Acum AA    = Misma suma pero del año ANTERIOR (SALDOS24)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LOS 6 VALORES QUE VES EN CADA FILA DEL REPORTE: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┌───────────────────┬───────────────────┬───────────────────┐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actualMonth (Real)│ planMonth (Ppto)  │ prevMonth (AA)   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│ actualYTD (Acum)  │ planYTD (Acum)    │ prevYTD (Acum AA) │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└───────────────────┴───────────────────┴───────────────────┘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VARIACIONES (calculadas en el frontend):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Var vs Plan = (Real - Ppto) / Ppto × 100  →  Ejemplo: -3.6%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Var vs AA   = (Real - Real AA) / Real AA × 100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ARCHIVOS: planeacionCuentasService.js (SQL) + planeacionReportesEngine.js (cálculo)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Normalización de cuentas (formato canónico)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Las cuentas se convierten a un formato canónico de 21 caracteres para comparación: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normalizarCuentaCanonica(valor):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Extrae solo dígitos del número de cuenta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Rellena con ceros hasta 11 caracteres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Agrega sufijo de nivel (1-4)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Resultado: 21 caracteres fijos para comparación exacta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EJEMPLOS: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'401'           → '40100000000' + '0000000000' + '1' = 21 chars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'401-000-000-00' → mismo resultado (los guiones se eliminan)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'5100'          → '51000000000' + '0000000000' + '1'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cuentaVisibleDesdeCanonica(canonica):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Convierte de vuelta al formato legible: '40100000000' → '401-000-000-00'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¿POR QUÉ ES NECESARIO?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Firebird puede tener '4100' y SQLite '401-000-000-00'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para la MISMA cuenta. La normalización permite que se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emparejen correctamente al cruzar datos de ambas bases.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src/services/reportes/planeacionReportesEngine.js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Motor de Reportes (Engine)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construirReporteResumen() — el corazón del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Esta función en planeacionReportesEngine.js construye TODO el reporte.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ENTRADA: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definiciones: array de cuentas del layout (de SQLite)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configAgrupacion: operaciones/fórmulas del layout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capituloSeleccionado: filtro de capítulo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planeacionData: datos reales de Firebird (6 valores por cuenta)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opciones: { permitirFormulaSecciones, ordenManualTotal, includeEmptyConfiguredSections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PROCESO (paso a paso):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Parsear configuración → extraer sum-row, result-row, net-row de operaciones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Construir mapa de principales → agrupar cuentas por 'SECCION Principal'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Construir mapa de secciones → agrupar dentro de cada principal por 'SECCION Secundaria'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Aplicar fórmulas manuales → si permitirFormulaSecciones, calcular totales custom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Construir filas de agregación → consolidados, operativos, resultado, neto, final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Intercalar operaciones libres → colocar operaciones cerca de sus secciones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7. Aplicar orden global → si ordenManualTotal, ordenar TODO por orden_presentacion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SALIDA: { principals: [...], layout: [...flat array...] 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Estructura del layout generado (tipos de fila)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El layout es un ARRAY PLANO de filas tipadas: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type:'principal'  → Encabezado de sección principal (ej: 'Income (CDMX)')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order, totals {actualMonth, planMonth, prevMonth, ...YTD}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type:'secundaria' → Sub-sección (ej: 'Membership Income')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order, totals, cuentas: [...]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type:'cuenta'     → Fila individual de cuenta contable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nombre, cuenta, order, totals, factor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type:'operation'  → Operación con fórmula manual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order, manualFormula, totals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type:'group'      → Suma/consolidado de secciones (ej: 'CONSOLIDATED INCOME')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Campos: label, order, principals: [...], operaciones: [...]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type:'result'     → Resultado (ej: 'OPERATING RESULTS')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type:'net'        → Neto (ej: 'NET INCOME')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type:'final'      → Resultado final (ej: 'RESULTADO NETO CONSOLIDADO')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ORDEN: Todo el array se ordena por orden_presentacion (flat, sin agrupación).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Las cuentas y operaciones se mezclan libremente según su orden.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Cómo funcionan las Operaciones (fórmulas)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Las operaciones son filas que CALCULAN totales usando fórmulas guardadas en JSON: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EJEMPLO 1 — Suma de secciones: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Operación: 'TOTAL INCOME'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formula_terms: [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'+', type: 'section', value: 'Income (CDMX)' },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'+', type: 'section', value: 'Income (GDL)' },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'+', type: 'section', value: 'Income (MTY)'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Resultado: TOTAL INCOME = suma de TODOS los ingresos de 3 ciudades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EJEMPLO 2 — Referencia recursiva a otras operaciones: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Operación: 'NET INCOME'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formula_terms: [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'+', type: 'operation', value: 'CONSOLIDATED INCOME' },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{ operator: '-', type: 'operation', value: 'CONSOLIDATED EXPENSE'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TIPOS DE TÉRMINOS: section | operation | account | constant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OPERADORES: + | - | * | /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FUNCIÓN: calcularTotalesOperacion() evalúa recursivamente cada término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Gestor de Plantillas (14,700+ líneas)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Gestor de Plantillas — 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El Gestor de Plantillas (plantillas.js) es el archivo MÁS GRANDE del sistema.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Define la ESTRUCTURA de los reportes: sin plantilla, no hay reporte.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vistas/js/plantillas.js → 14,753 líneas de código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CONSTANTES CLAVE: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MANUAL_ORDER_ONLY = true     → Siempre orden manual (no auto-inferencia)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FORCE_EDIT_MODE = true       → Modo edición forzado (desarrollo local)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AUTO_OPERACIONES_DISABLED = true → No generar operaciones automáticamente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ESTADO INTERNO (state):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{ modulo: 'RESUMEN',          // Módulo seleccionado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anio: null,                   // Año seleccionado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capitulo: null,               // Capítulo (CDMX, GDL,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empresaId: null,              // Empresa activa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layout: null,                 // Layout completo cargado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cuentas: [],                  // Array de cuentas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operaciones: [],              // Array de operaciones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unsavedChanges: false,        // ¿Hay cambios sin guardar?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editMode: false,              // ¿En modo edición?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inlineOrderMode: false,       // ¿En modo drag-drop?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changeLog: [] }              // Registro de cambios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Gestor: Flujo de Carga y Renderizado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FLUJO DE CARGA (al abrir la página):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loadInitialData() → carga años, capítulos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tryLoadLayout() → intenta cargar el layout guardado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loadLayout() → GET /layouts-config/{modulo}/{anio}/{capitulo}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• Extrae cuentas de layout.cuentas o layout[modulo]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• Procesa operaciones con extractColumnConfigFromOperations()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• Hidrata parentSection/parentSubsection con hydrateOperationPlacement()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renderLayout() → llama a buildPreviewRowsForEditor()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buildPreviewRowsForEditor() — FUNCIÓN CRÍTICA: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Construye lista PLANA ordenada por orden_presentacion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NO agrupa por secciones (cambio del 2026-02-05)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Las cuentas y operaciones se intercalan libremente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Detecta transiciones de sección para insertar encabezados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Incluye operaciones huérfanas con appendMissingOperations()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Retorna array con type: principal | subsection | account | operation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FLUJO DE GUARDADO: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saveLayout() → valida → syncVisualOrder() → confirma →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POST cuentas → POST operaciones → limpia changeLog → addToBitacora()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Gestor: Funciones principales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GESTIÓN DE ELEMENTOS: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openAddModal()    → Modal para agregar cuentas, operaciones o secciones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confirmAdd()      → Valida y agrega al array correspondiente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confirmEdit()     → Edita elemento en panel lateral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deleteElement()   → Elimina del layout (marca unsavedChanges=true)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ORDENAMIENTO: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getTemplateRowsForReorder()    → Extrae filas para el modal de reorden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applyTemplateRowsOrder(rows)   → Aplica nuevos orden_presentacion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updateLayoutOrderPanel()       → Panel lateral con contadores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Drag-drop: drag-and-drop-reorder.js + plantillas-reordenar.js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MÓDULOS Y EMPRESAS: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filtrarModulosPorCapitulo()   → Filtra módulos por disponibilidad del capítulo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obtenerEmpresaIdApi()         → Resuelve empresa activa (state → context → default)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resolverEmpresaIdContexto()   → Consulta selector global → Sesion → default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VERIFICACIÓN DE PERMISOS (cada 3 segundos):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checkAuthState() → Sesion.esAdminGlobal() || verificarPermisoCapitulo()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CADA LAYOUT ES ÚNICO POR: Empresa + Módulo + Año + Capítulo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Sistema de Gráficas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Gráficas: Arquitectura y tipos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Las gráficas toman los MISMOS datos del reporte RESUMEN y los visualizan.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TIPOS DE GRÁFICA DISPONIBLES: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Barra (bar) — la más usada, comparación entre categorías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Línea (line) — tendencias mensuales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Pie (pie) — distribución porcentual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Dona (doughnut) — similar a pie pero con hueco central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Radar (radar) — comparación multidimensional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Área (area) — tendencia con relleno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LOS 3 VALORES QUE SE GRAFICAN (colores por defecto):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Acumulado (actualYTD)    → Azul oscuro #0d47a1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Ppto Acumulado (planYTD)      → Azul claro  #60a5fa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Real Acum AA   (prevYTD)      → Gris        #94a3b8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GRÁFICAS PREDEFINIDAS: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Resultado Operativo por capítulo (CDMX, GDL, MTY, NW)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Resultado Neto por capítulo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Consolidados (Ingreso total vs Gasto total)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Ingreso por capítulo (CDMX/GDL/MTY/NW INCOME)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Ingreso Nacional (Committees, Membership, Events, Services, T&amp;IC)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Gráficas PERSONALIZADAS con Chart Wizard (4 pasos)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Gráficas: Sistema de Snapshots y Sidebar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SISTEMA DE SNAPSHOTS (localStorage):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Cada vez que se renderiza la tabla RESUMEN, se guarda un 'snapshot'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en localStorage con la clave: resumen_tabla_snapshot:{empresaId}:{anio}:{mes}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Contiene: array de { label, totals: { actual, plan, prev, ...YTD, ...var }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Las gráficas LEEN este snapshot, NO hacen otra llamada al API.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getRowData(snapshotMap, labels) busca por label normalizado (sin acentos, uppercase)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Si no encuentra exacto, busca variantes (ej: 'CONSOLIDATED' = 'CONSOLIDADO')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OPERATIVO SIDEBAR (operativo-sidebar.js, 1,633 líneas):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Panel lateral que muestra gráficas en tiempo real junto a la tabla: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Se actualiza con MutationObserver (debounce 120ms)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Extrae datos de filas con clase 'sum-row-operativo'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Muestra: Ppto Acumulado vs Real Acumulado vs Presupuesto Anual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Soporta gráficas custom de GraficasConfig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Escucha eventos: tabla-actualizada, presupuesto-editado, graficas-config-updated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CHART WIZARD (4 pasos para crear gráficas personalizadas):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Seleccionar tipo de gráfica (bar, line, pie,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Elegir filas/datos del snapshot a incluir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Configurar colores, labels y opciones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Guardar → se persiste en graficas_config (SQLite) via /api/graficas-config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PARTE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Base de Datos, Backups y Seguridad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SQLite: Esquema completo de tablas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Archivo: datos/panel.sqlite — Modo WAL (concurrencia de lectura)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Pragma: journal_mode=WAL, synchronous=NORMAL, cache_size=10000, busy_timeout=5000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TABLAS PRINCIPALES (15+):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usuarios              → id, usuario, nombres, apellidos, correo, contrasena (bcrypt)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permisos_modulo       → usuario_id, empresa_id, modulo, puede_leer/cargar/revisar/aprobar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permisos_edicion_capitulo → usuario_id, capitulo, puede_editar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presupuestos_estado   → empresa_id, modulo, anio, estado, actualizado_en/por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presupuestos_estado_historial → historial de transiciones de estado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presupuestos_guardados → respaldo de datos guardados oficialmente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PLAN_BORRADORES       → autoguardado de datos en edición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layout_cuentas        → cuentas por empresa/modulo/anio/capitulo con orden_presentacion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layout_operaciones    → fórmulas multi-fila (una fila por operacion_tipo)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layout_secciones      → agrupaciones (Income, Expense, etc.)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layout_bitacora       → auditoría de cambios en layouts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graficas_config       → configuración de gráficas por empresa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comentarios_celdas    → comentarios en celdas específicas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notificaciones        → alertas para usuarios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sesiones              → express-session store en SQLite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Migraciones automáticas y Seeding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MIGRACIONES (al iniciar la app, src/db/sqlite.js):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El sistema verifica y agrega automáticamente columnas faltantes: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layout_cuentas:     + visible, orden_presentacion, operacion_factor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layout_operaciones: + visible, orden_presentacion, formula_json, operacion_etiqueta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presupuestos_estado: + capitulo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Reconstrucción de índices: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Si layout_cuentas tiene UNIQUE constraint legacy → rebuild sin constraint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(permite cuentas duplicadas para almacenamiento multi-fila)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Crea índices de lookup: idx_layout_cuentas_lookup(empresa_id, modulo, anio, capitulo)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SEEDING DE USUARIOS (al primer inicio):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Crea admin ICONET con contraseña de env var o fallback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Lee config/seed_users.json para crear usuarios iniciales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Asigna permisos por empresa/módulo según JSON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Admin históricos (AA, AMB) se promueven automáticamente a admin global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Todos los admin globales reciben permisos completos en TODAS las empresas/módulos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SEEDING DE LAYOUTS: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Desde archivos JSON y Excel (.xlsx) en directorio info-importante/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CDMX: layouts de 2005-2025 desde archivos Excel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Solo ejecuta si no existen layouts previos (no sobrescribe)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Sistema de Backups y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BACKUPS AUTOMÁTICOS (src/services/backupService.js):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Al iniciar: primer backup inmediato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Cada 60 minutos: backup automático con setInterval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Máximo 24 backups (los más antiguos se eliminan)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Nombre: panel_2026-02-09_14-30-22.sqlite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Verificación: compara tamaño original vs copia + checksum SHA256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• Restauración: crea backup de seguridad antes de restaurar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SEGURIDAD (10 capas de protección):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 Contraseñas: bcrypt con 12 rondas de sal (irreversible)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 JWT: Access token 1hr + Refresh 7 días (renovación automática)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 Sesiones: Cookie httpOnly (JS no puede leerla) + SQLite store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 Rate Limiting: 10 intentos/10min, bloqueo 5 min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 Helmet: Cabeceras HTTP seguras (XSS, HSTS, clickjacking)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6.  CORS: Solo orígenes autorizados (localhost + dominio producción)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7.  Joi: Validación de TODOS los datos de entrada antes de procesarlos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8.  SQL seguro: Queries parametrizados (?) previenen SQL injection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9.  Backups: Copias automáticas cada 60 min con checksum SHA256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10. Auditoría: Login, cambios, queries lentas, bitácora de layouts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47A1"/>
                </a:solidFill>
                <a:latin typeface="Segoe UI"/>
              </a:defRPr>
            </a:pPr>
            <a:r>
              <a:t>Compilación, Distribución y Auto-Update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COMPILACIÓN: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npm install                    → Instalar ~120+ dependencias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npm run dist                   → Crear instalador Windows (NSIS)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npm run build:portable         → Crear versión portable (.exe)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ARCHIVOS GENERADOS en ./dist/: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SummaCham Setup 4.1.0.exe      → Instalador (requiere admin)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SummaCham 4.1.0.exe            → Portable (sin instalación)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latest.yml                     → Metadatos para auto-update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AUTO-ACTUALIZACIÓN (electron-updater):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1. La app verifica en GitHub Releases si hay versión nueva (al iniciar)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2. Si hay: pregunta 'Descargar nueva versión?'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3. Descarga en segundo plano (no interrumpe el trabajo)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4. Al cerrar la app, instala automáticamente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5. Los DATOS del usuario se conservan (userData/datos/)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   Solo se actualiza el código de la aplicación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ESTRUCTURA DE ARCHIVOS PRINCIPALES: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main.js                → Proceso Electron (ventana + auto-update)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src/server.js           → Servidor Express (middleware + rutas)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src/db/sqlite.js        → Inicialización BD + migraciones + seeding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src/routes/*.js         → 16+ archivos de rutas API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src/services/*.js       → Lógica de negocio (Firebird, layouts, reportes)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vistas/                 → HTML + JS + CSS del frontend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SummaCham - PanelAMCHAM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t>Resumen Técnico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Arquitectura en capas: Electron + Express + SQLite + Firebird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80+ endpoints REST documentados en 16+ archivos de rutas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Dual-database: SQLite (config local) + Firebird (datos contables Aspel COI)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6 valores por cuenta: Real, Ppto, Real AA, Real Acum, Ppto Acum, Real AA Acum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Motor de reportes con fórmulas recursivas y orden manual global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Gestor de Plantillas: 14,700+ líneas que definen estructura de reportes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Sistema de borradores con flujo: editar → enviar → revisar → aprobar → COI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Gráficas interactivas con Chart.js + snapshots en localStorage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Seguridad: bcrypt(12), JWT, rate limiting, helmet, CORS, Joi, SQL parametrizado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Backups automáticos cada 60 min con SHA256 + auto-update vía GitHub Releases</a:t>
            </a:r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endParaRPr/>
          </a:p>
          <a:p>
            <a:pPr>
              <a:spcAft>
                <a:spcPts val="200"/>
              </a:spcAft>
              <a:defRPr sz="1100">
                <a:solidFill>
                  <a:srgbClr val="60A5FA"/>
                </a:solidFill>
                <a:latin typeface="Segoe UI"/>
              </a:defRPr>
            </a:pPr>
            <a:r>
              <a:t>Versión 4.1.0  |  Febrero 2026  |  Iustus Renidet &amp; J02V4N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9324</Words>
  <Application>Microsoft Office PowerPoint</Application>
  <PresentationFormat>Presentación en pantalla (16:10)</PresentationFormat>
  <Paragraphs>863</Paragraphs>
  <Slides>65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0" baseType="lpstr">
      <vt:lpstr>Arial</vt:lpstr>
      <vt:lpstr>Calibri</vt:lpstr>
      <vt:lpstr>Consolas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sophie guevara</cp:lastModifiedBy>
  <cp:revision>4</cp:revision>
  <dcterms:created xsi:type="dcterms:W3CDTF">2013-01-27T09:14:16Z</dcterms:created>
  <dcterms:modified xsi:type="dcterms:W3CDTF">2026-02-10T23:15:59Z</dcterms:modified>
  <cp:category/>
</cp:coreProperties>
</file>