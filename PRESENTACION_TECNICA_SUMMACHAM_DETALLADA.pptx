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s-MX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60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D65B5-5566-E850-9877-0A2EC9B85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903E45-6282-38FD-A175-5C52E88E7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C4812-2A53-218B-ABBF-A54A2A0C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0EDEBA-F338-04A3-8729-F9888047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4F57F0-91E7-8869-1B93-E5A912C5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6442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5BDE7-3593-D897-DE3C-8A804FCB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0D197C-E33A-AD48-6592-051566BE3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B5902-73AF-1865-5898-C5211C1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DDD65F-209D-22A6-514E-85CA3D31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C7BCDE-0FC2-E1C0-6117-6D8E0F7A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215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C8567-EF9F-A52F-34AE-33A5F7C1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D501FE-EE6F-5BB0-FFF0-8F601F19C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5E7F4-DBEF-745C-7137-D4E04A8A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E070C-BB81-B9F0-6A16-029B42D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E5CAA-AE94-E180-7D5C-C804CDCB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683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39FB1-4FB7-D0AC-FB05-98F61674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A54E3-C666-46AD-82E2-65BE71AF9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C13BD9-CE7D-3647-B61A-A4F0E6B3A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A32245-2B57-E492-8FAA-E3179E3A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066F13-CAAA-D251-61CC-A3BAFAD9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F0871B-0EA4-C000-B892-D77295DB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43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A8C72-EA03-F63C-3A16-54AC652E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22330A-2147-C85B-F50C-335CFE31F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C60D80-A2B9-688F-FEE4-4E3C35022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7EA301-AE9F-EE77-41D6-DA851B380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F46516-1A07-797F-46B2-951F80B7B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F3ECC0-5AFF-005E-E0EA-AED5669C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C2B5FC-EADA-B3FF-94A7-EA1859E0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EADBE3-1088-3A2A-3DB1-FB154778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93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30E23-E453-E778-2E38-DAF52C86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926C20-5CCC-7666-FB1C-98BC5139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987C91-57F0-9525-F875-6163F493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9538FE-F15A-5E2F-EC64-0A2E4133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853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065A66-9DC6-A6F0-AB4A-2DEBA27A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ED8516-D32F-4486-2450-131A4E01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A98FA7-5196-543F-16C6-9E370BDF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341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58CEB-AB57-6305-6926-BE7709926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B58B4F-ACDF-6286-1A89-41BC289B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A156E4-64DC-CC1A-E290-C18DB07B1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A90564-280E-AEBC-4D80-EDB62A2C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3A399-5F69-65E2-EC1D-ABFC3B3F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3E4ECA-4622-D14C-3A57-1B954802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438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D182-FD91-D6C1-D371-51C15898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28D608-4BDA-6E93-E245-283473527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29CD4-04E7-8343-0F00-39606D102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6898A2-B996-0C7F-162E-4F77E27A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FA4402-7E1B-7399-3932-3AA8DEF3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E90D43-B5F2-409A-5A35-6094DC2A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084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79FEC-B043-F5E7-A271-91940F5B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3B410C-0842-6494-390B-58C7ADE19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A6E516-3BA8-7864-5A65-7A0CA989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3CA323-DD22-E63B-D84C-6EF70503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7A73D-25E4-FAE6-4B33-33CDEEB8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435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D04D6F-823F-0282-0565-A95BAB20C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C7FA5A-9AAF-45FF-C312-611CE9FAF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B7455-FB6E-07C6-6739-6E951AC0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3AC6A-A081-C90B-AF10-CAD43C08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024F9F-D9D9-E1BB-8AA9-FD1D418C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651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A8E5A1-2F8D-547C-CB21-B614E8BB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D2844A-FC5E-B612-E5ED-910A37CD2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EB8E51-9196-908A-74C4-EBD22B3CB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64A7E-48AF-49BC-A185-9F8899DBB23D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338B7D-A6C9-28B7-7523-11EA4AACF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927DD3-02D5-AC37-CC4A-88643036A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FA4E3-BBCC-4DF3-9C06-6E28075609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435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FAC85-8659-ED30-D21E-429A0619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5400" b="1">
                <a:solidFill>
                  <a:srgbClr val="2980B9"/>
                </a:solidFill>
              </a:rPr>
              <a:t>SummaCham - PanelAMCHAM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9D19EA-0E4A-D709-FA0F-EE8AB9F45FAD}"/>
              </a:ext>
            </a:extLst>
          </p:cNvPr>
          <p:cNvSpPr txBox="1"/>
          <p:nvPr/>
        </p:nvSpPr>
        <p:spPr>
          <a:xfrm>
            <a:off x="1270000" y="3175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/>
              <a:t>Documentación Técnica ULTRA DETALLADA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4607AD-70A5-28E3-C2F7-DB15CC9117D2}"/>
              </a:ext>
            </a:extLst>
          </p:cNvPr>
          <p:cNvSpPr txBox="1"/>
          <p:nvPr/>
        </p:nvSpPr>
        <p:spPr>
          <a:xfrm>
            <a:off x="1270000" y="4191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400"/>
              <a:t>Sistema de Gestión Financiera Empresarial</a:t>
            </a:r>
            <a:endParaRPr lang="es-MX" sz="24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78470D-BA69-F8EC-49FF-4E3285905E31}"/>
              </a:ext>
            </a:extLst>
          </p:cNvPr>
          <p:cNvSpPr txBox="1"/>
          <p:nvPr/>
        </p:nvSpPr>
        <p:spPr>
          <a:xfrm>
            <a:off x="1270000" y="50800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000"/>
              <a:t>Versión 4.1.0 - Completa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DBC6E0-9286-D37C-A61E-0231413D586C}"/>
              </a:ext>
            </a:extLst>
          </p:cNvPr>
          <p:cNvSpPr txBox="1"/>
          <p:nvPr/>
        </p:nvSpPr>
        <p:spPr>
          <a:xfrm>
            <a:off x="1270000" y="62230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800"/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269900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55814-05BD-6BB2-8EBE-2AC284FE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800" b="1"/>
              <a:t>Configuración de Cookies - Detalle Completo</a:t>
            </a:r>
            <a:endParaRPr lang="es-MX" sz="38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008430-31A6-CEF8-122D-7A5F8D619931}"/>
              </a:ext>
            </a:extLst>
          </p:cNvPr>
          <p:cNvSpPr txBox="1"/>
          <p:nvPr/>
        </p:nvSpPr>
        <p:spPr>
          <a:xfrm>
            <a:off x="635000" y="1524000"/>
            <a:ext cx="11684000" cy="129573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100"/>
              <a:t>IMPLEMENTACIÓN EN src/server.js (Líneas 157-173)</a:t>
            </a:r>
          </a:p>
          <a:p>
            <a:endParaRPr lang="es-MX" sz="1100"/>
          </a:p>
          <a:p>
            <a:r>
              <a:rPr lang="es-MX" sz="1100"/>
              <a:t>app.use(session({</a:t>
            </a:r>
          </a:p>
          <a:p>
            <a:r>
              <a:rPr lang="es-MX" sz="1100"/>
              <a:t>  store: sessionStore,              // SQLite persistent store</a:t>
            </a:r>
          </a:p>
          <a:p>
            <a:r>
              <a:rPr lang="es-MX" sz="1100"/>
              <a:t>  secret: sessionSecret,             // Clave para firmar cookies</a:t>
            </a:r>
          </a:p>
          <a:p>
            <a:r>
              <a:rPr lang="es-MX" sz="1100"/>
              <a:t>  name: "panelamcham.sid",          // Nombre de la cookie</a:t>
            </a:r>
          </a:p>
          <a:p>
            <a:r>
              <a:rPr lang="es-MX" sz="1100"/>
              <a:t>  resave: false,                     // No re-guardar sesión si no cambió</a:t>
            </a:r>
          </a:p>
          <a:p>
            <a:r>
              <a:rPr lang="es-MX" sz="1100"/>
              <a:t>  saveUninitialized: false,          // No crear sesión hasta que se guarde algo</a:t>
            </a:r>
          </a:p>
          <a:p>
            <a:r>
              <a:rPr lang="es-MX" sz="1100"/>
              <a:t>  rolling: true,                     // Renovar cookie en cada request</a:t>
            </a:r>
          </a:p>
          <a:p>
            <a:r>
              <a:rPr lang="es-MX" sz="1100"/>
              <a:t>  </a:t>
            </a:r>
          </a:p>
          <a:p>
            <a:r>
              <a:rPr lang="es-MX" sz="1100"/>
              <a:t>  cookie: {</a:t>
            </a:r>
          </a:p>
          <a:p>
            <a:r>
              <a:rPr lang="es-MX" sz="1100"/>
              <a:t>    // 1. SECURE</a:t>
            </a:r>
          </a:p>
          <a:p>
            <a:r>
              <a:rPr lang="es-MX" sz="1100"/>
              <a:t>    secure: process.env.NODE_ENV === 'production' ? 'auto' : false,</a:t>
            </a:r>
          </a:p>
          <a:p>
            <a:r>
              <a:rPr lang="es-MX" sz="1100"/>
              <a:t>    // Si production:</a:t>
            </a:r>
          </a:p>
          <a:p>
            <a:r>
              <a:rPr lang="es-MX" sz="1100"/>
              <a:t>    //   'auto' = true si conexión es HTTPS, false si HTTP</a:t>
            </a:r>
          </a:p>
          <a:p>
            <a:r>
              <a:rPr lang="es-MX" sz="1100"/>
              <a:t>    //   Permite túneles HTTPS (cloudflare, ngrok) Y localhost HTTP</a:t>
            </a:r>
          </a:p>
          <a:p>
            <a:r>
              <a:rPr lang="es-MX" sz="1100"/>
              <a:t>    // Si development: false (permite HTTP puro)</a:t>
            </a:r>
          </a:p>
          <a:p>
            <a:r>
              <a:rPr lang="es-MX" sz="1100"/>
              <a:t>    </a:t>
            </a:r>
          </a:p>
          <a:p>
            <a:r>
              <a:rPr lang="es-MX" sz="1100"/>
              <a:t>    // 2. HTTPONLY</a:t>
            </a:r>
          </a:p>
          <a:p>
            <a:r>
              <a:rPr lang="es-MX" sz="1100"/>
              <a:t>    httpOnly: true,</a:t>
            </a:r>
          </a:p>
          <a:p>
            <a:r>
              <a:rPr lang="es-MX" sz="1100"/>
              <a:t>    // La cookie NO es accesible desde JavaScript del cliente</a:t>
            </a:r>
          </a:p>
          <a:p>
            <a:r>
              <a:rPr lang="es-MX" sz="1100"/>
              <a:t>    // document.cookie NO puede leer esta cookie</a:t>
            </a:r>
          </a:p>
          <a:p>
            <a:r>
              <a:rPr lang="es-MX" sz="1100"/>
              <a:t>    // Protección contra XSS (Cross-Site Scripting)</a:t>
            </a:r>
          </a:p>
          <a:p>
            <a:r>
              <a:rPr lang="es-MX" sz="1100"/>
              <a:t>    </a:t>
            </a:r>
          </a:p>
          <a:p>
            <a:r>
              <a:rPr lang="es-MX" sz="1100"/>
              <a:t>    // 3. MAXAGE - TIEMPO DE SESIÓN</a:t>
            </a:r>
          </a:p>
          <a:p>
            <a:r>
              <a:rPr lang="es-MX" sz="1100"/>
              <a:t>    maxAge: 30 * 60 * 1000,           // 30 MINUTOS en milisegundos</a:t>
            </a:r>
          </a:p>
          <a:p>
            <a:r>
              <a:rPr lang="es-MX" sz="1100"/>
              <a:t>    // = 1,800,000 milisegundos</a:t>
            </a:r>
          </a:p>
          <a:p>
            <a:r>
              <a:rPr lang="es-MX" sz="1100"/>
              <a:t>    // = 1,800 segundos</a:t>
            </a:r>
          </a:p>
          <a:p>
            <a:r>
              <a:rPr lang="es-MX" sz="1100"/>
              <a:t>    // = 30 minutos</a:t>
            </a:r>
          </a:p>
          <a:p>
            <a:r>
              <a:rPr lang="es-MX" sz="1100"/>
              <a:t>    // Después de 30 minutos de INACTIVIDAD, la sesión expira</a:t>
            </a:r>
          </a:p>
          <a:p>
            <a:r>
              <a:rPr lang="es-MX" sz="1100"/>
              <a:t>    // Si rolling:true, se renueva en cada request</a:t>
            </a:r>
          </a:p>
          <a:p>
            <a:r>
              <a:rPr lang="es-MX" sz="1100"/>
              <a:t>    </a:t>
            </a:r>
          </a:p>
          <a:p>
            <a:r>
              <a:rPr lang="es-MX" sz="1100"/>
              <a:t>    // 4. SAMESITE</a:t>
            </a:r>
          </a:p>
          <a:p>
            <a:r>
              <a:rPr lang="es-MX" sz="1100"/>
              <a:t>    sameSite: process.env.NODE_ENV === 'production' ? 'none' : 'lax',</a:t>
            </a:r>
          </a:p>
          <a:p>
            <a:r>
              <a:rPr lang="es-MX" sz="1100"/>
              <a:t>    // production: 'none'</a:t>
            </a:r>
          </a:p>
          <a:p>
            <a:r>
              <a:rPr lang="es-MX" sz="1100"/>
              <a:t>    //   Permite cookies cross-site (necesario para túneles HTTPS)</a:t>
            </a:r>
          </a:p>
          <a:p>
            <a:r>
              <a:rPr lang="es-MX" sz="1100"/>
              <a:t>    //   Ejemplo: https://panelamcham.iconetcloud.com.mx</a:t>
            </a:r>
          </a:p>
          <a:p>
            <a:r>
              <a:rPr lang="es-MX" sz="1100"/>
              <a:t>    //   REQUIERE secure:true (HTTPS)</a:t>
            </a:r>
          </a:p>
          <a:p>
            <a:r>
              <a:rPr lang="es-MX" sz="1100"/>
              <a:t>    // development: 'lax'</a:t>
            </a:r>
          </a:p>
          <a:p>
            <a:r>
              <a:rPr lang="es-MX" sz="1100"/>
              <a:t>    //   No permite cookies cross-site estrictas</a:t>
            </a:r>
          </a:p>
          <a:p>
            <a:r>
              <a:rPr lang="es-MX" sz="1100"/>
              <a:t>    //   Permite navegación normal</a:t>
            </a:r>
          </a:p>
          <a:p>
            <a:r>
              <a:rPr lang="es-MX" sz="1100"/>
              <a:t>    </a:t>
            </a:r>
          </a:p>
          <a:p>
            <a:r>
              <a:rPr lang="es-MX" sz="1100"/>
              <a:t>    // 5. DOMAIN</a:t>
            </a:r>
          </a:p>
          <a:p>
            <a:r>
              <a:rPr lang="es-MX" sz="1100"/>
              <a:t>    domain: process.env.COOKIE_DOMAIN || undefined,</a:t>
            </a:r>
          </a:p>
          <a:p>
            <a:r>
              <a:rPr lang="es-MX" sz="1100"/>
              <a:t>    // Si se define: '.iconetcloud.com.mx'</a:t>
            </a:r>
          </a:p>
          <a:p>
            <a:r>
              <a:rPr lang="es-MX" sz="1100"/>
              <a:t>    //   Cookie válida para todos los subdominios</a:t>
            </a:r>
          </a:p>
          <a:p>
            <a:r>
              <a:rPr lang="es-MX" sz="1100"/>
              <a:t>    // Si undefined (por defecto):</a:t>
            </a:r>
          </a:p>
          <a:p>
            <a:r>
              <a:rPr lang="es-MX" sz="1100"/>
              <a:t>    //   Cookie solo para el dominio exacto</a:t>
            </a:r>
          </a:p>
          <a:p>
            <a:r>
              <a:rPr lang="es-MX" sz="1100"/>
              <a:t>  }</a:t>
            </a:r>
          </a:p>
          <a:p>
            <a:r>
              <a:rPr lang="es-MX" sz="1100"/>
              <a:t>}));</a:t>
            </a:r>
          </a:p>
          <a:p>
            <a:endParaRPr lang="es-MX" sz="1100"/>
          </a:p>
          <a:p>
            <a:r>
              <a:rPr lang="es-MX" sz="1100"/>
              <a:t>CÁLCULO REAL DE TIEMPO DE EXPIRACIÓN:</a:t>
            </a:r>
          </a:p>
          <a:p>
            <a:r>
              <a:rPr lang="es-MX" sz="1100"/>
              <a:t>• Usuario inicia sesión: 09:00:00</a:t>
            </a:r>
          </a:p>
          <a:p>
            <a:r>
              <a:rPr lang="es-MX" sz="1100"/>
              <a:t>• maxAge: 30 minutos</a:t>
            </a:r>
          </a:p>
          <a:p>
            <a:r>
              <a:rPr lang="es-MX" sz="1100"/>
              <a:t>• Expira: 09:30:00 (si no hay actividad)</a:t>
            </a:r>
          </a:p>
          <a:p>
            <a:endParaRPr lang="es-MX" sz="1100"/>
          </a:p>
          <a:p>
            <a:r>
              <a:rPr lang="es-MX" sz="1100"/>
              <a:t>• Usuario hace request: 09:15:00</a:t>
            </a:r>
          </a:p>
          <a:p>
            <a:r>
              <a:rPr lang="es-MX" sz="1100"/>
              <a:t>• rolling: true → Se renueva</a:t>
            </a:r>
          </a:p>
          <a:p>
            <a:r>
              <a:rPr lang="es-MX" sz="1100"/>
              <a:t>• Nueva expiración: 09:45:00 (30 min desde último request)</a:t>
            </a:r>
          </a:p>
          <a:p>
            <a:endParaRPr lang="es-MX" sz="1100"/>
          </a:p>
          <a:p>
            <a:r>
              <a:rPr lang="es-MX" sz="1100"/>
              <a:t>EJEMPLO DE COOKIE EN HTTP HEADER:</a:t>
            </a:r>
          </a:p>
          <a:p>
            <a:r>
              <a:rPr lang="es-MX" sz="1100"/>
              <a:t>Set-Cookie: panelamcham.sid=s%3Aj%3A%7B%22userId%22%3A5%7D.abc123xyz; </a:t>
            </a:r>
          </a:p>
          <a:p>
            <a:r>
              <a:rPr lang="es-MX" sz="1100"/>
              <a:t>  Path=/; </a:t>
            </a:r>
          </a:p>
          <a:p>
            <a:r>
              <a:rPr lang="es-MX" sz="1100"/>
              <a:t>  Expires=Sun, 09 Feb 2026 15:30:00 GMT; </a:t>
            </a:r>
          </a:p>
          <a:p>
            <a:r>
              <a:rPr lang="es-MX" sz="1100"/>
              <a:t>  HttpOnly; </a:t>
            </a:r>
          </a:p>
          <a:p>
            <a:r>
              <a:rPr lang="es-MX" sz="1100"/>
              <a:t>  Secure; </a:t>
            </a:r>
          </a:p>
          <a:p>
            <a:r>
              <a:rPr lang="es-MX" sz="1100"/>
              <a:t>  SameSite=None</a:t>
            </a:r>
          </a:p>
          <a:p>
            <a:endParaRPr lang="es-MX" sz="1100"/>
          </a:p>
          <a:p>
            <a:r>
              <a:rPr lang="es-MX" sz="1100"/>
              <a:t>LIFECYCLE:</a:t>
            </a:r>
          </a:p>
          <a:p>
            <a:r>
              <a:rPr lang="es-MX" sz="1100"/>
              <a:t>1. Login exitoso → req.session.userId = user.id</a:t>
            </a:r>
          </a:p>
          <a:p>
            <a:r>
              <a:rPr lang="es-MX" sz="1100"/>
              <a:t>2. Se crea cookie: panelamcham.sid</a:t>
            </a:r>
          </a:p>
          <a:p>
            <a:r>
              <a:rPr lang="es-MX" sz="1100"/>
              <a:t>3. Cliente guarda cookie en navegador</a:t>
            </a:r>
          </a:p>
          <a:p>
            <a:r>
              <a:rPr lang="es-MX" sz="1100"/>
              <a:t>4. Cada request incluye: Cookie: panelamcham.sid=...</a:t>
            </a:r>
          </a:p>
          <a:p>
            <a:r>
              <a:rPr lang="es-MX" sz="1100"/>
              <a:t>5. Servidor lee cookie y carga sesión desde SQLite</a:t>
            </a:r>
          </a:p>
          <a:p>
            <a:r>
              <a:rPr lang="es-MX" sz="1100"/>
              <a:t>6. Si maxAge expiró: 401 Unauthorized</a:t>
            </a:r>
          </a:p>
          <a:p>
            <a:r>
              <a:rPr lang="es-MX" sz="1100"/>
              <a:t>7. Si rolling:true: cookie se extiende 30 min más</a:t>
            </a:r>
          </a:p>
        </p:txBody>
      </p:sp>
    </p:spTree>
    <p:extLst>
      <p:ext uri="{BB962C8B-B14F-4D97-AF65-F5344CB8AC3E}">
        <p14:creationId xmlns:p14="http://schemas.microsoft.com/office/powerpoint/2010/main" val="31973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B8330-A840-55A4-E0CC-633C82A4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800" b="1"/>
              <a:t>Rate Limiting - Configuración Exacta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877C99-6E9A-9D66-4BE7-A132C0FC4903}"/>
              </a:ext>
            </a:extLst>
          </p:cNvPr>
          <p:cNvSpPr txBox="1"/>
          <p:nvPr/>
        </p:nvSpPr>
        <p:spPr>
          <a:xfrm>
            <a:off x="635000" y="1524000"/>
            <a:ext cx="11684000" cy="159428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/>
              <a:t>IMPLEMENTACIÓN EN src/routes/auth.js (Líneas 11-42)</a:t>
            </a:r>
          </a:p>
          <a:p>
            <a:endParaRPr lang="es-MX" sz="1000"/>
          </a:p>
          <a:p>
            <a:r>
              <a:rPr lang="es-MX" sz="1000"/>
              <a:t>const attempts = new Map();          // Almacenamiento en memoria</a:t>
            </a:r>
          </a:p>
          <a:p>
            <a:endParaRPr lang="es-MX" sz="1000"/>
          </a:p>
          <a:p>
            <a:r>
              <a:rPr lang="es-MX" sz="1000"/>
              <a:t>// === CONFIGURACIÓN ===</a:t>
            </a:r>
          </a:p>
          <a:p>
            <a:r>
              <a:rPr lang="es-MX" sz="1000"/>
              <a:t>const WINDOW_MS = 10 * 60 * 1000;    // 10 MINUTOS = 600,000 ms</a:t>
            </a:r>
          </a:p>
          <a:p>
            <a:r>
              <a:rPr lang="es-MX" sz="1000"/>
              <a:t>const MAX_ATTEMPTS = 10;              // MÁXIMO 10 INTENTOS</a:t>
            </a:r>
          </a:p>
          <a:p>
            <a:r>
              <a:rPr lang="es-MX" sz="1000"/>
              <a:t>const BLOCK_MS = 5 * 60 * 1000;      // BLOQUEO DE 5 MINUTOS = 300,000 ms</a:t>
            </a:r>
          </a:p>
          <a:p>
            <a:endParaRPr lang="es-MX" sz="1000"/>
          </a:p>
          <a:p>
            <a:r>
              <a:rPr lang="es-MX" sz="1000"/>
              <a:t>// === ESTRUCTURA DE DATOS ===</a:t>
            </a:r>
          </a:p>
          <a:p>
            <a:r>
              <a:rPr lang="es-MX" sz="1000"/>
              <a:t>attempts = Map {</a:t>
            </a:r>
          </a:p>
          <a:p>
            <a:r>
              <a:rPr lang="es-MX" sz="1000"/>
              <a:t>  '192.168.1.100' =&gt; {</a:t>
            </a:r>
          </a:p>
          <a:p>
            <a:r>
              <a:rPr lang="es-MX" sz="1000"/>
              <a:t>    count: 3,                         // Intentos fallidos</a:t>
            </a:r>
          </a:p>
          <a:p>
            <a:r>
              <a:rPr lang="es-MX" sz="1000"/>
              <a:t>    first: 1707500400000,             // Timestamp primer intento</a:t>
            </a:r>
          </a:p>
          <a:p>
            <a:r>
              <a:rPr lang="es-MX" sz="1000"/>
              <a:t>    blockedUntil: 0                   // Timestamp hasta cuándo bloqueado</a:t>
            </a:r>
          </a:p>
          <a:p>
            <a:r>
              <a:rPr lang="es-MX" sz="1000"/>
              <a:t>  },</a:t>
            </a:r>
          </a:p>
          <a:p>
            <a:r>
              <a:rPr lang="es-MX" sz="1000"/>
              <a:t>  '10.0.0.50' =&gt; {</a:t>
            </a:r>
          </a:p>
          <a:p>
            <a:r>
              <a:rPr lang="es-MX" sz="1000"/>
              <a:t>    count: 10,</a:t>
            </a:r>
          </a:p>
          <a:p>
            <a:r>
              <a:rPr lang="es-MX" sz="1000"/>
              <a:t>    first: 1707500100000,</a:t>
            </a:r>
          </a:p>
          <a:p>
            <a:r>
              <a:rPr lang="es-MX" sz="1000"/>
              <a:t>    blockedUntil: 1707500700000       // Bloqueado hasta este timestamp</a:t>
            </a:r>
          </a:p>
          <a:p>
            <a:r>
              <a:rPr lang="es-MX" sz="1000"/>
              <a:t>  }</a:t>
            </a:r>
          </a:p>
          <a:p>
            <a:r>
              <a:rPr lang="es-MX" sz="1000"/>
              <a:t>}</a:t>
            </a:r>
          </a:p>
          <a:p>
            <a:endParaRPr lang="es-MX" sz="1000"/>
          </a:p>
          <a:p>
            <a:r>
              <a:rPr lang="es-MX" sz="1000"/>
              <a:t>// === ALGORITMO ===</a:t>
            </a:r>
          </a:p>
          <a:p>
            <a:endParaRPr lang="es-MX" sz="1000"/>
          </a:p>
          <a:p>
            <a:r>
              <a:rPr lang="es-MX" sz="1000"/>
              <a:t>function registerAttempt(key, success) {</a:t>
            </a:r>
          </a:p>
          <a:p>
            <a:r>
              <a:rPr lang="es-MX" sz="1000"/>
              <a:t>  if (success) {</a:t>
            </a:r>
          </a:p>
          <a:p>
            <a:r>
              <a:rPr lang="es-MX" sz="1000"/>
              <a:t>    // LOGIN EXITOSO: borrar intentos</a:t>
            </a:r>
          </a:p>
          <a:p>
            <a:r>
              <a:rPr lang="es-MX" sz="1000"/>
              <a:t>    attempts.delete(key);</a:t>
            </a:r>
          </a:p>
          <a:p>
            <a:r>
              <a:rPr lang="es-MX" sz="1000"/>
              <a:t>    return;</a:t>
            </a:r>
          </a:p>
          <a:p>
            <a:r>
              <a:rPr lang="es-MX" sz="1000"/>
              <a:t>  }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// LOGIN FALLIDO: registrar intento</a:t>
            </a:r>
          </a:p>
          <a:p>
            <a:r>
              <a:rPr lang="es-MX" sz="1000"/>
              <a:t>  const current = attempts.get(key);</a:t>
            </a:r>
          </a:p>
          <a:p>
            <a:r>
              <a:rPr lang="es-MX" sz="1000"/>
              <a:t>  const now = Date.now();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// Verificar si está dentro de ventana de 10 minutos</a:t>
            </a:r>
          </a:p>
          <a:p>
            <a:r>
              <a:rPr lang="es-MX" sz="1000"/>
              <a:t>  const withinWindow = current &amp;&amp; (current.first &gt; now - WINDOW_MS);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if (withinWindow) {</a:t>
            </a:r>
          </a:p>
          <a:p>
            <a:r>
              <a:rPr lang="es-MX" sz="1000"/>
              <a:t>    // Incrementar contador existente</a:t>
            </a:r>
          </a:p>
          <a:p>
            <a:r>
              <a:rPr lang="es-MX" sz="1000"/>
              <a:t>    current.count += 1;</a:t>
            </a:r>
          </a:p>
          <a:p>
            <a:r>
              <a:rPr lang="es-MX" sz="1000"/>
              <a:t>  } else {</a:t>
            </a:r>
          </a:p>
          <a:p>
            <a:r>
              <a:rPr lang="es-MX" sz="1000"/>
              <a:t>    // Nueva ventana: resetear contador</a:t>
            </a:r>
          </a:p>
          <a:p>
            <a:r>
              <a:rPr lang="es-MX" sz="1000"/>
              <a:t>    current = { count: 1, first: now, blockedUntil: 0 };</a:t>
            </a:r>
          </a:p>
          <a:p>
            <a:r>
              <a:rPr lang="es-MX" sz="1000"/>
              <a:t>  }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// Si llegó a MAX_ATTEMPTS (10): BLOQUEAR</a:t>
            </a:r>
          </a:p>
          <a:p>
            <a:r>
              <a:rPr lang="es-MX" sz="1000"/>
              <a:t>  if (current.count &gt;= MAX_ATTEMPTS) {</a:t>
            </a:r>
          </a:p>
          <a:p>
            <a:r>
              <a:rPr lang="es-MX" sz="1000"/>
              <a:t>    current.blockedUntil = now + BLOCK_MS;  // Bloquear 5 minutos</a:t>
            </a:r>
          </a:p>
          <a:p>
            <a:r>
              <a:rPr lang="es-MX" sz="1000"/>
              <a:t>  }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attempts.set(key, current);</a:t>
            </a:r>
          </a:p>
          <a:p>
            <a:r>
              <a:rPr lang="es-MX" sz="1000"/>
              <a:t>}</a:t>
            </a:r>
          </a:p>
          <a:p>
            <a:endParaRPr lang="es-MX" sz="1000"/>
          </a:p>
          <a:p>
            <a:r>
              <a:rPr lang="es-MX" sz="1000"/>
              <a:t>function checkRateLimit(req, res) {</a:t>
            </a:r>
          </a:p>
          <a:p>
            <a:r>
              <a:rPr lang="es-MX" sz="1000"/>
              <a:t>  pruneAttempts();  // Limpiar registros viejos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const key = req.headers['x-forwarded-for'] || req.ip;</a:t>
            </a:r>
          </a:p>
          <a:p>
            <a:r>
              <a:rPr lang="es-MX" sz="1000"/>
              <a:t>  const record = attempts.get(key);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// Verificar si está bloqueado</a:t>
            </a:r>
          </a:p>
          <a:p>
            <a:r>
              <a:rPr lang="es-MX" sz="1000"/>
              <a:t>  if (record?.blockedUntil &amp;&amp; record.blockedUntil &gt; Date.now()) {</a:t>
            </a:r>
          </a:p>
          <a:p>
            <a:r>
              <a:rPr lang="es-MX" sz="1000"/>
              <a:t>    res.status(429).json({</a:t>
            </a:r>
          </a:p>
          <a:p>
            <a:r>
              <a:rPr lang="es-MX" sz="1000"/>
              <a:t>      mensaje: 'Demasiados intentos. Intenta de nuevo en unos minutos.'</a:t>
            </a:r>
          </a:p>
          <a:p>
            <a:r>
              <a:rPr lang="es-MX" sz="1000"/>
              <a:t>    });</a:t>
            </a:r>
          </a:p>
          <a:p>
            <a:r>
              <a:rPr lang="es-MX" sz="1000"/>
              <a:t>    return null;  // Rechazar request</a:t>
            </a:r>
          </a:p>
          <a:p>
            <a:r>
              <a:rPr lang="es-MX" sz="1000"/>
              <a:t>  }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return key;  // Permitir request</a:t>
            </a:r>
          </a:p>
          <a:p>
            <a:r>
              <a:rPr lang="es-MX" sz="1000"/>
              <a:t>}</a:t>
            </a:r>
          </a:p>
          <a:p>
            <a:endParaRPr lang="es-MX" sz="1000"/>
          </a:p>
          <a:p>
            <a:r>
              <a:rPr lang="es-MX" sz="1000"/>
              <a:t>// === EJEMPLO REAL ===</a:t>
            </a:r>
          </a:p>
          <a:p>
            <a:r>
              <a:rPr lang="es-MX" sz="1000"/>
              <a:t>Usuario: 192.168.1.100</a:t>
            </a:r>
          </a:p>
          <a:p>
            <a:endParaRPr lang="es-MX" sz="1000"/>
          </a:p>
          <a:p>
            <a:r>
              <a:rPr lang="es-MX" sz="1000"/>
              <a:t>09:00:00 - Intento 1 fallido → count: 1</a:t>
            </a:r>
          </a:p>
          <a:p>
            <a:r>
              <a:rPr lang="es-MX" sz="1000"/>
              <a:t>09:01:00 - Intento 2 fallido → count: 2</a:t>
            </a:r>
          </a:p>
          <a:p>
            <a:r>
              <a:rPr lang="es-MX" sz="1000"/>
              <a:t>09:02:00 - Intento 3 fallido → count: 3</a:t>
            </a:r>
          </a:p>
          <a:p>
            <a:r>
              <a:rPr lang="es-MX" sz="1000"/>
              <a:t>09:03:00 - Intento 4 fallido → count: 4</a:t>
            </a:r>
          </a:p>
          <a:p>
            <a:r>
              <a:rPr lang="es-MX" sz="1000"/>
              <a:t>09:04:00 - Intento 5 fallido → count: 5</a:t>
            </a:r>
          </a:p>
          <a:p>
            <a:r>
              <a:rPr lang="es-MX" sz="1000"/>
              <a:t>09:05:00 - Intento 6 fallido → count: 6</a:t>
            </a:r>
          </a:p>
          <a:p>
            <a:r>
              <a:rPr lang="es-MX" sz="1000"/>
              <a:t>09:06:00 - Intento 7 fallido → count: 7</a:t>
            </a:r>
          </a:p>
          <a:p>
            <a:r>
              <a:rPr lang="es-MX" sz="1000"/>
              <a:t>09:07:00 - Intento 8 fallido → count: 8</a:t>
            </a:r>
          </a:p>
          <a:p>
            <a:r>
              <a:rPr lang="es-MX" sz="1000"/>
              <a:t>09:08:00 - Intento 9 fallido → count: 9</a:t>
            </a:r>
          </a:p>
          <a:p>
            <a:r>
              <a:rPr lang="es-MX" sz="1000"/>
              <a:t>09:08:30 - Intento 10 fallido → count: 10</a:t>
            </a:r>
          </a:p>
          <a:p>
            <a:r>
              <a:rPr lang="es-MX" sz="1000"/>
              <a:t>           ⚠️ BLOQUEADO HASTA 09:13:30 (5 minutos)</a:t>
            </a:r>
          </a:p>
          <a:p>
            <a:endParaRPr lang="es-MX" sz="1000"/>
          </a:p>
          <a:p>
            <a:r>
              <a:rPr lang="es-MX" sz="1000"/>
              <a:t>09:10:00 - Intento 11 → RECHAZADO (429 Too Many Requests)</a:t>
            </a:r>
          </a:p>
          <a:p>
            <a:r>
              <a:rPr lang="es-MX" sz="1000"/>
              <a:t>09:12:00 - Intento 12 → RECHAZADO (429 Too Many Requests)</a:t>
            </a:r>
          </a:p>
          <a:p>
            <a:r>
              <a:rPr lang="es-MX" sz="1000"/>
              <a:t>09:14:00 - Intento 13 → PERMITIDO (bloqueo expiró)</a:t>
            </a:r>
          </a:p>
          <a:p>
            <a:r>
              <a:rPr lang="es-MX" sz="1000"/>
              <a:t>           Si login exitoso → attempts.delete('192.168.1.100')</a:t>
            </a:r>
          </a:p>
          <a:p>
            <a:r>
              <a:rPr lang="es-MX" sz="1000"/>
              <a:t>           Si falla → count: 1 (nueva ventana)</a:t>
            </a:r>
          </a:p>
          <a:p>
            <a:endParaRPr lang="es-MX" sz="1000"/>
          </a:p>
          <a:p>
            <a:r>
              <a:rPr lang="es-MX" sz="1000"/>
              <a:t>// === LIMPIEZA AUTOMÁTICA ===</a:t>
            </a:r>
          </a:p>
          <a:p>
            <a:r>
              <a:rPr lang="es-MX" sz="1000"/>
              <a:t>Cada request ejecuta pruneAttempts() que elimina:</a:t>
            </a:r>
          </a:p>
          <a:p>
            <a:r>
              <a:rPr lang="es-MX" sz="1000"/>
              <a:t>• Intentos &gt; 10 minutos de antigüedad</a:t>
            </a:r>
          </a:p>
          <a:p>
            <a:r>
              <a:rPr lang="es-MX" sz="1000"/>
              <a:t>• Bloqueos expirados</a:t>
            </a:r>
          </a:p>
          <a:p>
            <a:endParaRPr lang="es-MX" sz="1000"/>
          </a:p>
          <a:p>
            <a:r>
              <a:rPr lang="es-MX" sz="1000"/>
              <a:t>VENTAJAS:</a:t>
            </a:r>
          </a:p>
          <a:p>
            <a:r>
              <a:rPr lang="es-MX" sz="1000"/>
              <a:t>✓ Protección contra brute force</a:t>
            </a:r>
          </a:p>
          <a:p>
            <a:r>
              <a:rPr lang="es-MX" sz="1000"/>
              <a:t>✓ Sin dependencias externas</a:t>
            </a:r>
          </a:p>
          <a:p>
            <a:r>
              <a:rPr lang="es-MX" sz="1000"/>
              <a:t>✓ Memoria eficiente (auto-limpieza)</a:t>
            </a:r>
          </a:p>
          <a:p>
            <a:r>
              <a:rPr lang="es-MX" sz="1000"/>
              <a:t>✓ Por IP (no afecta otros usuarios)</a:t>
            </a:r>
          </a:p>
        </p:txBody>
      </p:sp>
    </p:spTree>
    <p:extLst>
      <p:ext uri="{BB962C8B-B14F-4D97-AF65-F5344CB8AC3E}">
        <p14:creationId xmlns:p14="http://schemas.microsoft.com/office/powerpoint/2010/main" val="266124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4077F-B436-C6A0-5DAD-38F4DFCA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800" b="1"/>
              <a:t>Tabla: usuarios - Estructura Completa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169DC4-C3D8-6DAF-7DEE-A3BAEABCE892}"/>
              </a:ext>
            </a:extLst>
          </p:cNvPr>
          <p:cNvSpPr txBox="1"/>
          <p:nvPr/>
        </p:nvSpPr>
        <p:spPr>
          <a:xfrm>
            <a:off x="635000" y="1524000"/>
            <a:ext cx="11684000" cy="184050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/>
              <a:t>CREATE TABLE usuarios (</a:t>
            </a:r>
          </a:p>
          <a:p>
            <a:r>
              <a:rPr lang="es-MX" sz="1000"/>
              <a:t>  id INTEGER PRIMARY KEY AUTOINCREMENT,</a:t>
            </a:r>
          </a:p>
          <a:p>
            <a:r>
              <a:rPr lang="es-MX" sz="1000"/>
              <a:t>    • Identificador único auto-incremental</a:t>
            </a:r>
          </a:p>
          <a:p>
            <a:r>
              <a:rPr lang="es-MX" sz="1000"/>
              <a:t>    • No nulo, único, clave primaria</a:t>
            </a:r>
          </a:p>
          <a:p>
            <a:r>
              <a:rPr lang="es-MX" sz="1000"/>
              <a:t>    • Usado como FK en otras tablas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usuario TEXT NOT NULL UNIQUE,</a:t>
            </a:r>
          </a:p>
          <a:p>
            <a:r>
              <a:rPr lang="es-MX" sz="1000"/>
              <a:t>    • Nombre de usuario para login</a:t>
            </a:r>
          </a:p>
          <a:p>
            <a:r>
              <a:rPr lang="es-MX" sz="1000"/>
              <a:t>    • No nulo, único (no puede haber duplicados)</a:t>
            </a:r>
          </a:p>
          <a:p>
            <a:r>
              <a:rPr lang="es-MX" sz="1000"/>
              <a:t>    • Normalizado a UPPERCASE en middleware</a:t>
            </a:r>
          </a:p>
          <a:p>
            <a:r>
              <a:rPr lang="es-MX" sz="1000"/>
              <a:t>    • Ejemplo: "ICONET", "JPEREZ", "MGARCIA"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nombres TEXT NOT NULL DEFAULT '',</a:t>
            </a:r>
          </a:p>
          <a:p>
            <a:r>
              <a:rPr lang="es-MX" sz="1000"/>
              <a:t>    • Nombre(s) del usuario</a:t>
            </a:r>
          </a:p>
          <a:p>
            <a:r>
              <a:rPr lang="es-MX" sz="1000"/>
              <a:t>    • No nulo, default '' (string vacío)</a:t>
            </a:r>
          </a:p>
          <a:p>
            <a:r>
              <a:rPr lang="es-MX" sz="1000"/>
              <a:t>    • Ejemplo: "Juan Carlos", "María"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apellido_primero TEXT NOT NULL DEFAULT '',</a:t>
            </a:r>
          </a:p>
          <a:p>
            <a:r>
              <a:rPr lang="es-MX" sz="1000"/>
              <a:t>    • Primer apellido (paterno)</a:t>
            </a:r>
          </a:p>
          <a:p>
            <a:r>
              <a:rPr lang="es-MX" sz="1000"/>
              <a:t>    • No nulo, default ''</a:t>
            </a:r>
          </a:p>
          <a:p>
            <a:r>
              <a:rPr lang="es-MX" sz="1000"/>
              <a:t>    • Ejemplo: "Pérez", "García"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apellido_segundo TEXT NOT NULL DEFAULT '',</a:t>
            </a:r>
          </a:p>
          <a:p>
            <a:r>
              <a:rPr lang="es-MX" sz="1000"/>
              <a:t>    • Segundo apellido (materno)</a:t>
            </a:r>
          </a:p>
          <a:p>
            <a:r>
              <a:rPr lang="es-MX" sz="1000"/>
              <a:t>    • No nulo, default ''</a:t>
            </a:r>
          </a:p>
          <a:p>
            <a:r>
              <a:rPr lang="es-MX" sz="1000"/>
              <a:t>    • Ejemplo: "López", "Martínez"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apellidos TEXT NOT NULL DEFAULT '',</a:t>
            </a:r>
          </a:p>
          <a:p>
            <a:r>
              <a:rPr lang="es-MX" sz="1000"/>
              <a:t>    • Apellidos completos (concatenados o alternativos)</a:t>
            </a:r>
          </a:p>
          <a:p>
            <a:r>
              <a:rPr lang="es-MX" sz="1000"/>
              <a:t>    • No nulo, default ''</a:t>
            </a:r>
          </a:p>
          <a:p>
            <a:r>
              <a:rPr lang="es-MX" sz="1000"/>
              <a:t>    • Se usa si apellido_primero y apellido_segundo no están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correo TEXT DEFAULT '',</a:t>
            </a:r>
          </a:p>
          <a:p>
            <a:r>
              <a:rPr lang="es-MX" sz="1000"/>
              <a:t>    • Email del usuario</a:t>
            </a:r>
          </a:p>
          <a:p>
            <a:r>
              <a:rPr lang="es-MX" sz="1000"/>
              <a:t>    • Nullable, default ''</a:t>
            </a:r>
          </a:p>
          <a:p>
            <a:r>
              <a:rPr lang="es-MX" sz="1000"/>
              <a:t>    • Sin restricción UNIQUE (puede haber duplicados o vacíos)</a:t>
            </a:r>
          </a:p>
          <a:p>
            <a:r>
              <a:rPr lang="es-MX" sz="1000"/>
              <a:t>    • Ejemplo: "juan.perez@empresa.com"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contrasena TEXT NOT NULL,</a:t>
            </a:r>
          </a:p>
          <a:p>
            <a:r>
              <a:rPr lang="es-MX" sz="1000"/>
              <a:t>    • Hash bcrypt de la contraseña</a:t>
            </a:r>
          </a:p>
          <a:p>
            <a:r>
              <a:rPr lang="es-MX" sz="1000"/>
              <a:t>    • No nulo (obligatorio)</a:t>
            </a:r>
          </a:p>
          <a:p>
            <a:r>
              <a:rPr lang="es-MX" sz="1000"/>
              <a:t>    • Nunca se almacena en texto plano</a:t>
            </a:r>
          </a:p>
          <a:p>
            <a:r>
              <a:rPr lang="es-MX" sz="1000"/>
              <a:t>    • Formato: ...xyz (60 caracteres)</a:t>
            </a:r>
          </a:p>
          <a:p>
            <a:r>
              <a:rPr lang="es-MX" sz="1000"/>
              <a:t>    • Generado con: bcrypt.hash(password, 10)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es_admin_global INTEGER NOT NULL DEFAULT 0,</a:t>
            </a:r>
          </a:p>
          <a:p>
            <a:r>
              <a:rPr lang="es-MX" sz="1000"/>
              <a:t>    • Bandera de administrador global</a:t>
            </a:r>
          </a:p>
          <a:p>
            <a:r>
              <a:rPr lang="es-MX" sz="1000"/>
              <a:t>    • 0 = Usuario normal</a:t>
            </a:r>
          </a:p>
          <a:p>
            <a:r>
              <a:rPr lang="es-MX" sz="1000"/>
              <a:t>    • 1 = Administrador (acceso total)</a:t>
            </a:r>
          </a:p>
          <a:p>
            <a:r>
              <a:rPr lang="es-MX" sz="1000"/>
              <a:t>    • Usuario "ICONET" siempre es admin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puede_agregar INTEGER NOT NULL DEFAULT 0,</a:t>
            </a:r>
          </a:p>
          <a:p>
            <a:r>
              <a:rPr lang="es-MX" sz="1000"/>
              <a:t>    • Permiso general: puede crear registros</a:t>
            </a:r>
          </a:p>
          <a:p>
            <a:r>
              <a:rPr lang="es-MX" sz="1000"/>
              <a:t>    • 0 = No puede agregar</a:t>
            </a:r>
          </a:p>
          <a:p>
            <a:r>
              <a:rPr lang="es-MX" sz="1000"/>
              <a:t>    • 1 = Puede agregar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puede_modificar INTEGER NOT NULL DEFAULT 0,</a:t>
            </a:r>
          </a:p>
          <a:p>
            <a:r>
              <a:rPr lang="es-MX" sz="1000"/>
              <a:t>    • Permiso general: puede editar registros</a:t>
            </a:r>
          </a:p>
          <a:p>
            <a:r>
              <a:rPr lang="es-MX" sz="1000"/>
              <a:t>    • 0 = No puede modificar</a:t>
            </a:r>
          </a:p>
          <a:p>
            <a:r>
              <a:rPr lang="es-MX" sz="1000"/>
              <a:t>    • 1 = Puede modificar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puede_eliminar INTEGER NOT NULL DEFAULT 0,</a:t>
            </a:r>
          </a:p>
          <a:p>
            <a:r>
              <a:rPr lang="es-MX" sz="1000"/>
              <a:t>    • Permiso general: puede borrar registros</a:t>
            </a:r>
          </a:p>
          <a:p>
            <a:r>
              <a:rPr lang="es-MX" sz="1000"/>
              <a:t>    • 0 = No puede eliminar</a:t>
            </a:r>
          </a:p>
          <a:p>
            <a:r>
              <a:rPr lang="es-MX" sz="1000"/>
              <a:t>    • 1 = Puede eliminar</a:t>
            </a:r>
          </a:p>
          <a:p>
            <a:r>
              <a:rPr lang="es-MX" sz="1000"/>
              <a:t>  </a:t>
            </a:r>
          </a:p>
          <a:p>
            <a:r>
              <a:rPr lang="es-MX" sz="1000"/>
              <a:t>  creado_en TEXT DEFAULT CURRENT_TIMESTAMP</a:t>
            </a:r>
          </a:p>
          <a:p>
            <a:r>
              <a:rPr lang="es-MX" sz="1000"/>
              <a:t>    • Timestamp de creación del usuario</a:t>
            </a:r>
          </a:p>
          <a:p>
            <a:r>
              <a:rPr lang="es-MX" sz="1000"/>
              <a:t>    • Formato: 'YYYY-MM-DD HH:MM:SS'</a:t>
            </a:r>
          </a:p>
          <a:p>
            <a:r>
              <a:rPr lang="es-MX" sz="1000"/>
              <a:t>    • Ejemplo: '2026-02-09 14:30:00'</a:t>
            </a:r>
          </a:p>
          <a:p>
            <a:r>
              <a:rPr lang="es-MX" sz="1000"/>
              <a:t>    • Se asigna automáticamente al INSERT</a:t>
            </a:r>
          </a:p>
          <a:p>
            <a:r>
              <a:rPr lang="es-MX" sz="1000"/>
              <a:t>);</a:t>
            </a:r>
          </a:p>
          <a:p>
            <a:endParaRPr lang="es-MX" sz="1000"/>
          </a:p>
          <a:p>
            <a:r>
              <a:rPr lang="es-MX" sz="1000"/>
              <a:t>ÍNDICES:</a:t>
            </a:r>
          </a:p>
          <a:p>
            <a:r>
              <a:rPr lang="es-MX" sz="1000"/>
              <a:t>• PRIMARY KEY en id (auto-creado)</a:t>
            </a:r>
          </a:p>
          <a:p>
            <a:r>
              <a:rPr lang="es-MX" sz="1000"/>
              <a:t>• UNIQUE INDEX en usuario (auto-creado por UNIQUE constraint)</a:t>
            </a:r>
          </a:p>
          <a:p>
            <a:endParaRPr lang="es-MX" sz="1000"/>
          </a:p>
          <a:p>
            <a:r>
              <a:rPr lang="es-MX" sz="1000"/>
              <a:t>QUERIES COMUNES:</a:t>
            </a:r>
          </a:p>
          <a:p>
            <a:endParaRPr lang="es-MX" sz="1000"/>
          </a:p>
          <a:p>
            <a:r>
              <a:rPr lang="es-MX" sz="1000"/>
              <a:t>1. Login (src/routes/auth.js línea 150):</a:t>
            </a:r>
          </a:p>
          <a:p>
            <a:r>
              <a:rPr lang="es-MX" sz="1000"/>
              <a:t>   SELECT id, usuario, nombres, apellido_primero, apellido_segundo,</a:t>
            </a:r>
          </a:p>
          <a:p>
            <a:r>
              <a:rPr lang="es-MX" sz="1000"/>
              <a:t>          apellidos, correo, contrasena, es_admin_global,</a:t>
            </a:r>
          </a:p>
          <a:p>
            <a:r>
              <a:rPr lang="es-MX" sz="1000"/>
              <a:t>          puede_agregar, puede_modificar, puede_eliminar</a:t>
            </a:r>
          </a:p>
          <a:p>
            <a:r>
              <a:rPr lang="es-MX" sz="1000"/>
              <a:t>   FROM usuarios</a:t>
            </a:r>
          </a:p>
          <a:p>
            <a:r>
              <a:rPr lang="es-MX" sz="1000"/>
              <a:t>   WHERE usuario = ?</a:t>
            </a:r>
          </a:p>
          <a:p>
            <a:endParaRPr lang="es-MX" sz="1000"/>
          </a:p>
          <a:p>
            <a:r>
              <a:rPr lang="es-MX" sz="1000"/>
              <a:t>2. Listar usuarios (src/routes/usuarios.js):</a:t>
            </a:r>
          </a:p>
          <a:p>
            <a:r>
              <a:rPr lang="es-MX" sz="1000"/>
              <a:t>   SELECT id, usuario, nombres, apellido_primero, apellido_segundo,</a:t>
            </a:r>
          </a:p>
          <a:p>
            <a:r>
              <a:rPr lang="es-MX" sz="1000"/>
              <a:t>          correo, es_admin_global, puede_agregar, puede_modificar,</a:t>
            </a:r>
          </a:p>
          <a:p>
            <a:r>
              <a:rPr lang="es-MX" sz="1000"/>
              <a:t>          puede_eliminar, creado_en</a:t>
            </a:r>
          </a:p>
          <a:p>
            <a:r>
              <a:rPr lang="es-MX" sz="1000"/>
              <a:t>   FROM usuarios</a:t>
            </a:r>
          </a:p>
          <a:p>
            <a:r>
              <a:rPr lang="es-MX" sz="1000"/>
              <a:t>   ORDER BY usuario</a:t>
            </a:r>
          </a:p>
          <a:p>
            <a:endParaRPr lang="es-MX" sz="1000"/>
          </a:p>
          <a:p>
            <a:r>
              <a:rPr lang="es-MX" sz="1000"/>
              <a:t>3. Crear usuario (src/routes/usuarios.js):</a:t>
            </a:r>
          </a:p>
          <a:p>
            <a:r>
              <a:rPr lang="es-MX" sz="1000"/>
              <a:t>   INSERT INTO usuarios (</a:t>
            </a:r>
          </a:p>
          <a:p>
            <a:r>
              <a:rPr lang="es-MX" sz="1000"/>
              <a:t>     usuario, nombres, apellido_primero, apellido_segundo,</a:t>
            </a:r>
          </a:p>
          <a:p>
            <a:r>
              <a:rPr lang="es-MX" sz="1000"/>
              <a:t>     correo, contrasena, es_admin_global,</a:t>
            </a:r>
          </a:p>
          <a:p>
            <a:r>
              <a:rPr lang="es-MX" sz="1000"/>
              <a:t>     puede_agregar, puede_modificar, puede_eliminar</a:t>
            </a:r>
          </a:p>
          <a:p>
            <a:r>
              <a:rPr lang="es-MX" sz="1000"/>
              <a:t>   ) VALUES (?, ?, ?, ?, ?, ?, ?, ?, ?, ?)</a:t>
            </a:r>
          </a:p>
          <a:p>
            <a:endParaRPr lang="es-MX" sz="1000"/>
          </a:p>
          <a:p>
            <a:r>
              <a:rPr lang="es-MX" sz="1000"/>
              <a:t>4. Actualizar contraseña (src/routes/perfil.js):</a:t>
            </a:r>
          </a:p>
          <a:p>
            <a:r>
              <a:rPr lang="es-MX" sz="1000"/>
              <a:t>   UPDATE usuarios SET contrasena = ? WHERE id = ?</a:t>
            </a:r>
          </a:p>
          <a:p>
            <a:endParaRPr lang="es-MX" sz="1000"/>
          </a:p>
          <a:p>
            <a:r>
              <a:rPr lang="es-MX" sz="1000"/>
              <a:t>EJEMPLO DE REGISTRO:</a:t>
            </a:r>
          </a:p>
          <a:p>
            <a:r>
              <a:rPr lang="es-MX" sz="1000"/>
              <a:t>{</a:t>
            </a:r>
          </a:p>
          <a:p>
            <a:r>
              <a:rPr lang="es-MX" sz="1000"/>
              <a:t>  id: 5,</a:t>
            </a:r>
          </a:p>
          <a:p>
            <a:r>
              <a:rPr lang="es-MX" sz="1000"/>
              <a:t>  usuario: 'JPEREZ',</a:t>
            </a:r>
          </a:p>
          <a:p>
            <a:r>
              <a:rPr lang="es-MX" sz="1000"/>
              <a:t>  nombres: 'Juan Carlos',</a:t>
            </a:r>
          </a:p>
          <a:p>
            <a:r>
              <a:rPr lang="es-MX" sz="1000"/>
              <a:t>  apellido_primero: 'Pérez',</a:t>
            </a:r>
          </a:p>
          <a:p>
            <a:r>
              <a:rPr lang="es-MX" sz="1000"/>
              <a:t>  apellido_segundo: 'López',</a:t>
            </a:r>
          </a:p>
          <a:p>
            <a:r>
              <a:rPr lang="es-MX" sz="1000"/>
              <a:t>  apellidos: 'Pérez López',</a:t>
            </a:r>
          </a:p>
          <a:p>
            <a:r>
              <a:rPr lang="es-MX" sz="1000"/>
              <a:t>  correo: 'juan.perez@empresa.com',</a:t>
            </a:r>
          </a:p>
          <a:p>
            <a:r>
              <a:rPr lang="es-MX" sz="1000"/>
              <a:t>  contrasena: '...',</a:t>
            </a:r>
          </a:p>
          <a:p>
            <a:r>
              <a:rPr lang="es-MX" sz="1000"/>
              <a:t>  es_admin_global: 0,</a:t>
            </a:r>
          </a:p>
          <a:p>
            <a:r>
              <a:rPr lang="es-MX" sz="1000"/>
              <a:t>  puede_agregar: 1,</a:t>
            </a:r>
          </a:p>
          <a:p>
            <a:r>
              <a:rPr lang="es-MX" sz="1000"/>
              <a:t>  puede_modificar: 1,</a:t>
            </a:r>
          </a:p>
          <a:p>
            <a:r>
              <a:rPr lang="es-MX" sz="1000"/>
              <a:t>  puede_eliminar: 0,</a:t>
            </a:r>
          </a:p>
          <a:p>
            <a:r>
              <a:rPr lang="es-MX" sz="1000"/>
              <a:t>  creado_en: '2026-01-15 10:30:00'</a:t>
            </a:r>
          </a:p>
          <a:p>
            <a:r>
              <a:rPr lang="es-MX" sz="1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0432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88C1F-DAC3-F5C6-5F56-FB923AFC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800" b="1"/>
              <a:t>Tabla: permisos_modulo - Estructura Completa</a:t>
            </a:r>
            <a:endParaRPr lang="es-MX" sz="38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707941-4D14-4596-81BC-7A5CC64EDEA5}"/>
              </a:ext>
            </a:extLst>
          </p:cNvPr>
          <p:cNvSpPr txBox="1"/>
          <p:nvPr/>
        </p:nvSpPr>
        <p:spPr>
          <a:xfrm>
            <a:off x="635000" y="1524000"/>
            <a:ext cx="11684000" cy="196207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900"/>
              <a:t>CREATE TABLE permisos_modulo (</a:t>
            </a:r>
          </a:p>
          <a:p>
            <a:r>
              <a:rPr lang="es-ES" sz="900"/>
              <a:t>  id INTEGER PRIMARY KEY AUTOINCREMENT,</a:t>
            </a:r>
          </a:p>
          <a:p>
            <a:r>
              <a:rPr lang="es-ES" sz="900"/>
              <a:t>    • Identificador único del permiso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usuario_id INTEGER NOT NULL,</a:t>
            </a:r>
          </a:p>
          <a:p>
            <a:r>
              <a:rPr lang="es-ES" sz="900"/>
              <a:t>    • FK a usuarios.id</a:t>
            </a:r>
          </a:p>
          <a:p>
            <a:r>
              <a:rPr lang="es-ES" sz="900"/>
              <a:t>    • ¿A qué usuario se le da este permiso?</a:t>
            </a:r>
          </a:p>
          <a:p>
            <a:r>
              <a:rPr lang="es-ES" sz="900"/>
              <a:t>    • Obligatorio (no null)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empresa_id TEXT NOT NULL,</a:t>
            </a:r>
          </a:p>
          <a:p>
            <a:r>
              <a:rPr lang="es-ES" sz="900"/>
              <a:t>    • ID de la empresa (ej: 'empresa1', 'empresa2')</a:t>
            </a:r>
          </a:p>
          <a:p>
            <a:r>
              <a:rPr lang="es-ES" sz="900"/>
              <a:t>    • ¿En qué empresa aplica este permiso?</a:t>
            </a:r>
          </a:p>
          <a:p>
            <a:r>
              <a:rPr lang="es-ES" sz="900"/>
              <a:t>    • Valores permitidos: empresa1, empresa2, empresa3, empresa4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modulo TEXT NOT NULL,</a:t>
            </a:r>
          </a:p>
          <a:p>
            <a:r>
              <a:rPr lang="es-ES" sz="900"/>
              <a:t>    • Nombre del módulo (ej: 'RH', 'Finanzas', 'RESUMEN')</a:t>
            </a:r>
          </a:p>
          <a:p>
            <a:r>
              <a:rPr lang="es-ES" sz="900"/>
              <a:t>    • ¿En qué módulo aplica este permiso?</a:t>
            </a:r>
          </a:p>
          <a:p>
            <a:r>
              <a:rPr lang="es-ES" sz="900"/>
              <a:t>    • Valores comunes:</a:t>
            </a:r>
          </a:p>
          <a:p>
            <a:r>
              <a:rPr lang="es-ES" sz="900"/>
              <a:t>      - RH (Recursos Humanos)</a:t>
            </a:r>
          </a:p>
          <a:p>
            <a:r>
              <a:rPr lang="es-ES" sz="900"/>
              <a:t>      - Finanzas</a:t>
            </a:r>
          </a:p>
          <a:p>
            <a:r>
              <a:rPr lang="es-ES" sz="900"/>
              <a:t>      - Gastos Generales</a:t>
            </a:r>
          </a:p>
          <a:p>
            <a:r>
              <a:rPr lang="es-ES" sz="900"/>
              <a:t>      - VPE (Vicepresidencia Ejecutiva)</a:t>
            </a:r>
          </a:p>
          <a:p>
            <a:r>
              <a:rPr lang="es-ES" sz="900"/>
              <a:t>      - T&amp;IC (Tecnología e Innovación)</a:t>
            </a:r>
          </a:p>
          <a:p>
            <a:r>
              <a:rPr lang="es-ES" sz="900"/>
              <a:t>      - Eventos</a:t>
            </a:r>
          </a:p>
          <a:p>
            <a:r>
              <a:rPr lang="es-ES" sz="900"/>
              <a:t>      - Membresía</a:t>
            </a:r>
          </a:p>
          <a:p>
            <a:r>
              <a:rPr lang="es-ES" sz="900"/>
              <a:t>      - Servicios Membresía</a:t>
            </a:r>
          </a:p>
          <a:p>
            <a:r>
              <a:rPr lang="es-ES" sz="900"/>
              <a:t>      - Nómina</a:t>
            </a:r>
          </a:p>
          <a:p>
            <a:r>
              <a:rPr lang="es-ES" sz="900"/>
              <a:t>      - RESUMEN</a:t>
            </a:r>
          </a:p>
          <a:p>
            <a:r>
              <a:rPr lang="es-ES" sz="900"/>
              <a:t>      - SUMMARY</a:t>
            </a:r>
          </a:p>
          <a:p>
            <a:r>
              <a:rPr lang="es-ES" sz="900"/>
              <a:t>      - PRESUPUESTOS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puede_leer INTEGER NOT NULL DEFAULT 0,</a:t>
            </a:r>
          </a:p>
          <a:p>
            <a:r>
              <a:rPr lang="es-ES" sz="900"/>
              <a:t>    • Permiso de LECTURA (Ver datos)</a:t>
            </a:r>
          </a:p>
          <a:p>
            <a:r>
              <a:rPr lang="es-ES" sz="900"/>
              <a:t>    • 0 = No puede ver</a:t>
            </a:r>
          </a:p>
          <a:p>
            <a:r>
              <a:rPr lang="es-ES" sz="900"/>
              <a:t>    • 1 = Puede ver</a:t>
            </a:r>
          </a:p>
          <a:p>
            <a:r>
              <a:rPr lang="es-ES" sz="900"/>
              <a:t>    • Nivel más básico de acceso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puede_cargar_guardar INTEGER NOT NULL DEFAULT 0,</a:t>
            </a:r>
          </a:p>
          <a:p>
            <a:r>
              <a:rPr lang="es-ES" sz="900"/>
              <a:t>    • Permiso de ESCRITURA (Ingresar y guardar datos)</a:t>
            </a:r>
          </a:p>
          <a:p>
            <a:r>
              <a:rPr lang="es-ES" sz="900"/>
              <a:t>    • 0 = No puede escribir</a:t>
            </a:r>
          </a:p>
          <a:p>
            <a:r>
              <a:rPr lang="es-ES" sz="900"/>
              <a:t>    • 1 = Puede escribir</a:t>
            </a:r>
          </a:p>
          <a:p>
            <a:r>
              <a:rPr lang="es-ES" sz="900"/>
              <a:t>    • Requiere puede_leer = 1 (lógicamente)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puede_revisar INTEGER NOT NULL DEFAULT 0,</a:t>
            </a:r>
          </a:p>
          <a:p>
            <a:r>
              <a:rPr lang="es-ES" sz="900"/>
              <a:t>    • Permiso de REVISIÓN (Marcar como revisado)</a:t>
            </a:r>
          </a:p>
          <a:p>
            <a:r>
              <a:rPr lang="es-ES" sz="900"/>
              <a:t>    • 0 = No puede revisar</a:t>
            </a:r>
          </a:p>
          <a:p>
            <a:r>
              <a:rPr lang="es-ES" sz="900"/>
              <a:t>    • 1 = Puede revisar</a:t>
            </a:r>
          </a:p>
          <a:p>
            <a:r>
              <a:rPr lang="es-ES" sz="900"/>
              <a:t>    • Nivel intermedio de aprobación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puede_aprobar INTEGER NOT NULL DEFAULT 0,</a:t>
            </a:r>
          </a:p>
          <a:p>
            <a:r>
              <a:rPr lang="es-ES" sz="900"/>
              <a:t>    • Permiso de APROBACIÓN (Autorización final)</a:t>
            </a:r>
          </a:p>
          <a:p>
            <a:r>
              <a:rPr lang="es-ES" sz="900"/>
              <a:t>    • 0 = No puede aprobar</a:t>
            </a:r>
          </a:p>
          <a:p>
            <a:r>
              <a:rPr lang="es-ES" sz="900"/>
              <a:t>    • 1 = Puede aprobar</a:t>
            </a:r>
          </a:p>
          <a:p>
            <a:r>
              <a:rPr lang="es-ES" sz="900"/>
              <a:t>    • Máximo nivel de autorización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UNIQUE(usuario_id, empresa_id, modulo),</a:t>
            </a:r>
          </a:p>
          <a:p>
            <a:r>
              <a:rPr lang="es-ES" sz="900"/>
              <a:t>    • Constraint de unicidad</a:t>
            </a:r>
          </a:p>
          <a:p>
            <a:r>
              <a:rPr lang="es-ES" sz="900"/>
              <a:t>    • Solo UN permiso por combinación usuario-empresa-módulo</a:t>
            </a:r>
          </a:p>
          <a:p>
            <a:r>
              <a:rPr lang="es-ES" sz="900"/>
              <a:t>    • No puede haber duplicados</a:t>
            </a:r>
          </a:p>
          <a:p>
            <a:r>
              <a:rPr lang="es-ES" sz="900"/>
              <a:t>  </a:t>
            </a:r>
          </a:p>
          <a:p>
            <a:r>
              <a:rPr lang="es-ES" sz="900"/>
              <a:t>  FOREIGN KEY(usuario_id) REFERENCES usuarios(id) ON DELETE CASCADE</a:t>
            </a:r>
          </a:p>
          <a:p>
            <a:r>
              <a:rPr lang="es-ES" sz="900"/>
              <a:t>    • Relación con tabla usuarios</a:t>
            </a:r>
          </a:p>
          <a:p>
            <a:r>
              <a:rPr lang="es-ES" sz="900"/>
              <a:t>    • Si se elimina el usuario, se eliminan sus permisos (CASCADE)</a:t>
            </a:r>
          </a:p>
          <a:p>
            <a:r>
              <a:rPr lang="es-ES" sz="900"/>
              <a:t>);</a:t>
            </a:r>
          </a:p>
          <a:p>
            <a:endParaRPr lang="es-ES" sz="900"/>
          </a:p>
          <a:p>
            <a:r>
              <a:rPr lang="es-ES" sz="900"/>
              <a:t>ÍNDICE AUTOMÁTICO:</a:t>
            </a:r>
          </a:p>
          <a:p>
            <a:r>
              <a:rPr lang="es-ES" sz="900"/>
              <a:t>• UNIQUE INDEX en (usuario_id, empresa_id, modulo)</a:t>
            </a:r>
          </a:p>
          <a:p>
            <a:endParaRPr lang="es-ES" sz="900"/>
          </a:p>
          <a:p>
            <a:r>
              <a:rPr lang="es-ES" sz="900"/>
              <a:t>QUERIES PRINCIPALES:</a:t>
            </a:r>
          </a:p>
          <a:p>
            <a:endParaRPr lang="es-ES" sz="900"/>
          </a:p>
          <a:p>
            <a:r>
              <a:rPr lang="es-ES" sz="900"/>
              <a:t>1. Cargar permisos de usuario (src/middleware/auth.js línea 137):</a:t>
            </a:r>
          </a:p>
          <a:p>
            <a:r>
              <a:rPr lang="es-ES" sz="900"/>
              <a:t>   SELECT empresa_id, modulo, puede_leer, puede_cargar_guardar,</a:t>
            </a:r>
          </a:p>
          <a:p>
            <a:r>
              <a:rPr lang="es-ES" sz="900"/>
              <a:t>          puede_revisar, puede_aprobar</a:t>
            </a:r>
          </a:p>
          <a:p>
            <a:r>
              <a:rPr lang="es-ES" sz="900"/>
              <a:t>   FROM permisos_modulo</a:t>
            </a:r>
          </a:p>
          <a:p>
            <a:r>
              <a:rPr lang="es-ES" sz="900"/>
              <a:t>   WHERE usuario_id = ?</a:t>
            </a:r>
          </a:p>
          <a:p>
            <a:endParaRPr lang="es-ES" sz="900"/>
          </a:p>
          <a:p>
            <a:r>
              <a:rPr lang="es-ES" sz="900"/>
              <a:t>2. Verificar permiso específico (src/services/permisosService.js):</a:t>
            </a:r>
          </a:p>
          <a:p>
            <a:r>
              <a:rPr lang="es-ES" sz="900"/>
              <a:t>   SELECT puede_leer, puede_cargar_guardar, puede_revisar, puede_aprobar</a:t>
            </a:r>
          </a:p>
          <a:p>
            <a:r>
              <a:rPr lang="es-ES" sz="900"/>
              <a:t>   FROM permisos_modulo</a:t>
            </a:r>
          </a:p>
          <a:p>
            <a:r>
              <a:rPr lang="es-ES" sz="900"/>
              <a:t>   WHERE usuario_id = ?</a:t>
            </a:r>
          </a:p>
          <a:p>
            <a:r>
              <a:rPr lang="es-ES" sz="900"/>
              <a:t>     AND empresa_id = ?</a:t>
            </a:r>
          </a:p>
          <a:p>
            <a:r>
              <a:rPr lang="es-ES" sz="900"/>
              <a:t>     AND modulo = ?</a:t>
            </a:r>
          </a:p>
          <a:p>
            <a:endParaRPr lang="es-ES" sz="900"/>
          </a:p>
          <a:p>
            <a:r>
              <a:rPr lang="es-ES" sz="900"/>
              <a:t>3. Asignar permiso (src/routes/usuarios.js):</a:t>
            </a:r>
          </a:p>
          <a:p>
            <a:r>
              <a:rPr lang="es-ES" sz="900"/>
              <a:t>   INSERT INTO permisos_modulo (</a:t>
            </a:r>
          </a:p>
          <a:p>
            <a:r>
              <a:rPr lang="es-ES" sz="900"/>
              <a:t>     usuario_id, empresa_id, modulo,</a:t>
            </a:r>
          </a:p>
          <a:p>
            <a:r>
              <a:rPr lang="es-ES" sz="900"/>
              <a:t>     puede_leer, puede_cargar_guardar,</a:t>
            </a:r>
          </a:p>
          <a:p>
            <a:r>
              <a:rPr lang="es-ES" sz="900"/>
              <a:t>     puede_revisar, puede_aprobar</a:t>
            </a:r>
          </a:p>
          <a:p>
            <a:r>
              <a:rPr lang="es-ES" sz="900"/>
              <a:t>   ) VALUES (?, ?, ?, ?, ?, ?, ?)</a:t>
            </a:r>
          </a:p>
          <a:p>
            <a:r>
              <a:rPr lang="es-ES" sz="900"/>
              <a:t>   ON CONFLICT(usuario_id, empresa_id, modulo) DO UPDATE SET</a:t>
            </a:r>
          </a:p>
          <a:p>
            <a:r>
              <a:rPr lang="es-ES" sz="900"/>
              <a:t>     puede_leer = excluded.puede_leer,</a:t>
            </a:r>
          </a:p>
          <a:p>
            <a:r>
              <a:rPr lang="es-ES" sz="900"/>
              <a:t>     puede_cargar_guardar = excluded.puede_cargar_guardar,</a:t>
            </a:r>
          </a:p>
          <a:p>
            <a:r>
              <a:rPr lang="es-ES" sz="900"/>
              <a:t>     puede_revisar = excluded.puede_revisar,</a:t>
            </a:r>
          </a:p>
          <a:p>
            <a:r>
              <a:rPr lang="es-ES" sz="900"/>
              <a:t>     puede_aprobar = excluded.puede_aprobar</a:t>
            </a:r>
          </a:p>
          <a:p>
            <a:endParaRPr lang="es-ES" sz="900"/>
          </a:p>
          <a:p>
            <a:r>
              <a:rPr lang="es-ES" sz="900"/>
              <a:t>4. Revocar todos los permisos de usuario en módulo:</a:t>
            </a:r>
          </a:p>
          <a:p>
            <a:r>
              <a:rPr lang="es-ES" sz="900"/>
              <a:t>   DELETE FROM permisos_modulo</a:t>
            </a:r>
          </a:p>
          <a:p>
            <a:r>
              <a:rPr lang="es-ES" sz="900"/>
              <a:t>   WHERE usuario_id = ? AND empresa_id = ? AND modulo = ?</a:t>
            </a:r>
          </a:p>
          <a:p>
            <a:endParaRPr lang="es-ES" sz="900"/>
          </a:p>
          <a:p>
            <a:r>
              <a:rPr lang="es-ES" sz="900"/>
              <a:t>EJEMPLO DE REGISTROS:</a:t>
            </a:r>
          </a:p>
          <a:p>
            <a:endParaRPr lang="es-ES" sz="900"/>
          </a:p>
          <a:p>
            <a:r>
              <a:rPr lang="es-ES" sz="900"/>
              <a:t>Usuario ID 5 (Juan Pérez) en empresa1:</a:t>
            </a:r>
          </a:p>
          <a:p>
            <a:endParaRPr lang="es-ES" sz="900"/>
          </a:p>
          <a:p>
            <a:r>
              <a:rPr lang="es-ES" sz="900"/>
              <a:t>| id | usuario_id | empresa_id | modulo    | leer | cargar | revisar | aprobar |</a:t>
            </a:r>
          </a:p>
          <a:p>
            <a:r>
              <a:rPr lang="es-ES" sz="900"/>
              <a:t>|----|------------|------------|-----------|------|--------|---------|---------|</a:t>
            </a:r>
          </a:p>
          <a:p>
            <a:r>
              <a:rPr lang="es-ES" sz="900"/>
              <a:t>| 10 |     5      | empresa1   | RH        |  1   |   1    |    0    |    0    |</a:t>
            </a:r>
          </a:p>
          <a:p>
            <a:r>
              <a:rPr lang="es-ES" sz="900"/>
              <a:t>| 11 |     5      | empresa1   | Finanzas  |  1   |   0    |    1    |    0    |</a:t>
            </a:r>
          </a:p>
          <a:p>
            <a:r>
              <a:rPr lang="es-ES" sz="900"/>
              <a:t>| 12 |     5      | empresa1   | RESUMEN   |  1   |   0    |    0    |    0    |</a:t>
            </a:r>
          </a:p>
          <a:p>
            <a:endParaRPr lang="es-ES" sz="900"/>
          </a:p>
          <a:p>
            <a:r>
              <a:rPr lang="es-ES" sz="900"/>
              <a:t>Interpretación:</a:t>
            </a:r>
          </a:p>
          <a:p>
            <a:r>
              <a:rPr lang="es-ES" sz="900"/>
              <a:t>• En RH: puede ver Y escribir (pero no revisar ni aprobar)</a:t>
            </a:r>
          </a:p>
          <a:p>
            <a:r>
              <a:rPr lang="es-ES" sz="900"/>
              <a:t>• En Finanzas: puede ver Y revisar (pero no escribir ni aprobar)</a:t>
            </a:r>
          </a:p>
          <a:p>
            <a:r>
              <a:rPr lang="es-ES" sz="900"/>
              <a:t>• En RESUMEN: solo puede ver (lectura únicamente)</a:t>
            </a:r>
          </a:p>
          <a:p>
            <a:endParaRPr lang="es-ES" sz="900"/>
          </a:p>
          <a:p>
            <a:r>
              <a:rPr lang="es-ES" sz="900"/>
              <a:t>CONSTRUCCIÓN DEL MAPA EN MEMORIA (src/services/permisosService.js):</a:t>
            </a:r>
          </a:p>
          <a:p>
            <a:endParaRPr lang="es-ES" sz="900"/>
          </a:p>
          <a:p>
            <a:r>
              <a:rPr lang="es-ES" sz="900"/>
              <a:t>{</a:t>
            </a:r>
          </a:p>
          <a:p>
            <a:r>
              <a:rPr lang="es-ES" sz="900"/>
              <a:t>  empresa1: {</a:t>
            </a:r>
          </a:p>
          <a:p>
            <a:r>
              <a:rPr lang="es-ES" sz="900"/>
              <a:t>    'RH': {</a:t>
            </a:r>
          </a:p>
          <a:p>
            <a:r>
              <a:rPr lang="es-ES" sz="900"/>
              <a:t>      Ver: true,</a:t>
            </a:r>
          </a:p>
          <a:p>
            <a:r>
              <a:rPr lang="es-ES" sz="900"/>
              <a:t>      Lectura: true,</a:t>
            </a:r>
          </a:p>
          <a:p>
            <a:r>
              <a:rPr lang="es-ES" sz="900"/>
              <a:t>      'Cargar y guardar': true,</a:t>
            </a:r>
          </a:p>
          <a:p>
            <a:r>
              <a:rPr lang="es-ES" sz="900"/>
              <a:t>      Revisar: false,</a:t>
            </a:r>
          </a:p>
          <a:p>
            <a:r>
              <a:rPr lang="es-ES" sz="900"/>
              <a:t>      Aprobar: false</a:t>
            </a:r>
          </a:p>
          <a:p>
            <a:r>
              <a:rPr lang="es-ES" sz="900"/>
              <a:t>    },</a:t>
            </a:r>
          </a:p>
          <a:p>
            <a:r>
              <a:rPr lang="es-ES" sz="900"/>
              <a:t>    'Finanzas': {</a:t>
            </a:r>
          </a:p>
          <a:p>
            <a:r>
              <a:rPr lang="es-ES" sz="900"/>
              <a:t>      Ver: true,</a:t>
            </a:r>
          </a:p>
          <a:p>
            <a:r>
              <a:rPr lang="es-ES" sz="900"/>
              <a:t>      Lectura: true,</a:t>
            </a:r>
          </a:p>
          <a:p>
            <a:r>
              <a:rPr lang="es-ES" sz="900"/>
              <a:t>      'Cargar y guardar': false,</a:t>
            </a:r>
          </a:p>
          <a:p>
            <a:r>
              <a:rPr lang="es-ES" sz="900"/>
              <a:t>      Revisar: true,</a:t>
            </a:r>
          </a:p>
          <a:p>
            <a:r>
              <a:rPr lang="es-ES" sz="900"/>
              <a:t>      Aprobar: false</a:t>
            </a:r>
          </a:p>
          <a:p>
            <a:r>
              <a:rPr lang="es-ES" sz="900"/>
              <a:t>    },</a:t>
            </a:r>
          </a:p>
          <a:p>
            <a:r>
              <a:rPr lang="es-ES" sz="900"/>
              <a:t>    'RESUMEN': {</a:t>
            </a:r>
          </a:p>
          <a:p>
            <a:r>
              <a:rPr lang="es-ES" sz="900"/>
              <a:t>      Ver: true,</a:t>
            </a:r>
          </a:p>
          <a:p>
            <a:r>
              <a:rPr lang="es-ES" sz="900"/>
              <a:t>      Lectura: true,</a:t>
            </a:r>
          </a:p>
          <a:p>
            <a:r>
              <a:rPr lang="es-ES" sz="900"/>
              <a:t>      'Cargar y guardar': false,</a:t>
            </a:r>
          </a:p>
          <a:p>
            <a:r>
              <a:rPr lang="es-ES" sz="900"/>
              <a:t>      Revisar: false,</a:t>
            </a:r>
          </a:p>
          <a:p>
            <a:r>
              <a:rPr lang="es-ES" sz="900"/>
              <a:t>      Aprobar: false</a:t>
            </a:r>
          </a:p>
          <a:p>
            <a:r>
              <a:rPr lang="es-ES" sz="900"/>
              <a:t>    }</a:t>
            </a:r>
          </a:p>
          <a:p>
            <a:r>
              <a:rPr lang="es-ES" sz="900"/>
              <a:t>  }</a:t>
            </a:r>
          </a:p>
          <a:p>
            <a:r>
              <a:rPr lang="es-ES" sz="900"/>
              <a:t>}</a:t>
            </a:r>
            <a:endParaRPr lang="es-MX" sz="900"/>
          </a:p>
        </p:txBody>
      </p:sp>
    </p:spTree>
    <p:extLst>
      <p:ext uri="{BB962C8B-B14F-4D97-AF65-F5344CB8AC3E}">
        <p14:creationId xmlns:p14="http://schemas.microsoft.com/office/powerpoint/2010/main" val="235116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493C9-273D-EE63-1174-A3D0F146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800" b="1"/>
              <a:t>Tabla: layout_cuentas - Estructura Completa</a:t>
            </a:r>
            <a:endParaRPr lang="es-MX" sz="38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9FE98E-2CC9-BDB5-E487-995A64424112}"/>
              </a:ext>
            </a:extLst>
          </p:cNvPr>
          <p:cNvSpPr txBox="1"/>
          <p:nvPr/>
        </p:nvSpPr>
        <p:spPr>
          <a:xfrm>
            <a:off x="635000" y="1524000"/>
            <a:ext cx="11684000" cy="186512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900"/>
              <a:t>CREATE TABLE layout_cuentas (</a:t>
            </a:r>
          </a:p>
          <a:p>
            <a:r>
              <a:rPr lang="es-MX" sz="900"/>
              <a:t>  id INTEGER PRIMARY KEY AUTOINCREMENT,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empresa_id TEXT NOT NULL,</a:t>
            </a:r>
          </a:p>
          <a:p>
            <a:r>
              <a:rPr lang="es-MX" sz="900"/>
              <a:t>    • 'empresa1', 'empresa2', 'empresa3', 'empresa4'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modulo TEXT NOT NULL,</a:t>
            </a:r>
          </a:p>
          <a:p>
            <a:r>
              <a:rPr lang="es-MX" sz="900"/>
              <a:t>    • Módulo al que pertenece esta cuenta</a:t>
            </a:r>
          </a:p>
          <a:p>
            <a:r>
              <a:rPr lang="es-MX" sz="900"/>
              <a:t>    • 'RESUMEN', 'RH', 'Finanzas', etc.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anio INTEGER NOT NULL,</a:t>
            </a:r>
          </a:p>
          <a:p>
            <a:r>
              <a:rPr lang="es-MX" sz="900"/>
              <a:t>    • Año del layout (2022, 2023, 2024, 2025, 2026...)</a:t>
            </a:r>
          </a:p>
          <a:p>
            <a:r>
              <a:rPr lang="es-MX" sz="900"/>
              <a:t>    • Los layouts son específicos por año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cuenta TEXT NOT NULL,</a:t>
            </a:r>
          </a:p>
          <a:p>
            <a:r>
              <a:rPr lang="es-MX" sz="900"/>
              <a:t>    • Número de cuenta contable</a:t>
            </a:r>
          </a:p>
          <a:p>
            <a:r>
              <a:rPr lang="es-MX" sz="900"/>
              <a:t>    • Ejemplo: '4100', '5200', '1100-001'</a:t>
            </a:r>
          </a:p>
          <a:p>
            <a:r>
              <a:rPr lang="es-MX" sz="900"/>
              <a:t>    • Puede tener guiones o puntos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nombre TEXT NOT NULL,</a:t>
            </a:r>
          </a:p>
          <a:p>
            <a:r>
              <a:rPr lang="es-MX" sz="900"/>
              <a:t>    • Descripción de la cuenta</a:t>
            </a:r>
          </a:p>
          <a:p>
            <a:r>
              <a:rPr lang="es-MX" sz="900"/>
              <a:t>    • Ejemplo: 'Membership Renewals', 'Salaries', 'Office Rent'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capitulo TEXT NOT NULL,</a:t>
            </a:r>
          </a:p>
          <a:p>
            <a:r>
              <a:rPr lang="es-MX" sz="900"/>
              <a:t>    • Capítulo al que pertenece</a:t>
            </a:r>
          </a:p>
          <a:p>
            <a:r>
              <a:rPr lang="es-MX" sz="900"/>
              <a:t>    • 'CDMX', 'GDL', 'MTY', 'QRO', 'DEFAULT'</a:t>
            </a:r>
          </a:p>
          <a:p>
            <a:r>
              <a:rPr lang="es-MX" sz="900"/>
              <a:t>    • Permite múltiples presupuestos por módulo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seccion_principal TEXT NOT NULL,</a:t>
            </a:r>
          </a:p>
          <a:p>
            <a:r>
              <a:rPr lang="es-MX" sz="900"/>
              <a:t>    • Sección principal de agrupación</a:t>
            </a:r>
          </a:p>
          <a:p>
            <a:r>
              <a:rPr lang="es-MX" sz="900"/>
              <a:t>    • Ejemplo: 'Income (CDMX)', 'Expense (CDMX)'</a:t>
            </a:r>
          </a:p>
          <a:p>
            <a:r>
              <a:rPr lang="es-MX" sz="900"/>
              <a:t>    • Usado para sumar secciones completas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seccion_secundaria TEXT,</a:t>
            </a:r>
          </a:p>
          <a:p>
            <a:r>
              <a:rPr lang="es-MX" sz="900"/>
              <a:t>    • Sub-sección opcional</a:t>
            </a:r>
          </a:p>
          <a:p>
            <a:r>
              <a:rPr lang="es-MX" sz="900"/>
              <a:t>    • Permite jerarquía adicional</a:t>
            </a:r>
          </a:p>
          <a:p>
            <a:r>
              <a:rPr lang="es-MX" sz="900"/>
              <a:t>    • Ejemplo: 'Membership', 'Events', 'Services'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operacion_factor REAL DEFAULT 1,</a:t>
            </a:r>
          </a:p>
          <a:p>
            <a:r>
              <a:rPr lang="es-MX" sz="900"/>
              <a:t>    • Factor multiplicador en operaciones</a:t>
            </a:r>
          </a:p>
          <a:p>
            <a:r>
              <a:rPr lang="es-MX" sz="900"/>
              <a:t>    • 1 = suma normal</a:t>
            </a:r>
          </a:p>
          <a:p>
            <a:r>
              <a:rPr lang="es-MX" sz="900"/>
              <a:t>    • -1 = resta</a:t>
            </a:r>
          </a:p>
          <a:p>
            <a:r>
              <a:rPr lang="es-MX" sz="900"/>
              <a:t>    • 0.5 = suma la mitad</a:t>
            </a:r>
          </a:p>
          <a:p>
            <a:r>
              <a:rPr lang="es-MX" sz="900"/>
              <a:t>    • Usado en cálculos automáticos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orden INTEGER DEFAULT 0,</a:t>
            </a:r>
          </a:p>
          <a:p>
            <a:r>
              <a:rPr lang="es-MX" sz="900"/>
              <a:t>    • Orden de visualización en listas/tablas</a:t>
            </a:r>
          </a:p>
          <a:p>
            <a:r>
              <a:rPr lang="es-MX" sz="900"/>
              <a:t>    • Menor número = aparece primero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orden_presentacion INTEGER,</a:t>
            </a:r>
          </a:p>
          <a:p>
            <a:r>
              <a:rPr lang="es-MX" sz="900"/>
              <a:t>    • Orden alternativo para reportes</a:t>
            </a:r>
          </a:p>
          <a:p>
            <a:r>
              <a:rPr lang="es-MX" sz="900"/>
              <a:t>    • Opcional, si es NULL se usa 'orden'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visible INTEGER DEFAULT 1,</a:t>
            </a:r>
          </a:p>
          <a:p>
            <a:r>
              <a:rPr lang="es-MX" sz="900"/>
              <a:t>    • Visibilidad de la cuenta</a:t>
            </a:r>
          </a:p>
          <a:p>
            <a:r>
              <a:rPr lang="es-MX" sz="900"/>
              <a:t>    • 0 = oculta (no se muestra en UI)</a:t>
            </a:r>
          </a:p>
          <a:p>
            <a:r>
              <a:rPr lang="es-MX" sz="900"/>
              <a:t>    • 1 = visible (se muestra normalmente)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creado_en TEXT NOT NULL DEFAULT CURRENT_TIMESTAMP,</a:t>
            </a:r>
          </a:p>
          <a:p>
            <a:r>
              <a:rPr lang="es-MX" sz="900"/>
              <a:t>    • Timestamp de creación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actualizado_en TEXT</a:t>
            </a:r>
          </a:p>
          <a:p>
            <a:r>
              <a:rPr lang="es-MX" sz="900"/>
              <a:t>    • Timestamp de última actualización</a:t>
            </a:r>
          </a:p>
          <a:p>
            <a:r>
              <a:rPr lang="es-MX" sz="900"/>
              <a:t>);</a:t>
            </a:r>
          </a:p>
          <a:p>
            <a:endParaRPr lang="es-MX" sz="900"/>
          </a:p>
          <a:p>
            <a:r>
              <a:rPr lang="es-MX" sz="900"/>
              <a:t>ÍNDICE:</a:t>
            </a:r>
          </a:p>
          <a:p>
            <a:r>
              <a:rPr lang="es-MX" sz="900"/>
              <a:t>CREATE INDEX idx_layout_cuentas_lookup</a:t>
            </a:r>
          </a:p>
          <a:p>
            <a:r>
              <a:rPr lang="es-MX" sz="900"/>
              <a:t>ON layout_cuentas(empresa_id, modulo, anio, capitulo);</a:t>
            </a:r>
          </a:p>
          <a:p>
            <a:r>
              <a:rPr lang="es-MX" sz="900"/>
              <a:t>  • Optimiza búsquedas por empresa + módulo + año + capítulo</a:t>
            </a:r>
          </a:p>
          <a:p>
            <a:r>
              <a:rPr lang="es-MX" sz="900"/>
              <a:t>  • Query típica usa estos 4 campos juntos</a:t>
            </a:r>
          </a:p>
          <a:p>
            <a:endParaRPr lang="es-MX" sz="900"/>
          </a:p>
          <a:p>
            <a:r>
              <a:rPr lang="es-MX" sz="900"/>
              <a:t>QUERIES PRINCIPALES:</a:t>
            </a:r>
          </a:p>
          <a:p>
            <a:endParaRPr lang="es-MX" sz="900"/>
          </a:p>
          <a:p>
            <a:r>
              <a:rPr lang="es-MX" sz="900"/>
              <a:t>1. Cargar layout de cuentas completo (src/services/layoutService.js):</a:t>
            </a:r>
          </a:p>
          <a:p>
            <a:r>
              <a:rPr lang="es-MX" sz="900"/>
              <a:t>   SELECT id, empresa_id, modulo, anio, cuenta, nombre,</a:t>
            </a:r>
          </a:p>
          <a:p>
            <a:r>
              <a:rPr lang="es-MX" sz="900"/>
              <a:t>          capitulo, seccion_principal, seccion_secundaria,</a:t>
            </a:r>
          </a:p>
          <a:p>
            <a:r>
              <a:rPr lang="es-MX" sz="900"/>
              <a:t>          operacion_factor, orden, orden_presentacion, visible</a:t>
            </a:r>
          </a:p>
          <a:p>
            <a:r>
              <a:rPr lang="es-MX" sz="900"/>
              <a:t>   FROM layout_cuentas</a:t>
            </a:r>
          </a:p>
          <a:p>
            <a:r>
              <a:rPr lang="es-MX" sz="900"/>
              <a:t>   WHERE empresa_id = 'empresa1'</a:t>
            </a:r>
          </a:p>
          <a:p>
            <a:r>
              <a:rPr lang="es-MX" sz="900"/>
              <a:t>     AND modulo = 'RESUMEN'</a:t>
            </a:r>
          </a:p>
          <a:p>
            <a:r>
              <a:rPr lang="es-MX" sz="900"/>
              <a:t>     AND anio = 2025</a:t>
            </a:r>
          </a:p>
          <a:p>
            <a:r>
              <a:rPr lang="es-MX" sz="900"/>
              <a:t>     AND capitulo = 'CDMX'</a:t>
            </a:r>
          </a:p>
          <a:p>
            <a:r>
              <a:rPr lang="es-MX" sz="900"/>
              <a:t>   ORDER BY orden, cuenta</a:t>
            </a:r>
          </a:p>
          <a:p>
            <a:endParaRPr lang="es-MX" sz="900"/>
          </a:p>
          <a:p>
            <a:r>
              <a:rPr lang="es-MX" sz="900"/>
              <a:t>2. Buscar cuenta específica:</a:t>
            </a:r>
          </a:p>
          <a:p>
            <a:r>
              <a:rPr lang="es-MX" sz="900"/>
              <a:t>   SELECT * FROM layout_cuentas</a:t>
            </a:r>
          </a:p>
          <a:p>
            <a:r>
              <a:rPr lang="es-MX" sz="900"/>
              <a:t>   WHERE empresa_id = ? AND modulo = ?</a:t>
            </a:r>
          </a:p>
          <a:p>
            <a:r>
              <a:rPr lang="es-MX" sz="900"/>
              <a:t>     AND anio = ? AND cuenta = ?</a:t>
            </a:r>
          </a:p>
          <a:p>
            <a:endParaRPr lang="es-MX" sz="900"/>
          </a:p>
          <a:p>
            <a:r>
              <a:rPr lang="es-MX" sz="900"/>
              <a:t>3. Obtener secciones únicas:</a:t>
            </a:r>
          </a:p>
          <a:p>
            <a:r>
              <a:rPr lang="es-MX" sz="900"/>
              <a:t>   SELECT DISTINCT seccion_principal</a:t>
            </a:r>
          </a:p>
          <a:p>
            <a:r>
              <a:rPr lang="es-MX" sz="900"/>
              <a:t>   FROM layout_cuentas</a:t>
            </a:r>
          </a:p>
          <a:p>
            <a:r>
              <a:rPr lang="es-MX" sz="900"/>
              <a:t>   WHERE empresa_id = ? AND modulo = ?</a:t>
            </a:r>
          </a:p>
          <a:p>
            <a:r>
              <a:rPr lang="es-MX" sz="900"/>
              <a:t>     AND anio = ? AND capitulo = ?</a:t>
            </a:r>
          </a:p>
          <a:p>
            <a:r>
              <a:rPr lang="es-MX" sz="900"/>
              <a:t>   ORDER BY seccion_principal</a:t>
            </a:r>
          </a:p>
          <a:p>
            <a:endParaRPr lang="es-MX" sz="900"/>
          </a:p>
          <a:p>
            <a:r>
              <a:rPr lang="es-MX" sz="900"/>
              <a:t>4. Insertar cuenta nueva (src/services/layoutService.js línea 1364):</a:t>
            </a:r>
          </a:p>
          <a:p>
            <a:r>
              <a:rPr lang="es-MX" sz="900"/>
              <a:t>   INSERT INTO layout_cuentas (</a:t>
            </a:r>
          </a:p>
          <a:p>
            <a:r>
              <a:rPr lang="es-MX" sz="900"/>
              <a:t>     empresa_id, modulo, anio, cuenta, nombre,</a:t>
            </a:r>
          </a:p>
          <a:p>
            <a:r>
              <a:rPr lang="es-MX" sz="900"/>
              <a:t>     capitulo, seccion_principal, seccion_secundaria,</a:t>
            </a:r>
          </a:p>
          <a:p>
            <a:r>
              <a:rPr lang="es-MX" sz="900"/>
              <a:t>     operacion_factor, orden</a:t>
            </a:r>
          </a:p>
          <a:p>
            <a:r>
              <a:rPr lang="es-MX" sz="900"/>
              <a:t>   ) VALUES (?, ?, ?, ?, ?, ?, ?, ?, ?, ?)</a:t>
            </a:r>
          </a:p>
          <a:p>
            <a:endParaRPr lang="es-MX" sz="900"/>
          </a:p>
          <a:p>
            <a:r>
              <a:rPr lang="es-MX" sz="900"/>
              <a:t>EJEMPLO DE REGISTRO:</a:t>
            </a:r>
          </a:p>
          <a:p>
            <a:endParaRPr lang="es-MX" sz="900"/>
          </a:p>
          <a:p>
            <a:r>
              <a:rPr lang="es-MX" sz="900"/>
              <a:t>{</a:t>
            </a:r>
          </a:p>
          <a:p>
            <a:r>
              <a:rPr lang="es-MX" sz="900"/>
              <a:t>  id: 1001,</a:t>
            </a:r>
          </a:p>
          <a:p>
            <a:r>
              <a:rPr lang="es-MX" sz="900"/>
              <a:t>  empresa_id: 'empresa1',</a:t>
            </a:r>
          </a:p>
          <a:p>
            <a:r>
              <a:rPr lang="es-MX" sz="900"/>
              <a:t>  modulo: 'RESUMEN',</a:t>
            </a:r>
          </a:p>
          <a:p>
            <a:r>
              <a:rPr lang="es-MX" sz="900"/>
              <a:t>  anio: 2025,</a:t>
            </a:r>
          </a:p>
          <a:p>
            <a:r>
              <a:rPr lang="es-MX" sz="900"/>
              <a:t>  cuenta: '4100',</a:t>
            </a:r>
          </a:p>
          <a:p>
            <a:r>
              <a:rPr lang="es-MX" sz="900"/>
              <a:t>  nombre: 'Membership Renewals',</a:t>
            </a:r>
          </a:p>
          <a:p>
            <a:r>
              <a:rPr lang="es-MX" sz="900"/>
              <a:t>  capitulo: 'CDMX',</a:t>
            </a:r>
          </a:p>
          <a:p>
            <a:r>
              <a:rPr lang="es-MX" sz="900"/>
              <a:t>  seccion_principal: 'Income (CDMX)',</a:t>
            </a:r>
          </a:p>
          <a:p>
            <a:r>
              <a:rPr lang="es-MX" sz="900"/>
              <a:t>  seccion_secundaria: 'Membership',</a:t>
            </a:r>
          </a:p>
          <a:p>
            <a:r>
              <a:rPr lang="es-MX" sz="900"/>
              <a:t>  operacion_factor: 1,</a:t>
            </a:r>
          </a:p>
          <a:p>
            <a:r>
              <a:rPr lang="es-MX" sz="900"/>
              <a:t>  orden: 10,</a:t>
            </a:r>
          </a:p>
          <a:p>
            <a:r>
              <a:rPr lang="es-MX" sz="900"/>
              <a:t>  orden_presentacion: 10,</a:t>
            </a:r>
          </a:p>
          <a:p>
            <a:r>
              <a:rPr lang="es-MX" sz="900"/>
              <a:t>  visible: 1,</a:t>
            </a:r>
          </a:p>
          <a:p>
            <a:r>
              <a:rPr lang="es-MX" sz="900"/>
              <a:t>  creado_en: '2025-01-10 08:00:00',</a:t>
            </a:r>
          </a:p>
          <a:p>
            <a:r>
              <a:rPr lang="es-MX" sz="900"/>
              <a:t>  actualizado_en: '2025-02-01 14:30:00'</a:t>
            </a:r>
          </a:p>
          <a:p>
            <a:r>
              <a:rPr lang="es-MX" sz="900"/>
              <a:t>}</a:t>
            </a:r>
          </a:p>
          <a:p>
            <a:endParaRPr lang="es-MX" sz="900"/>
          </a:p>
          <a:p>
            <a:r>
              <a:rPr lang="es-MX" sz="900"/>
              <a:t>USO EN CÁLCULOS:</a:t>
            </a:r>
          </a:p>
          <a:p>
            <a:r>
              <a:rPr lang="es-MX" sz="900"/>
              <a:t>• Las cuentas se agrupan por seccion_principal</a:t>
            </a:r>
          </a:p>
          <a:p>
            <a:r>
              <a:rPr lang="es-MX" sz="900"/>
              <a:t>• Se suman todos los valores de cuentas en una sección</a:t>
            </a:r>
          </a:p>
          <a:p>
            <a:r>
              <a:rPr lang="es-MX" sz="900"/>
              <a:t>• operacion_factor modifica cómo se suma cada cuenta</a:t>
            </a:r>
          </a:p>
          <a:p>
            <a:r>
              <a:rPr lang="es-MX" sz="900"/>
              <a:t>• Ejemplo: Income sum = (4100 * 1) + (4200 * 1) + (4300 * 1)</a:t>
            </a:r>
          </a:p>
          <a:p>
            <a:endParaRPr lang="es-MX" sz="900"/>
          </a:p>
          <a:p>
            <a:r>
              <a:rPr lang="es-MX" sz="900"/>
              <a:t>PERMITE DUPLICADOS:</a:t>
            </a:r>
          </a:p>
          <a:p>
            <a:r>
              <a:rPr lang="es-MX" sz="900"/>
              <a:t>• Desde migración reciente, una cuenta puede aparecer</a:t>
            </a:r>
          </a:p>
          <a:p>
            <a:r>
              <a:rPr lang="es-MX" sz="900"/>
              <a:t>  múltiples veces en el mismo layout</a:t>
            </a:r>
          </a:p>
          <a:p>
            <a:r>
              <a:rPr lang="es-MX" sz="900"/>
              <a:t>• Útil para casos donde la misma cuenta se usa en</a:t>
            </a:r>
          </a:p>
          <a:p>
            <a:r>
              <a:rPr lang="es-MX" sz="900"/>
              <a:t>  diferentes secciones o con diferentes factores</a:t>
            </a:r>
          </a:p>
        </p:txBody>
      </p:sp>
    </p:spTree>
    <p:extLst>
      <p:ext uri="{BB962C8B-B14F-4D97-AF65-F5344CB8AC3E}">
        <p14:creationId xmlns:p14="http://schemas.microsoft.com/office/powerpoint/2010/main" val="25121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1314C-7908-FBEF-A9BF-C6BE3F1B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b="1"/>
              <a:t>Queries SQL - Obtención de Saldos Firebird</a:t>
            </a:r>
            <a:endParaRPr lang="es-MX" sz="36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F7E146-4FE1-15EA-118A-7C1D66438353}"/>
              </a:ext>
            </a:extLst>
          </p:cNvPr>
          <p:cNvSpPr txBox="1"/>
          <p:nvPr/>
        </p:nvSpPr>
        <p:spPr>
          <a:xfrm>
            <a:off x="635000" y="1524000"/>
            <a:ext cx="11684000" cy="175432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900"/>
              <a:t>QUERY PRINCIPAL: obtenerSaldosPorCuentas()</a:t>
            </a:r>
          </a:p>
          <a:p>
            <a:r>
              <a:rPr lang="es-MX" sz="900"/>
              <a:t>Archivo: src/services/saldosService.js (líneas 100-145)</a:t>
            </a:r>
          </a:p>
          <a:p>
            <a:endParaRPr lang="es-MX" sz="900"/>
          </a:p>
          <a:p>
            <a:r>
              <a:rPr lang="es-MX" sz="900"/>
              <a:t>PROPÓSITO:</a:t>
            </a:r>
          </a:p>
          <a:p>
            <a:r>
              <a:rPr lang="es-MX" sz="900"/>
              <a:t>Consultar saldos mensuales de cuentas contables desde Firebird</a:t>
            </a:r>
          </a:p>
          <a:p>
            <a:endParaRPr lang="es-MX" sz="900"/>
          </a:p>
          <a:p>
            <a:r>
              <a:rPr lang="es-MX" sz="900"/>
              <a:t>ESTRUCTURA DE TABLAS EN FIREBIRD:</a:t>
            </a:r>
          </a:p>
          <a:p>
            <a:r>
              <a:rPr lang="es-MX" sz="900"/>
              <a:t>• CUENTAS25 (año 2025), CUENTAS24 (año 2024), etc.</a:t>
            </a:r>
          </a:p>
          <a:p>
            <a:r>
              <a:rPr lang="es-MX" sz="900"/>
              <a:t>  - Catálogo de cuentas contables</a:t>
            </a:r>
          </a:p>
          <a:p>
            <a:r>
              <a:rPr lang="es-MX" sz="900"/>
              <a:t>• SALDOS25 (año 2025), SALDOS24 (año 2024), etc.</a:t>
            </a:r>
          </a:p>
          <a:p>
            <a:r>
              <a:rPr lang="es-MX" sz="900"/>
              <a:t>  - Movimientos y saldos por mes</a:t>
            </a:r>
          </a:p>
          <a:p>
            <a:endParaRPr lang="es-MX" sz="900"/>
          </a:p>
          <a:p>
            <a:r>
              <a:rPr lang="es-MX" sz="900"/>
              <a:t>QUERY COMPLETA (con parámetros):</a:t>
            </a:r>
          </a:p>
          <a:p>
            <a:endParaRPr lang="es-MX" sz="900"/>
          </a:p>
          <a:p>
            <a:r>
              <a:rPr lang="es-MX" sz="900"/>
              <a:t>SELECT</a:t>
            </a:r>
          </a:p>
          <a:p>
            <a:r>
              <a:rPr lang="es-MX" sz="900"/>
              <a:t>  c.num_cta AS CUENTA,</a:t>
            </a:r>
          </a:p>
          <a:p>
            <a:r>
              <a:rPr lang="es-MX" sz="900"/>
              <a:t>  c.nombre  AS NOMBRE,</a:t>
            </a:r>
          </a:p>
          <a:p>
            <a:r>
              <a:rPr lang="es-MX" sz="900"/>
              <a:t>  c.naturaleza AS NATURALEZA,</a:t>
            </a:r>
          </a:p>
          <a:p>
            <a:r>
              <a:rPr lang="es-MX" sz="900"/>
              <a:t>  COALESCE(s.inicial,0) AS INICIAL,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-- CARGOS POR MES (12 columnas)</a:t>
            </a:r>
          </a:p>
          <a:p>
            <a:r>
              <a:rPr lang="es-MX" sz="900"/>
              <a:t>  COALESCE(s.cargo01,0) AS CARGO01,</a:t>
            </a:r>
          </a:p>
          <a:p>
            <a:r>
              <a:rPr lang="es-MX" sz="900"/>
              <a:t>  COALESCE(s.cargo02,0) AS CARGO02,</a:t>
            </a:r>
          </a:p>
          <a:p>
            <a:r>
              <a:rPr lang="es-MX" sz="900"/>
              <a:t>  COALESCE(s.cargo03,0) AS CARGO03,</a:t>
            </a:r>
          </a:p>
          <a:p>
            <a:r>
              <a:rPr lang="es-MX" sz="900"/>
              <a:t>  COALESCE(s.cargo04,0) AS CARGO04,</a:t>
            </a:r>
          </a:p>
          <a:p>
            <a:r>
              <a:rPr lang="es-MX" sz="900"/>
              <a:t>  COALESCE(s.cargo05,0) AS CARGO05,</a:t>
            </a:r>
          </a:p>
          <a:p>
            <a:r>
              <a:rPr lang="es-MX" sz="900"/>
              <a:t>  COALESCE(s.cargo06,0) AS CARGO06,</a:t>
            </a:r>
          </a:p>
          <a:p>
            <a:r>
              <a:rPr lang="es-MX" sz="900"/>
              <a:t>  COALESCE(s.cargo07,0) AS CARGO07,</a:t>
            </a:r>
          </a:p>
          <a:p>
            <a:r>
              <a:rPr lang="es-MX" sz="900"/>
              <a:t>  COALESCE(s.cargo08,0) AS CARGO08,</a:t>
            </a:r>
          </a:p>
          <a:p>
            <a:r>
              <a:rPr lang="es-MX" sz="900"/>
              <a:t>  COALESCE(s.cargo09,0) AS CARGO09,</a:t>
            </a:r>
          </a:p>
          <a:p>
            <a:r>
              <a:rPr lang="es-MX" sz="900"/>
              <a:t>  COALESCE(s.cargo10,0) AS CARGO10,</a:t>
            </a:r>
          </a:p>
          <a:p>
            <a:r>
              <a:rPr lang="es-MX" sz="900"/>
              <a:t>  COALESCE(s.cargo11,0) AS CARGO11,</a:t>
            </a:r>
          </a:p>
          <a:p>
            <a:r>
              <a:rPr lang="es-MX" sz="900"/>
              <a:t>  COALESCE(s.cargo12,0) AS CARGO12,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-- ABONOS POR MES (12 columnas)</a:t>
            </a:r>
          </a:p>
          <a:p>
            <a:r>
              <a:rPr lang="es-MX" sz="900"/>
              <a:t>  COALESCE(s.abono01,0) AS ABONO01,</a:t>
            </a:r>
          </a:p>
          <a:p>
            <a:r>
              <a:rPr lang="es-MX" sz="900"/>
              <a:t>  COALESCE(s.abono02,0) AS ABONO02,</a:t>
            </a:r>
          </a:p>
          <a:p>
            <a:r>
              <a:rPr lang="es-MX" sz="900"/>
              <a:t>  COALESCE(s.abono03,0) AS ABONO03,</a:t>
            </a:r>
          </a:p>
          <a:p>
            <a:r>
              <a:rPr lang="es-MX" sz="900"/>
              <a:t>  COALESCE(s.abono04,0) AS ABONO04,</a:t>
            </a:r>
          </a:p>
          <a:p>
            <a:r>
              <a:rPr lang="es-MX" sz="900"/>
              <a:t>  COALESCE(s.abono05,0) AS ABONO05,</a:t>
            </a:r>
          </a:p>
          <a:p>
            <a:r>
              <a:rPr lang="es-MX" sz="900"/>
              <a:t>  COALESCE(s.abono06,0) AS ABONO06,</a:t>
            </a:r>
          </a:p>
          <a:p>
            <a:r>
              <a:rPr lang="es-MX" sz="900"/>
              <a:t>  COALESCE(s.abono07,0) AS ABONO07,</a:t>
            </a:r>
          </a:p>
          <a:p>
            <a:r>
              <a:rPr lang="es-MX" sz="900"/>
              <a:t>  COALESCE(s.abono08,0) AS ABONO08,</a:t>
            </a:r>
          </a:p>
          <a:p>
            <a:r>
              <a:rPr lang="es-MX" sz="900"/>
              <a:t>  COALESCE(s.abono09,0) AS ABONO09,</a:t>
            </a:r>
          </a:p>
          <a:p>
            <a:r>
              <a:rPr lang="es-MX" sz="900"/>
              <a:t>  COALESCE(s.abono10,0) AS ABONO10,</a:t>
            </a:r>
          </a:p>
          <a:p>
            <a:r>
              <a:rPr lang="es-MX" sz="900"/>
              <a:t>  COALESCE(s.abono11,0) AS ABONO11,</a:t>
            </a:r>
          </a:p>
          <a:p>
            <a:r>
              <a:rPr lang="es-MX" sz="900"/>
              <a:t>  COALESCE(s.abono12,0) AS ABONO12,</a:t>
            </a:r>
          </a:p>
          <a:p>
            <a:r>
              <a:rPr lang="es-MX" sz="900"/>
              <a:t>  </a:t>
            </a:r>
          </a:p>
          <a:p>
            <a:r>
              <a:rPr lang="es-MX" sz="900"/>
              <a:t>  -- AJUSTE DEL MES 14 (cierre anual)</a:t>
            </a:r>
          </a:p>
          <a:p>
            <a:r>
              <a:rPr lang="es-MX" sz="900"/>
              <a:t>  COALESCE(s.cargo14,0) - COALESCE(s.abono14,0) AS AJU14</a:t>
            </a:r>
          </a:p>
          <a:p>
            <a:endParaRPr lang="es-MX" sz="900"/>
          </a:p>
          <a:p>
            <a:r>
              <a:rPr lang="es-MX" sz="900"/>
              <a:t>FROM CUENTAS25 c</a:t>
            </a:r>
          </a:p>
          <a:p>
            <a:endParaRPr lang="es-MX" sz="900"/>
          </a:p>
          <a:p>
            <a:r>
              <a:rPr lang="es-MX" sz="900"/>
              <a:t>LEFT JOIN SALDOS25 s</a:t>
            </a:r>
          </a:p>
          <a:p>
            <a:r>
              <a:rPr lang="es-MX" sz="900"/>
              <a:t>  ON s.num_cta = c.num_cta</a:t>
            </a:r>
          </a:p>
          <a:p>
            <a:r>
              <a:rPr lang="es-MX" sz="900"/>
              <a:t> AND s.ejercicio = ?                    -- Parámetro 1: año (2025)</a:t>
            </a:r>
          </a:p>
          <a:p>
            <a:endParaRPr lang="es-MX" sz="900"/>
          </a:p>
          <a:p>
            <a:r>
              <a:rPr lang="es-MX" sz="900"/>
              <a:t>WHERE c.status = 'A'                     -- Solo cuentas activas</a:t>
            </a:r>
          </a:p>
          <a:p>
            <a:r>
              <a:rPr lang="es-MX" sz="900"/>
              <a:t>  AND c.num_cta IN (?, ?, ?, ...)       -- Parámetros 2+: cuentas solicitadas</a:t>
            </a:r>
          </a:p>
          <a:p>
            <a:endParaRPr lang="es-MX" sz="900"/>
          </a:p>
          <a:p>
            <a:r>
              <a:rPr lang="es-MX" sz="900"/>
              <a:t>ORDER BY c.num_cta;</a:t>
            </a:r>
          </a:p>
          <a:p>
            <a:endParaRPr lang="es-MX" sz="900"/>
          </a:p>
          <a:p>
            <a:r>
              <a:rPr lang="es-MX" sz="900"/>
              <a:t>PARÁMETROS REALES:</a:t>
            </a:r>
          </a:p>
          <a:p>
            <a:r>
              <a:rPr lang="es-MX" sz="900"/>
              <a:t>params = [2025, '4100', '4200', '5100', '5200']</a:t>
            </a:r>
          </a:p>
          <a:p>
            <a:endParaRPr lang="es-MX" sz="900"/>
          </a:p>
          <a:p>
            <a:r>
              <a:rPr lang="es-MX" sz="900"/>
              <a:t>RESULTADO (1 fila por cuenta):</a:t>
            </a:r>
          </a:p>
          <a:p>
            <a:r>
              <a:rPr lang="es-MX" sz="900"/>
              <a:t>{</a:t>
            </a:r>
          </a:p>
          <a:p>
            <a:r>
              <a:rPr lang="es-MX" sz="900"/>
              <a:t>  CUENTA: '4100',</a:t>
            </a:r>
          </a:p>
          <a:p>
            <a:r>
              <a:rPr lang="es-MX" sz="900"/>
              <a:t>  NOMBRE: 'Membership Renewals',</a:t>
            </a:r>
          </a:p>
          <a:p>
            <a:r>
              <a:rPr lang="es-MX" sz="900"/>
              <a:t>  NATURALEZA: 'A',                      // A=Acreedora, D=Deudora</a:t>
            </a:r>
          </a:p>
          <a:p>
            <a:r>
              <a:rPr lang="es-MX" sz="900"/>
              <a:t>  INICIAL: 0,</a:t>
            </a:r>
          </a:p>
          <a:p>
            <a:r>
              <a:rPr lang="es-MX" sz="900"/>
              <a:t>  CARGO01: 15000, ABONO01: 150000,      // Enero</a:t>
            </a:r>
          </a:p>
          <a:p>
            <a:r>
              <a:rPr lang="es-MX" sz="900"/>
              <a:t>  CARGO02: 12000, ABONO02: 120000,      // Febrero</a:t>
            </a:r>
          </a:p>
          <a:p>
            <a:r>
              <a:rPr lang="es-MX" sz="900"/>
              <a:t>  ...</a:t>
            </a:r>
          </a:p>
          <a:p>
            <a:r>
              <a:rPr lang="es-MX" sz="900"/>
              <a:t>  CARGO12: 18000, ABONO12: 180000,      // Diciembre</a:t>
            </a:r>
          </a:p>
          <a:p>
            <a:r>
              <a:rPr lang="es-MX" sz="900"/>
              <a:t>  AJU14: 5000                            // Ajuste anual</a:t>
            </a:r>
          </a:p>
          <a:p>
            <a:r>
              <a:rPr lang="es-MX" sz="900"/>
              <a:t>}</a:t>
            </a:r>
          </a:p>
          <a:p>
            <a:endParaRPr lang="es-MX" sz="900"/>
          </a:p>
          <a:p>
            <a:r>
              <a:rPr lang="es-MX" sz="900"/>
              <a:t>POST-PROCESAMIENTO EN CÓDIGO:</a:t>
            </a:r>
          </a:p>
          <a:p>
            <a:r>
              <a:rPr lang="es-MX" sz="900"/>
              <a:t>Función: calcularSaldosCoiPorMes() (líneas 40-65)</a:t>
            </a:r>
          </a:p>
          <a:p>
            <a:endParaRPr lang="es-MX" sz="900"/>
          </a:p>
          <a:p>
            <a:r>
              <a:rPr lang="es-MX" sz="900"/>
              <a:t>1. Determina naturaleza real de la cuenta</a:t>
            </a:r>
          </a:p>
          <a:p>
            <a:r>
              <a:rPr lang="es-MX" sz="900"/>
              <a:t>   - Si cuenta inicia con '1' → Deudora</a:t>
            </a:r>
          </a:p>
          <a:p>
            <a:r>
              <a:rPr lang="es-MX" sz="900"/>
              <a:t>   - Si cuenta inicia con '2', '3', '4' → Acreedora</a:t>
            </a:r>
          </a:p>
          <a:p>
            <a:r>
              <a:rPr lang="es-MX" sz="900"/>
              <a:t>   - Si cuenta inicia con '5'-'9' → Deudora</a:t>
            </a:r>
          </a:p>
          <a:p>
            <a:endParaRPr lang="es-MX" sz="900"/>
          </a:p>
          <a:p>
            <a:r>
              <a:rPr lang="es-MX" sz="900"/>
              <a:t>2. Calcula saldo por mes:</a:t>
            </a:r>
          </a:p>
          <a:p>
            <a:r>
              <a:rPr lang="es-MX" sz="900"/>
              <a:t>   Para cuenta DEUDORA:</a:t>
            </a:r>
          </a:p>
          <a:p>
            <a:r>
              <a:rPr lang="es-MX" sz="900"/>
              <a:t>     movimiento = cargo - abono</a:t>
            </a:r>
          </a:p>
          <a:p>
            <a:r>
              <a:rPr lang="es-MX" sz="900"/>
              <a:t>     acumulado += movimiento</a:t>
            </a:r>
          </a:p>
          <a:p>
            <a:r>
              <a:rPr lang="es-MX" sz="900"/>
              <a:t>   </a:t>
            </a:r>
          </a:p>
          <a:p>
            <a:r>
              <a:rPr lang="es-MX" sz="900"/>
              <a:t>   Para cuenta ACREEDORA:</a:t>
            </a:r>
          </a:p>
          <a:p>
            <a:r>
              <a:rPr lang="es-MX" sz="900"/>
              <a:t>     movimiento = abono - cargo</a:t>
            </a:r>
          </a:p>
          <a:p>
            <a:r>
              <a:rPr lang="es-MX" sz="900"/>
              <a:t>     acumulado += movimiento</a:t>
            </a:r>
          </a:p>
          <a:p>
            <a:endParaRPr lang="es-MX" sz="900"/>
          </a:p>
          <a:p>
            <a:r>
              <a:rPr lang="es-MX" sz="900"/>
              <a:t>3. Genera objeto con 12 meses:</a:t>
            </a:r>
          </a:p>
          <a:p>
            <a:r>
              <a:rPr lang="es-MX" sz="900"/>
              <a:t>   {</a:t>
            </a:r>
          </a:p>
          <a:p>
            <a:r>
              <a:rPr lang="es-MX" sz="900"/>
              <a:t>     ene: { movimiento: 135000, acumulado: 135000 },</a:t>
            </a:r>
          </a:p>
          <a:p>
            <a:r>
              <a:rPr lang="es-MX" sz="900"/>
              <a:t>     feb: { movimiento: 108000, acumulado: 243000 },</a:t>
            </a:r>
          </a:p>
          <a:p>
            <a:r>
              <a:rPr lang="es-MX" sz="900"/>
              <a:t>     mar: { movimiento: 95000,  acumulado: 338000 },</a:t>
            </a:r>
          </a:p>
          <a:p>
            <a:r>
              <a:rPr lang="es-MX" sz="900"/>
              <a:t>     ...</a:t>
            </a:r>
          </a:p>
          <a:p>
            <a:r>
              <a:rPr lang="es-MX" sz="900"/>
              <a:t>     dic: { movimiento: 162000, acumulado: 1800000 }</a:t>
            </a:r>
          </a:p>
          <a:p>
            <a:r>
              <a:rPr lang="es-MX" sz="900"/>
              <a:t>   }</a:t>
            </a:r>
          </a:p>
          <a:p>
            <a:endParaRPr lang="es-MX" sz="900"/>
          </a:p>
          <a:p>
            <a:r>
              <a:rPr lang="es-MX" sz="900"/>
              <a:t>4. Mapea a formato final (línea 75):</a:t>
            </a:r>
          </a:p>
          <a:p>
            <a:r>
              <a:rPr lang="es-MX" sz="900"/>
              <a:t>   {</a:t>
            </a:r>
          </a:p>
          <a:p>
            <a:r>
              <a:rPr lang="es-MX" sz="900"/>
              <a:t>     numCta: '4100',</a:t>
            </a:r>
          </a:p>
          <a:p>
            <a:r>
              <a:rPr lang="es-MX" sz="900"/>
              <a:t>     nombre: 'Membership Renewals',</a:t>
            </a:r>
          </a:p>
          <a:p>
            <a:r>
              <a:rPr lang="es-MX" sz="900"/>
              <a:t>     naturaleza: 'A',</a:t>
            </a:r>
          </a:p>
          <a:p>
            <a:r>
              <a:rPr lang="es-MX" sz="900"/>
              <a:t>     naturalezaReal: 'A',</a:t>
            </a:r>
          </a:p>
          <a:p>
            <a:r>
              <a:rPr lang="es-MX" sz="900"/>
              <a:t>     ene: 135000,</a:t>
            </a:r>
          </a:p>
          <a:p>
            <a:r>
              <a:rPr lang="es-MX" sz="900"/>
              <a:t>     ene_acum: 135000,</a:t>
            </a:r>
          </a:p>
          <a:p>
            <a:r>
              <a:rPr lang="es-MX" sz="900"/>
              <a:t>     feb: 108000,</a:t>
            </a:r>
          </a:p>
          <a:p>
            <a:r>
              <a:rPr lang="es-MX" sz="900"/>
              <a:t>     feb_acum: 243000,</a:t>
            </a:r>
          </a:p>
          <a:p>
            <a:r>
              <a:rPr lang="es-MX" sz="900"/>
              <a:t>     ...</a:t>
            </a:r>
          </a:p>
          <a:p>
            <a:r>
              <a:rPr lang="es-MX" sz="900"/>
              <a:t>     dic: 162000,</a:t>
            </a:r>
          </a:p>
          <a:p>
            <a:r>
              <a:rPr lang="es-MX" sz="900"/>
              <a:t>     dic_acum: 1800000,</a:t>
            </a:r>
          </a:p>
          <a:p>
            <a:r>
              <a:rPr lang="es-MX" sz="900"/>
              <a:t>     anual: 1800000,</a:t>
            </a:r>
          </a:p>
          <a:p>
            <a:r>
              <a:rPr lang="es-MX" sz="900"/>
              <a:t>     ajuste14: 5000</a:t>
            </a:r>
          </a:p>
          <a:p>
            <a:r>
              <a:rPr lang="es-MX" sz="900"/>
              <a:t>   }</a:t>
            </a:r>
          </a:p>
          <a:p>
            <a:endParaRPr lang="es-MX" sz="900"/>
          </a:p>
          <a:p>
            <a:r>
              <a:rPr lang="es-MX" sz="900"/>
              <a:t>PERFORMANCE:</a:t>
            </a:r>
          </a:p>
          <a:p>
            <a:r>
              <a:rPr lang="es-MX" sz="900"/>
              <a:t>• Query típica: &lt;100ms en local, &lt;2000ms en remoto</a:t>
            </a:r>
          </a:p>
          <a:p>
            <a:r>
              <a:rPr lang="es-MX" sz="900"/>
              <a:t>• Se cachea en frontend</a:t>
            </a:r>
          </a:p>
          <a:p>
            <a:r>
              <a:rPr lang="es-MX" sz="900"/>
              <a:t>• Left JOIN permite cuentas sin movimientos</a:t>
            </a:r>
          </a:p>
          <a:p>
            <a:r>
              <a:rPr lang="es-MX" sz="900"/>
              <a:t>• COALESCE maneja NULLs como 0</a:t>
            </a:r>
          </a:p>
        </p:txBody>
      </p:sp>
    </p:spTree>
    <p:extLst>
      <p:ext uri="{BB962C8B-B14F-4D97-AF65-F5344CB8AC3E}">
        <p14:creationId xmlns:p14="http://schemas.microsoft.com/office/powerpoint/2010/main" val="191407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A604F-B467-C02F-6242-6327804E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/>
              <a:t>Recontabilización de Cuentas - Algoritmo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43B7BE-7CAF-2CE3-8C36-24BAA14928E4}"/>
              </a:ext>
            </a:extLst>
          </p:cNvPr>
          <p:cNvSpPr txBox="1"/>
          <p:nvPr/>
        </p:nvSpPr>
        <p:spPr>
          <a:xfrm>
            <a:off x="635000" y="1524000"/>
            <a:ext cx="11684000" cy="238526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800"/>
              <a:t>¿QUÉ ES LA RECONTABILIZACIÓN?</a:t>
            </a:r>
          </a:p>
          <a:p>
            <a:r>
              <a:rPr lang="es-MX" sz="800"/>
              <a:t>Proceso de actualizar automáticamente las operaciones consolidadas</a:t>
            </a:r>
          </a:p>
          <a:p>
            <a:r>
              <a:rPr lang="es-MX" sz="800"/>
              <a:t>cuando se modifican las cuentas o secciones en un layout.</a:t>
            </a:r>
          </a:p>
          <a:p>
            <a:endParaRPr lang="es-MX" sz="800"/>
          </a:p>
          <a:p>
            <a:r>
              <a:rPr lang="es-MX" sz="800"/>
              <a:t>¿CUÁNDO OCURRE?</a:t>
            </a:r>
          </a:p>
          <a:p>
            <a:r>
              <a:rPr lang="es-MX" sz="800"/>
              <a:t>1. Al cargar un layout (hydrateOperationsFromParents)</a:t>
            </a:r>
          </a:p>
          <a:p>
            <a:r>
              <a:rPr lang="es-MX" sz="800"/>
              <a:t>2. Al importar layout desde Excel/JSON</a:t>
            </a:r>
          </a:p>
          <a:p>
            <a:r>
              <a:rPr lang="es-MX" sz="800"/>
              <a:t>3. Al guardar cambios en operaciones</a:t>
            </a:r>
          </a:p>
          <a:p>
            <a:r>
              <a:rPr lang="es-MX" sz="800"/>
              <a:t>4. Bajo demanda (botón "Recontabilizar" en gestor)</a:t>
            </a:r>
          </a:p>
          <a:p>
            <a:endParaRPr lang="es-MX" sz="800"/>
          </a:p>
          <a:p>
            <a:r>
              <a:rPr lang="es-MX" sz="800"/>
              <a:t>ALGORITMO PRINCIPAL:</a:t>
            </a:r>
          </a:p>
          <a:p>
            <a:r>
              <a:rPr lang="es-MX" sz="800"/>
              <a:t>Archivo: src/services/layoutService.js</a:t>
            </a:r>
          </a:p>
          <a:p>
            <a:r>
              <a:rPr lang="es-MX" sz="800"/>
              <a:t>Función: hydrateOperationsFromParents() (línea ~800)</a:t>
            </a:r>
          </a:p>
          <a:p>
            <a:endParaRPr lang="es-MX" sz="800"/>
          </a:p>
          <a:p>
            <a:r>
              <a:rPr lang="es-MX" sz="800"/>
              <a:t>PASO 1: IDENTIFICAR OPERACIONES CONSOLIDADAS</a:t>
            </a:r>
          </a:p>
          <a:p>
            <a:r>
              <a:rPr lang="es-MX" sz="800"/>
              <a:t>for (operacion of operaciones) {</a:t>
            </a:r>
          </a:p>
          <a:p>
            <a:r>
              <a:rPr lang="es-MX" sz="800"/>
              <a:t>  const nombre = operacion.Clase.toLowerCase();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Detectar palabras clave</a:t>
            </a:r>
          </a:p>
          <a:p>
            <a:r>
              <a:rPr lang="es-MX" sz="800"/>
              <a:t>  const esConsolidado = (</a:t>
            </a:r>
          </a:p>
          <a:p>
            <a:r>
              <a:rPr lang="es-MX" sz="800"/>
              <a:t>    nombre.includes('consolidated') ||</a:t>
            </a:r>
          </a:p>
          <a:p>
            <a:r>
              <a:rPr lang="es-MX" sz="800"/>
              <a:t>    nombre.includes('consolidado') ||</a:t>
            </a:r>
          </a:p>
          <a:p>
            <a:r>
              <a:rPr lang="es-MX" sz="800"/>
              <a:t>    nombre.includes('total')</a:t>
            </a:r>
          </a:p>
          <a:p>
            <a:r>
              <a:rPr lang="es-MX" sz="800"/>
              <a:t>  );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const esIncome = (</a:t>
            </a:r>
          </a:p>
          <a:p>
            <a:r>
              <a:rPr lang="es-MX" sz="800"/>
              <a:t>    nombre.includes('income') ||</a:t>
            </a:r>
          </a:p>
          <a:p>
            <a:r>
              <a:rPr lang="es-MX" sz="800"/>
              <a:t>    nombre.includes('ingreso')</a:t>
            </a:r>
          </a:p>
          <a:p>
            <a:r>
              <a:rPr lang="es-MX" sz="800"/>
              <a:t>  );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const esExpense = (</a:t>
            </a:r>
          </a:p>
          <a:p>
            <a:r>
              <a:rPr lang="es-MX" sz="800"/>
              <a:t>    nombre.includes('expense') ||</a:t>
            </a:r>
          </a:p>
          <a:p>
            <a:r>
              <a:rPr lang="es-MX" sz="800"/>
              <a:t>    nombre.includes('gasto')</a:t>
            </a:r>
          </a:p>
          <a:p>
            <a:r>
              <a:rPr lang="es-MX" sz="800"/>
              <a:t>  );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if (esConsolidado &amp;&amp; (esIncome || esExpense)) {</a:t>
            </a:r>
          </a:p>
          <a:p>
            <a:r>
              <a:rPr lang="es-MX" sz="800"/>
              <a:t>    // Esta operación debe auto-construirse</a:t>
            </a:r>
          </a:p>
          <a:p>
            <a:r>
              <a:rPr lang="es-MX" sz="800"/>
              <a:t>    operacion._esConsolidado = true;</a:t>
            </a:r>
          </a:p>
          <a:p>
            <a:r>
              <a:rPr lang="es-MX" sz="800"/>
              <a:t>    operacion._tipo = esIncome ? 'INCOME' : 'EXPENSE';</a:t>
            </a:r>
          </a:p>
          <a:p>
            <a:r>
              <a:rPr lang="es-MX" sz="800"/>
              <a:t>  }</a:t>
            </a:r>
          </a:p>
          <a:p>
            <a:r>
              <a:rPr lang="es-MX" sz="800"/>
              <a:t>}</a:t>
            </a:r>
          </a:p>
          <a:p>
            <a:endParaRPr lang="es-MX" sz="800"/>
          </a:p>
          <a:p>
            <a:r>
              <a:rPr lang="es-MX" sz="800"/>
              <a:t>PASO 2: BUSCAR SECCIONES RELEVANTES</a:t>
            </a:r>
          </a:p>
          <a:p>
            <a:r>
              <a:rPr lang="es-MX" sz="800"/>
              <a:t>if (operacion._esConsolidado) {</a:t>
            </a:r>
          </a:p>
          <a:p>
            <a:r>
              <a:rPr lang="es-MX" sz="800"/>
              <a:t>  // Obtener todas las secciones que coincidan con el tipo</a:t>
            </a:r>
          </a:p>
          <a:p>
            <a:r>
              <a:rPr lang="es-MX" sz="800"/>
              <a:t>  const seccionesRelevantes = [];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for (cuenta of layoutCuentas) {</a:t>
            </a:r>
          </a:p>
          <a:p>
            <a:r>
              <a:rPr lang="es-MX" sz="800"/>
              <a:t>    const seccion = cuenta.seccion_principal.toLowerCase();</a:t>
            </a:r>
          </a:p>
          <a:p>
            <a:r>
              <a:rPr lang="es-MX" sz="800"/>
              <a:t>    </a:t>
            </a:r>
          </a:p>
          <a:p>
            <a:r>
              <a:rPr lang="es-MX" sz="800"/>
              <a:t>    if (operacion._tipo === 'INCOME') {</a:t>
            </a:r>
          </a:p>
          <a:p>
            <a:r>
              <a:rPr lang="es-MX" sz="800"/>
              <a:t>      if (seccion.includes('income') || seccion.includes('ingreso')) {</a:t>
            </a:r>
          </a:p>
          <a:p>
            <a:r>
              <a:rPr lang="es-MX" sz="800"/>
              <a:t>        // Esta sección es de income</a:t>
            </a:r>
          </a:p>
          <a:p>
            <a:r>
              <a:rPr lang="es-MX" sz="800"/>
              <a:t>        if (!seccionesRelevantes.includes(cuenta.seccion_principal)) {</a:t>
            </a:r>
          </a:p>
          <a:p>
            <a:r>
              <a:rPr lang="es-MX" sz="800"/>
              <a:t>          seccionesRelevantes.push(cuenta.seccion_principal);</a:t>
            </a:r>
          </a:p>
          <a:p>
            <a:r>
              <a:rPr lang="es-MX" sz="800"/>
              <a:t>        }</a:t>
            </a:r>
          </a:p>
          <a:p>
            <a:r>
              <a:rPr lang="es-MX" sz="800"/>
              <a:t>      }</a:t>
            </a:r>
          </a:p>
          <a:p>
            <a:r>
              <a:rPr lang="es-MX" sz="800"/>
              <a:t>    }</a:t>
            </a:r>
          </a:p>
          <a:p>
            <a:r>
              <a:rPr lang="es-MX" sz="800"/>
              <a:t>    else if (operacion._tipo === 'EXPENSE') {</a:t>
            </a:r>
          </a:p>
          <a:p>
            <a:r>
              <a:rPr lang="es-MX" sz="800"/>
              <a:t>      if (seccion.includes('expense') || seccion.includes('gasto')) {</a:t>
            </a:r>
          </a:p>
          <a:p>
            <a:r>
              <a:rPr lang="es-MX" sz="800"/>
              <a:t>        // Esta sección es de expense</a:t>
            </a:r>
          </a:p>
          <a:p>
            <a:r>
              <a:rPr lang="es-MX" sz="800"/>
              <a:t>        if (!seccionesRelevantes.includes(cuenta.seccion_principal)) {</a:t>
            </a:r>
          </a:p>
          <a:p>
            <a:r>
              <a:rPr lang="es-MX" sz="800"/>
              <a:t>          seccionesRelevantes.push(cuenta.seccion_principal);</a:t>
            </a:r>
          </a:p>
          <a:p>
            <a:r>
              <a:rPr lang="es-MX" sz="800"/>
              <a:t>        }</a:t>
            </a:r>
          </a:p>
          <a:p>
            <a:r>
              <a:rPr lang="es-MX" sz="800"/>
              <a:t>      }</a:t>
            </a:r>
          </a:p>
          <a:p>
            <a:r>
              <a:rPr lang="es-MX" sz="800"/>
              <a:t>    }</a:t>
            </a:r>
          </a:p>
          <a:p>
            <a:r>
              <a:rPr lang="es-MX" sz="800"/>
              <a:t>  }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Resultado ejemplo:</a:t>
            </a:r>
          </a:p>
          <a:p>
            <a:r>
              <a:rPr lang="es-MX" sz="800"/>
              <a:t>  // seccionesRelevantes = [</a:t>
            </a:r>
          </a:p>
          <a:p>
            <a:r>
              <a:rPr lang="es-MX" sz="800"/>
              <a:t>  //   'Income (CDMX)',</a:t>
            </a:r>
          </a:p>
          <a:p>
            <a:r>
              <a:rPr lang="es-MX" sz="800"/>
              <a:t>  //   'Income (Guadalajara)',</a:t>
            </a:r>
          </a:p>
          <a:p>
            <a:r>
              <a:rPr lang="es-MX" sz="800"/>
              <a:t>  //   'Income (Monterrey)',</a:t>
            </a:r>
          </a:p>
          <a:p>
            <a:r>
              <a:rPr lang="es-MX" sz="800"/>
              <a:t>  //   'Income (Querétaro)'</a:t>
            </a:r>
          </a:p>
          <a:p>
            <a:r>
              <a:rPr lang="es-MX" sz="800"/>
              <a:t>  // ]</a:t>
            </a:r>
          </a:p>
          <a:p>
            <a:r>
              <a:rPr lang="es-MX" sz="800"/>
              <a:t>}</a:t>
            </a:r>
          </a:p>
          <a:p>
            <a:endParaRPr lang="es-MX" sz="800"/>
          </a:p>
          <a:p>
            <a:r>
              <a:rPr lang="es-MX" sz="800"/>
              <a:t>PASO 3: CONSTRUIR TÉRMINOS DE FÓRMULA</a:t>
            </a:r>
          </a:p>
          <a:p>
            <a:r>
              <a:rPr lang="es-MX" sz="800"/>
              <a:t>if (seccionesRelevantes.length &gt; 0) {</a:t>
            </a:r>
          </a:p>
          <a:p>
            <a:r>
              <a:rPr lang="es-MX" sz="800"/>
              <a:t>  operacion.formula_terms = [];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for (seccion of seccionesRelevantes) {</a:t>
            </a:r>
          </a:p>
          <a:p>
            <a:r>
              <a:rPr lang="es-MX" sz="800"/>
              <a:t>    operacion.formula_terms.push({</a:t>
            </a:r>
          </a:p>
          <a:p>
            <a:r>
              <a:rPr lang="es-MX" sz="800"/>
              <a:t>      operator: '+',           // Siempre sumar (income y expense son positivos)</a:t>
            </a:r>
          </a:p>
          <a:p>
            <a:r>
              <a:rPr lang="es-MX" sz="800"/>
              <a:t>      type: 'section',         // Tipo: sección completa</a:t>
            </a:r>
          </a:p>
          <a:p>
            <a:r>
              <a:rPr lang="es-MX" sz="800"/>
              <a:t>      value: seccion           // Nombre de la sección</a:t>
            </a:r>
          </a:p>
          <a:p>
            <a:r>
              <a:rPr lang="es-MX" sz="800"/>
              <a:t>    });</a:t>
            </a:r>
          </a:p>
          <a:p>
            <a:r>
              <a:rPr lang="es-MX" sz="800"/>
              <a:t>  }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Marcar como auto-construido</a:t>
            </a:r>
          </a:p>
          <a:p>
            <a:r>
              <a:rPr lang="es-MX" sz="800"/>
              <a:t>  operacion._autoBuilt = true;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Resultado ejemplo:</a:t>
            </a:r>
          </a:p>
          <a:p>
            <a:r>
              <a:rPr lang="es-MX" sz="800"/>
              <a:t>  // operacion.formula_terms = [</a:t>
            </a:r>
          </a:p>
          <a:p>
            <a:r>
              <a:rPr lang="es-MX" sz="800"/>
              <a:t>  //   { operator: '+', type: 'section', value: 'Income (CDMX)' },</a:t>
            </a:r>
          </a:p>
          <a:p>
            <a:r>
              <a:rPr lang="es-MX" sz="800"/>
              <a:t>  //   { operator: '+', type: 'section', value: 'Income (Guadalajara)' },</a:t>
            </a:r>
          </a:p>
          <a:p>
            <a:r>
              <a:rPr lang="es-MX" sz="800"/>
              <a:t>  //   { operator: '+', type: 'section', value: 'Income (Monterrey)' },</a:t>
            </a:r>
          </a:p>
          <a:p>
            <a:r>
              <a:rPr lang="es-MX" sz="800"/>
              <a:t>  //   { operator: '+', type: 'section', value: 'Income (Querétaro)' }</a:t>
            </a:r>
          </a:p>
          <a:p>
            <a:r>
              <a:rPr lang="es-MX" sz="800"/>
              <a:t>  // ]</a:t>
            </a:r>
          </a:p>
          <a:p>
            <a:r>
              <a:rPr lang="es-MX" sz="800"/>
              <a:t>}</a:t>
            </a:r>
          </a:p>
          <a:p>
            <a:endParaRPr lang="es-MX" sz="800"/>
          </a:p>
          <a:p>
            <a:r>
              <a:rPr lang="es-MX" sz="800"/>
              <a:t>PASO 4: GUARDAR EN BASE DE DATOS (si se solicita)</a:t>
            </a:r>
          </a:p>
          <a:p>
            <a:r>
              <a:rPr lang="es-MX" sz="800"/>
              <a:t>if (guardarEnBD) {</a:t>
            </a:r>
          </a:p>
          <a:p>
            <a:r>
              <a:rPr lang="es-MX" sz="800"/>
              <a:t>  // Serializar términos a JSON</a:t>
            </a:r>
          </a:p>
          <a:p>
            <a:r>
              <a:rPr lang="es-MX" sz="800"/>
              <a:t>  const formula_json = JSON.stringify(operacion.formula_terms);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Actualizar operación en DB</a:t>
            </a:r>
          </a:p>
          <a:p>
            <a:r>
              <a:rPr lang="es-MX" sz="800"/>
              <a:t>  UPDATE layout_operaciones</a:t>
            </a:r>
          </a:p>
          <a:p>
            <a:r>
              <a:rPr lang="es-MX" sz="800"/>
              <a:t>  SET formula_json = ?,</a:t>
            </a:r>
          </a:p>
          <a:p>
            <a:r>
              <a:rPr lang="es-MX" sz="800"/>
              <a:t>      actualizado_en = CURRENT_TIMESTAMP</a:t>
            </a:r>
          </a:p>
          <a:p>
            <a:r>
              <a:rPr lang="es-MX" sz="800"/>
              <a:t>  WHERE empresa_id = ?</a:t>
            </a:r>
          </a:p>
          <a:p>
            <a:r>
              <a:rPr lang="es-MX" sz="800"/>
              <a:t>    AND modulo = ?</a:t>
            </a:r>
          </a:p>
          <a:p>
            <a:r>
              <a:rPr lang="es-MX" sz="800"/>
              <a:t>    AND anio = ?</a:t>
            </a:r>
          </a:p>
          <a:p>
            <a:r>
              <a:rPr lang="es-MX" sz="800"/>
              <a:t>    AND capitulo = ?</a:t>
            </a:r>
          </a:p>
          <a:p>
            <a:r>
              <a:rPr lang="es-MX" sz="800"/>
              <a:t>    AND clase = ?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// Parámetros:</a:t>
            </a:r>
          </a:p>
          <a:p>
            <a:r>
              <a:rPr lang="es-MX" sz="800"/>
              <a:t>  [</a:t>
            </a:r>
          </a:p>
          <a:p>
            <a:r>
              <a:rPr lang="es-MX" sz="800"/>
              <a:t>    formula_json,</a:t>
            </a:r>
          </a:p>
          <a:p>
            <a:r>
              <a:rPr lang="es-MX" sz="800"/>
              <a:t>    'empresa1',</a:t>
            </a:r>
          </a:p>
          <a:p>
            <a:r>
              <a:rPr lang="es-MX" sz="800"/>
              <a:t>    'RESUMEN',</a:t>
            </a:r>
          </a:p>
          <a:p>
            <a:r>
              <a:rPr lang="es-MX" sz="800"/>
              <a:t>    2025,</a:t>
            </a:r>
          </a:p>
          <a:p>
            <a:r>
              <a:rPr lang="es-MX" sz="800"/>
              <a:t>    'CDMX',</a:t>
            </a:r>
          </a:p>
          <a:p>
            <a:r>
              <a:rPr lang="es-MX" sz="800"/>
              <a:t>    'CONSOLIDATED INCOME'</a:t>
            </a:r>
          </a:p>
          <a:p>
            <a:r>
              <a:rPr lang="es-MX" sz="800"/>
              <a:t>  ]</a:t>
            </a:r>
          </a:p>
          <a:p>
            <a:r>
              <a:rPr lang="es-MX" sz="800"/>
              <a:t>}</a:t>
            </a:r>
          </a:p>
          <a:p>
            <a:endParaRPr lang="es-MX" sz="800"/>
          </a:p>
          <a:p>
            <a:r>
              <a:rPr lang="es-MX" sz="800"/>
              <a:t>CÁLCULO DE VALOR DE OPERACIÓN:</a:t>
            </a:r>
          </a:p>
          <a:p>
            <a:r>
              <a:rPr lang="es-MX" sz="800"/>
              <a:t>Función: calcularOperacion() (recursiva)</a:t>
            </a:r>
          </a:p>
          <a:p>
            <a:endParaRPr lang="es-MX" sz="800"/>
          </a:p>
          <a:p>
            <a:r>
              <a:rPr lang="es-MX" sz="800"/>
              <a:t>function calcularOperacion(operacion, layoutCuentas) {</a:t>
            </a:r>
          </a:p>
          <a:p>
            <a:r>
              <a:rPr lang="es-MX" sz="800"/>
              <a:t>  let resultado = 0;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for (term of operacion.formula_terms) {</a:t>
            </a:r>
          </a:p>
          <a:p>
            <a:r>
              <a:rPr lang="es-MX" sz="800"/>
              <a:t>    if (term.type === 'section') {</a:t>
            </a:r>
          </a:p>
          <a:p>
            <a:r>
              <a:rPr lang="es-MX" sz="800"/>
              <a:t>      // Sumar todas las cuentas de esta sección</a:t>
            </a:r>
          </a:p>
          <a:p>
            <a:r>
              <a:rPr lang="es-MX" sz="800"/>
              <a:t>      const cuentasSeccion = layoutCuentas.filter(</a:t>
            </a:r>
          </a:p>
          <a:p>
            <a:r>
              <a:rPr lang="es-MX" sz="800"/>
              <a:t>        c =&gt; c.seccion_principal === term.value &amp;&amp; c.visible === 1</a:t>
            </a:r>
          </a:p>
          <a:p>
            <a:r>
              <a:rPr lang="es-MX" sz="800"/>
              <a:t>      );</a:t>
            </a:r>
          </a:p>
          <a:p>
            <a:r>
              <a:rPr lang="es-MX" sz="800"/>
              <a:t>      </a:t>
            </a:r>
          </a:p>
          <a:p>
            <a:r>
              <a:rPr lang="es-MX" sz="800"/>
              <a:t>      for (cuenta of cuentasSeccion) {</a:t>
            </a:r>
          </a:p>
          <a:p>
            <a:r>
              <a:rPr lang="es-MX" sz="800"/>
              <a:t>        const valor = obtenerValorCuenta(cuenta);  // Desde Firebird</a:t>
            </a:r>
          </a:p>
          <a:p>
            <a:r>
              <a:rPr lang="es-MX" sz="800"/>
              <a:t>        resultado += (valor * cuenta.operacion_factor);</a:t>
            </a:r>
          </a:p>
          <a:p>
            <a:r>
              <a:rPr lang="es-MX" sz="800"/>
              <a:t>      }</a:t>
            </a:r>
          </a:p>
          <a:p>
            <a:r>
              <a:rPr lang="es-MX" sz="800"/>
              <a:t>    }</a:t>
            </a:r>
          </a:p>
          <a:p>
            <a:r>
              <a:rPr lang="es-MX" sz="800"/>
              <a:t>    else if (term.type === 'cuenta') {</a:t>
            </a:r>
          </a:p>
          <a:p>
            <a:r>
              <a:rPr lang="es-MX" sz="800"/>
              <a:t>      // Valor directo de cuenta</a:t>
            </a:r>
          </a:p>
          <a:p>
            <a:r>
              <a:rPr lang="es-MX" sz="800"/>
              <a:t>      const cuenta = layoutCuentas.find(c =&gt; c.cuenta === term.value);</a:t>
            </a:r>
          </a:p>
          <a:p>
            <a:r>
              <a:rPr lang="es-MX" sz="800"/>
              <a:t>      const valor = obtenerValorCuenta(cuenta);</a:t>
            </a:r>
          </a:p>
          <a:p>
            <a:r>
              <a:rPr lang="es-MX" sz="800"/>
              <a:t>      resultado += valor;</a:t>
            </a:r>
          </a:p>
          <a:p>
            <a:r>
              <a:rPr lang="es-MX" sz="800"/>
              <a:t>    }</a:t>
            </a:r>
          </a:p>
          <a:p>
            <a:r>
              <a:rPr lang="es-MX" sz="800"/>
              <a:t>    else if (term.type === 'operation') {</a:t>
            </a:r>
          </a:p>
          <a:p>
            <a:r>
              <a:rPr lang="es-MX" sz="800"/>
              <a:t>      // RECURSIÓN: calcular otra operación</a:t>
            </a:r>
          </a:p>
          <a:p>
            <a:r>
              <a:rPr lang="es-MX" sz="800"/>
              <a:t>      const otraOp = operaciones.find(o =&gt; o.Clase === term.value);</a:t>
            </a:r>
          </a:p>
          <a:p>
            <a:r>
              <a:rPr lang="es-MX" sz="800"/>
              <a:t>      const valor = calcularOperacion(otraOp, layoutCuentas);</a:t>
            </a:r>
          </a:p>
          <a:p>
            <a:r>
              <a:rPr lang="es-MX" sz="800"/>
              <a:t>      resultado += valor;</a:t>
            </a:r>
          </a:p>
          <a:p>
            <a:r>
              <a:rPr lang="es-MX" sz="800"/>
              <a:t>    }</a:t>
            </a:r>
          </a:p>
          <a:p>
            <a:r>
              <a:rPr lang="es-MX" sz="800"/>
              <a:t>    </a:t>
            </a:r>
          </a:p>
          <a:p>
            <a:r>
              <a:rPr lang="es-MX" sz="800"/>
              <a:t>    // Aplicar operador (+ o -)</a:t>
            </a:r>
          </a:p>
          <a:p>
            <a:r>
              <a:rPr lang="es-MX" sz="800"/>
              <a:t>    if (term.operator === '-') resultado = -resultado;</a:t>
            </a:r>
          </a:p>
          <a:p>
            <a:r>
              <a:rPr lang="es-MX" sz="800"/>
              <a:t>  }</a:t>
            </a:r>
          </a:p>
          <a:p>
            <a:r>
              <a:rPr lang="es-MX" sz="800"/>
              <a:t>  </a:t>
            </a:r>
          </a:p>
          <a:p>
            <a:r>
              <a:rPr lang="es-MX" sz="800"/>
              <a:t>  return resultado;</a:t>
            </a:r>
          </a:p>
          <a:p>
            <a:r>
              <a:rPr lang="es-MX" sz="800"/>
              <a:t>}</a:t>
            </a:r>
          </a:p>
          <a:p>
            <a:endParaRPr lang="es-MX" sz="800"/>
          </a:p>
          <a:p>
            <a:r>
              <a:rPr lang="es-MX" sz="800"/>
              <a:t>EJEMPLO COMPLETO:</a:t>
            </a:r>
          </a:p>
          <a:p>
            <a:r>
              <a:rPr lang="es-MX" sz="800"/>
              <a:t>Input:</a:t>
            </a:r>
          </a:p>
          <a:p>
            <a:r>
              <a:rPr lang="es-MX" sz="800"/>
              <a:t>  • Operación: "CONSOLIDATED INCOME"</a:t>
            </a:r>
          </a:p>
          <a:p>
            <a:r>
              <a:rPr lang="es-MX" sz="800"/>
              <a:t>  • Layout tiene secciones:</a:t>
            </a:r>
          </a:p>
          <a:p>
            <a:r>
              <a:rPr lang="es-MX" sz="800"/>
              <a:t>    - Income (CDMX): cuentas 4100, 4200, 4300</a:t>
            </a:r>
          </a:p>
          <a:p>
            <a:r>
              <a:rPr lang="es-MX" sz="800"/>
              <a:t>    - Income (GDL): cuentas 4100, 4200</a:t>
            </a:r>
          </a:p>
          <a:p>
            <a:r>
              <a:rPr lang="es-MX" sz="800"/>
              <a:t>    - Income (MTY): cuentas 4100, 4200, 4300, 4400</a:t>
            </a:r>
          </a:p>
          <a:p>
            <a:endParaRPr lang="es-MX" sz="800"/>
          </a:p>
          <a:p>
            <a:r>
              <a:rPr lang="es-MX" sz="800"/>
              <a:t>Paso 1: Detectar que es consolidado de Income</a:t>
            </a:r>
          </a:p>
          <a:p>
            <a:r>
              <a:rPr lang="es-MX" sz="800"/>
              <a:t>Paso 2: Encontrar las 3 secciones Income</a:t>
            </a:r>
          </a:p>
          <a:p>
            <a:r>
              <a:rPr lang="es-MX" sz="800"/>
              <a:t>Paso 3: Construir fórmula:</a:t>
            </a:r>
          </a:p>
          <a:p>
            <a:r>
              <a:rPr lang="es-MX" sz="800"/>
              <a:t>  CONSOLIDATED INCOME = </a:t>
            </a:r>
          </a:p>
          <a:p>
            <a:r>
              <a:rPr lang="es-MX" sz="800"/>
              <a:t>    + Income (CDMX)</a:t>
            </a:r>
          </a:p>
          <a:p>
            <a:r>
              <a:rPr lang="es-MX" sz="800"/>
              <a:t>    + Income (GDL)</a:t>
            </a:r>
          </a:p>
          <a:p>
            <a:r>
              <a:rPr lang="es-MX" sz="800"/>
              <a:t>    + Income (MTY)</a:t>
            </a:r>
          </a:p>
          <a:p>
            <a:endParaRPr lang="es-MX" sz="800"/>
          </a:p>
          <a:p>
            <a:r>
              <a:rPr lang="es-MX" sz="800"/>
              <a:t>Paso 4: Guardar formula_json en DB</a:t>
            </a:r>
          </a:p>
          <a:p>
            <a:r>
              <a:rPr lang="es-MX" sz="800"/>
              <a:t>Paso 5: Calcular valor:</a:t>
            </a:r>
          </a:p>
          <a:p>
            <a:r>
              <a:rPr lang="es-MX" sz="800"/>
              <a:t>  Income (CDMX) = 4100 + 4200 + 4300 = 500,000</a:t>
            </a:r>
          </a:p>
          <a:p>
            <a:r>
              <a:rPr lang="es-MX" sz="800"/>
              <a:t>  Income (GDL)  = 4100 + 4200        = 300,000</a:t>
            </a:r>
          </a:p>
          <a:p>
            <a:r>
              <a:rPr lang="es-MX" sz="800"/>
              <a:t>  Income (MTY)  = 4100 + 4200 + 4300 + 4400 = 600,000</a:t>
            </a:r>
          </a:p>
          <a:p>
            <a:r>
              <a:rPr lang="es-MX" sz="800"/>
              <a:t>  TOTAL = 1,400,000</a:t>
            </a:r>
          </a:p>
          <a:p>
            <a:endParaRPr lang="es-MX" sz="800"/>
          </a:p>
          <a:p>
            <a:r>
              <a:rPr lang="es-MX" sz="800"/>
              <a:t>VENTAJAS:</a:t>
            </a:r>
          </a:p>
          <a:p>
            <a:r>
              <a:rPr lang="es-MX" sz="800"/>
              <a:t>✓ Automático: no requiere intervención manual</a:t>
            </a:r>
          </a:p>
          <a:p>
            <a:r>
              <a:rPr lang="es-MX" sz="800"/>
              <a:t>✓ Dinámico: se adapta a cambios en secciones</a:t>
            </a:r>
          </a:p>
          <a:p>
            <a:r>
              <a:rPr lang="es-MX" sz="800"/>
              <a:t>✓ Consistente: siempre refleja estructura actual</a:t>
            </a:r>
          </a:p>
          <a:p>
            <a:r>
              <a:rPr lang="es-MX" sz="800"/>
              <a:t>✓ Auditable: se guarda en BD con timestamp</a:t>
            </a:r>
          </a:p>
        </p:txBody>
      </p:sp>
    </p:spTree>
    <p:extLst>
      <p:ext uri="{BB962C8B-B14F-4D97-AF65-F5344CB8AC3E}">
        <p14:creationId xmlns:p14="http://schemas.microsoft.com/office/powerpoint/2010/main" val="8298309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6010</Words>
  <Application>Microsoft Office PowerPoint</Application>
  <PresentationFormat>Presentación en pantalla (16:10)</PresentationFormat>
  <Paragraphs>904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SummaCham - PanelAMCHAM</vt:lpstr>
      <vt:lpstr>Configuración de Cookies - Detalle Completo</vt:lpstr>
      <vt:lpstr>Rate Limiting - Configuración Exacta</vt:lpstr>
      <vt:lpstr>Tabla: usuarios - Estructura Completa</vt:lpstr>
      <vt:lpstr>Tabla: permisos_modulo - Estructura Completa</vt:lpstr>
      <vt:lpstr>Tabla: layout_cuentas - Estructura Completa</vt:lpstr>
      <vt:lpstr>Queries SQL - Obtención de Saldos Firebird</vt:lpstr>
      <vt:lpstr>Recontabilización de Cuentas - Algoritmo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guevara</dc:creator>
  <cp:lastModifiedBy>sophie guevara</cp:lastModifiedBy>
  <cp:revision>1</cp:revision>
  <dcterms:created xsi:type="dcterms:W3CDTF">2026-02-09T14:20:58Z</dcterms:created>
  <dcterms:modified xsi:type="dcterms:W3CDTF">2026-02-09T14:20:58Z</dcterms:modified>
</cp:coreProperties>
</file>