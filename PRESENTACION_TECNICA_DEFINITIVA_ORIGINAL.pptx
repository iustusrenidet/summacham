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sldSz cx="9144000" cy="5715000" type="screen16x10"/>
  <p:notesSz cx="6858000" cy="9144000"/>
  <p:defaultTextStyle>
    <a:defPPr>
      <a:defRPr lang="es-MX"/>
    </a:defPPr>
    <a:lvl1pPr marL="0" algn="l" defTabSz="713232" rtl="0" eaLnBrk="1" latinLnBrk="0" hangingPunct="1">
      <a:defRPr sz="1404" kern="1200">
        <a:solidFill>
          <a:schemeClr val="tx1"/>
        </a:solidFill>
        <a:latin typeface="+mn-lt"/>
        <a:ea typeface="+mn-ea"/>
        <a:cs typeface="+mn-cs"/>
      </a:defRPr>
    </a:lvl1pPr>
    <a:lvl2pPr marL="356616" algn="l" defTabSz="713232" rtl="0" eaLnBrk="1" latinLnBrk="0" hangingPunct="1">
      <a:defRPr sz="1404" kern="1200">
        <a:solidFill>
          <a:schemeClr val="tx1"/>
        </a:solidFill>
        <a:latin typeface="+mn-lt"/>
        <a:ea typeface="+mn-ea"/>
        <a:cs typeface="+mn-cs"/>
      </a:defRPr>
    </a:lvl2pPr>
    <a:lvl3pPr marL="713232" algn="l" defTabSz="713232" rtl="0" eaLnBrk="1" latinLnBrk="0" hangingPunct="1">
      <a:defRPr sz="1404" kern="1200">
        <a:solidFill>
          <a:schemeClr val="tx1"/>
        </a:solidFill>
        <a:latin typeface="+mn-lt"/>
        <a:ea typeface="+mn-ea"/>
        <a:cs typeface="+mn-cs"/>
      </a:defRPr>
    </a:lvl3pPr>
    <a:lvl4pPr marL="1069848" algn="l" defTabSz="713232" rtl="0" eaLnBrk="1" latinLnBrk="0" hangingPunct="1">
      <a:defRPr sz="1404" kern="1200">
        <a:solidFill>
          <a:schemeClr val="tx1"/>
        </a:solidFill>
        <a:latin typeface="+mn-lt"/>
        <a:ea typeface="+mn-ea"/>
        <a:cs typeface="+mn-cs"/>
      </a:defRPr>
    </a:lvl4pPr>
    <a:lvl5pPr marL="1426464" algn="l" defTabSz="713232" rtl="0" eaLnBrk="1" latinLnBrk="0" hangingPunct="1">
      <a:defRPr sz="1404" kern="1200">
        <a:solidFill>
          <a:schemeClr val="tx1"/>
        </a:solidFill>
        <a:latin typeface="+mn-lt"/>
        <a:ea typeface="+mn-ea"/>
        <a:cs typeface="+mn-cs"/>
      </a:defRPr>
    </a:lvl5pPr>
    <a:lvl6pPr marL="1783080" algn="l" defTabSz="713232" rtl="0" eaLnBrk="1" latinLnBrk="0" hangingPunct="1">
      <a:defRPr sz="1404" kern="1200">
        <a:solidFill>
          <a:schemeClr val="tx1"/>
        </a:solidFill>
        <a:latin typeface="+mn-lt"/>
        <a:ea typeface="+mn-ea"/>
        <a:cs typeface="+mn-cs"/>
      </a:defRPr>
    </a:lvl6pPr>
    <a:lvl7pPr marL="2139696" algn="l" defTabSz="713232" rtl="0" eaLnBrk="1" latinLnBrk="0" hangingPunct="1">
      <a:defRPr sz="1404" kern="1200">
        <a:solidFill>
          <a:schemeClr val="tx1"/>
        </a:solidFill>
        <a:latin typeface="+mn-lt"/>
        <a:ea typeface="+mn-ea"/>
        <a:cs typeface="+mn-cs"/>
      </a:defRPr>
    </a:lvl7pPr>
    <a:lvl8pPr marL="2496312" algn="l" defTabSz="713232" rtl="0" eaLnBrk="1" latinLnBrk="0" hangingPunct="1">
      <a:defRPr sz="1404" kern="1200">
        <a:solidFill>
          <a:schemeClr val="tx1"/>
        </a:solidFill>
        <a:latin typeface="+mn-lt"/>
        <a:ea typeface="+mn-ea"/>
        <a:cs typeface="+mn-cs"/>
      </a:defRPr>
    </a:lvl8pPr>
    <a:lvl9pPr marL="2852928" algn="l" defTabSz="713232" rtl="0" eaLnBrk="1" latinLnBrk="0" hangingPunct="1">
      <a:defRPr sz="1404"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100" d="100"/>
          <a:sy n="100" d="100"/>
        </p:scale>
        <p:origin x="946" y="29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2D49EBF-D8E1-385B-BD5D-10102EF8D1EC}"/>
              </a:ext>
            </a:extLst>
          </p:cNvPr>
          <p:cNvSpPr>
            <a:spLocks noGrp="1"/>
          </p:cNvSpPr>
          <p:nvPr>
            <p:ph type="ctrTitle"/>
          </p:nvPr>
        </p:nvSpPr>
        <p:spPr>
          <a:xfrm>
            <a:off x="1143000" y="935302"/>
            <a:ext cx="6858000" cy="1989667"/>
          </a:xfrm>
        </p:spPr>
        <p:txBody>
          <a:bodyPr anchor="b"/>
          <a:lstStyle>
            <a:lvl1pPr algn="ctr">
              <a:defRPr sz="4500"/>
            </a:lvl1pPr>
          </a:lstStyle>
          <a:p>
            <a:r>
              <a:rPr lang="es-ES"/>
              <a:t>Haga clic para modificar el estilo de título del patrón</a:t>
            </a:r>
            <a:endParaRPr lang="es-MX"/>
          </a:p>
        </p:txBody>
      </p:sp>
      <p:sp>
        <p:nvSpPr>
          <p:cNvPr id="3" name="Subtítulo 2">
            <a:extLst>
              <a:ext uri="{FF2B5EF4-FFF2-40B4-BE49-F238E27FC236}">
                <a16:creationId xmlns:a16="http://schemas.microsoft.com/office/drawing/2014/main" id="{47F9BDD6-26F6-B00D-7B5F-A7B8B34636A9}"/>
              </a:ext>
            </a:extLst>
          </p:cNvPr>
          <p:cNvSpPr>
            <a:spLocks noGrp="1"/>
          </p:cNvSpPr>
          <p:nvPr>
            <p:ph type="subTitle" idx="1"/>
          </p:nvPr>
        </p:nvSpPr>
        <p:spPr>
          <a:xfrm>
            <a:off x="1143000" y="3001698"/>
            <a:ext cx="6858000" cy="137980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s-ES"/>
              <a:t>Haga clic para modificar el estilo de subtítulo del patrón</a:t>
            </a:r>
            <a:endParaRPr lang="es-MX"/>
          </a:p>
        </p:txBody>
      </p:sp>
      <p:sp>
        <p:nvSpPr>
          <p:cNvPr id="4" name="Marcador de fecha 3">
            <a:extLst>
              <a:ext uri="{FF2B5EF4-FFF2-40B4-BE49-F238E27FC236}">
                <a16:creationId xmlns:a16="http://schemas.microsoft.com/office/drawing/2014/main" id="{ADF8E1B1-1AB4-B84E-7A2A-437D3391FCF4}"/>
              </a:ext>
            </a:extLst>
          </p:cNvPr>
          <p:cNvSpPr>
            <a:spLocks noGrp="1"/>
          </p:cNvSpPr>
          <p:nvPr>
            <p:ph type="dt" sz="half" idx="10"/>
          </p:nvPr>
        </p:nvSpPr>
        <p:spPr/>
        <p:txBody>
          <a:bodyPr/>
          <a:lstStyle/>
          <a:p>
            <a:fld id="{4F68290A-C0C6-4AC5-975D-DB3A35CFE95F}" type="datetimeFigureOut">
              <a:rPr lang="es-MX" smtClean="0"/>
              <a:t>10/02/2026</a:t>
            </a:fld>
            <a:endParaRPr lang="es-MX" dirty="0"/>
          </a:p>
        </p:txBody>
      </p:sp>
      <p:sp>
        <p:nvSpPr>
          <p:cNvPr id="5" name="Marcador de pie de página 4">
            <a:extLst>
              <a:ext uri="{FF2B5EF4-FFF2-40B4-BE49-F238E27FC236}">
                <a16:creationId xmlns:a16="http://schemas.microsoft.com/office/drawing/2014/main" id="{E834E67F-3424-2633-42F8-663CD9FF52E3}"/>
              </a:ext>
            </a:extLst>
          </p:cNvPr>
          <p:cNvSpPr>
            <a:spLocks noGrp="1"/>
          </p:cNvSpPr>
          <p:nvPr>
            <p:ph type="ftr" sz="quarter" idx="11"/>
          </p:nvPr>
        </p:nvSpPr>
        <p:spPr/>
        <p:txBody>
          <a:bodyPr/>
          <a:lstStyle/>
          <a:p>
            <a:endParaRPr lang="es-MX" dirty="0"/>
          </a:p>
        </p:txBody>
      </p:sp>
      <p:sp>
        <p:nvSpPr>
          <p:cNvPr id="6" name="Marcador de número de diapositiva 5">
            <a:extLst>
              <a:ext uri="{FF2B5EF4-FFF2-40B4-BE49-F238E27FC236}">
                <a16:creationId xmlns:a16="http://schemas.microsoft.com/office/drawing/2014/main" id="{2191DDD9-FF37-B978-E7DA-6F68BDD695F6}"/>
              </a:ext>
            </a:extLst>
          </p:cNvPr>
          <p:cNvSpPr>
            <a:spLocks noGrp="1"/>
          </p:cNvSpPr>
          <p:nvPr>
            <p:ph type="sldNum" sz="quarter" idx="12"/>
          </p:nvPr>
        </p:nvSpPr>
        <p:spPr/>
        <p:txBody>
          <a:bodyPr/>
          <a:lstStyle/>
          <a:p>
            <a:fld id="{F2FFABB9-F82F-4915-B863-B822A9EF1712}" type="slidenum">
              <a:rPr lang="es-MX" smtClean="0"/>
              <a:t>‹Nº›</a:t>
            </a:fld>
            <a:endParaRPr lang="es-MX" dirty="0"/>
          </a:p>
        </p:txBody>
      </p:sp>
    </p:spTree>
    <p:extLst>
      <p:ext uri="{BB962C8B-B14F-4D97-AF65-F5344CB8AC3E}">
        <p14:creationId xmlns:p14="http://schemas.microsoft.com/office/powerpoint/2010/main" val="18175204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DCF3712-13DE-4661-7A9C-B65A2C1FDE61}"/>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24629344-6235-20EF-0A31-603FDDC0044F}"/>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2D11869C-FC18-BC41-9977-004AE2241A36}"/>
              </a:ext>
            </a:extLst>
          </p:cNvPr>
          <p:cNvSpPr>
            <a:spLocks noGrp="1"/>
          </p:cNvSpPr>
          <p:nvPr>
            <p:ph type="dt" sz="half" idx="10"/>
          </p:nvPr>
        </p:nvSpPr>
        <p:spPr/>
        <p:txBody>
          <a:bodyPr/>
          <a:lstStyle/>
          <a:p>
            <a:fld id="{4F68290A-C0C6-4AC5-975D-DB3A35CFE95F}" type="datetimeFigureOut">
              <a:rPr lang="es-MX" smtClean="0"/>
              <a:t>10/02/2026</a:t>
            </a:fld>
            <a:endParaRPr lang="es-MX" dirty="0"/>
          </a:p>
        </p:txBody>
      </p:sp>
      <p:sp>
        <p:nvSpPr>
          <p:cNvPr id="5" name="Marcador de pie de página 4">
            <a:extLst>
              <a:ext uri="{FF2B5EF4-FFF2-40B4-BE49-F238E27FC236}">
                <a16:creationId xmlns:a16="http://schemas.microsoft.com/office/drawing/2014/main" id="{8061BDF6-130D-CB3C-AD4D-434E2E59A2F9}"/>
              </a:ext>
            </a:extLst>
          </p:cNvPr>
          <p:cNvSpPr>
            <a:spLocks noGrp="1"/>
          </p:cNvSpPr>
          <p:nvPr>
            <p:ph type="ftr" sz="quarter" idx="11"/>
          </p:nvPr>
        </p:nvSpPr>
        <p:spPr/>
        <p:txBody>
          <a:bodyPr/>
          <a:lstStyle/>
          <a:p>
            <a:endParaRPr lang="es-MX" dirty="0"/>
          </a:p>
        </p:txBody>
      </p:sp>
      <p:sp>
        <p:nvSpPr>
          <p:cNvPr id="6" name="Marcador de número de diapositiva 5">
            <a:extLst>
              <a:ext uri="{FF2B5EF4-FFF2-40B4-BE49-F238E27FC236}">
                <a16:creationId xmlns:a16="http://schemas.microsoft.com/office/drawing/2014/main" id="{FA3F4DB9-83AC-8462-006D-B72B11F31C00}"/>
              </a:ext>
            </a:extLst>
          </p:cNvPr>
          <p:cNvSpPr>
            <a:spLocks noGrp="1"/>
          </p:cNvSpPr>
          <p:nvPr>
            <p:ph type="sldNum" sz="quarter" idx="12"/>
          </p:nvPr>
        </p:nvSpPr>
        <p:spPr/>
        <p:txBody>
          <a:bodyPr/>
          <a:lstStyle/>
          <a:p>
            <a:fld id="{F2FFABB9-F82F-4915-B863-B822A9EF1712}" type="slidenum">
              <a:rPr lang="es-MX" smtClean="0"/>
              <a:t>‹Nº›</a:t>
            </a:fld>
            <a:endParaRPr lang="es-MX" dirty="0"/>
          </a:p>
        </p:txBody>
      </p:sp>
    </p:spTree>
    <p:extLst>
      <p:ext uri="{BB962C8B-B14F-4D97-AF65-F5344CB8AC3E}">
        <p14:creationId xmlns:p14="http://schemas.microsoft.com/office/powerpoint/2010/main" val="4985235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CF93F11-ED84-EE8B-567D-9F90764DA87C}"/>
              </a:ext>
            </a:extLst>
          </p:cNvPr>
          <p:cNvSpPr>
            <a:spLocks noGrp="1"/>
          </p:cNvSpPr>
          <p:nvPr>
            <p:ph type="title"/>
          </p:nvPr>
        </p:nvSpPr>
        <p:spPr>
          <a:xfrm>
            <a:off x="623888" y="1424782"/>
            <a:ext cx="7886700" cy="2377281"/>
          </a:xfrm>
        </p:spPr>
        <p:txBody>
          <a:bodyPr anchor="b"/>
          <a:lstStyle>
            <a:lvl1pPr>
              <a:defRPr sz="4500"/>
            </a:lvl1p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05E0611C-79D8-067D-021C-713F9305E00E}"/>
              </a:ext>
            </a:extLst>
          </p:cNvPr>
          <p:cNvSpPr>
            <a:spLocks noGrp="1"/>
          </p:cNvSpPr>
          <p:nvPr>
            <p:ph type="body" idx="1"/>
          </p:nvPr>
        </p:nvSpPr>
        <p:spPr>
          <a:xfrm>
            <a:off x="623888" y="3824553"/>
            <a:ext cx="7886700" cy="1250156"/>
          </a:xfrm>
        </p:spPr>
        <p:txBody>
          <a:bodyPr/>
          <a:lstStyle>
            <a:lvl1pPr marL="0" indent="0">
              <a:buNone/>
              <a:defRPr sz="1800">
                <a:solidFill>
                  <a:schemeClr val="tx1">
                    <a:tint val="82000"/>
                  </a:schemeClr>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B8F741C4-C4DC-5A1F-4C19-645D3879E1BF}"/>
              </a:ext>
            </a:extLst>
          </p:cNvPr>
          <p:cNvSpPr>
            <a:spLocks noGrp="1"/>
          </p:cNvSpPr>
          <p:nvPr>
            <p:ph type="dt" sz="half" idx="10"/>
          </p:nvPr>
        </p:nvSpPr>
        <p:spPr/>
        <p:txBody>
          <a:bodyPr/>
          <a:lstStyle/>
          <a:p>
            <a:fld id="{4F68290A-C0C6-4AC5-975D-DB3A35CFE95F}" type="datetimeFigureOut">
              <a:rPr lang="es-MX" smtClean="0"/>
              <a:t>10/02/2026</a:t>
            </a:fld>
            <a:endParaRPr lang="es-MX" dirty="0"/>
          </a:p>
        </p:txBody>
      </p:sp>
      <p:sp>
        <p:nvSpPr>
          <p:cNvPr id="5" name="Marcador de pie de página 4">
            <a:extLst>
              <a:ext uri="{FF2B5EF4-FFF2-40B4-BE49-F238E27FC236}">
                <a16:creationId xmlns:a16="http://schemas.microsoft.com/office/drawing/2014/main" id="{A847939C-9944-9679-690F-6847D6555587}"/>
              </a:ext>
            </a:extLst>
          </p:cNvPr>
          <p:cNvSpPr>
            <a:spLocks noGrp="1"/>
          </p:cNvSpPr>
          <p:nvPr>
            <p:ph type="ftr" sz="quarter" idx="11"/>
          </p:nvPr>
        </p:nvSpPr>
        <p:spPr/>
        <p:txBody>
          <a:bodyPr/>
          <a:lstStyle/>
          <a:p>
            <a:endParaRPr lang="es-MX" dirty="0"/>
          </a:p>
        </p:txBody>
      </p:sp>
      <p:sp>
        <p:nvSpPr>
          <p:cNvPr id="6" name="Marcador de número de diapositiva 5">
            <a:extLst>
              <a:ext uri="{FF2B5EF4-FFF2-40B4-BE49-F238E27FC236}">
                <a16:creationId xmlns:a16="http://schemas.microsoft.com/office/drawing/2014/main" id="{F4991415-BC8F-1C2C-9B78-5AC33AA139F8}"/>
              </a:ext>
            </a:extLst>
          </p:cNvPr>
          <p:cNvSpPr>
            <a:spLocks noGrp="1"/>
          </p:cNvSpPr>
          <p:nvPr>
            <p:ph type="sldNum" sz="quarter" idx="12"/>
          </p:nvPr>
        </p:nvSpPr>
        <p:spPr/>
        <p:txBody>
          <a:bodyPr/>
          <a:lstStyle/>
          <a:p>
            <a:fld id="{F2FFABB9-F82F-4915-B863-B822A9EF1712}" type="slidenum">
              <a:rPr lang="es-MX" smtClean="0"/>
              <a:t>‹Nº›</a:t>
            </a:fld>
            <a:endParaRPr lang="es-MX" dirty="0"/>
          </a:p>
        </p:txBody>
      </p:sp>
    </p:spTree>
    <p:extLst>
      <p:ext uri="{BB962C8B-B14F-4D97-AF65-F5344CB8AC3E}">
        <p14:creationId xmlns:p14="http://schemas.microsoft.com/office/powerpoint/2010/main" val="35484805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0CEF111-0A26-1A10-263C-AC5BF1FCCB2D}"/>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44E47824-5DB8-4E0D-F6A3-501804A5416E}"/>
              </a:ext>
            </a:extLst>
          </p:cNvPr>
          <p:cNvSpPr>
            <a:spLocks noGrp="1"/>
          </p:cNvSpPr>
          <p:nvPr>
            <p:ph sz="half" idx="1"/>
          </p:nvPr>
        </p:nvSpPr>
        <p:spPr>
          <a:xfrm>
            <a:off x="628650" y="1521354"/>
            <a:ext cx="3886200" cy="3626115"/>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contenido 3">
            <a:extLst>
              <a:ext uri="{FF2B5EF4-FFF2-40B4-BE49-F238E27FC236}">
                <a16:creationId xmlns:a16="http://schemas.microsoft.com/office/drawing/2014/main" id="{4273DC1E-9BB4-9B97-D128-6AAFC3A09117}"/>
              </a:ext>
            </a:extLst>
          </p:cNvPr>
          <p:cNvSpPr>
            <a:spLocks noGrp="1"/>
          </p:cNvSpPr>
          <p:nvPr>
            <p:ph sz="half" idx="2"/>
          </p:nvPr>
        </p:nvSpPr>
        <p:spPr>
          <a:xfrm>
            <a:off x="4629150" y="1521354"/>
            <a:ext cx="3886200" cy="3626115"/>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fecha 4">
            <a:extLst>
              <a:ext uri="{FF2B5EF4-FFF2-40B4-BE49-F238E27FC236}">
                <a16:creationId xmlns:a16="http://schemas.microsoft.com/office/drawing/2014/main" id="{CBE0BB15-2BA1-EB2E-EC20-957A0ACD60D7}"/>
              </a:ext>
            </a:extLst>
          </p:cNvPr>
          <p:cNvSpPr>
            <a:spLocks noGrp="1"/>
          </p:cNvSpPr>
          <p:nvPr>
            <p:ph type="dt" sz="half" idx="10"/>
          </p:nvPr>
        </p:nvSpPr>
        <p:spPr/>
        <p:txBody>
          <a:bodyPr/>
          <a:lstStyle/>
          <a:p>
            <a:fld id="{4F68290A-C0C6-4AC5-975D-DB3A35CFE95F}" type="datetimeFigureOut">
              <a:rPr lang="es-MX" smtClean="0"/>
              <a:t>10/02/2026</a:t>
            </a:fld>
            <a:endParaRPr lang="es-MX" dirty="0"/>
          </a:p>
        </p:txBody>
      </p:sp>
      <p:sp>
        <p:nvSpPr>
          <p:cNvPr id="6" name="Marcador de pie de página 5">
            <a:extLst>
              <a:ext uri="{FF2B5EF4-FFF2-40B4-BE49-F238E27FC236}">
                <a16:creationId xmlns:a16="http://schemas.microsoft.com/office/drawing/2014/main" id="{FE98B1F2-7CB4-03AD-D0FC-2B151FE4FC06}"/>
              </a:ext>
            </a:extLst>
          </p:cNvPr>
          <p:cNvSpPr>
            <a:spLocks noGrp="1"/>
          </p:cNvSpPr>
          <p:nvPr>
            <p:ph type="ftr" sz="quarter" idx="11"/>
          </p:nvPr>
        </p:nvSpPr>
        <p:spPr/>
        <p:txBody>
          <a:bodyPr/>
          <a:lstStyle/>
          <a:p>
            <a:endParaRPr lang="es-MX" dirty="0"/>
          </a:p>
        </p:txBody>
      </p:sp>
      <p:sp>
        <p:nvSpPr>
          <p:cNvPr id="7" name="Marcador de número de diapositiva 6">
            <a:extLst>
              <a:ext uri="{FF2B5EF4-FFF2-40B4-BE49-F238E27FC236}">
                <a16:creationId xmlns:a16="http://schemas.microsoft.com/office/drawing/2014/main" id="{FC3A2691-296B-A2E8-4A37-B0B9EFA2F438}"/>
              </a:ext>
            </a:extLst>
          </p:cNvPr>
          <p:cNvSpPr>
            <a:spLocks noGrp="1"/>
          </p:cNvSpPr>
          <p:nvPr>
            <p:ph type="sldNum" sz="quarter" idx="12"/>
          </p:nvPr>
        </p:nvSpPr>
        <p:spPr/>
        <p:txBody>
          <a:bodyPr/>
          <a:lstStyle/>
          <a:p>
            <a:fld id="{F2FFABB9-F82F-4915-B863-B822A9EF1712}" type="slidenum">
              <a:rPr lang="es-MX" smtClean="0"/>
              <a:t>‹Nº›</a:t>
            </a:fld>
            <a:endParaRPr lang="es-MX" dirty="0"/>
          </a:p>
        </p:txBody>
      </p:sp>
    </p:spTree>
    <p:extLst>
      <p:ext uri="{BB962C8B-B14F-4D97-AF65-F5344CB8AC3E}">
        <p14:creationId xmlns:p14="http://schemas.microsoft.com/office/powerpoint/2010/main" val="19950905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5013431-C45C-ACF0-FDD9-5E9016DEDE21}"/>
              </a:ext>
            </a:extLst>
          </p:cNvPr>
          <p:cNvSpPr>
            <a:spLocks noGrp="1"/>
          </p:cNvSpPr>
          <p:nvPr>
            <p:ph type="title"/>
          </p:nvPr>
        </p:nvSpPr>
        <p:spPr>
          <a:xfrm>
            <a:off x="629841" y="304271"/>
            <a:ext cx="7886700" cy="1104636"/>
          </a:xfrm>
        </p:spPr>
        <p:txBody>
          <a:body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7D402B3F-50E7-B1A1-4614-8A90FEE69982}"/>
              </a:ext>
            </a:extLst>
          </p:cNvPr>
          <p:cNvSpPr>
            <a:spLocks noGrp="1"/>
          </p:cNvSpPr>
          <p:nvPr>
            <p:ph type="body" idx="1"/>
          </p:nvPr>
        </p:nvSpPr>
        <p:spPr>
          <a:xfrm>
            <a:off x="629842" y="1400969"/>
            <a:ext cx="3868340" cy="686593"/>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5ED7D710-80B1-FAF3-FC3B-08D30E7A6FAE}"/>
              </a:ext>
            </a:extLst>
          </p:cNvPr>
          <p:cNvSpPr>
            <a:spLocks noGrp="1"/>
          </p:cNvSpPr>
          <p:nvPr>
            <p:ph sz="half" idx="2"/>
          </p:nvPr>
        </p:nvSpPr>
        <p:spPr>
          <a:xfrm>
            <a:off x="629842" y="2087563"/>
            <a:ext cx="3868340" cy="3070490"/>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texto 4">
            <a:extLst>
              <a:ext uri="{FF2B5EF4-FFF2-40B4-BE49-F238E27FC236}">
                <a16:creationId xmlns:a16="http://schemas.microsoft.com/office/drawing/2014/main" id="{BE82A8EB-9D20-8AC0-1E17-1095C8A77CD9}"/>
              </a:ext>
            </a:extLst>
          </p:cNvPr>
          <p:cNvSpPr>
            <a:spLocks noGrp="1"/>
          </p:cNvSpPr>
          <p:nvPr>
            <p:ph type="body" sz="quarter" idx="3"/>
          </p:nvPr>
        </p:nvSpPr>
        <p:spPr>
          <a:xfrm>
            <a:off x="4629150" y="1400969"/>
            <a:ext cx="3887391" cy="686593"/>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4C3690B4-C1B2-A48F-1207-6D2EBF6ADA94}"/>
              </a:ext>
            </a:extLst>
          </p:cNvPr>
          <p:cNvSpPr>
            <a:spLocks noGrp="1"/>
          </p:cNvSpPr>
          <p:nvPr>
            <p:ph sz="quarter" idx="4"/>
          </p:nvPr>
        </p:nvSpPr>
        <p:spPr>
          <a:xfrm>
            <a:off x="4629150" y="2087563"/>
            <a:ext cx="3887391" cy="3070490"/>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7" name="Marcador de fecha 6">
            <a:extLst>
              <a:ext uri="{FF2B5EF4-FFF2-40B4-BE49-F238E27FC236}">
                <a16:creationId xmlns:a16="http://schemas.microsoft.com/office/drawing/2014/main" id="{A0444BDA-E94E-43F4-6026-ACAB59F598E1}"/>
              </a:ext>
            </a:extLst>
          </p:cNvPr>
          <p:cNvSpPr>
            <a:spLocks noGrp="1"/>
          </p:cNvSpPr>
          <p:nvPr>
            <p:ph type="dt" sz="half" idx="10"/>
          </p:nvPr>
        </p:nvSpPr>
        <p:spPr/>
        <p:txBody>
          <a:bodyPr/>
          <a:lstStyle/>
          <a:p>
            <a:fld id="{4F68290A-C0C6-4AC5-975D-DB3A35CFE95F}" type="datetimeFigureOut">
              <a:rPr lang="es-MX" smtClean="0"/>
              <a:t>10/02/2026</a:t>
            </a:fld>
            <a:endParaRPr lang="es-MX" dirty="0"/>
          </a:p>
        </p:txBody>
      </p:sp>
      <p:sp>
        <p:nvSpPr>
          <p:cNvPr id="8" name="Marcador de pie de página 7">
            <a:extLst>
              <a:ext uri="{FF2B5EF4-FFF2-40B4-BE49-F238E27FC236}">
                <a16:creationId xmlns:a16="http://schemas.microsoft.com/office/drawing/2014/main" id="{EB1C8F1E-895F-79E7-8CDB-A1F3136C1000}"/>
              </a:ext>
            </a:extLst>
          </p:cNvPr>
          <p:cNvSpPr>
            <a:spLocks noGrp="1"/>
          </p:cNvSpPr>
          <p:nvPr>
            <p:ph type="ftr" sz="quarter" idx="11"/>
          </p:nvPr>
        </p:nvSpPr>
        <p:spPr/>
        <p:txBody>
          <a:bodyPr/>
          <a:lstStyle/>
          <a:p>
            <a:endParaRPr lang="es-MX" dirty="0"/>
          </a:p>
        </p:txBody>
      </p:sp>
      <p:sp>
        <p:nvSpPr>
          <p:cNvPr id="9" name="Marcador de número de diapositiva 8">
            <a:extLst>
              <a:ext uri="{FF2B5EF4-FFF2-40B4-BE49-F238E27FC236}">
                <a16:creationId xmlns:a16="http://schemas.microsoft.com/office/drawing/2014/main" id="{C27F2AE6-3F68-DDAD-5BE5-CAE55DEF3015}"/>
              </a:ext>
            </a:extLst>
          </p:cNvPr>
          <p:cNvSpPr>
            <a:spLocks noGrp="1"/>
          </p:cNvSpPr>
          <p:nvPr>
            <p:ph type="sldNum" sz="quarter" idx="12"/>
          </p:nvPr>
        </p:nvSpPr>
        <p:spPr/>
        <p:txBody>
          <a:bodyPr/>
          <a:lstStyle/>
          <a:p>
            <a:fld id="{F2FFABB9-F82F-4915-B863-B822A9EF1712}" type="slidenum">
              <a:rPr lang="es-MX" smtClean="0"/>
              <a:t>‹Nº›</a:t>
            </a:fld>
            <a:endParaRPr lang="es-MX" dirty="0"/>
          </a:p>
        </p:txBody>
      </p:sp>
    </p:spTree>
    <p:extLst>
      <p:ext uri="{BB962C8B-B14F-4D97-AF65-F5344CB8AC3E}">
        <p14:creationId xmlns:p14="http://schemas.microsoft.com/office/powerpoint/2010/main" val="22446783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3DA1EDF-F420-B106-C60A-2A0A4926051A}"/>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fecha 2">
            <a:extLst>
              <a:ext uri="{FF2B5EF4-FFF2-40B4-BE49-F238E27FC236}">
                <a16:creationId xmlns:a16="http://schemas.microsoft.com/office/drawing/2014/main" id="{286F7DDA-BB15-7EA7-F2A4-3A8AD8B003ED}"/>
              </a:ext>
            </a:extLst>
          </p:cNvPr>
          <p:cNvSpPr>
            <a:spLocks noGrp="1"/>
          </p:cNvSpPr>
          <p:nvPr>
            <p:ph type="dt" sz="half" idx="10"/>
          </p:nvPr>
        </p:nvSpPr>
        <p:spPr/>
        <p:txBody>
          <a:bodyPr/>
          <a:lstStyle/>
          <a:p>
            <a:fld id="{4F68290A-C0C6-4AC5-975D-DB3A35CFE95F}" type="datetimeFigureOut">
              <a:rPr lang="es-MX" smtClean="0"/>
              <a:t>10/02/2026</a:t>
            </a:fld>
            <a:endParaRPr lang="es-MX" dirty="0"/>
          </a:p>
        </p:txBody>
      </p:sp>
      <p:sp>
        <p:nvSpPr>
          <p:cNvPr id="4" name="Marcador de pie de página 3">
            <a:extLst>
              <a:ext uri="{FF2B5EF4-FFF2-40B4-BE49-F238E27FC236}">
                <a16:creationId xmlns:a16="http://schemas.microsoft.com/office/drawing/2014/main" id="{3C960B71-0FE5-344F-08C3-A110BB62CED9}"/>
              </a:ext>
            </a:extLst>
          </p:cNvPr>
          <p:cNvSpPr>
            <a:spLocks noGrp="1"/>
          </p:cNvSpPr>
          <p:nvPr>
            <p:ph type="ftr" sz="quarter" idx="11"/>
          </p:nvPr>
        </p:nvSpPr>
        <p:spPr/>
        <p:txBody>
          <a:bodyPr/>
          <a:lstStyle/>
          <a:p>
            <a:endParaRPr lang="es-MX" dirty="0"/>
          </a:p>
        </p:txBody>
      </p:sp>
      <p:sp>
        <p:nvSpPr>
          <p:cNvPr id="5" name="Marcador de número de diapositiva 4">
            <a:extLst>
              <a:ext uri="{FF2B5EF4-FFF2-40B4-BE49-F238E27FC236}">
                <a16:creationId xmlns:a16="http://schemas.microsoft.com/office/drawing/2014/main" id="{EDCA4130-DB0E-FBF5-090D-DE8EF98C3960}"/>
              </a:ext>
            </a:extLst>
          </p:cNvPr>
          <p:cNvSpPr>
            <a:spLocks noGrp="1"/>
          </p:cNvSpPr>
          <p:nvPr>
            <p:ph type="sldNum" sz="quarter" idx="12"/>
          </p:nvPr>
        </p:nvSpPr>
        <p:spPr/>
        <p:txBody>
          <a:bodyPr/>
          <a:lstStyle/>
          <a:p>
            <a:fld id="{F2FFABB9-F82F-4915-B863-B822A9EF1712}" type="slidenum">
              <a:rPr lang="es-MX" smtClean="0"/>
              <a:t>‹Nº›</a:t>
            </a:fld>
            <a:endParaRPr lang="es-MX" dirty="0"/>
          </a:p>
        </p:txBody>
      </p:sp>
    </p:spTree>
    <p:extLst>
      <p:ext uri="{BB962C8B-B14F-4D97-AF65-F5344CB8AC3E}">
        <p14:creationId xmlns:p14="http://schemas.microsoft.com/office/powerpoint/2010/main" val="23938570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76180D80-FB7A-A6E7-3229-94AA974C739B}"/>
              </a:ext>
            </a:extLst>
          </p:cNvPr>
          <p:cNvSpPr>
            <a:spLocks noGrp="1"/>
          </p:cNvSpPr>
          <p:nvPr>
            <p:ph type="dt" sz="half" idx="10"/>
          </p:nvPr>
        </p:nvSpPr>
        <p:spPr/>
        <p:txBody>
          <a:bodyPr/>
          <a:lstStyle/>
          <a:p>
            <a:fld id="{4F68290A-C0C6-4AC5-975D-DB3A35CFE95F}" type="datetimeFigureOut">
              <a:rPr lang="es-MX" smtClean="0"/>
              <a:t>10/02/2026</a:t>
            </a:fld>
            <a:endParaRPr lang="es-MX" dirty="0"/>
          </a:p>
        </p:txBody>
      </p:sp>
      <p:sp>
        <p:nvSpPr>
          <p:cNvPr id="3" name="Marcador de pie de página 2">
            <a:extLst>
              <a:ext uri="{FF2B5EF4-FFF2-40B4-BE49-F238E27FC236}">
                <a16:creationId xmlns:a16="http://schemas.microsoft.com/office/drawing/2014/main" id="{2509C03F-07BD-91F7-979A-855B4C2BB56A}"/>
              </a:ext>
            </a:extLst>
          </p:cNvPr>
          <p:cNvSpPr>
            <a:spLocks noGrp="1"/>
          </p:cNvSpPr>
          <p:nvPr>
            <p:ph type="ftr" sz="quarter" idx="11"/>
          </p:nvPr>
        </p:nvSpPr>
        <p:spPr/>
        <p:txBody>
          <a:bodyPr/>
          <a:lstStyle/>
          <a:p>
            <a:endParaRPr lang="es-MX" dirty="0"/>
          </a:p>
        </p:txBody>
      </p:sp>
      <p:sp>
        <p:nvSpPr>
          <p:cNvPr id="4" name="Marcador de número de diapositiva 3">
            <a:extLst>
              <a:ext uri="{FF2B5EF4-FFF2-40B4-BE49-F238E27FC236}">
                <a16:creationId xmlns:a16="http://schemas.microsoft.com/office/drawing/2014/main" id="{44C1DCE1-253C-4AC4-3F9A-C897C6E017B5}"/>
              </a:ext>
            </a:extLst>
          </p:cNvPr>
          <p:cNvSpPr>
            <a:spLocks noGrp="1"/>
          </p:cNvSpPr>
          <p:nvPr>
            <p:ph type="sldNum" sz="quarter" idx="12"/>
          </p:nvPr>
        </p:nvSpPr>
        <p:spPr/>
        <p:txBody>
          <a:bodyPr/>
          <a:lstStyle/>
          <a:p>
            <a:fld id="{F2FFABB9-F82F-4915-B863-B822A9EF1712}" type="slidenum">
              <a:rPr lang="es-MX" smtClean="0"/>
              <a:t>‹Nº›</a:t>
            </a:fld>
            <a:endParaRPr lang="es-MX" dirty="0"/>
          </a:p>
        </p:txBody>
      </p:sp>
    </p:spTree>
    <p:extLst>
      <p:ext uri="{BB962C8B-B14F-4D97-AF65-F5344CB8AC3E}">
        <p14:creationId xmlns:p14="http://schemas.microsoft.com/office/powerpoint/2010/main" val="28993517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DB3FC03-35FB-00CD-5A55-3F019DC8814A}"/>
              </a:ext>
            </a:extLst>
          </p:cNvPr>
          <p:cNvSpPr>
            <a:spLocks noGrp="1"/>
          </p:cNvSpPr>
          <p:nvPr>
            <p:ph type="title"/>
          </p:nvPr>
        </p:nvSpPr>
        <p:spPr>
          <a:xfrm>
            <a:off x="629841" y="381000"/>
            <a:ext cx="2949178" cy="1333500"/>
          </a:xfrm>
        </p:spPr>
        <p:txBody>
          <a:bodyPr anchor="b"/>
          <a:lstStyle>
            <a:lvl1pPr>
              <a:defRPr sz="2400"/>
            </a:lvl1p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7DDBEAD0-1482-8DD3-DC28-409D70DCC4B1}"/>
              </a:ext>
            </a:extLst>
          </p:cNvPr>
          <p:cNvSpPr>
            <a:spLocks noGrp="1"/>
          </p:cNvSpPr>
          <p:nvPr>
            <p:ph idx="1"/>
          </p:nvPr>
        </p:nvSpPr>
        <p:spPr>
          <a:xfrm>
            <a:off x="3887391" y="822855"/>
            <a:ext cx="4629150" cy="4061354"/>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texto 3">
            <a:extLst>
              <a:ext uri="{FF2B5EF4-FFF2-40B4-BE49-F238E27FC236}">
                <a16:creationId xmlns:a16="http://schemas.microsoft.com/office/drawing/2014/main" id="{55AAD9DD-4253-5C78-F338-36A2658DBF6C}"/>
              </a:ext>
            </a:extLst>
          </p:cNvPr>
          <p:cNvSpPr>
            <a:spLocks noGrp="1"/>
          </p:cNvSpPr>
          <p:nvPr>
            <p:ph type="body" sz="half" idx="2"/>
          </p:nvPr>
        </p:nvSpPr>
        <p:spPr>
          <a:xfrm>
            <a:off x="629841" y="1714500"/>
            <a:ext cx="2949178" cy="3176323"/>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3BB766AA-B3B2-2649-1CD9-2EB3897975BF}"/>
              </a:ext>
            </a:extLst>
          </p:cNvPr>
          <p:cNvSpPr>
            <a:spLocks noGrp="1"/>
          </p:cNvSpPr>
          <p:nvPr>
            <p:ph type="dt" sz="half" idx="10"/>
          </p:nvPr>
        </p:nvSpPr>
        <p:spPr/>
        <p:txBody>
          <a:bodyPr/>
          <a:lstStyle/>
          <a:p>
            <a:fld id="{4F68290A-C0C6-4AC5-975D-DB3A35CFE95F}" type="datetimeFigureOut">
              <a:rPr lang="es-MX" smtClean="0"/>
              <a:t>10/02/2026</a:t>
            </a:fld>
            <a:endParaRPr lang="es-MX" dirty="0"/>
          </a:p>
        </p:txBody>
      </p:sp>
      <p:sp>
        <p:nvSpPr>
          <p:cNvPr id="6" name="Marcador de pie de página 5">
            <a:extLst>
              <a:ext uri="{FF2B5EF4-FFF2-40B4-BE49-F238E27FC236}">
                <a16:creationId xmlns:a16="http://schemas.microsoft.com/office/drawing/2014/main" id="{E18075E2-5659-2866-D308-BFF8A88B0CD7}"/>
              </a:ext>
            </a:extLst>
          </p:cNvPr>
          <p:cNvSpPr>
            <a:spLocks noGrp="1"/>
          </p:cNvSpPr>
          <p:nvPr>
            <p:ph type="ftr" sz="quarter" idx="11"/>
          </p:nvPr>
        </p:nvSpPr>
        <p:spPr/>
        <p:txBody>
          <a:bodyPr/>
          <a:lstStyle/>
          <a:p>
            <a:endParaRPr lang="es-MX" dirty="0"/>
          </a:p>
        </p:txBody>
      </p:sp>
      <p:sp>
        <p:nvSpPr>
          <p:cNvPr id="7" name="Marcador de número de diapositiva 6">
            <a:extLst>
              <a:ext uri="{FF2B5EF4-FFF2-40B4-BE49-F238E27FC236}">
                <a16:creationId xmlns:a16="http://schemas.microsoft.com/office/drawing/2014/main" id="{14B4E4E2-56F4-EFB2-C57C-099FF97E7C3F}"/>
              </a:ext>
            </a:extLst>
          </p:cNvPr>
          <p:cNvSpPr>
            <a:spLocks noGrp="1"/>
          </p:cNvSpPr>
          <p:nvPr>
            <p:ph type="sldNum" sz="quarter" idx="12"/>
          </p:nvPr>
        </p:nvSpPr>
        <p:spPr/>
        <p:txBody>
          <a:bodyPr/>
          <a:lstStyle/>
          <a:p>
            <a:fld id="{F2FFABB9-F82F-4915-B863-B822A9EF1712}" type="slidenum">
              <a:rPr lang="es-MX" smtClean="0"/>
              <a:t>‹Nº›</a:t>
            </a:fld>
            <a:endParaRPr lang="es-MX" dirty="0"/>
          </a:p>
        </p:txBody>
      </p:sp>
    </p:spTree>
    <p:extLst>
      <p:ext uri="{BB962C8B-B14F-4D97-AF65-F5344CB8AC3E}">
        <p14:creationId xmlns:p14="http://schemas.microsoft.com/office/powerpoint/2010/main" val="30451572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E3545EC-92FB-9A38-9B8B-1F05C17DABCC}"/>
              </a:ext>
            </a:extLst>
          </p:cNvPr>
          <p:cNvSpPr>
            <a:spLocks noGrp="1"/>
          </p:cNvSpPr>
          <p:nvPr>
            <p:ph type="title"/>
          </p:nvPr>
        </p:nvSpPr>
        <p:spPr>
          <a:xfrm>
            <a:off x="629841" y="381000"/>
            <a:ext cx="2949178" cy="1333500"/>
          </a:xfrm>
        </p:spPr>
        <p:txBody>
          <a:bodyPr anchor="b"/>
          <a:lstStyle>
            <a:lvl1pPr>
              <a:defRPr sz="2400"/>
            </a:lvl1pPr>
          </a:lstStyle>
          <a:p>
            <a:r>
              <a:rPr lang="es-ES"/>
              <a:t>Haga clic para modificar el estilo de título del patrón</a:t>
            </a:r>
            <a:endParaRPr lang="es-MX"/>
          </a:p>
        </p:txBody>
      </p:sp>
      <p:sp>
        <p:nvSpPr>
          <p:cNvPr id="3" name="Marcador de posición de imagen 2">
            <a:extLst>
              <a:ext uri="{FF2B5EF4-FFF2-40B4-BE49-F238E27FC236}">
                <a16:creationId xmlns:a16="http://schemas.microsoft.com/office/drawing/2014/main" id="{5EF77333-5539-9299-E7BB-9C9037C9DA28}"/>
              </a:ext>
            </a:extLst>
          </p:cNvPr>
          <p:cNvSpPr>
            <a:spLocks noGrp="1"/>
          </p:cNvSpPr>
          <p:nvPr>
            <p:ph type="pic" idx="1"/>
          </p:nvPr>
        </p:nvSpPr>
        <p:spPr>
          <a:xfrm>
            <a:off x="3887391" y="822855"/>
            <a:ext cx="4629150" cy="4061354"/>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s-MX" dirty="0"/>
          </a:p>
        </p:txBody>
      </p:sp>
      <p:sp>
        <p:nvSpPr>
          <p:cNvPr id="4" name="Marcador de texto 3">
            <a:extLst>
              <a:ext uri="{FF2B5EF4-FFF2-40B4-BE49-F238E27FC236}">
                <a16:creationId xmlns:a16="http://schemas.microsoft.com/office/drawing/2014/main" id="{5DF1683D-A2AF-B5E8-9AF3-6ACB6FEACADB}"/>
              </a:ext>
            </a:extLst>
          </p:cNvPr>
          <p:cNvSpPr>
            <a:spLocks noGrp="1"/>
          </p:cNvSpPr>
          <p:nvPr>
            <p:ph type="body" sz="half" idx="2"/>
          </p:nvPr>
        </p:nvSpPr>
        <p:spPr>
          <a:xfrm>
            <a:off x="629841" y="1714500"/>
            <a:ext cx="2949178" cy="3176323"/>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1224C998-77A7-9F12-6DC2-839872881ACA}"/>
              </a:ext>
            </a:extLst>
          </p:cNvPr>
          <p:cNvSpPr>
            <a:spLocks noGrp="1"/>
          </p:cNvSpPr>
          <p:nvPr>
            <p:ph type="dt" sz="half" idx="10"/>
          </p:nvPr>
        </p:nvSpPr>
        <p:spPr/>
        <p:txBody>
          <a:bodyPr/>
          <a:lstStyle/>
          <a:p>
            <a:fld id="{4F68290A-C0C6-4AC5-975D-DB3A35CFE95F}" type="datetimeFigureOut">
              <a:rPr lang="es-MX" smtClean="0"/>
              <a:t>10/02/2026</a:t>
            </a:fld>
            <a:endParaRPr lang="es-MX" dirty="0"/>
          </a:p>
        </p:txBody>
      </p:sp>
      <p:sp>
        <p:nvSpPr>
          <p:cNvPr id="6" name="Marcador de pie de página 5">
            <a:extLst>
              <a:ext uri="{FF2B5EF4-FFF2-40B4-BE49-F238E27FC236}">
                <a16:creationId xmlns:a16="http://schemas.microsoft.com/office/drawing/2014/main" id="{87B5CFFA-6861-C4DE-9292-8FEB210E79F7}"/>
              </a:ext>
            </a:extLst>
          </p:cNvPr>
          <p:cNvSpPr>
            <a:spLocks noGrp="1"/>
          </p:cNvSpPr>
          <p:nvPr>
            <p:ph type="ftr" sz="quarter" idx="11"/>
          </p:nvPr>
        </p:nvSpPr>
        <p:spPr/>
        <p:txBody>
          <a:bodyPr/>
          <a:lstStyle/>
          <a:p>
            <a:endParaRPr lang="es-MX" dirty="0"/>
          </a:p>
        </p:txBody>
      </p:sp>
      <p:sp>
        <p:nvSpPr>
          <p:cNvPr id="7" name="Marcador de número de diapositiva 6">
            <a:extLst>
              <a:ext uri="{FF2B5EF4-FFF2-40B4-BE49-F238E27FC236}">
                <a16:creationId xmlns:a16="http://schemas.microsoft.com/office/drawing/2014/main" id="{0A377192-FB8B-ADA9-EA68-6E19DAF1EC1B}"/>
              </a:ext>
            </a:extLst>
          </p:cNvPr>
          <p:cNvSpPr>
            <a:spLocks noGrp="1"/>
          </p:cNvSpPr>
          <p:nvPr>
            <p:ph type="sldNum" sz="quarter" idx="12"/>
          </p:nvPr>
        </p:nvSpPr>
        <p:spPr/>
        <p:txBody>
          <a:bodyPr/>
          <a:lstStyle/>
          <a:p>
            <a:fld id="{F2FFABB9-F82F-4915-B863-B822A9EF1712}" type="slidenum">
              <a:rPr lang="es-MX" smtClean="0"/>
              <a:t>‹Nº›</a:t>
            </a:fld>
            <a:endParaRPr lang="es-MX" dirty="0"/>
          </a:p>
        </p:txBody>
      </p:sp>
    </p:spTree>
    <p:extLst>
      <p:ext uri="{BB962C8B-B14F-4D97-AF65-F5344CB8AC3E}">
        <p14:creationId xmlns:p14="http://schemas.microsoft.com/office/powerpoint/2010/main" val="6387761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28599DE-07D9-BC8B-55D0-A9EAEFF3A0A2}"/>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texto vertical 2">
            <a:extLst>
              <a:ext uri="{FF2B5EF4-FFF2-40B4-BE49-F238E27FC236}">
                <a16:creationId xmlns:a16="http://schemas.microsoft.com/office/drawing/2014/main" id="{35B54665-4C14-D27A-5C9F-F29A5C9E9B01}"/>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5A145DD8-A995-6C6B-9239-EBEA2C48B18A}"/>
              </a:ext>
            </a:extLst>
          </p:cNvPr>
          <p:cNvSpPr>
            <a:spLocks noGrp="1"/>
          </p:cNvSpPr>
          <p:nvPr>
            <p:ph type="dt" sz="half" idx="10"/>
          </p:nvPr>
        </p:nvSpPr>
        <p:spPr/>
        <p:txBody>
          <a:bodyPr/>
          <a:lstStyle/>
          <a:p>
            <a:fld id="{4F68290A-C0C6-4AC5-975D-DB3A35CFE95F}" type="datetimeFigureOut">
              <a:rPr lang="es-MX" smtClean="0"/>
              <a:t>10/02/2026</a:t>
            </a:fld>
            <a:endParaRPr lang="es-MX" dirty="0"/>
          </a:p>
        </p:txBody>
      </p:sp>
      <p:sp>
        <p:nvSpPr>
          <p:cNvPr id="5" name="Marcador de pie de página 4">
            <a:extLst>
              <a:ext uri="{FF2B5EF4-FFF2-40B4-BE49-F238E27FC236}">
                <a16:creationId xmlns:a16="http://schemas.microsoft.com/office/drawing/2014/main" id="{BAAD836F-291C-914C-F1AB-EFE3259A75F9}"/>
              </a:ext>
            </a:extLst>
          </p:cNvPr>
          <p:cNvSpPr>
            <a:spLocks noGrp="1"/>
          </p:cNvSpPr>
          <p:nvPr>
            <p:ph type="ftr" sz="quarter" idx="11"/>
          </p:nvPr>
        </p:nvSpPr>
        <p:spPr/>
        <p:txBody>
          <a:bodyPr/>
          <a:lstStyle/>
          <a:p>
            <a:endParaRPr lang="es-MX" dirty="0"/>
          </a:p>
        </p:txBody>
      </p:sp>
      <p:sp>
        <p:nvSpPr>
          <p:cNvPr id="6" name="Marcador de número de diapositiva 5">
            <a:extLst>
              <a:ext uri="{FF2B5EF4-FFF2-40B4-BE49-F238E27FC236}">
                <a16:creationId xmlns:a16="http://schemas.microsoft.com/office/drawing/2014/main" id="{47AF68A6-3346-8D1E-D206-4EDAFEAFF5F0}"/>
              </a:ext>
            </a:extLst>
          </p:cNvPr>
          <p:cNvSpPr>
            <a:spLocks noGrp="1"/>
          </p:cNvSpPr>
          <p:nvPr>
            <p:ph type="sldNum" sz="quarter" idx="12"/>
          </p:nvPr>
        </p:nvSpPr>
        <p:spPr/>
        <p:txBody>
          <a:bodyPr/>
          <a:lstStyle/>
          <a:p>
            <a:fld id="{F2FFABB9-F82F-4915-B863-B822A9EF1712}" type="slidenum">
              <a:rPr lang="es-MX" smtClean="0"/>
              <a:t>‹Nº›</a:t>
            </a:fld>
            <a:endParaRPr lang="es-MX" dirty="0"/>
          </a:p>
        </p:txBody>
      </p:sp>
    </p:spTree>
    <p:extLst>
      <p:ext uri="{BB962C8B-B14F-4D97-AF65-F5344CB8AC3E}">
        <p14:creationId xmlns:p14="http://schemas.microsoft.com/office/powerpoint/2010/main" val="23147765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8145CE2C-479F-6CC7-C469-127FAB595DB1}"/>
              </a:ext>
            </a:extLst>
          </p:cNvPr>
          <p:cNvSpPr>
            <a:spLocks noGrp="1"/>
          </p:cNvSpPr>
          <p:nvPr>
            <p:ph type="title" orient="vert"/>
          </p:nvPr>
        </p:nvSpPr>
        <p:spPr>
          <a:xfrm>
            <a:off x="6543675" y="304271"/>
            <a:ext cx="1971675" cy="4843198"/>
          </a:xfrm>
        </p:spPr>
        <p:txBody>
          <a:bodyPr vert="eaVert"/>
          <a:lstStyle/>
          <a:p>
            <a:r>
              <a:rPr lang="es-ES"/>
              <a:t>Haga clic para modificar el estilo de título del patrón</a:t>
            </a:r>
            <a:endParaRPr lang="es-MX"/>
          </a:p>
        </p:txBody>
      </p:sp>
      <p:sp>
        <p:nvSpPr>
          <p:cNvPr id="3" name="Marcador de texto vertical 2">
            <a:extLst>
              <a:ext uri="{FF2B5EF4-FFF2-40B4-BE49-F238E27FC236}">
                <a16:creationId xmlns:a16="http://schemas.microsoft.com/office/drawing/2014/main" id="{827D7F97-E1E4-D5B4-E4A9-A8DBCF732248}"/>
              </a:ext>
            </a:extLst>
          </p:cNvPr>
          <p:cNvSpPr>
            <a:spLocks noGrp="1"/>
          </p:cNvSpPr>
          <p:nvPr>
            <p:ph type="body" orient="vert" idx="1"/>
          </p:nvPr>
        </p:nvSpPr>
        <p:spPr>
          <a:xfrm>
            <a:off x="628650" y="304271"/>
            <a:ext cx="5800725" cy="484319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785B6458-15FA-E023-7967-68D2C95E8FCB}"/>
              </a:ext>
            </a:extLst>
          </p:cNvPr>
          <p:cNvSpPr>
            <a:spLocks noGrp="1"/>
          </p:cNvSpPr>
          <p:nvPr>
            <p:ph type="dt" sz="half" idx="10"/>
          </p:nvPr>
        </p:nvSpPr>
        <p:spPr/>
        <p:txBody>
          <a:bodyPr/>
          <a:lstStyle/>
          <a:p>
            <a:fld id="{4F68290A-C0C6-4AC5-975D-DB3A35CFE95F}" type="datetimeFigureOut">
              <a:rPr lang="es-MX" smtClean="0"/>
              <a:t>10/02/2026</a:t>
            </a:fld>
            <a:endParaRPr lang="es-MX" dirty="0"/>
          </a:p>
        </p:txBody>
      </p:sp>
      <p:sp>
        <p:nvSpPr>
          <p:cNvPr id="5" name="Marcador de pie de página 4">
            <a:extLst>
              <a:ext uri="{FF2B5EF4-FFF2-40B4-BE49-F238E27FC236}">
                <a16:creationId xmlns:a16="http://schemas.microsoft.com/office/drawing/2014/main" id="{AA4163E9-9573-7188-334A-3D8422B80D10}"/>
              </a:ext>
            </a:extLst>
          </p:cNvPr>
          <p:cNvSpPr>
            <a:spLocks noGrp="1"/>
          </p:cNvSpPr>
          <p:nvPr>
            <p:ph type="ftr" sz="quarter" idx="11"/>
          </p:nvPr>
        </p:nvSpPr>
        <p:spPr/>
        <p:txBody>
          <a:bodyPr/>
          <a:lstStyle/>
          <a:p>
            <a:endParaRPr lang="es-MX" dirty="0"/>
          </a:p>
        </p:txBody>
      </p:sp>
      <p:sp>
        <p:nvSpPr>
          <p:cNvPr id="6" name="Marcador de número de diapositiva 5">
            <a:extLst>
              <a:ext uri="{FF2B5EF4-FFF2-40B4-BE49-F238E27FC236}">
                <a16:creationId xmlns:a16="http://schemas.microsoft.com/office/drawing/2014/main" id="{9FDA73D9-99E0-8806-5C87-31EAE2CA36A2}"/>
              </a:ext>
            </a:extLst>
          </p:cNvPr>
          <p:cNvSpPr>
            <a:spLocks noGrp="1"/>
          </p:cNvSpPr>
          <p:nvPr>
            <p:ph type="sldNum" sz="quarter" idx="12"/>
          </p:nvPr>
        </p:nvSpPr>
        <p:spPr/>
        <p:txBody>
          <a:bodyPr/>
          <a:lstStyle/>
          <a:p>
            <a:fld id="{F2FFABB9-F82F-4915-B863-B822A9EF1712}" type="slidenum">
              <a:rPr lang="es-MX" smtClean="0"/>
              <a:t>‹Nº›</a:t>
            </a:fld>
            <a:endParaRPr lang="es-MX" dirty="0"/>
          </a:p>
        </p:txBody>
      </p:sp>
    </p:spTree>
    <p:extLst>
      <p:ext uri="{BB962C8B-B14F-4D97-AF65-F5344CB8AC3E}">
        <p14:creationId xmlns:p14="http://schemas.microsoft.com/office/powerpoint/2010/main" val="8247487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46AAD609-6950-F28A-1BB7-27D71A7DEA0B}"/>
              </a:ext>
            </a:extLst>
          </p:cNvPr>
          <p:cNvSpPr>
            <a:spLocks noGrp="1"/>
          </p:cNvSpPr>
          <p:nvPr>
            <p:ph type="title"/>
          </p:nvPr>
        </p:nvSpPr>
        <p:spPr>
          <a:xfrm>
            <a:off x="628650" y="304271"/>
            <a:ext cx="7886700" cy="1104636"/>
          </a:xfrm>
          <a:prstGeom prst="rect">
            <a:avLst/>
          </a:prstGeom>
        </p:spPr>
        <p:txBody>
          <a:bodyPr vert="horz" lIns="91440" tIns="45720" rIns="91440" bIns="45720" rtlCol="0" anchor="ctr">
            <a:normAutofit/>
          </a:body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558EDAA3-2967-DFAC-1549-6721D14C2B82}"/>
              </a:ext>
            </a:extLst>
          </p:cNvPr>
          <p:cNvSpPr>
            <a:spLocks noGrp="1"/>
          </p:cNvSpPr>
          <p:nvPr>
            <p:ph type="body" idx="1"/>
          </p:nvPr>
        </p:nvSpPr>
        <p:spPr>
          <a:xfrm>
            <a:off x="628650" y="1521354"/>
            <a:ext cx="7886700" cy="3626115"/>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93439392-063B-2964-56FC-24B89F099DB9}"/>
              </a:ext>
            </a:extLst>
          </p:cNvPr>
          <p:cNvSpPr>
            <a:spLocks noGrp="1"/>
          </p:cNvSpPr>
          <p:nvPr>
            <p:ph type="dt" sz="half" idx="2"/>
          </p:nvPr>
        </p:nvSpPr>
        <p:spPr>
          <a:xfrm>
            <a:off x="628650" y="5296959"/>
            <a:ext cx="2057400" cy="304271"/>
          </a:xfrm>
          <a:prstGeom prst="rect">
            <a:avLst/>
          </a:prstGeom>
        </p:spPr>
        <p:txBody>
          <a:bodyPr vert="horz" lIns="91440" tIns="45720" rIns="91440" bIns="45720" rtlCol="0" anchor="ctr"/>
          <a:lstStyle>
            <a:lvl1pPr algn="l">
              <a:defRPr sz="900">
                <a:solidFill>
                  <a:schemeClr val="tx1">
                    <a:tint val="82000"/>
                  </a:schemeClr>
                </a:solidFill>
              </a:defRPr>
            </a:lvl1pPr>
          </a:lstStyle>
          <a:p>
            <a:fld id="{4F68290A-C0C6-4AC5-975D-DB3A35CFE95F}" type="datetimeFigureOut">
              <a:rPr lang="es-MX" smtClean="0"/>
              <a:t>10/02/2026</a:t>
            </a:fld>
            <a:endParaRPr lang="es-MX" dirty="0"/>
          </a:p>
        </p:txBody>
      </p:sp>
      <p:sp>
        <p:nvSpPr>
          <p:cNvPr id="5" name="Marcador de pie de página 4">
            <a:extLst>
              <a:ext uri="{FF2B5EF4-FFF2-40B4-BE49-F238E27FC236}">
                <a16:creationId xmlns:a16="http://schemas.microsoft.com/office/drawing/2014/main" id="{2BF1A357-65B7-A16E-449D-F3BEDC0AE069}"/>
              </a:ext>
            </a:extLst>
          </p:cNvPr>
          <p:cNvSpPr>
            <a:spLocks noGrp="1"/>
          </p:cNvSpPr>
          <p:nvPr>
            <p:ph type="ftr" sz="quarter" idx="3"/>
          </p:nvPr>
        </p:nvSpPr>
        <p:spPr>
          <a:xfrm>
            <a:off x="3028950" y="5296959"/>
            <a:ext cx="3086100" cy="304271"/>
          </a:xfrm>
          <a:prstGeom prst="rect">
            <a:avLst/>
          </a:prstGeom>
        </p:spPr>
        <p:txBody>
          <a:bodyPr vert="horz" lIns="91440" tIns="45720" rIns="91440" bIns="45720" rtlCol="0" anchor="ctr"/>
          <a:lstStyle>
            <a:lvl1pPr algn="ctr">
              <a:defRPr sz="900">
                <a:solidFill>
                  <a:schemeClr val="tx1">
                    <a:tint val="82000"/>
                  </a:schemeClr>
                </a:solidFill>
              </a:defRPr>
            </a:lvl1pPr>
          </a:lstStyle>
          <a:p>
            <a:endParaRPr lang="es-MX" dirty="0"/>
          </a:p>
        </p:txBody>
      </p:sp>
      <p:sp>
        <p:nvSpPr>
          <p:cNvPr id="6" name="Marcador de número de diapositiva 5">
            <a:extLst>
              <a:ext uri="{FF2B5EF4-FFF2-40B4-BE49-F238E27FC236}">
                <a16:creationId xmlns:a16="http://schemas.microsoft.com/office/drawing/2014/main" id="{49EB8D3A-ECAC-5FAB-0475-0FBA79320750}"/>
              </a:ext>
            </a:extLst>
          </p:cNvPr>
          <p:cNvSpPr>
            <a:spLocks noGrp="1"/>
          </p:cNvSpPr>
          <p:nvPr>
            <p:ph type="sldNum" sz="quarter" idx="4"/>
          </p:nvPr>
        </p:nvSpPr>
        <p:spPr>
          <a:xfrm>
            <a:off x="6457950" y="5296959"/>
            <a:ext cx="2057400" cy="304271"/>
          </a:xfrm>
          <a:prstGeom prst="rect">
            <a:avLst/>
          </a:prstGeom>
        </p:spPr>
        <p:txBody>
          <a:bodyPr vert="horz" lIns="91440" tIns="45720" rIns="91440" bIns="45720" rtlCol="0" anchor="ctr"/>
          <a:lstStyle>
            <a:lvl1pPr algn="r">
              <a:defRPr sz="900">
                <a:solidFill>
                  <a:schemeClr val="tx1">
                    <a:tint val="82000"/>
                  </a:schemeClr>
                </a:solidFill>
              </a:defRPr>
            </a:lvl1pPr>
          </a:lstStyle>
          <a:p>
            <a:fld id="{F2FFABB9-F82F-4915-B863-B822A9EF1712}" type="slidenum">
              <a:rPr lang="es-MX" smtClean="0"/>
              <a:t>‹Nº›</a:t>
            </a:fld>
            <a:endParaRPr lang="es-MX" dirty="0"/>
          </a:p>
        </p:txBody>
      </p:sp>
    </p:spTree>
    <p:extLst>
      <p:ext uri="{BB962C8B-B14F-4D97-AF65-F5344CB8AC3E}">
        <p14:creationId xmlns:p14="http://schemas.microsoft.com/office/powerpoint/2010/main" val="141095147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s-MX"/>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34BCAB88-DEF8-BCCA-E02F-3E8DB2132342}"/>
              </a:ext>
            </a:extLst>
          </p:cNvPr>
          <p:cNvSpPr/>
          <p:nvPr/>
        </p:nvSpPr>
        <p:spPr>
          <a:xfrm>
            <a:off x="0" y="0"/>
            <a:ext cx="9144000" cy="5715000"/>
          </a:xfrm>
          <a:prstGeom prst="rect">
            <a:avLst/>
          </a:prstGeom>
          <a:solidFill>
            <a:srgbClr val="0D47A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dirty="0"/>
          </a:p>
        </p:txBody>
      </p:sp>
      <p:sp>
        <p:nvSpPr>
          <p:cNvPr id="3" name="CuadroTexto 2">
            <a:extLst>
              <a:ext uri="{FF2B5EF4-FFF2-40B4-BE49-F238E27FC236}">
                <a16:creationId xmlns:a16="http://schemas.microsoft.com/office/drawing/2014/main" id="{B400F9E2-7E78-B3F1-376A-503BC0E4F592}"/>
              </a:ext>
            </a:extLst>
          </p:cNvPr>
          <p:cNvSpPr txBox="1"/>
          <p:nvPr/>
        </p:nvSpPr>
        <p:spPr>
          <a:xfrm>
            <a:off x="617417" y="1270000"/>
            <a:ext cx="7963877" cy="738664"/>
          </a:xfrm>
          <a:prstGeom prst="rect">
            <a:avLst/>
          </a:prstGeom>
          <a:noFill/>
        </p:spPr>
        <p:txBody>
          <a:bodyPr vert="horz" wrap="square" rtlCol="0">
            <a:spAutoFit/>
          </a:bodyPr>
          <a:lstStyle/>
          <a:p>
            <a:r>
              <a:rPr lang="es-MX" sz="4200" b="1" dirty="0">
                <a:solidFill>
                  <a:srgbClr val="FFFFFF"/>
                </a:solidFill>
                <a:latin typeface="Segoe UI" panose="020B0502040204020203" pitchFamily="34" charset="0"/>
              </a:rPr>
              <a:t>SummaCham - PanelAMCHAM</a:t>
            </a:r>
          </a:p>
        </p:txBody>
      </p:sp>
      <p:sp>
        <p:nvSpPr>
          <p:cNvPr id="4" name="Rectángulo 3">
            <a:extLst>
              <a:ext uri="{FF2B5EF4-FFF2-40B4-BE49-F238E27FC236}">
                <a16:creationId xmlns:a16="http://schemas.microsoft.com/office/drawing/2014/main" id="{AA45140F-0D6D-7CE1-B999-266E729809CF}"/>
              </a:ext>
            </a:extLst>
          </p:cNvPr>
          <p:cNvSpPr/>
          <p:nvPr/>
        </p:nvSpPr>
        <p:spPr>
          <a:xfrm>
            <a:off x="789355" y="2216725"/>
            <a:ext cx="3810000" cy="38100"/>
          </a:xfrm>
          <a:prstGeom prst="rect">
            <a:avLst/>
          </a:prstGeom>
          <a:solidFill>
            <a:srgbClr val="2ECC7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dirty="0"/>
          </a:p>
        </p:txBody>
      </p:sp>
      <p:sp>
        <p:nvSpPr>
          <p:cNvPr id="5" name="CuadroTexto 4">
            <a:extLst>
              <a:ext uri="{FF2B5EF4-FFF2-40B4-BE49-F238E27FC236}">
                <a16:creationId xmlns:a16="http://schemas.microsoft.com/office/drawing/2014/main" id="{64956B21-2C50-EEF0-5EC7-A8A933EF9CEE}"/>
              </a:ext>
            </a:extLst>
          </p:cNvPr>
          <p:cNvSpPr txBox="1"/>
          <p:nvPr/>
        </p:nvSpPr>
        <p:spPr>
          <a:xfrm>
            <a:off x="1016000" y="2413000"/>
            <a:ext cx="7112000" cy="523220"/>
          </a:xfrm>
          <a:prstGeom prst="rect">
            <a:avLst/>
          </a:prstGeom>
          <a:noFill/>
        </p:spPr>
        <p:txBody>
          <a:bodyPr vert="horz" rtlCol="0">
            <a:spAutoFit/>
          </a:bodyPr>
          <a:lstStyle/>
          <a:p>
            <a:r>
              <a:rPr lang="es-MX" sz="2800" dirty="0">
                <a:solidFill>
                  <a:srgbClr val="FFFFFF"/>
                </a:solidFill>
                <a:latin typeface="Segoe UI" panose="020B0502040204020203" pitchFamily="34" charset="0"/>
              </a:rPr>
              <a:t>Documentación Técnica Completa</a:t>
            </a:r>
          </a:p>
        </p:txBody>
      </p:sp>
      <p:sp>
        <p:nvSpPr>
          <p:cNvPr id="6" name="CuadroTexto 5">
            <a:extLst>
              <a:ext uri="{FF2B5EF4-FFF2-40B4-BE49-F238E27FC236}">
                <a16:creationId xmlns:a16="http://schemas.microsoft.com/office/drawing/2014/main" id="{7260B46A-ECE8-DC2B-D64D-A7018A2E4C28}"/>
              </a:ext>
            </a:extLst>
          </p:cNvPr>
          <p:cNvSpPr txBox="1"/>
          <p:nvPr/>
        </p:nvSpPr>
        <p:spPr>
          <a:xfrm>
            <a:off x="1016000" y="3111500"/>
            <a:ext cx="7112000" cy="584775"/>
          </a:xfrm>
          <a:prstGeom prst="rect">
            <a:avLst/>
          </a:prstGeom>
          <a:noFill/>
        </p:spPr>
        <p:txBody>
          <a:bodyPr vert="horz" rtlCol="0">
            <a:spAutoFit/>
          </a:bodyPr>
          <a:lstStyle/>
          <a:p>
            <a:r>
              <a:rPr lang="es-ES" sz="1600" dirty="0">
                <a:solidFill>
                  <a:srgbClr val="C8DCFF"/>
                </a:solidFill>
                <a:latin typeface="Segoe UI" panose="020B0502040204020203" pitchFamily="34" charset="0"/>
              </a:rPr>
              <a:t>Arquitectura, Apis, Queries, Plantillas y Gráficas
Explicado paso a paso para cualquier audiencia</a:t>
            </a:r>
            <a:endParaRPr lang="es-MX" sz="1600" dirty="0">
              <a:solidFill>
                <a:srgbClr val="C8DCFF"/>
              </a:solidFill>
              <a:latin typeface="Segoe UI" panose="020B0502040204020203" pitchFamily="34" charset="0"/>
            </a:endParaRPr>
          </a:p>
        </p:txBody>
      </p:sp>
      <p:sp>
        <p:nvSpPr>
          <p:cNvPr id="7" name="CuadroTexto 6">
            <a:extLst>
              <a:ext uri="{FF2B5EF4-FFF2-40B4-BE49-F238E27FC236}">
                <a16:creationId xmlns:a16="http://schemas.microsoft.com/office/drawing/2014/main" id="{6B9443F9-6BDA-E15B-E3F0-EF5471BF4D65}"/>
              </a:ext>
            </a:extLst>
          </p:cNvPr>
          <p:cNvSpPr txBox="1"/>
          <p:nvPr/>
        </p:nvSpPr>
        <p:spPr>
          <a:xfrm>
            <a:off x="1016000" y="4572000"/>
            <a:ext cx="7112000" cy="308418"/>
          </a:xfrm>
          <a:prstGeom prst="rect">
            <a:avLst/>
          </a:prstGeom>
          <a:noFill/>
        </p:spPr>
        <p:txBody>
          <a:bodyPr vert="horz" rtlCol="0">
            <a:spAutoFit/>
          </a:bodyPr>
          <a:lstStyle/>
          <a:p>
            <a:r>
              <a:rPr lang="es-MX" sz="1400" dirty="0">
                <a:solidFill>
                  <a:srgbClr val="B4C8E6"/>
                </a:solidFill>
                <a:latin typeface="Segoe UI" panose="020B0502040204020203" pitchFamily="34" charset="0"/>
              </a:rPr>
              <a:t>Versión 4.1.0 | Febrero 2026 | Iustus Renidet</a:t>
            </a:r>
          </a:p>
        </p:txBody>
      </p:sp>
    </p:spTree>
    <p:extLst>
      <p:ext uri="{BB962C8B-B14F-4D97-AF65-F5344CB8AC3E}">
        <p14:creationId xmlns:p14="http://schemas.microsoft.com/office/powerpoint/2010/main" val="34056200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719B5E94-65AB-D11E-9A30-CEA5D3A2D402}"/>
              </a:ext>
            </a:extLst>
          </p:cNvPr>
          <p:cNvSpPr/>
          <p:nvPr/>
        </p:nvSpPr>
        <p:spPr>
          <a:xfrm>
            <a:off x="0" y="0"/>
            <a:ext cx="9144000" cy="711200"/>
          </a:xfrm>
          <a:prstGeom prst="rect">
            <a:avLst/>
          </a:prstGeom>
          <a:solidFill>
            <a:srgbClr val="0D47A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254000" tIns="101600" rtlCol="0" anchor="ctr"/>
          <a:lstStyle/>
          <a:p>
            <a:pPr algn="ctr"/>
            <a:r>
              <a:rPr lang="es-MX" sz="2400" b="1" dirty="0">
                <a:solidFill>
                  <a:srgbClr val="FFFFFF"/>
                </a:solidFill>
                <a:latin typeface="Segoe UI" panose="020B0502040204020203" pitchFamily="34" charset="0"/>
              </a:rPr>
              <a:t>  Que es SummaCham?</a:t>
            </a:r>
          </a:p>
        </p:txBody>
      </p:sp>
      <p:sp>
        <p:nvSpPr>
          <p:cNvPr id="3" name="CuadroTexto 2">
            <a:extLst>
              <a:ext uri="{FF2B5EF4-FFF2-40B4-BE49-F238E27FC236}">
                <a16:creationId xmlns:a16="http://schemas.microsoft.com/office/drawing/2014/main" id="{1036E8B3-7EC6-BEC1-FBDF-E003571F7D43}"/>
              </a:ext>
            </a:extLst>
          </p:cNvPr>
          <p:cNvSpPr txBox="1"/>
          <p:nvPr/>
        </p:nvSpPr>
        <p:spPr>
          <a:xfrm>
            <a:off x="508000" y="863600"/>
            <a:ext cx="8128000" cy="784830"/>
          </a:xfrm>
          <a:prstGeom prst="rect">
            <a:avLst/>
          </a:prstGeom>
          <a:noFill/>
        </p:spPr>
        <p:txBody>
          <a:bodyPr vert="horz" wrap="square" rtlCol="0">
            <a:spAutoFit/>
          </a:bodyPr>
          <a:lstStyle/>
          <a:p>
            <a:r>
              <a:rPr lang="es-ES" sz="1500" dirty="0">
                <a:solidFill>
                  <a:srgbClr val="111827"/>
                </a:solidFill>
                <a:latin typeface="Segoe UI" panose="020B0502040204020203" pitchFamily="34" charset="0"/>
              </a:rPr>
              <a:t>Es una aplicación de escritorio para gestionar presupuestos financieros.
Imagina un Excel inteligente que:</a:t>
            </a:r>
            <a:endParaRPr lang="es-MX" sz="1500" dirty="0">
              <a:solidFill>
                <a:srgbClr val="111827"/>
              </a:solidFill>
              <a:latin typeface="Segoe UI" panose="020B0502040204020203" pitchFamily="34" charset="0"/>
            </a:endParaRPr>
          </a:p>
        </p:txBody>
      </p:sp>
      <p:sp>
        <p:nvSpPr>
          <p:cNvPr id="4" name="Rectángulo: esquinas redondeadas 3">
            <a:extLst>
              <a:ext uri="{FF2B5EF4-FFF2-40B4-BE49-F238E27FC236}">
                <a16:creationId xmlns:a16="http://schemas.microsoft.com/office/drawing/2014/main" id="{567CE0D6-61EC-F77C-9D27-E8AFE323853A}"/>
              </a:ext>
            </a:extLst>
          </p:cNvPr>
          <p:cNvSpPr/>
          <p:nvPr/>
        </p:nvSpPr>
        <p:spPr>
          <a:xfrm>
            <a:off x="571500" y="1651000"/>
            <a:ext cx="1800000" cy="825500"/>
          </a:xfrm>
          <a:prstGeom prst="roundRect">
            <a:avLst/>
          </a:prstGeom>
          <a:solidFill>
            <a:srgbClr val="2980B9"/>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100" b="1" dirty="0">
                <a:solidFill>
                  <a:srgbClr val="FFFFFF"/>
                </a:solidFill>
                <a:latin typeface="Segoe UI" panose="020B0502040204020203" pitchFamily="34" charset="0"/>
              </a:rPr>
              <a:t>Se conecta al sistema
contable (Aspel COI)
para leer saldos reales</a:t>
            </a:r>
            <a:endParaRPr lang="es-MX" sz="1100" b="1" dirty="0">
              <a:solidFill>
                <a:srgbClr val="FFFFFF"/>
              </a:solidFill>
              <a:latin typeface="Segoe UI" panose="020B0502040204020203" pitchFamily="34" charset="0"/>
            </a:endParaRPr>
          </a:p>
        </p:txBody>
      </p:sp>
      <p:sp>
        <p:nvSpPr>
          <p:cNvPr id="5" name="Rectángulo: esquinas redondeadas 4">
            <a:extLst>
              <a:ext uri="{FF2B5EF4-FFF2-40B4-BE49-F238E27FC236}">
                <a16:creationId xmlns:a16="http://schemas.microsoft.com/office/drawing/2014/main" id="{C7052782-F03A-0DAD-859E-906A45938BB5}"/>
              </a:ext>
            </a:extLst>
          </p:cNvPr>
          <p:cNvSpPr/>
          <p:nvPr/>
        </p:nvSpPr>
        <p:spPr>
          <a:xfrm>
            <a:off x="2567940" y="1651000"/>
            <a:ext cx="1800000" cy="825500"/>
          </a:xfrm>
          <a:prstGeom prst="roundRect">
            <a:avLst/>
          </a:prstGeom>
          <a:solidFill>
            <a:srgbClr val="2ECC7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100" b="1" dirty="0">
                <a:solidFill>
                  <a:srgbClr val="FFFFFF"/>
                </a:solidFill>
                <a:latin typeface="Segoe UI" panose="020B0502040204020203" pitchFamily="34" charset="0"/>
              </a:rPr>
              <a:t>Permite que varios
usuarios trabajen
al mismo tiempo</a:t>
            </a:r>
            <a:endParaRPr lang="es-MX" sz="1100" b="1" dirty="0">
              <a:solidFill>
                <a:srgbClr val="FFFFFF"/>
              </a:solidFill>
              <a:latin typeface="Segoe UI" panose="020B0502040204020203" pitchFamily="34" charset="0"/>
            </a:endParaRPr>
          </a:p>
        </p:txBody>
      </p:sp>
      <p:sp>
        <p:nvSpPr>
          <p:cNvPr id="6" name="Rectángulo: esquinas redondeadas 5">
            <a:extLst>
              <a:ext uri="{FF2B5EF4-FFF2-40B4-BE49-F238E27FC236}">
                <a16:creationId xmlns:a16="http://schemas.microsoft.com/office/drawing/2014/main" id="{907DCD89-B0F0-A2EE-585D-97DC75DEA2C5}"/>
              </a:ext>
            </a:extLst>
          </p:cNvPr>
          <p:cNvSpPr/>
          <p:nvPr/>
        </p:nvSpPr>
        <p:spPr>
          <a:xfrm>
            <a:off x="4572000" y="1651000"/>
            <a:ext cx="1800000" cy="825500"/>
          </a:xfrm>
          <a:prstGeom prst="roundRect">
            <a:avLst/>
          </a:prstGeom>
          <a:solidFill>
            <a:srgbClr val="E67E2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100" b="1" dirty="0">
                <a:solidFill>
                  <a:srgbClr val="FFFFFF"/>
                </a:solidFill>
                <a:latin typeface="Segoe UI" panose="020B0502040204020203" pitchFamily="34" charset="0"/>
              </a:rPr>
              <a:t>Tiene un flujo de
aprobación:
cargar &gt; revisar &gt; aprobar</a:t>
            </a:r>
            <a:endParaRPr lang="es-MX" sz="1100" b="1" dirty="0">
              <a:solidFill>
                <a:srgbClr val="FFFFFF"/>
              </a:solidFill>
              <a:latin typeface="Segoe UI" panose="020B0502040204020203" pitchFamily="34" charset="0"/>
            </a:endParaRPr>
          </a:p>
        </p:txBody>
      </p:sp>
      <p:sp>
        <p:nvSpPr>
          <p:cNvPr id="7" name="Rectángulo: esquinas redondeadas 6">
            <a:extLst>
              <a:ext uri="{FF2B5EF4-FFF2-40B4-BE49-F238E27FC236}">
                <a16:creationId xmlns:a16="http://schemas.microsoft.com/office/drawing/2014/main" id="{F7903AD5-4020-0C87-B544-DBD9E39A95BA}"/>
              </a:ext>
            </a:extLst>
          </p:cNvPr>
          <p:cNvSpPr/>
          <p:nvPr/>
        </p:nvSpPr>
        <p:spPr>
          <a:xfrm>
            <a:off x="6576060" y="1651000"/>
            <a:ext cx="1800000" cy="825500"/>
          </a:xfrm>
          <a:prstGeom prst="roundRect">
            <a:avLst/>
          </a:prstGeom>
          <a:solidFill>
            <a:srgbClr val="34495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100" b="1" dirty="0">
                <a:solidFill>
                  <a:srgbClr val="FFFFFF"/>
                </a:solidFill>
                <a:latin typeface="Segoe UI" panose="020B0502040204020203" pitchFamily="34" charset="0"/>
              </a:rPr>
              <a:t>Genera reportes
y gráficas
automáticamente</a:t>
            </a:r>
          </a:p>
        </p:txBody>
      </p:sp>
      <p:sp>
        <p:nvSpPr>
          <p:cNvPr id="8" name="CuadroTexto 7">
            <a:extLst>
              <a:ext uri="{FF2B5EF4-FFF2-40B4-BE49-F238E27FC236}">
                <a16:creationId xmlns:a16="http://schemas.microsoft.com/office/drawing/2014/main" id="{94414A87-6694-EA7B-728C-54F79167564A}"/>
              </a:ext>
            </a:extLst>
          </p:cNvPr>
          <p:cNvSpPr txBox="1"/>
          <p:nvPr/>
        </p:nvSpPr>
        <p:spPr>
          <a:xfrm>
            <a:off x="508000" y="2667000"/>
            <a:ext cx="8128000" cy="1892826"/>
          </a:xfrm>
          <a:prstGeom prst="rect">
            <a:avLst/>
          </a:prstGeom>
          <a:noFill/>
        </p:spPr>
        <p:txBody>
          <a:bodyPr vert="horz" wrap="square" rtlCol="0">
            <a:spAutoFit/>
          </a:bodyPr>
          <a:lstStyle/>
          <a:p>
            <a:r>
              <a:rPr lang="es-ES" sz="1300" dirty="0">
                <a:solidFill>
                  <a:srgbClr val="111827"/>
                </a:solidFill>
                <a:latin typeface="Segoe UI" panose="020B0502040204020203" pitchFamily="34" charset="0"/>
              </a:rPr>
              <a:t>USUARIOS TÍPICOS:
  Analistas: Cargan datos de presupuesto (RH, Finanzas, Eventos, etc.)
  Supervisores: Revisan que los datos estén correctos
  Directores: Aprueban los presupuestos finales
  Administradores: Configuran usuarios, permisos y conexiones
COMO SE ACCEDE:
  Local: http://localhost:3005  (en la misma computadora)
  Remoto: https://panelamcham.iconetcloud.com.mx  (desde cualquier lugar)</a:t>
            </a:r>
            <a:endParaRPr lang="es-MX" sz="1300" dirty="0">
              <a:solidFill>
                <a:srgbClr val="111827"/>
              </a:solidFill>
              <a:latin typeface="Segoe UI" panose="020B0502040204020203" pitchFamily="34" charset="0"/>
            </a:endParaRPr>
          </a:p>
        </p:txBody>
      </p:sp>
    </p:spTree>
    <p:extLst>
      <p:ext uri="{BB962C8B-B14F-4D97-AF65-F5344CB8AC3E}">
        <p14:creationId xmlns:p14="http://schemas.microsoft.com/office/powerpoint/2010/main" val="11028106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0A59C332-80D9-0895-90A5-13010C275826}"/>
              </a:ext>
            </a:extLst>
          </p:cNvPr>
          <p:cNvSpPr/>
          <p:nvPr/>
        </p:nvSpPr>
        <p:spPr>
          <a:xfrm>
            <a:off x="0" y="0"/>
            <a:ext cx="9144000" cy="711200"/>
          </a:xfrm>
          <a:prstGeom prst="rect">
            <a:avLst/>
          </a:prstGeom>
          <a:solidFill>
            <a:srgbClr val="0D47A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254000" tIns="101600" rtlCol="0" anchor="ctr"/>
          <a:lstStyle/>
          <a:p>
            <a:pPr algn="ctr"/>
            <a:r>
              <a:rPr lang="es-MX" sz="2400" b="1" dirty="0">
                <a:solidFill>
                  <a:srgbClr val="FFFFFF"/>
                </a:solidFill>
                <a:latin typeface="Segoe UI" panose="020B0502040204020203" pitchFamily="34" charset="0"/>
              </a:rPr>
              <a:t>  Contenido de esta Presentación</a:t>
            </a:r>
          </a:p>
        </p:txBody>
      </p:sp>
      <p:sp>
        <p:nvSpPr>
          <p:cNvPr id="3" name="Rectángulo: esquinas redondeadas 2">
            <a:extLst>
              <a:ext uri="{FF2B5EF4-FFF2-40B4-BE49-F238E27FC236}">
                <a16:creationId xmlns:a16="http://schemas.microsoft.com/office/drawing/2014/main" id="{1E4E9453-427A-7B10-C7B9-56E76EC7BC51}"/>
              </a:ext>
            </a:extLst>
          </p:cNvPr>
          <p:cNvSpPr/>
          <p:nvPr/>
        </p:nvSpPr>
        <p:spPr>
          <a:xfrm>
            <a:off x="571500" y="914400"/>
            <a:ext cx="1270000" cy="355600"/>
          </a:xfrm>
          <a:prstGeom prst="roundRect">
            <a:avLst/>
          </a:prstGeom>
          <a:solidFill>
            <a:srgbClr val="0D47A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200" b="1" dirty="0">
                <a:solidFill>
                  <a:srgbClr val="FFFFFF"/>
                </a:solidFill>
                <a:latin typeface="Segoe UI" panose="020B0502040204020203" pitchFamily="34" charset="0"/>
              </a:rPr>
              <a:t>PARTE 1</a:t>
            </a:r>
          </a:p>
        </p:txBody>
      </p:sp>
      <p:sp>
        <p:nvSpPr>
          <p:cNvPr id="4" name="CuadroTexto 3">
            <a:extLst>
              <a:ext uri="{FF2B5EF4-FFF2-40B4-BE49-F238E27FC236}">
                <a16:creationId xmlns:a16="http://schemas.microsoft.com/office/drawing/2014/main" id="{58AB2C67-768A-237B-7CC6-6A68DB634BBB}"/>
              </a:ext>
            </a:extLst>
          </p:cNvPr>
          <p:cNvSpPr txBox="1"/>
          <p:nvPr/>
        </p:nvSpPr>
        <p:spPr>
          <a:xfrm>
            <a:off x="1968500" y="914400"/>
            <a:ext cx="5080000" cy="317500"/>
          </a:xfrm>
          <a:prstGeom prst="rect">
            <a:avLst/>
          </a:prstGeom>
          <a:noFill/>
        </p:spPr>
        <p:txBody>
          <a:bodyPr vert="horz" wrap="square" rtlCol="0">
            <a:spAutoFit/>
          </a:bodyPr>
          <a:lstStyle/>
          <a:p>
            <a:r>
              <a:rPr lang="es-MX" sz="1400" dirty="0">
                <a:solidFill>
                  <a:srgbClr val="111827"/>
                </a:solidFill>
                <a:latin typeface="Segoe UI" panose="020B0502040204020203" pitchFamily="34" charset="0"/>
              </a:rPr>
              <a:t>Arquitectura y Tecnologías</a:t>
            </a:r>
          </a:p>
        </p:txBody>
      </p:sp>
      <p:sp>
        <p:nvSpPr>
          <p:cNvPr id="5" name="Rectángulo: esquinas redondeadas 4">
            <a:extLst>
              <a:ext uri="{FF2B5EF4-FFF2-40B4-BE49-F238E27FC236}">
                <a16:creationId xmlns:a16="http://schemas.microsoft.com/office/drawing/2014/main" id="{84B844D6-4653-27D5-8115-36CE91C5DE10}"/>
              </a:ext>
            </a:extLst>
          </p:cNvPr>
          <p:cNvSpPr/>
          <p:nvPr/>
        </p:nvSpPr>
        <p:spPr>
          <a:xfrm>
            <a:off x="571500" y="1358900"/>
            <a:ext cx="1270000" cy="355600"/>
          </a:xfrm>
          <a:prstGeom prst="roundRect">
            <a:avLst/>
          </a:prstGeom>
          <a:solidFill>
            <a:srgbClr val="2ECC7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200" b="1" dirty="0">
                <a:solidFill>
                  <a:srgbClr val="FFFFFF"/>
                </a:solidFill>
                <a:latin typeface="Segoe UI" panose="020B0502040204020203" pitchFamily="34" charset="0"/>
              </a:rPr>
              <a:t>PARTE 2</a:t>
            </a:r>
          </a:p>
        </p:txBody>
      </p:sp>
      <p:sp>
        <p:nvSpPr>
          <p:cNvPr id="6" name="CuadroTexto 5">
            <a:extLst>
              <a:ext uri="{FF2B5EF4-FFF2-40B4-BE49-F238E27FC236}">
                <a16:creationId xmlns:a16="http://schemas.microsoft.com/office/drawing/2014/main" id="{A322E2EF-24E1-F1FF-703C-37C1E03064AA}"/>
              </a:ext>
            </a:extLst>
          </p:cNvPr>
          <p:cNvSpPr txBox="1"/>
          <p:nvPr/>
        </p:nvSpPr>
        <p:spPr>
          <a:xfrm>
            <a:off x="1968500" y="1358900"/>
            <a:ext cx="5080000" cy="317500"/>
          </a:xfrm>
          <a:prstGeom prst="rect">
            <a:avLst/>
          </a:prstGeom>
          <a:noFill/>
        </p:spPr>
        <p:txBody>
          <a:bodyPr vert="horz" wrap="square" rtlCol="0">
            <a:spAutoFit/>
          </a:bodyPr>
          <a:lstStyle/>
          <a:p>
            <a:r>
              <a:rPr lang="es-MX" sz="1400" dirty="0">
                <a:solidFill>
                  <a:srgbClr val="111827"/>
                </a:solidFill>
                <a:latin typeface="Segoe UI" panose="020B0502040204020203" pitchFamily="34" charset="0"/>
              </a:rPr>
              <a:t>Seguridad (Login, Cookies, Permisos)</a:t>
            </a:r>
          </a:p>
        </p:txBody>
      </p:sp>
      <p:sp>
        <p:nvSpPr>
          <p:cNvPr id="7" name="Rectángulo: esquinas redondeadas 6">
            <a:extLst>
              <a:ext uri="{FF2B5EF4-FFF2-40B4-BE49-F238E27FC236}">
                <a16:creationId xmlns:a16="http://schemas.microsoft.com/office/drawing/2014/main" id="{ABB1C94F-FEEC-19C5-E066-BD91FCF6E9B9}"/>
              </a:ext>
            </a:extLst>
          </p:cNvPr>
          <p:cNvSpPr/>
          <p:nvPr/>
        </p:nvSpPr>
        <p:spPr>
          <a:xfrm>
            <a:off x="571500" y="1803400"/>
            <a:ext cx="1270000" cy="355600"/>
          </a:xfrm>
          <a:prstGeom prst="roundRect">
            <a:avLst/>
          </a:prstGeom>
          <a:solidFill>
            <a:srgbClr val="E67E2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200" b="1" dirty="0">
                <a:solidFill>
                  <a:srgbClr val="FFFFFF"/>
                </a:solidFill>
                <a:latin typeface="Segoe UI" panose="020B0502040204020203" pitchFamily="34" charset="0"/>
              </a:rPr>
              <a:t>PARTE 3</a:t>
            </a:r>
          </a:p>
        </p:txBody>
      </p:sp>
      <p:sp>
        <p:nvSpPr>
          <p:cNvPr id="8" name="CuadroTexto 7">
            <a:extLst>
              <a:ext uri="{FF2B5EF4-FFF2-40B4-BE49-F238E27FC236}">
                <a16:creationId xmlns:a16="http://schemas.microsoft.com/office/drawing/2014/main" id="{E4408540-0D42-5DF4-8997-7DC8F59DABC6}"/>
              </a:ext>
            </a:extLst>
          </p:cNvPr>
          <p:cNvSpPr txBox="1"/>
          <p:nvPr/>
        </p:nvSpPr>
        <p:spPr>
          <a:xfrm>
            <a:off x="1968500" y="1803400"/>
            <a:ext cx="5080000" cy="317500"/>
          </a:xfrm>
          <a:prstGeom prst="rect">
            <a:avLst/>
          </a:prstGeom>
          <a:noFill/>
        </p:spPr>
        <p:txBody>
          <a:bodyPr vert="horz" wrap="square" rtlCol="0">
            <a:spAutoFit/>
          </a:bodyPr>
          <a:lstStyle/>
          <a:p>
            <a:r>
              <a:rPr lang="es-ES" sz="1400" dirty="0">
                <a:solidFill>
                  <a:srgbClr val="111827"/>
                </a:solidFill>
                <a:latin typeface="Segoe UI" panose="020B0502040204020203" pitchFamily="34" charset="0"/>
              </a:rPr>
              <a:t>APIs - Que son, rutas reales con ejemplos</a:t>
            </a:r>
            <a:endParaRPr lang="es-MX" sz="1400" dirty="0">
              <a:solidFill>
                <a:srgbClr val="111827"/>
              </a:solidFill>
              <a:latin typeface="Segoe UI" panose="020B0502040204020203" pitchFamily="34" charset="0"/>
            </a:endParaRPr>
          </a:p>
        </p:txBody>
      </p:sp>
      <p:sp>
        <p:nvSpPr>
          <p:cNvPr id="9" name="Rectángulo: esquinas redondeadas 8">
            <a:extLst>
              <a:ext uri="{FF2B5EF4-FFF2-40B4-BE49-F238E27FC236}">
                <a16:creationId xmlns:a16="http://schemas.microsoft.com/office/drawing/2014/main" id="{93D78636-A645-54C9-6F91-AEA7EFDFB3A0}"/>
              </a:ext>
            </a:extLst>
          </p:cNvPr>
          <p:cNvSpPr/>
          <p:nvPr/>
        </p:nvSpPr>
        <p:spPr>
          <a:xfrm>
            <a:off x="571500" y="2247900"/>
            <a:ext cx="1270000" cy="355600"/>
          </a:xfrm>
          <a:prstGeom prst="roundRect">
            <a:avLst/>
          </a:prstGeom>
          <a:solidFill>
            <a:srgbClr val="E74C3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200" b="1" dirty="0">
                <a:solidFill>
                  <a:srgbClr val="FFFFFF"/>
                </a:solidFill>
                <a:latin typeface="Segoe UI" panose="020B0502040204020203" pitchFamily="34" charset="0"/>
              </a:rPr>
              <a:t>PARTE 4</a:t>
            </a:r>
          </a:p>
        </p:txBody>
      </p:sp>
      <p:sp>
        <p:nvSpPr>
          <p:cNvPr id="10" name="CuadroTexto 9">
            <a:extLst>
              <a:ext uri="{FF2B5EF4-FFF2-40B4-BE49-F238E27FC236}">
                <a16:creationId xmlns:a16="http://schemas.microsoft.com/office/drawing/2014/main" id="{1B230112-B29C-3D58-F0FA-8DC92EBFF6DE}"/>
              </a:ext>
            </a:extLst>
          </p:cNvPr>
          <p:cNvSpPr txBox="1"/>
          <p:nvPr/>
        </p:nvSpPr>
        <p:spPr>
          <a:xfrm>
            <a:off x="1968500" y="2247900"/>
            <a:ext cx="5080000" cy="317500"/>
          </a:xfrm>
          <a:prstGeom prst="rect">
            <a:avLst/>
          </a:prstGeom>
          <a:noFill/>
        </p:spPr>
        <p:txBody>
          <a:bodyPr vert="horz" wrap="square" rtlCol="0">
            <a:spAutoFit/>
          </a:bodyPr>
          <a:lstStyle/>
          <a:p>
            <a:r>
              <a:rPr lang="es-MX" sz="1400" dirty="0">
                <a:solidFill>
                  <a:srgbClr val="111827"/>
                </a:solidFill>
                <a:latin typeface="Segoe UI" panose="020B0502040204020203" pitchFamily="34" charset="0"/>
              </a:rPr>
              <a:t>APIs - Mapa completo de todas las rutas</a:t>
            </a:r>
          </a:p>
        </p:txBody>
      </p:sp>
      <p:sp>
        <p:nvSpPr>
          <p:cNvPr id="11" name="Rectángulo: esquinas redondeadas 10">
            <a:extLst>
              <a:ext uri="{FF2B5EF4-FFF2-40B4-BE49-F238E27FC236}">
                <a16:creationId xmlns:a16="http://schemas.microsoft.com/office/drawing/2014/main" id="{9C43F1D1-DFC3-6315-6DE3-8C8B948448B4}"/>
              </a:ext>
            </a:extLst>
          </p:cNvPr>
          <p:cNvSpPr/>
          <p:nvPr/>
        </p:nvSpPr>
        <p:spPr>
          <a:xfrm>
            <a:off x="571500" y="2692400"/>
            <a:ext cx="1270000" cy="355600"/>
          </a:xfrm>
          <a:prstGeom prst="roundRect">
            <a:avLst/>
          </a:prstGeom>
          <a:solidFill>
            <a:srgbClr val="00968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200" b="1" dirty="0">
                <a:solidFill>
                  <a:srgbClr val="FFFFFF"/>
                </a:solidFill>
                <a:latin typeface="Segoe UI" panose="020B0502040204020203" pitchFamily="34" charset="0"/>
              </a:rPr>
              <a:t>PARTE 5</a:t>
            </a:r>
          </a:p>
        </p:txBody>
      </p:sp>
      <p:sp>
        <p:nvSpPr>
          <p:cNvPr id="12" name="CuadroTexto 11">
            <a:extLst>
              <a:ext uri="{FF2B5EF4-FFF2-40B4-BE49-F238E27FC236}">
                <a16:creationId xmlns:a16="http://schemas.microsoft.com/office/drawing/2014/main" id="{684BE406-B0FE-9D4C-D38F-BC25137543FB}"/>
              </a:ext>
            </a:extLst>
          </p:cNvPr>
          <p:cNvSpPr txBox="1"/>
          <p:nvPr/>
        </p:nvSpPr>
        <p:spPr>
          <a:xfrm>
            <a:off x="1968500" y="2692400"/>
            <a:ext cx="5080000" cy="317500"/>
          </a:xfrm>
          <a:prstGeom prst="rect">
            <a:avLst/>
          </a:prstGeom>
          <a:noFill/>
        </p:spPr>
        <p:txBody>
          <a:bodyPr vert="horz" wrap="square" rtlCol="0">
            <a:spAutoFit/>
          </a:bodyPr>
          <a:lstStyle/>
          <a:p>
            <a:r>
              <a:rPr lang="es-ES" sz="1400" dirty="0">
                <a:solidFill>
                  <a:srgbClr val="111827"/>
                </a:solidFill>
                <a:latin typeface="Segoe UI" panose="020B0502040204020203" pitchFamily="34" charset="0"/>
              </a:rPr>
              <a:t>Queries - Como se calcula el Real</a:t>
            </a:r>
            <a:endParaRPr lang="es-MX" sz="1400" dirty="0">
              <a:solidFill>
                <a:srgbClr val="111827"/>
              </a:solidFill>
              <a:latin typeface="Segoe UI" panose="020B0502040204020203" pitchFamily="34" charset="0"/>
            </a:endParaRPr>
          </a:p>
        </p:txBody>
      </p:sp>
      <p:sp>
        <p:nvSpPr>
          <p:cNvPr id="13" name="Rectángulo: esquinas redondeadas 12">
            <a:extLst>
              <a:ext uri="{FF2B5EF4-FFF2-40B4-BE49-F238E27FC236}">
                <a16:creationId xmlns:a16="http://schemas.microsoft.com/office/drawing/2014/main" id="{57C16F3A-2A4E-6E9C-D2B5-B0C46BB46454}"/>
              </a:ext>
            </a:extLst>
          </p:cNvPr>
          <p:cNvSpPr/>
          <p:nvPr/>
        </p:nvSpPr>
        <p:spPr>
          <a:xfrm>
            <a:off x="571500" y="3136900"/>
            <a:ext cx="1270000" cy="355600"/>
          </a:xfrm>
          <a:prstGeom prst="roundRect">
            <a:avLst/>
          </a:prstGeom>
          <a:solidFill>
            <a:srgbClr val="8E44A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200" b="1" dirty="0">
                <a:solidFill>
                  <a:srgbClr val="FFFFFF"/>
                </a:solidFill>
                <a:latin typeface="Segoe UI" panose="020B0502040204020203" pitchFamily="34" charset="0"/>
              </a:rPr>
              <a:t>PARTE 6</a:t>
            </a:r>
          </a:p>
        </p:txBody>
      </p:sp>
      <p:sp>
        <p:nvSpPr>
          <p:cNvPr id="14" name="CuadroTexto 13">
            <a:extLst>
              <a:ext uri="{FF2B5EF4-FFF2-40B4-BE49-F238E27FC236}">
                <a16:creationId xmlns:a16="http://schemas.microsoft.com/office/drawing/2014/main" id="{BF53E565-C59C-98CC-654A-9804EDCD3BAB}"/>
              </a:ext>
            </a:extLst>
          </p:cNvPr>
          <p:cNvSpPr txBox="1"/>
          <p:nvPr/>
        </p:nvSpPr>
        <p:spPr>
          <a:xfrm>
            <a:off x="1968500" y="3136900"/>
            <a:ext cx="5080000" cy="317500"/>
          </a:xfrm>
          <a:prstGeom prst="rect">
            <a:avLst/>
          </a:prstGeom>
          <a:noFill/>
        </p:spPr>
        <p:txBody>
          <a:bodyPr vert="horz" wrap="square" rtlCol="0">
            <a:spAutoFit/>
          </a:bodyPr>
          <a:lstStyle/>
          <a:p>
            <a:r>
              <a:rPr lang="es-MX" sz="1400" dirty="0">
                <a:solidFill>
                  <a:srgbClr val="111827"/>
                </a:solidFill>
                <a:latin typeface="Segoe UI" panose="020B0502040204020203" pitchFamily="34" charset="0"/>
              </a:rPr>
              <a:t>Queries - Presupuesto y Acumulados</a:t>
            </a:r>
          </a:p>
        </p:txBody>
      </p:sp>
      <p:sp>
        <p:nvSpPr>
          <p:cNvPr id="15" name="Rectángulo: esquinas redondeadas 14">
            <a:extLst>
              <a:ext uri="{FF2B5EF4-FFF2-40B4-BE49-F238E27FC236}">
                <a16:creationId xmlns:a16="http://schemas.microsoft.com/office/drawing/2014/main" id="{074C590F-F9F0-EEE8-9731-955649DAB908}"/>
              </a:ext>
            </a:extLst>
          </p:cNvPr>
          <p:cNvSpPr/>
          <p:nvPr/>
        </p:nvSpPr>
        <p:spPr>
          <a:xfrm>
            <a:off x="571500" y="3581400"/>
            <a:ext cx="1270000" cy="355600"/>
          </a:xfrm>
          <a:prstGeom prst="roundRect">
            <a:avLst/>
          </a:prstGeom>
          <a:solidFill>
            <a:srgbClr val="2980B9"/>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200" b="1" dirty="0">
                <a:solidFill>
                  <a:srgbClr val="FFFFFF"/>
                </a:solidFill>
                <a:latin typeface="Segoe UI" panose="020B0502040204020203" pitchFamily="34" charset="0"/>
              </a:rPr>
              <a:t>PARTE 7</a:t>
            </a:r>
          </a:p>
        </p:txBody>
      </p:sp>
      <p:sp>
        <p:nvSpPr>
          <p:cNvPr id="16" name="CuadroTexto 15">
            <a:extLst>
              <a:ext uri="{FF2B5EF4-FFF2-40B4-BE49-F238E27FC236}">
                <a16:creationId xmlns:a16="http://schemas.microsoft.com/office/drawing/2014/main" id="{7BBAF23C-8150-114E-050B-F0847F681736}"/>
              </a:ext>
            </a:extLst>
          </p:cNvPr>
          <p:cNvSpPr txBox="1"/>
          <p:nvPr/>
        </p:nvSpPr>
        <p:spPr>
          <a:xfrm>
            <a:off x="1968500" y="3581400"/>
            <a:ext cx="5080000" cy="317500"/>
          </a:xfrm>
          <a:prstGeom prst="rect">
            <a:avLst/>
          </a:prstGeom>
          <a:noFill/>
        </p:spPr>
        <p:txBody>
          <a:bodyPr vert="horz" wrap="square" rtlCol="0">
            <a:spAutoFit/>
          </a:bodyPr>
          <a:lstStyle/>
          <a:p>
            <a:r>
              <a:rPr lang="es-MX" sz="1400" dirty="0">
                <a:solidFill>
                  <a:srgbClr val="111827"/>
                </a:solidFill>
                <a:latin typeface="Segoe UI" panose="020B0502040204020203" pitchFamily="34" charset="0"/>
              </a:rPr>
              <a:t>Gestor de Plantillas</a:t>
            </a:r>
          </a:p>
        </p:txBody>
      </p:sp>
      <p:sp>
        <p:nvSpPr>
          <p:cNvPr id="17" name="Rectángulo: esquinas redondeadas 16">
            <a:extLst>
              <a:ext uri="{FF2B5EF4-FFF2-40B4-BE49-F238E27FC236}">
                <a16:creationId xmlns:a16="http://schemas.microsoft.com/office/drawing/2014/main" id="{B55072A7-D6C6-D9D5-EB44-33B48A81210E}"/>
              </a:ext>
            </a:extLst>
          </p:cNvPr>
          <p:cNvSpPr/>
          <p:nvPr/>
        </p:nvSpPr>
        <p:spPr>
          <a:xfrm>
            <a:off x="571500" y="4025900"/>
            <a:ext cx="1270000" cy="355600"/>
          </a:xfrm>
          <a:prstGeom prst="roundRect">
            <a:avLst/>
          </a:prstGeom>
          <a:solidFill>
            <a:srgbClr val="34495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200" b="1" dirty="0">
                <a:solidFill>
                  <a:srgbClr val="FFFFFF"/>
                </a:solidFill>
                <a:latin typeface="Segoe UI" panose="020B0502040204020203" pitchFamily="34" charset="0"/>
              </a:rPr>
              <a:t>PARTE 8</a:t>
            </a:r>
          </a:p>
        </p:txBody>
      </p:sp>
      <p:sp>
        <p:nvSpPr>
          <p:cNvPr id="18" name="CuadroTexto 17">
            <a:extLst>
              <a:ext uri="{FF2B5EF4-FFF2-40B4-BE49-F238E27FC236}">
                <a16:creationId xmlns:a16="http://schemas.microsoft.com/office/drawing/2014/main" id="{E033DEEB-0C7A-93B6-9C08-84BD521D299A}"/>
              </a:ext>
            </a:extLst>
          </p:cNvPr>
          <p:cNvSpPr txBox="1"/>
          <p:nvPr/>
        </p:nvSpPr>
        <p:spPr>
          <a:xfrm>
            <a:off x="1968500" y="4025900"/>
            <a:ext cx="5080000" cy="317500"/>
          </a:xfrm>
          <a:prstGeom prst="rect">
            <a:avLst/>
          </a:prstGeom>
          <a:noFill/>
        </p:spPr>
        <p:txBody>
          <a:bodyPr vert="horz" wrap="square" rtlCol="0">
            <a:spAutoFit/>
          </a:bodyPr>
          <a:lstStyle/>
          <a:p>
            <a:r>
              <a:rPr lang="es-MX" sz="1400" dirty="0">
                <a:solidFill>
                  <a:srgbClr val="111827"/>
                </a:solidFill>
                <a:latin typeface="Segoe UI" panose="020B0502040204020203" pitchFamily="34" charset="0"/>
              </a:rPr>
              <a:t>Gráficas</a:t>
            </a:r>
          </a:p>
        </p:txBody>
      </p:sp>
      <p:sp>
        <p:nvSpPr>
          <p:cNvPr id="19" name="Rectángulo: esquinas redondeadas 18">
            <a:extLst>
              <a:ext uri="{FF2B5EF4-FFF2-40B4-BE49-F238E27FC236}">
                <a16:creationId xmlns:a16="http://schemas.microsoft.com/office/drawing/2014/main" id="{85DB0304-76C8-50C5-4D26-4956B0C1B96B}"/>
              </a:ext>
            </a:extLst>
          </p:cNvPr>
          <p:cNvSpPr/>
          <p:nvPr/>
        </p:nvSpPr>
        <p:spPr>
          <a:xfrm>
            <a:off x="571500" y="4470400"/>
            <a:ext cx="1270000" cy="355600"/>
          </a:xfrm>
          <a:prstGeom prst="roundRect">
            <a:avLst/>
          </a:prstGeom>
          <a:solidFill>
            <a:srgbClr val="0D47A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200" b="1" dirty="0">
                <a:solidFill>
                  <a:srgbClr val="FFFFFF"/>
                </a:solidFill>
                <a:latin typeface="Segoe UI" panose="020B0502040204020203" pitchFamily="34" charset="0"/>
              </a:rPr>
              <a:t>PARTE 9</a:t>
            </a:r>
          </a:p>
        </p:txBody>
      </p:sp>
      <p:sp>
        <p:nvSpPr>
          <p:cNvPr id="20" name="CuadroTexto 19">
            <a:extLst>
              <a:ext uri="{FF2B5EF4-FFF2-40B4-BE49-F238E27FC236}">
                <a16:creationId xmlns:a16="http://schemas.microsoft.com/office/drawing/2014/main" id="{C666B4A5-ACA5-10F4-1131-706B399F7EC7}"/>
              </a:ext>
            </a:extLst>
          </p:cNvPr>
          <p:cNvSpPr txBox="1"/>
          <p:nvPr/>
        </p:nvSpPr>
        <p:spPr>
          <a:xfrm>
            <a:off x="1968500" y="4470400"/>
            <a:ext cx="5080000" cy="317500"/>
          </a:xfrm>
          <a:prstGeom prst="rect">
            <a:avLst/>
          </a:prstGeom>
          <a:noFill/>
        </p:spPr>
        <p:txBody>
          <a:bodyPr vert="horz" wrap="square" rtlCol="0">
            <a:spAutoFit/>
          </a:bodyPr>
          <a:lstStyle/>
          <a:p>
            <a:r>
              <a:rPr lang="es-ES" sz="1400" dirty="0">
                <a:solidFill>
                  <a:srgbClr val="111827"/>
                </a:solidFill>
                <a:latin typeface="Segoe UI" panose="020B0502040204020203" pitchFamily="34" charset="0"/>
              </a:rPr>
              <a:t>Base de Datos, Backups y Deployment</a:t>
            </a:r>
            <a:endParaRPr lang="es-MX" sz="1400" dirty="0">
              <a:solidFill>
                <a:srgbClr val="111827"/>
              </a:solidFill>
              <a:latin typeface="Segoe UI" panose="020B0502040204020203" pitchFamily="34" charset="0"/>
            </a:endParaRPr>
          </a:p>
        </p:txBody>
      </p:sp>
    </p:spTree>
    <p:extLst>
      <p:ext uri="{BB962C8B-B14F-4D97-AF65-F5344CB8AC3E}">
        <p14:creationId xmlns:p14="http://schemas.microsoft.com/office/powerpoint/2010/main" val="12185448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0D8F325B-5251-B050-0C4D-94F76EB49AF6}"/>
              </a:ext>
            </a:extLst>
          </p:cNvPr>
          <p:cNvSpPr/>
          <p:nvPr/>
        </p:nvSpPr>
        <p:spPr>
          <a:xfrm>
            <a:off x="0" y="0"/>
            <a:ext cx="9144000" cy="711200"/>
          </a:xfrm>
          <a:prstGeom prst="rect">
            <a:avLst/>
          </a:prstGeom>
          <a:solidFill>
            <a:srgbClr val="0D47A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254000" tIns="101600" rtlCol="0" anchor="ctr"/>
          <a:lstStyle/>
          <a:p>
            <a:pPr algn="ctr"/>
            <a:r>
              <a:rPr lang="es-MX" sz="2400" b="1" dirty="0">
                <a:solidFill>
                  <a:srgbClr val="FFFFFF"/>
                </a:solidFill>
                <a:latin typeface="Segoe UI" panose="020B0502040204020203" pitchFamily="34" charset="0"/>
              </a:rPr>
              <a:t>  PARTE 1: Como esta construido SummaCham</a:t>
            </a:r>
          </a:p>
        </p:txBody>
      </p:sp>
      <p:sp>
        <p:nvSpPr>
          <p:cNvPr id="3" name="CuadroTexto 2">
            <a:extLst>
              <a:ext uri="{FF2B5EF4-FFF2-40B4-BE49-F238E27FC236}">
                <a16:creationId xmlns:a16="http://schemas.microsoft.com/office/drawing/2014/main" id="{9F5DBAF8-896F-4E86-0171-339C19992716}"/>
              </a:ext>
            </a:extLst>
          </p:cNvPr>
          <p:cNvSpPr txBox="1"/>
          <p:nvPr/>
        </p:nvSpPr>
        <p:spPr>
          <a:xfrm>
            <a:off x="508000" y="863600"/>
            <a:ext cx="8128000" cy="317500"/>
          </a:xfrm>
          <a:prstGeom prst="rect">
            <a:avLst/>
          </a:prstGeom>
          <a:noFill/>
        </p:spPr>
        <p:txBody>
          <a:bodyPr vert="horz" wrap="square" rtlCol="0">
            <a:spAutoFit/>
          </a:bodyPr>
          <a:lstStyle/>
          <a:p>
            <a:r>
              <a:rPr lang="es-ES" sz="1400" dirty="0">
                <a:solidFill>
                  <a:srgbClr val="111827"/>
                </a:solidFill>
                <a:latin typeface="Segoe UI" panose="020B0502040204020203" pitchFamily="34" charset="0"/>
              </a:rPr>
              <a:t>El sistema tiene 3 grandes partes que se comunican entre si:</a:t>
            </a:r>
            <a:endParaRPr lang="es-MX" sz="1400" dirty="0">
              <a:solidFill>
                <a:srgbClr val="111827"/>
              </a:solidFill>
              <a:latin typeface="Segoe UI" panose="020B0502040204020203" pitchFamily="34" charset="0"/>
            </a:endParaRPr>
          </a:p>
        </p:txBody>
      </p:sp>
      <p:sp>
        <p:nvSpPr>
          <p:cNvPr id="4" name="Rectángulo: esquinas redondeadas 3">
            <a:extLst>
              <a:ext uri="{FF2B5EF4-FFF2-40B4-BE49-F238E27FC236}">
                <a16:creationId xmlns:a16="http://schemas.microsoft.com/office/drawing/2014/main" id="{D8132B6B-5F9E-F327-C2D2-192B9F088E30}"/>
              </a:ext>
            </a:extLst>
          </p:cNvPr>
          <p:cNvSpPr/>
          <p:nvPr/>
        </p:nvSpPr>
        <p:spPr>
          <a:xfrm>
            <a:off x="571500" y="1270000"/>
            <a:ext cx="1980000" cy="635000"/>
          </a:xfrm>
          <a:prstGeom prst="roundRect">
            <a:avLst/>
          </a:prstGeom>
          <a:solidFill>
            <a:srgbClr val="2980B9"/>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300" b="1" dirty="0">
                <a:solidFill>
                  <a:srgbClr val="FFFFFF"/>
                </a:solidFill>
                <a:latin typeface="Segoe UI" panose="020B0502040204020203" pitchFamily="34" charset="0"/>
              </a:rPr>
              <a:t>FRONTEND
(Lo que VE el usuario)</a:t>
            </a:r>
            <a:endParaRPr lang="es-MX" sz="1300" b="1" dirty="0">
              <a:solidFill>
                <a:srgbClr val="FFFFFF"/>
              </a:solidFill>
              <a:latin typeface="Segoe UI" panose="020B0502040204020203" pitchFamily="34" charset="0"/>
            </a:endParaRPr>
          </a:p>
        </p:txBody>
      </p:sp>
      <p:sp>
        <p:nvSpPr>
          <p:cNvPr id="5" name="CuadroTexto 4">
            <a:extLst>
              <a:ext uri="{FF2B5EF4-FFF2-40B4-BE49-F238E27FC236}">
                <a16:creationId xmlns:a16="http://schemas.microsoft.com/office/drawing/2014/main" id="{4A287F9F-D089-CE8A-EBB9-53CCF4B11337}"/>
              </a:ext>
            </a:extLst>
          </p:cNvPr>
          <p:cNvSpPr txBox="1"/>
          <p:nvPr/>
        </p:nvSpPr>
        <p:spPr>
          <a:xfrm>
            <a:off x="571500" y="1968500"/>
            <a:ext cx="3175000" cy="400110"/>
          </a:xfrm>
          <a:prstGeom prst="rect">
            <a:avLst/>
          </a:prstGeom>
          <a:noFill/>
        </p:spPr>
        <p:txBody>
          <a:bodyPr vert="horz" rtlCol="0">
            <a:spAutoFit/>
          </a:bodyPr>
          <a:lstStyle/>
          <a:p>
            <a:r>
              <a:rPr lang="es-MX" sz="1000" dirty="0">
                <a:solidFill>
                  <a:srgbClr val="6B7280"/>
                </a:solidFill>
                <a:latin typeface="Segoe UI" panose="020B0502040204020203" pitchFamily="34" charset="0"/>
              </a:rPr>
              <a:t>HTML + JavaScript + CSS
Navegador dentro de Electron</a:t>
            </a:r>
          </a:p>
        </p:txBody>
      </p:sp>
      <p:sp>
        <p:nvSpPr>
          <p:cNvPr id="6" name="Cilindro 5">
            <a:extLst>
              <a:ext uri="{FF2B5EF4-FFF2-40B4-BE49-F238E27FC236}">
                <a16:creationId xmlns:a16="http://schemas.microsoft.com/office/drawing/2014/main" id="{E4FD58F3-B434-9E56-0722-63958BB0ADC2}"/>
              </a:ext>
            </a:extLst>
          </p:cNvPr>
          <p:cNvSpPr/>
          <p:nvPr/>
        </p:nvSpPr>
        <p:spPr>
          <a:xfrm>
            <a:off x="2921000" y="1460500"/>
            <a:ext cx="508000" cy="254000"/>
          </a:xfrm>
          <a:prstGeom prst="can">
            <a:avLst/>
          </a:prstGeom>
          <a:solidFill>
            <a:srgbClr val="0D47A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dirty="0"/>
          </a:p>
        </p:txBody>
      </p:sp>
      <p:sp>
        <p:nvSpPr>
          <p:cNvPr id="7" name="Rectángulo: esquinas redondeadas 6">
            <a:extLst>
              <a:ext uri="{FF2B5EF4-FFF2-40B4-BE49-F238E27FC236}">
                <a16:creationId xmlns:a16="http://schemas.microsoft.com/office/drawing/2014/main" id="{85C53CA2-8FA3-5267-29A3-2120169EA0DC}"/>
              </a:ext>
            </a:extLst>
          </p:cNvPr>
          <p:cNvSpPr/>
          <p:nvPr/>
        </p:nvSpPr>
        <p:spPr>
          <a:xfrm>
            <a:off x="3556000" y="1270000"/>
            <a:ext cx="1980000" cy="635000"/>
          </a:xfrm>
          <a:prstGeom prst="roundRect">
            <a:avLst/>
          </a:prstGeom>
          <a:solidFill>
            <a:srgbClr val="E67E2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300" b="1" dirty="0">
                <a:solidFill>
                  <a:srgbClr val="FFFFFF"/>
                </a:solidFill>
                <a:latin typeface="Segoe UI" panose="020B0502040204020203" pitchFamily="34" charset="0"/>
              </a:rPr>
              <a:t>BACKEND
(El servidor que procesa)</a:t>
            </a:r>
            <a:endParaRPr lang="es-MX" sz="1300" b="1" dirty="0">
              <a:solidFill>
                <a:srgbClr val="FFFFFF"/>
              </a:solidFill>
              <a:latin typeface="Segoe UI" panose="020B0502040204020203" pitchFamily="34" charset="0"/>
            </a:endParaRPr>
          </a:p>
        </p:txBody>
      </p:sp>
      <p:sp>
        <p:nvSpPr>
          <p:cNvPr id="8" name="CuadroTexto 7">
            <a:extLst>
              <a:ext uri="{FF2B5EF4-FFF2-40B4-BE49-F238E27FC236}">
                <a16:creationId xmlns:a16="http://schemas.microsoft.com/office/drawing/2014/main" id="{8F8F6900-9C04-BB3C-A850-750A0B38549F}"/>
              </a:ext>
            </a:extLst>
          </p:cNvPr>
          <p:cNvSpPr txBox="1"/>
          <p:nvPr/>
        </p:nvSpPr>
        <p:spPr>
          <a:xfrm>
            <a:off x="3556000" y="1968500"/>
            <a:ext cx="3175000" cy="400110"/>
          </a:xfrm>
          <a:prstGeom prst="rect">
            <a:avLst/>
          </a:prstGeom>
          <a:noFill/>
        </p:spPr>
        <p:txBody>
          <a:bodyPr vert="horz" rtlCol="0">
            <a:spAutoFit/>
          </a:bodyPr>
          <a:lstStyle/>
          <a:p>
            <a:r>
              <a:rPr lang="es-ES" sz="1000" dirty="0">
                <a:solidFill>
                  <a:srgbClr val="6B7280"/>
                </a:solidFill>
                <a:latin typeface="Segoe UI" panose="020B0502040204020203" pitchFamily="34" charset="0"/>
              </a:rPr>
              <a:t>Node.js + Express
Puerto 3005</a:t>
            </a:r>
            <a:endParaRPr lang="es-MX" sz="1000" dirty="0">
              <a:solidFill>
                <a:srgbClr val="6B7280"/>
              </a:solidFill>
              <a:latin typeface="Segoe UI" panose="020B0502040204020203" pitchFamily="34" charset="0"/>
            </a:endParaRPr>
          </a:p>
        </p:txBody>
      </p:sp>
      <p:sp>
        <p:nvSpPr>
          <p:cNvPr id="9" name="Cilindro 8">
            <a:extLst>
              <a:ext uri="{FF2B5EF4-FFF2-40B4-BE49-F238E27FC236}">
                <a16:creationId xmlns:a16="http://schemas.microsoft.com/office/drawing/2014/main" id="{4B57DF0C-C258-356F-9866-EA151D7A75B3}"/>
              </a:ext>
            </a:extLst>
          </p:cNvPr>
          <p:cNvSpPr/>
          <p:nvPr/>
        </p:nvSpPr>
        <p:spPr>
          <a:xfrm>
            <a:off x="5778500" y="1311335"/>
            <a:ext cx="508000" cy="190500"/>
          </a:xfrm>
          <a:prstGeom prst="can">
            <a:avLst/>
          </a:prstGeom>
          <a:solidFill>
            <a:srgbClr val="0D47A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dirty="0"/>
          </a:p>
        </p:txBody>
      </p:sp>
      <p:sp>
        <p:nvSpPr>
          <p:cNvPr id="10" name="Rectángulo: esquinas redondeadas 9">
            <a:extLst>
              <a:ext uri="{FF2B5EF4-FFF2-40B4-BE49-F238E27FC236}">
                <a16:creationId xmlns:a16="http://schemas.microsoft.com/office/drawing/2014/main" id="{A34B24B6-8804-A876-927F-6F9723DF902E}"/>
              </a:ext>
            </a:extLst>
          </p:cNvPr>
          <p:cNvSpPr/>
          <p:nvPr/>
        </p:nvSpPr>
        <p:spPr>
          <a:xfrm>
            <a:off x="6413500" y="1184335"/>
            <a:ext cx="1980000" cy="381000"/>
          </a:xfrm>
          <a:prstGeom prst="roundRect">
            <a:avLst/>
          </a:prstGeom>
          <a:solidFill>
            <a:srgbClr val="2ECC7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100" b="1" dirty="0">
                <a:solidFill>
                  <a:srgbClr val="FFFFFF"/>
                </a:solidFill>
                <a:latin typeface="Segoe UI" panose="020B0502040204020203" pitchFamily="34" charset="0"/>
              </a:rPr>
              <a:t>SQLite
(Config local)</a:t>
            </a:r>
          </a:p>
        </p:txBody>
      </p:sp>
      <p:sp>
        <p:nvSpPr>
          <p:cNvPr id="11" name="Cilindro 10">
            <a:extLst>
              <a:ext uri="{FF2B5EF4-FFF2-40B4-BE49-F238E27FC236}">
                <a16:creationId xmlns:a16="http://schemas.microsoft.com/office/drawing/2014/main" id="{433FC8F1-5504-DA61-F849-F055C7BC96F4}"/>
              </a:ext>
            </a:extLst>
          </p:cNvPr>
          <p:cNvSpPr/>
          <p:nvPr/>
        </p:nvSpPr>
        <p:spPr>
          <a:xfrm>
            <a:off x="5778500" y="1692335"/>
            <a:ext cx="508000" cy="190500"/>
          </a:xfrm>
          <a:prstGeom prst="can">
            <a:avLst/>
          </a:prstGeom>
          <a:solidFill>
            <a:srgbClr val="0D47A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dirty="0"/>
          </a:p>
        </p:txBody>
      </p:sp>
      <p:sp>
        <p:nvSpPr>
          <p:cNvPr id="12" name="Rectángulo: esquinas redondeadas 11">
            <a:extLst>
              <a:ext uri="{FF2B5EF4-FFF2-40B4-BE49-F238E27FC236}">
                <a16:creationId xmlns:a16="http://schemas.microsoft.com/office/drawing/2014/main" id="{A7F19E40-07ED-1317-61A1-F7D1E3C63E84}"/>
              </a:ext>
            </a:extLst>
          </p:cNvPr>
          <p:cNvSpPr/>
          <p:nvPr/>
        </p:nvSpPr>
        <p:spPr>
          <a:xfrm>
            <a:off x="6413500" y="1628835"/>
            <a:ext cx="1980000" cy="381000"/>
          </a:xfrm>
          <a:prstGeom prst="roundRect">
            <a:avLst/>
          </a:prstGeom>
          <a:solidFill>
            <a:srgbClr val="34495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100" b="1" dirty="0">
                <a:solidFill>
                  <a:srgbClr val="FFFFFF"/>
                </a:solidFill>
                <a:latin typeface="Segoe UI" panose="020B0502040204020203" pitchFamily="34" charset="0"/>
              </a:rPr>
              <a:t>Firebird
(Datos contables)</a:t>
            </a:r>
          </a:p>
        </p:txBody>
      </p:sp>
      <p:sp>
        <p:nvSpPr>
          <p:cNvPr id="13" name="Rectángulo 12">
            <a:extLst>
              <a:ext uri="{FF2B5EF4-FFF2-40B4-BE49-F238E27FC236}">
                <a16:creationId xmlns:a16="http://schemas.microsoft.com/office/drawing/2014/main" id="{73B6EBCC-D623-C0A0-5863-469A293E3168}"/>
              </a:ext>
            </a:extLst>
          </p:cNvPr>
          <p:cNvSpPr/>
          <p:nvPr/>
        </p:nvSpPr>
        <p:spPr>
          <a:xfrm>
            <a:off x="508000" y="2540000"/>
            <a:ext cx="8128000" cy="19050"/>
          </a:xfrm>
          <a:prstGeom prst="rect">
            <a:avLst/>
          </a:prstGeom>
          <a:solidFill>
            <a:srgbClr val="E5E7E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dirty="0"/>
          </a:p>
        </p:txBody>
      </p:sp>
      <p:sp>
        <p:nvSpPr>
          <p:cNvPr id="14" name="CuadroTexto 13">
            <a:extLst>
              <a:ext uri="{FF2B5EF4-FFF2-40B4-BE49-F238E27FC236}">
                <a16:creationId xmlns:a16="http://schemas.microsoft.com/office/drawing/2014/main" id="{4D153DEC-B1C2-B66B-4C48-EEC243BBF204}"/>
              </a:ext>
            </a:extLst>
          </p:cNvPr>
          <p:cNvSpPr txBox="1"/>
          <p:nvPr/>
        </p:nvSpPr>
        <p:spPr>
          <a:xfrm>
            <a:off x="508000" y="2667000"/>
            <a:ext cx="8128000" cy="2123658"/>
          </a:xfrm>
          <a:prstGeom prst="rect">
            <a:avLst/>
          </a:prstGeom>
          <a:noFill/>
        </p:spPr>
        <p:txBody>
          <a:bodyPr vert="horz" wrap="square" rtlCol="0">
            <a:spAutoFit/>
          </a:bodyPr>
          <a:lstStyle/>
          <a:p>
            <a:r>
              <a:rPr lang="es-ES" sz="1200" dirty="0">
                <a:solidFill>
                  <a:srgbClr val="111827"/>
                </a:solidFill>
                <a:latin typeface="Segoe UI" panose="020B0502040204020203" pitchFamily="34" charset="0"/>
              </a:rPr>
              <a:t>CÓMO FUNCIONA PASO A PASO:
1. El usuario abre la app (Electron abre una ventana con un navegador integrado)
2. El navegador carga http://localhost:3005 (la página del sistema)
3. Cuando necesita datos, el frontend envía una PETICIÓN al backend
     Ejemplo: "Dame el reporte RESUMEN de empresa1 para Junio 2025"
4. El backend recibe la petición y busca los datos en 2 lugares:
     SQLite: Que cuentas mostrar, que fórmulas aplicar, que permisos tiene el usuario
     Firebird: Los saldos reales del sistema contable Aspel COI
5. El backend responde con los datos en formato JSON
6. El frontend muestra los datos en tablas y gráficas</a:t>
            </a:r>
            <a:endParaRPr lang="es-MX" sz="1200" dirty="0">
              <a:solidFill>
                <a:srgbClr val="111827"/>
              </a:solidFill>
              <a:latin typeface="Segoe UI" panose="020B0502040204020203" pitchFamily="34" charset="0"/>
            </a:endParaRPr>
          </a:p>
        </p:txBody>
      </p:sp>
    </p:spTree>
    <p:extLst>
      <p:ext uri="{BB962C8B-B14F-4D97-AF65-F5344CB8AC3E}">
        <p14:creationId xmlns:p14="http://schemas.microsoft.com/office/powerpoint/2010/main" val="31220012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AA140DCB-1686-0722-E336-E2305E7B9F99}"/>
              </a:ext>
            </a:extLst>
          </p:cNvPr>
          <p:cNvSpPr/>
          <p:nvPr/>
        </p:nvSpPr>
        <p:spPr>
          <a:xfrm>
            <a:off x="0" y="0"/>
            <a:ext cx="9144000" cy="711200"/>
          </a:xfrm>
          <a:prstGeom prst="rect">
            <a:avLst/>
          </a:prstGeom>
          <a:solidFill>
            <a:srgbClr val="0D47A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254000" tIns="101600" rtlCol="0" anchor="ctr"/>
          <a:lstStyle/>
          <a:p>
            <a:pPr algn="ctr"/>
            <a:r>
              <a:rPr lang="es-MX" sz="2400" b="1" dirty="0">
                <a:solidFill>
                  <a:srgbClr val="FFFFFF"/>
                </a:solidFill>
                <a:latin typeface="Segoe UI" panose="020B0502040204020203" pitchFamily="34" charset="0"/>
              </a:rPr>
              <a:t>  Tecnologías utilizadas</a:t>
            </a:r>
          </a:p>
        </p:txBody>
      </p:sp>
      <p:sp>
        <p:nvSpPr>
          <p:cNvPr id="3" name="Rectángulo: esquinas redondeadas 2">
            <a:extLst>
              <a:ext uri="{FF2B5EF4-FFF2-40B4-BE49-F238E27FC236}">
                <a16:creationId xmlns:a16="http://schemas.microsoft.com/office/drawing/2014/main" id="{E8B30F8B-082B-4341-5AFA-046DFAB53812}"/>
              </a:ext>
            </a:extLst>
          </p:cNvPr>
          <p:cNvSpPr/>
          <p:nvPr/>
        </p:nvSpPr>
        <p:spPr>
          <a:xfrm>
            <a:off x="571500" y="863600"/>
            <a:ext cx="3873500" cy="355600"/>
          </a:xfrm>
          <a:prstGeom prst="roundRect">
            <a:avLst/>
          </a:prstGeom>
          <a:solidFill>
            <a:srgbClr val="2980B9"/>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300" b="1" dirty="0">
                <a:solidFill>
                  <a:srgbClr val="FFFFFF"/>
                </a:solidFill>
                <a:latin typeface="Segoe UI" panose="020B0502040204020203" pitchFamily="34" charset="0"/>
              </a:rPr>
              <a:t>FRONTEND</a:t>
            </a:r>
          </a:p>
        </p:txBody>
      </p:sp>
      <p:sp>
        <p:nvSpPr>
          <p:cNvPr id="4" name="CuadroTexto 3">
            <a:extLst>
              <a:ext uri="{FF2B5EF4-FFF2-40B4-BE49-F238E27FC236}">
                <a16:creationId xmlns:a16="http://schemas.microsoft.com/office/drawing/2014/main" id="{200AEF7D-7927-51CA-FCBE-5BC742C06683}"/>
              </a:ext>
            </a:extLst>
          </p:cNvPr>
          <p:cNvSpPr txBox="1"/>
          <p:nvPr/>
        </p:nvSpPr>
        <p:spPr>
          <a:xfrm>
            <a:off x="635000" y="1270000"/>
            <a:ext cx="3746500" cy="1446550"/>
          </a:xfrm>
          <a:prstGeom prst="rect">
            <a:avLst/>
          </a:prstGeom>
          <a:noFill/>
        </p:spPr>
        <p:txBody>
          <a:bodyPr vert="horz" wrap="square" rtlCol="0">
            <a:spAutoFit/>
          </a:bodyPr>
          <a:lstStyle/>
          <a:p>
            <a:r>
              <a:rPr lang="es-MX" sz="1100" dirty="0">
                <a:solidFill>
                  <a:srgbClr val="111827"/>
                </a:solidFill>
                <a:latin typeface="Segoe UI" panose="020B0502040204020203" pitchFamily="34" charset="0"/>
              </a:rPr>
              <a:t>  Electron 39.2.7  App de escritorio (navegador integrado)
  Bootstrap 5      Hace que se vea profesional
  Chart.js 4.3     Gráficas interactivas (barras, líneas, pie)
  DataTables 1.13  Tablas con búsqueda y filtros
  SweetAlert2      Diálogos y notificaciones bonitas
  ExcelJS / XLSX   Exportar datos a Excel
  jsPDF            Exportar a PDF
  Font Awesome 6.4 Iconos</a:t>
            </a:r>
          </a:p>
        </p:txBody>
      </p:sp>
      <p:sp>
        <p:nvSpPr>
          <p:cNvPr id="5" name="Rectángulo: esquinas redondeadas 4">
            <a:extLst>
              <a:ext uri="{FF2B5EF4-FFF2-40B4-BE49-F238E27FC236}">
                <a16:creationId xmlns:a16="http://schemas.microsoft.com/office/drawing/2014/main" id="{D8D56570-3439-AF21-2EBC-888EB9AF7B0A}"/>
              </a:ext>
            </a:extLst>
          </p:cNvPr>
          <p:cNvSpPr/>
          <p:nvPr/>
        </p:nvSpPr>
        <p:spPr>
          <a:xfrm>
            <a:off x="4699000" y="863600"/>
            <a:ext cx="3873500" cy="355600"/>
          </a:xfrm>
          <a:prstGeom prst="roundRect">
            <a:avLst/>
          </a:prstGeom>
          <a:solidFill>
            <a:srgbClr val="E67E2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300" b="1" dirty="0">
                <a:solidFill>
                  <a:srgbClr val="FFFFFF"/>
                </a:solidFill>
                <a:latin typeface="Segoe UI" panose="020B0502040204020203" pitchFamily="34" charset="0"/>
              </a:rPr>
              <a:t>BACKEND</a:t>
            </a:r>
          </a:p>
        </p:txBody>
      </p:sp>
      <p:sp>
        <p:nvSpPr>
          <p:cNvPr id="6" name="CuadroTexto 5">
            <a:extLst>
              <a:ext uri="{FF2B5EF4-FFF2-40B4-BE49-F238E27FC236}">
                <a16:creationId xmlns:a16="http://schemas.microsoft.com/office/drawing/2014/main" id="{FEAFB4B8-BEB9-DA78-2362-4417B911F91F}"/>
              </a:ext>
            </a:extLst>
          </p:cNvPr>
          <p:cNvSpPr txBox="1"/>
          <p:nvPr/>
        </p:nvSpPr>
        <p:spPr>
          <a:xfrm>
            <a:off x="4762500" y="1270000"/>
            <a:ext cx="3746500" cy="1615827"/>
          </a:xfrm>
          <a:prstGeom prst="rect">
            <a:avLst/>
          </a:prstGeom>
          <a:noFill/>
        </p:spPr>
        <p:txBody>
          <a:bodyPr vert="horz" wrap="square" rtlCol="0">
            <a:spAutoFit/>
          </a:bodyPr>
          <a:lstStyle/>
          <a:p>
            <a:r>
              <a:rPr lang="es-MX" sz="1100" dirty="0">
                <a:solidFill>
                  <a:srgbClr val="111827"/>
                </a:solidFill>
                <a:latin typeface="Segoe UI" panose="020B0502040204020203" pitchFamily="34" charset="0"/>
              </a:rPr>
              <a:t>  Node.js          Motor de JavaScript en servidor
  Express.js       Framework web (maneja peticiones)
  Better-SQLite3   Base de datos local
  node-firebird    Conexión al sistema contable
  bcryptjs         Encriptar contraseñas
  jsonwebtoken     Tokens de acceso (JWT)
  Joi              Validar datos de entrada
  Helmet           Protección HTTP
  express-session  Sesiones de usuario</a:t>
            </a:r>
          </a:p>
        </p:txBody>
      </p:sp>
      <p:sp>
        <p:nvSpPr>
          <p:cNvPr id="7" name="Rectángulo 6">
            <a:extLst>
              <a:ext uri="{FF2B5EF4-FFF2-40B4-BE49-F238E27FC236}">
                <a16:creationId xmlns:a16="http://schemas.microsoft.com/office/drawing/2014/main" id="{A8CD72B6-73C5-EE44-6324-540E74438ACE}"/>
              </a:ext>
            </a:extLst>
          </p:cNvPr>
          <p:cNvSpPr/>
          <p:nvPr/>
        </p:nvSpPr>
        <p:spPr>
          <a:xfrm>
            <a:off x="508000" y="3937000"/>
            <a:ext cx="8128000" cy="19050"/>
          </a:xfrm>
          <a:prstGeom prst="rect">
            <a:avLst/>
          </a:prstGeom>
          <a:solidFill>
            <a:srgbClr val="E5E7E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dirty="0"/>
          </a:p>
        </p:txBody>
      </p:sp>
      <p:sp>
        <p:nvSpPr>
          <p:cNvPr id="8" name="CuadroTexto 7">
            <a:extLst>
              <a:ext uri="{FF2B5EF4-FFF2-40B4-BE49-F238E27FC236}">
                <a16:creationId xmlns:a16="http://schemas.microsoft.com/office/drawing/2014/main" id="{5AF9FD67-408A-BE90-FBFD-CDA028DE2F7B}"/>
              </a:ext>
            </a:extLst>
          </p:cNvPr>
          <p:cNvSpPr txBox="1"/>
          <p:nvPr/>
        </p:nvSpPr>
        <p:spPr>
          <a:xfrm>
            <a:off x="508000" y="4064000"/>
            <a:ext cx="8128000" cy="492443"/>
          </a:xfrm>
          <a:prstGeom prst="rect">
            <a:avLst/>
          </a:prstGeom>
          <a:noFill/>
        </p:spPr>
        <p:txBody>
          <a:bodyPr vert="horz" wrap="square" rtlCol="0">
            <a:spAutoFit/>
          </a:bodyPr>
          <a:lstStyle/>
          <a:p>
            <a:r>
              <a:rPr lang="es-ES" sz="1300" dirty="0">
                <a:solidFill>
                  <a:srgbClr val="111827"/>
                </a:solidFill>
                <a:latin typeface="Segoe UI" panose="020B0502040204020203" pitchFamily="34" charset="0"/>
              </a:rPr>
              <a:t>EN RESUMEN: El frontend usa HTML/JavaScript puro (sin React ni Angular).
El backend usa Node.js con Express para recibir peticiones y responder con datos.</a:t>
            </a:r>
            <a:endParaRPr lang="es-MX" sz="1300" dirty="0">
              <a:solidFill>
                <a:srgbClr val="111827"/>
              </a:solidFill>
              <a:latin typeface="Segoe UI" panose="020B0502040204020203" pitchFamily="34" charset="0"/>
            </a:endParaRPr>
          </a:p>
        </p:txBody>
      </p:sp>
    </p:spTree>
    <p:extLst>
      <p:ext uri="{BB962C8B-B14F-4D97-AF65-F5344CB8AC3E}">
        <p14:creationId xmlns:p14="http://schemas.microsoft.com/office/powerpoint/2010/main" val="15598132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8F382AD5-2E7A-4B77-E895-27C249E77024}"/>
              </a:ext>
            </a:extLst>
          </p:cNvPr>
          <p:cNvSpPr/>
          <p:nvPr/>
        </p:nvSpPr>
        <p:spPr>
          <a:xfrm>
            <a:off x="0" y="0"/>
            <a:ext cx="9144000" cy="711200"/>
          </a:xfrm>
          <a:prstGeom prst="rect">
            <a:avLst/>
          </a:prstGeom>
          <a:solidFill>
            <a:srgbClr val="0D47A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254000" tIns="101600" rtlCol="0" anchor="ctr"/>
          <a:lstStyle/>
          <a:p>
            <a:pPr algn="ctr"/>
            <a:r>
              <a:rPr lang="es-ES" sz="2400" b="1" dirty="0">
                <a:solidFill>
                  <a:srgbClr val="FFFFFF"/>
                </a:solidFill>
                <a:latin typeface="Segoe UI" panose="020B0502040204020203" pitchFamily="34" charset="0"/>
              </a:rPr>
              <a:t>  PARTE 2: Como funciona el Login</a:t>
            </a:r>
            <a:endParaRPr lang="es-MX" sz="2400" b="1" dirty="0">
              <a:solidFill>
                <a:srgbClr val="FFFFFF"/>
              </a:solidFill>
              <a:latin typeface="Segoe UI" panose="020B0502040204020203" pitchFamily="34" charset="0"/>
            </a:endParaRPr>
          </a:p>
        </p:txBody>
      </p:sp>
      <p:sp>
        <p:nvSpPr>
          <p:cNvPr id="3" name="CuadroTexto 2">
            <a:extLst>
              <a:ext uri="{FF2B5EF4-FFF2-40B4-BE49-F238E27FC236}">
                <a16:creationId xmlns:a16="http://schemas.microsoft.com/office/drawing/2014/main" id="{6BFCBB6E-3EB0-C677-775B-F9514B323B82}"/>
              </a:ext>
            </a:extLst>
          </p:cNvPr>
          <p:cNvSpPr txBox="1"/>
          <p:nvPr/>
        </p:nvSpPr>
        <p:spPr>
          <a:xfrm>
            <a:off x="508000" y="863600"/>
            <a:ext cx="8128000" cy="292388"/>
          </a:xfrm>
          <a:prstGeom prst="rect">
            <a:avLst/>
          </a:prstGeom>
          <a:noFill/>
        </p:spPr>
        <p:txBody>
          <a:bodyPr vert="horz" wrap="square" rtlCol="0">
            <a:spAutoFit/>
          </a:bodyPr>
          <a:lstStyle/>
          <a:p>
            <a:r>
              <a:rPr lang="es-ES" sz="1300" dirty="0">
                <a:solidFill>
                  <a:srgbClr val="111827"/>
                </a:solidFill>
                <a:latin typeface="Segoe UI" panose="020B0502040204020203" pitchFamily="34" charset="0"/>
              </a:rPr>
              <a:t>Cuando escribes tu usuario y contraseña, pasa esto:</a:t>
            </a:r>
            <a:endParaRPr lang="es-MX" sz="1300" dirty="0">
              <a:solidFill>
                <a:srgbClr val="111827"/>
              </a:solidFill>
              <a:latin typeface="Segoe UI" panose="020B0502040204020203" pitchFamily="34" charset="0"/>
            </a:endParaRPr>
          </a:p>
        </p:txBody>
      </p:sp>
      <p:sp>
        <p:nvSpPr>
          <p:cNvPr id="4" name="Rectángulo: esquinas redondeadas 3">
            <a:extLst>
              <a:ext uri="{FF2B5EF4-FFF2-40B4-BE49-F238E27FC236}">
                <a16:creationId xmlns:a16="http://schemas.microsoft.com/office/drawing/2014/main" id="{D6F64B5B-758C-F15E-CE3F-2E09B2B8DAF1}"/>
              </a:ext>
            </a:extLst>
          </p:cNvPr>
          <p:cNvSpPr/>
          <p:nvPr/>
        </p:nvSpPr>
        <p:spPr>
          <a:xfrm>
            <a:off x="571500" y="1206500"/>
            <a:ext cx="330200" cy="304800"/>
          </a:xfrm>
          <a:prstGeom prst="roundRect">
            <a:avLst/>
          </a:prstGeom>
          <a:solidFill>
            <a:srgbClr val="0D47A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200" b="1" dirty="0">
                <a:solidFill>
                  <a:srgbClr val="FFFFFF"/>
                </a:solidFill>
                <a:latin typeface="Segoe UI" panose="020B0502040204020203" pitchFamily="34" charset="0"/>
              </a:rPr>
              <a:t>1</a:t>
            </a:r>
          </a:p>
        </p:txBody>
      </p:sp>
      <p:sp>
        <p:nvSpPr>
          <p:cNvPr id="5" name="CuadroTexto 4">
            <a:extLst>
              <a:ext uri="{FF2B5EF4-FFF2-40B4-BE49-F238E27FC236}">
                <a16:creationId xmlns:a16="http://schemas.microsoft.com/office/drawing/2014/main" id="{BE69828B-2C9E-A3AC-6BC4-DC0206745D6D}"/>
              </a:ext>
            </a:extLst>
          </p:cNvPr>
          <p:cNvSpPr txBox="1"/>
          <p:nvPr/>
        </p:nvSpPr>
        <p:spPr>
          <a:xfrm>
            <a:off x="1016000" y="1231900"/>
            <a:ext cx="7620000" cy="261610"/>
          </a:xfrm>
          <a:prstGeom prst="rect">
            <a:avLst/>
          </a:prstGeom>
          <a:noFill/>
        </p:spPr>
        <p:txBody>
          <a:bodyPr vert="horz" wrap="square" rtlCol="0">
            <a:spAutoFit/>
          </a:bodyPr>
          <a:lstStyle/>
          <a:p>
            <a:r>
              <a:rPr lang="es-MX" sz="1100" dirty="0">
                <a:solidFill>
                  <a:srgbClr val="111827"/>
                </a:solidFill>
                <a:latin typeface="Segoe UI" panose="020B0502040204020203" pitchFamily="34" charset="0"/>
              </a:rPr>
              <a:t>El frontend envía:  POST /api/auth/login  con { usuario: 'JPEREZ', contrasena: '...' }</a:t>
            </a:r>
          </a:p>
        </p:txBody>
      </p:sp>
      <p:sp>
        <p:nvSpPr>
          <p:cNvPr id="6" name="Rectángulo: esquinas redondeadas 5">
            <a:extLst>
              <a:ext uri="{FF2B5EF4-FFF2-40B4-BE49-F238E27FC236}">
                <a16:creationId xmlns:a16="http://schemas.microsoft.com/office/drawing/2014/main" id="{05825E6C-8FA0-3F93-FAFA-90EB098DD61F}"/>
              </a:ext>
            </a:extLst>
          </p:cNvPr>
          <p:cNvSpPr/>
          <p:nvPr/>
        </p:nvSpPr>
        <p:spPr>
          <a:xfrm>
            <a:off x="571500" y="1587500"/>
            <a:ext cx="330200" cy="304800"/>
          </a:xfrm>
          <a:prstGeom prst="roundRect">
            <a:avLst/>
          </a:prstGeom>
          <a:solidFill>
            <a:srgbClr val="E67E2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200" b="1" dirty="0">
                <a:solidFill>
                  <a:srgbClr val="FFFFFF"/>
                </a:solidFill>
                <a:latin typeface="Segoe UI" panose="020B0502040204020203" pitchFamily="34" charset="0"/>
              </a:rPr>
              <a:t>2</a:t>
            </a:r>
          </a:p>
        </p:txBody>
      </p:sp>
      <p:sp>
        <p:nvSpPr>
          <p:cNvPr id="7" name="CuadroTexto 6">
            <a:extLst>
              <a:ext uri="{FF2B5EF4-FFF2-40B4-BE49-F238E27FC236}">
                <a16:creationId xmlns:a16="http://schemas.microsoft.com/office/drawing/2014/main" id="{DF73F0FC-D80F-E8AC-FD24-D366A002F1D6}"/>
              </a:ext>
            </a:extLst>
          </p:cNvPr>
          <p:cNvSpPr txBox="1"/>
          <p:nvPr/>
        </p:nvSpPr>
        <p:spPr>
          <a:xfrm>
            <a:off x="1016000" y="1612900"/>
            <a:ext cx="7620000" cy="261610"/>
          </a:xfrm>
          <a:prstGeom prst="rect">
            <a:avLst/>
          </a:prstGeom>
          <a:noFill/>
        </p:spPr>
        <p:txBody>
          <a:bodyPr vert="horz" wrap="square" rtlCol="0">
            <a:spAutoFit/>
          </a:bodyPr>
          <a:lstStyle/>
          <a:p>
            <a:r>
              <a:rPr lang="es-MX" sz="1100" dirty="0">
                <a:solidFill>
                  <a:srgbClr val="111827"/>
                </a:solidFill>
                <a:latin typeface="Segoe UI" panose="020B0502040204020203" pitchFamily="34" charset="0"/>
              </a:rPr>
              <a:t>El servidor valida con Joi: usuario mínimo 2 caracteres, contraseña mínimo 6</a:t>
            </a:r>
          </a:p>
        </p:txBody>
      </p:sp>
      <p:sp>
        <p:nvSpPr>
          <p:cNvPr id="8" name="Rectángulo: esquinas redondeadas 7">
            <a:extLst>
              <a:ext uri="{FF2B5EF4-FFF2-40B4-BE49-F238E27FC236}">
                <a16:creationId xmlns:a16="http://schemas.microsoft.com/office/drawing/2014/main" id="{84355380-A1B7-1B6B-B699-5B61BD268DB6}"/>
              </a:ext>
            </a:extLst>
          </p:cNvPr>
          <p:cNvSpPr/>
          <p:nvPr/>
        </p:nvSpPr>
        <p:spPr>
          <a:xfrm>
            <a:off x="571500" y="1968500"/>
            <a:ext cx="330200" cy="304800"/>
          </a:xfrm>
          <a:prstGeom prst="roundRect">
            <a:avLst/>
          </a:prstGeom>
          <a:solidFill>
            <a:srgbClr val="E67E2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200" b="1" dirty="0">
                <a:solidFill>
                  <a:srgbClr val="FFFFFF"/>
                </a:solidFill>
                <a:latin typeface="Segoe UI" panose="020B0502040204020203" pitchFamily="34" charset="0"/>
              </a:rPr>
              <a:t>3</a:t>
            </a:r>
          </a:p>
        </p:txBody>
      </p:sp>
      <p:sp>
        <p:nvSpPr>
          <p:cNvPr id="9" name="CuadroTexto 8">
            <a:extLst>
              <a:ext uri="{FF2B5EF4-FFF2-40B4-BE49-F238E27FC236}">
                <a16:creationId xmlns:a16="http://schemas.microsoft.com/office/drawing/2014/main" id="{2BF743B9-324B-2321-E436-3F5549798ABA}"/>
              </a:ext>
            </a:extLst>
          </p:cNvPr>
          <p:cNvSpPr txBox="1"/>
          <p:nvPr/>
        </p:nvSpPr>
        <p:spPr>
          <a:xfrm>
            <a:off x="1016000" y="1993900"/>
            <a:ext cx="7620000" cy="261610"/>
          </a:xfrm>
          <a:prstGeom prst="rect">
            <a:avLst/>
          </a:prstGeom>
          <a:noFill/>
        </p:spPr>
        <p:txBody>
          <a:bodyPr vert="horz" wrap="square" rtlCol="0">
            <a:spAutoFit/>
          </a:bodyPr>
          <a:lstStyle/>
          <a:p>
            <a:r>
              <a:rPr lang="es-ES" sz="1100" dirty="0">
                <a:solidFill>
                  <a:srgbClr val="111827"/>
                </a:solidFill>
                <a:latin typeface="Segoe UI" panose="020B0502040204020203" pitchFamily="34" charset="0"/>
              </a:rPr>
              <a:t>Rate Limiting: Si hay 10+ intentos fallidos en 10 min, la IP se bloquea 5 minutos</a:t>
            </a:r>
            <a:endParaRPr lang="es-MX" sz="1100" dirty="0">
              <a:solidFill>
                <a:srgbClr val="111827"/>
              </a:solidFill>
              <a:latin typeface="Segoe UI" panose="020B0502040204020203" pitchFamily="34" charset="0"/>
            </a:endParaRPr>
          </a:p>
        </p:txBody>
      </p:sp>
      <p:sp>
        <p:nvSpPr>
          <p:cNvPr id="10" name="Rectángulo: esquinas redondeadas 9">
            <a:extLst>
              <a:ext uri="{FF2B5EF4-FFF2-40B4-BE49-F238E27FC236}">
                <a16:creationId xmlns:a16="http://schemas.microsoft.com/office/drawing/2014/main" id="{2ADFD888-02D2-D3A8-BA3E-50E32211771E}"/>
              </a:ext>
            </a:extLst>
          </p:cNvPr>
          <p:cNvSpPr/>
          <p:nvPr/>
        </p:nvSpPr>
        <p:spPr>
          <a:xfrm>
            <a:off x="571500" y="2349500"/>
            <a:ext cx="330200" cy="304800"/>
          </a:xfrm>
          <a:prstGeom prst="roundRect">
            <a:avLst/>
          </a:prstGeom>
          <a:solidFill>
            <a:srgbClr val="2ECC7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200" b="1" dirty="0">
                <a:solidFill>
                  <a:srgbClr val="FFFFFF"/>
                </a:solidFill>
                <a:latin typeface="Segoe UI" panose="020B0502040204020203" pitchFamily="34" charset="0"/>
              </a:rPr>
              <a:t>4</a:t>
            </a:r>
          </a:p>
        </p:txBody>
      </p:sp>
      <p:sp>
        <p:nvSpPr>
          <p:cNvPr id="11" name="CuadroTexto 10">
            <a:extLst>
              <a:ext uri="{FF2B5EF4-FFF2-40B4-BE49-F238E27FC236}">
                <a16:creationId xmlns:a16="http://schemas.microsoft.com/office/drawing/2014/main" id="{84380618-6A66-9C9B-22E0-5737D0A8D33D}"/>
              </a:ext>
            </a:extLst>
          </p:cNvPr>
          <p:cNvSpPr txBox="1"/>
          <p:nvPr/>
        </p:nvSpPr>
        <p:spPr>
          <a:xfrm>
            <a:off x="1016000" y="2374900"/>
            <a:ext cx="7620000" cy="261610"/>
          </a:xfrm>
          <a:prstGeom prst="rect">
            <a:avLst/>
          </a:prstGeom>
          <a:noFill/>
        </p:spPr>
        <p:txBody>
          <a:bodyPr vert="horz" wrap="square" rtlCol="0">
            <a:spAutoFit/>
          </a:bodyPr>
          <a:lstStyle/>
          <a:p>
            <a:r>
              <a:rPr lang="es-ES" sz="1100" dirty="0">
                <a:solidFill>
                  <a:srgbClr val="111827"/>
                </a:solidFill>
                <a:latin typeface="Segoe UI" panose="020B0502040204020203" pitchFamily="34" charset="0"/>
              </a:rPr>
              <a:t>Busca en SQLite: SELECT * FROM usuarios WHERE usuario = 'JPEREZ'</a:t>
            </a:r>
            <a:endParaRPr lang="es-MX" sz="1100" dirty="0">
              <a:solidFill>
                <a:srgbClr val="111827"/>
              </a:solidFill>
              <a:latin typeface="Segoe UI" panose="020B0502040204020203" pitchFamily="34" charset="0"/>
            </a:endParaRPr>
          </a:p>
        </p:txBody>
      </p:sp>
      <p:sp>
        <p:nvSpPr>
          <p:cNvPr id="12" name="Rectángulo: esquinas redondeadas 11">
            <a:extLst>
              <a:ext uri="{FF2B5EF4-FFF2-40B4-BE49-F238E27FC236}">
                <a16:creationId xmlns:a16="http://schemas.microsoft.com/office/drawing/2014/main" id="{F8D90093-1266-F9B1-E5DD-5112297B8984}"/>
              </a:ext>
            </a:extLst>
          </p:cNvPr>
          <p:cNvSpPr/>
          <p:nvPr/>
        </p:nvSpPr>
        <p:spPr>
          <a:xfrm>
            <a:off x="571500" y="2730500"/>
            <a:ext cx="330200" cy="304800"/>
          </a:xfrm>
          <a:prstGeom prst="roundRect">
            <a:avLst/>
          </a:prstGeom>
          <a:solidFill>
            <a:srgbClr val="2ECC7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200" b="1" dirty="0">
                <a:solidFill>
                  <a:srgbClr val="FFFFFF"/>
                </a:solidFill>
                <a:latin typeface="Segoe UI" panose="020B0502040204020203" pitchFamily="34" charset="0"/>
              </a:rPr>
              <a:t>5</a:t>
            </a:r>
          </a:p>
        </p:txBody>
      </p:sp>
      <p:sp>
        <p:nvSpPr>
          <p:cNvPr id="13" name="CuadroTexto 12">
            <a:extLst>
              <a:ext uri="{FF2B5EF4-FFF2-40B4-BE49-F238E27FC236}">
                <a16:creationId xmlns:a16="http://schemas.microsoft.com/office/drawing/2014/main" id="{938DAE55-9490-7B20-E7E2-482694F25C2B}"/>
              </a:ext>
            </a:extLst>
          </p:cNvPr>
          <p:cNvSpPr txBox="1"/>
          <p:nvPr/>
        </p:nvSpPr>
        <p:spPr>
          <a:xfrm>
            <a:off x="1016000" y="2755900"/>
            <a:ext cx="7620000" cy="261610"/>
          </a:xfrm>
          <a:prstGeom prst="rect">
            <a:avLst/>
          </a:prstGeom>
          <a:noFill/>
        </p:spPr>
        <p:txBody>
          <a:bodyPr vert="horz" wrap="square" rtlCol="0">
            <a:spAutoFit/>
          </a:bodyPr>
          <a:lstStyle/>
          <a:p>
            <a:r>
              <a:rPr lang="es-ES" sz="1100" dirty="0">
                <a:solidFill>
                  <a:srgbClr val="111827"/>
                </a:solidFill>
                <a:latin typeface="Segoe UI" panose="020B0502040204020203" pitchFamily="34" charset="0"/>
              </a:rPr>
              <a:t>Compara contraseña con bcrypt (hash irreversible, nadie puede leerla)</a:t>
            </a:r>
            <a:endParaRPr lang="es-MX" sz="1100" dirty="0">
              <a:solidFill>
                <a:srgbClr val="111827"/>
              </a:solidFill>
              <a:latin typeface="Segoe UI" panose="020B0502040204020203" pitchFamily="34" charset="0"/>
            </a:endParaRPr>
          </a:p>
        </p:txBody>
      </p:sp>
      <p:sp>
        <p:nvSpPr>
          <p:cNvPr id="14" name="Rectángulo: esquinas redondeadas 13">
            <a:extLst>
              <a:ext uri="{FF2B5EF4-FFF2-40B4-BE49-F238E27FC236}">
                <a16:creationId xmlns:a16="http://schemas.microsoft.com/office/drawing/2014/main" id="{96B12F63-64E4-0AB1-3AA5-42857EDA23B8}"/>
              </a:ext>
            </a:extLst>
          </p:cNvPr>
          <p:cNvSpPr/>
          <p:nvPr/>
        </p:nvSpPr>
        <p:spPr>
          <a:xfrm>
            <a:off x="571500" y="3111500"/>
            <a:ext cx="330200" cy="304800"/>
          </a:xfrm>
          <a:prstGeom prst="roundRect">
            <a:avLst/>
          </a:prstGeom>
          <a:solidFill>
            <a:srgbClr val="00968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200" b="1" dirty="0">
                <a:solidFill>
                  <a:srgbClr val="FFFFFF"/>
                </a:solidFill>
                <a:latin typeface="Segoe UI" panose="020B0502040204020203" pitchFamily="34" charset="0"/>
              </a:rPr>
              <a:t>6</a:t>
            </a:r>
          </a:p>
        </p:txBody>
      </p:sp>
      <p:sp>
        <p:nvSpPr>
          <p:cNvPr id="15" name="CuadroTexto 14">
            <a:extLst>
              <a:ext uri="{FF2B5EF4-FFF2-40B4-BE49-F238E27FC236}">
                <a16:creationId xmlns:a16="http://schemas.microsoft.com/office/drawing/2014/main" id="{6E99DF6F-1F61-CC56-6C80-20DFF53C7C9D}"/>
              </a:ext>
            </a:extLst>
          </p:cNvPr>
          <p:cNvSpPr txBox="1"/>
          <p:nvPr/>
        </p:nvSpPr>
        <p:spPr>
          <a:xfrm>
            <a:off x="1016000" y="3136900"/>
            <a:ext cx="7620000" cy="261610"/>
          </a:xfrm>
          <a:prstGeom prst="rect">
            <a:avLst/>
          </a:prstGeom>
          <a:noFill/>
        </p:spPr>
        <p:txBody>
          <a:bodyPr vert="horz" wrap="square" rtlCol="0">
            <a:spAutoFit/>
          </a:bodyPr>
          <a:lstStyle/>
          <a:p>
            <a:r>
              <a:rPr lang="es-MX" sz="1100" dirty="0">
                <a:solidFill>
                  <a:srgbClr val="111827"/>
                </a:solidFill>
                <a:latin typeface="Segoe UI" panose="020B0502040204020203" pitchFamily="34" charset="0"/>
              </a:rPr>
              <a:t>Crea sesión + cookie 'panelamcham.sid' + JWT token (valido 1 hora)</a:t>
            </a:r>
          </a:p>
        </p:txBody>
      </p:sp>
      <p:sp>
        <p:nvSpPr>
          <p:cNvPr id="16" name="Rectángulo: esquinas redondeadas 15">
            <a:extLst>
              <a:ext uri="{FF2B5EF4-FFF2-40B4-BE49-F238E27FC236}">
                <a16:creationId xmlns:a16="http://schemas.microsoft.com/office/drawing/2014/main" id="{222F27F9-4828-E11D-39ED-6228D1A32C94}"/>
              </a:ext>
            </a:extLst>
          </p:cNvPr>
          <p:cNvSpPr/>
          <p:nvPr/>
        </p:nvSpPr>
        <p:spPr>
          <a:xfrm>
            <a:off x="571500" y="3492500"/>
            <a:ext cx="330200" cy="304800"/>
          </a:xfrm>
          <a:prstGeom prst="roundRect">
            <a:avLst/>
          </a:prstGeom>
          <a:solidFill>
            <a:srgbClr val="2980B9"/>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200" b="1" dirty="0">
                <a:solidFill>
                  <a:srgbClr val="FFFFFF"/>
                </a:solidFill>
                <a:latin typeface="Segoe UI" panose="020B0502040204020203" pitchFamily="34" charset="0"/>
              </a:rPr>
              <a:t>7</a:t>
            </a:r>
          </a:p>
        </p:txBody>
      </p:sp>
      <p:sp>
        <p:nvSpPr>
          <p:cNvPr id="17" name="CuadroTexto 16">
            <a:extLst>
              <a:ext uri="{FF2B5EF4-FFF2-40B4-BE49-F238E27FC236}">
                <a16:creationId xmlns:a16="http://schemas.microsoft.com/office/drawing/2014/main" id="{BEF5160C-2BC7-EFDB-A85F-F241F021B9B1}"/>
              </a:ext>
            </a:extLst>
          </p:cNvPr>
          <p:cNvSpPr txBox="1"/>
          <p:nvPr/>
        </p:nvSpPr>
        <p:spPr>
          <a:xfrm>
            <a:off x="1016000" y="3517900"/>
            <a:ext cx="7620000" cy="261610"/>
          </a:xfrm>
          <a:prstGeom prst="rect">
            <a:avLst/>
          </a:prstGeom>
          <a:noFill/>
        </p:spPr>
        <p:txBody>
          <a:bodyPr vert="horz" wrap="square" rtlCol="0">
            <a:spAutoFit/>
          </a:bodyPr>
          <a:lstStyle/>
          <a:p>
            <a:r>
              <a:rPr lang="es-ES" sz="1100" dirty="0">
                <a:solidFill>
                  <a:srgbClr val="111827"/>
                </a:solidFill>
                <a:latin typeface="Segoe UI" panose="020B0502040204020203" pitchFamily="34" charset="0"/>
              </a:rPr>
              <a:t>Carga permisos del usuario (que empresas y módulos puede ver)</a:t>
            </a:r>
            <a:endParaRPr lang="es-MX" sz="1100" dirty="0">
              <a:solidFill>
                <a:srgbClr val="111827"/>
              </a:solidFill>
              <a:latin typeface="Segoe UI" panose="020B0502040204020203" pitchFamily="34" charset="0"/>
            </a:endParaRPr>
          </a:p>
        </p:txBody>
      </p:sp>
      <p:sp>
        <p:nvSpPr>
          <p:cNvPr id="18" name="Rectángulo 17">
            <a:extLst>
              <a:ext uri="{FF2B5EF4-FFF2-40B4-BE49-F238E27FC236}">
                <a16:creationId xmlns:a16="http://schemas.microsoft.com/office/drawing/2014/main" id="{433088B1-01D6-F3EA-AF4F-B674F0EE1D08}"/>
              </a:ext>
            </a:extLst>
          </p:cNvPr>
          <p:cNvSpPr/>
          <p:nvPr/>
        </p:nvSpPr>
        <p:spPr>
          <a:xfrm>
            <a:off x="508000" y="3937000"/>
            <a:ext cx="8128000" cy="19050"/>
          </a:xfrm>
          <a:prstGeom prst="rect">
            <a:avLst/>
          </a:prstGeom>
          <a:solidFill>
            <a:srgbClr val="E5E7E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dirty="0"/>
          </a:p>
        </p:txBody>
      </p:sp>
      <p:sp>
        <p:nvSpPr>
          <p:cNvPr id="19" name="CuadroTexto 18">
            <a:extLst>
              <a:ext uri="{FF2B5EF4-FFF2-40B4-BE49-F238E27FC236}">
                <a16:creationId xmlns:a16="http://schemas.microsoft.com/office/drawing/2014/main" id="{170D3C41-97C5-7AF4-F696-CDD21F8C53A6}"/>
              </a:ext>
            </a:extLst>
          </p:cNvPr>
          <p:cNvSpPr txBox="1"/>
          <p:nvPr/>
        </p:nvSpPr>
        <p:spPr>
          <a:xfrm>
            <a:off x="508000" y="4025900"/>
            <a:ext cx="8128000" cy="430887"/>
          </a:xfrm>
          <a:prstGeom prst="rect">
            <a:avLst/>
          </a:prstGeom>
          <a:noFill/>
        </p:spPr>
        <p:txBody>
          <a:bodyPr vert="horz" wrap="square" rtlCol="0">
            <a:spAutoFit/>
          </a:bodyPr>
          <a:lstStyle/>
          <a:p>
            <a:r>
              <a:rPr lang="es-ES" sz="1100" dirty="0">
                <a:solidFill>
                  <a:srgbClr val="111827"/>
                </a:solidFill>
                <a:latin typeface="Segoe UI" panose="020B0502040204020203" pitchFamily="34" charset="0"/>
              </a:rPr>
              <a:t>RESULTADO: El usuario entra al sistema con sus permisos cargados.
ARCHIVOS: src/routes/auth.js (login/logout)  |  src/middleware/auth.js (verificar sesión)</a:t>
            </a:r>
            <a:endParaRPr lang="es-MX" sz="1100" dirty="0">
              <a:solidFill>
                <a:srgbClr val="111827"/>
              </a:solidFill>
              <a:latin typeface="Segoe UI" panose="020B0502040204020203" pitchFamily="34" charset="0"/>
            </a:endParaRPr>
          </a:p>
        </p:txBody>
      </p:sp>
    </p:spTree>
    <p:extLst>
      <p:ext uri="{BB962C8B-B14F-4D97-AF65-F5344CB8AC3E}">
        <p14:creationId xmlns:p14="http://schemas.microsoft.com/office/powerpoint/2010/main" val="36899596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9E89EDA4-FC9A-1FC1-C26E-D87C0B769226}"/>
              </a:ext>
            </a:extLst>
          </p:cNvPr>
          <p:cNvSpPr/>
          <p:nvPr/>
        </p:nvSpPr>
        <p:spPr>
          <a:xfrm>
            <a:off x="0" y="0"/>
            <a:ext cx="9144000" cy="711200"/>
          </a:xfrm>
          <a:prstGeom prst="rect">
            <a:avLst/>
          </a:prstGeom>
          <a:solidFill>
            <a:srgbClr val="0D47A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254000" tIns="101600" rtlCol="0" anchor="ctr"/>
          <a:lstStyle/>
          <a:p>
            <a:pPr algn="ctr"/>
            <a:r>
              <a:rPr lang="es-MX" sz="2400" b="1" dirty="0">
                <a:solidFill>
                  <a:srgbClr val="FFFFFF"/>
                </a:solidFill>
                <a:latin typeface="Segoe UI" panose="020B0502040204020203" pitchFamily="34" charset="0"/>
              </a:rPr>
              <a:t>  Cookies y Sesiones</a:t>
            </a:r>
          </a:p>
        </p:txBody>
      </p:sp>
      <p:sp>
        <p:nvSpPr>
          <p:cNvPr id="3" name="CuadroTexto 2">
            <a:extLst>
              <a:ext uri="{FF2B5EF4-FFF2-40B4-BE49-F238E27FC236}">
                <a16:creationId xmlns:a16="http://schemas.microsoft.com/office/drawing/2014/main" id="{C3990FC2-3174-21D6-D1E4-BAF57E227083}"/>
              </a:ext>
            </a:extLst>
          </p:cNvPr>
          <p:cNvSpPr txBox="1"/>
          <p:nvPr/>
        </p:nvSpPr>
        <p:spPr>
          <a:xfrm>
            <a:off x="508000" y="863600"/>
            <a:ext cx="8128000" cy="492443"/>
          </a:xfrm>
          <a:prstGeom prst="rect">
            <a:avLst/>
          </a:prstGeom>
          <a:noFill/>
        </p:spPr>
        <p:txBody>
          <a:bodyPr vert="horz" wrap="square" rtlCol="0">
            <a:spAutoFit/>
          </a:bodyPr>
          <a:lstStyle/>
          <a:p>
            <a:r>
              <a:rPr lang="es-ES" sz="1300" dirty="0">
                <a:solidFill>
                  <a:srgbClr val="111827"/>
                </a:solidFill>
                <a:latin typeface="Segoe UI" panose="020B0502040204020203" pitchFamily="34" charset="0"/>
              </a:rPr>
              <a:t>Una cookie es un dato que el servidor manda al navegador.
Es como una PULSERA de acceso: la muestras cada vez que haces una petición.</a:t>
            </a:r>
            <a:endParaRPr lang="es-MX" sz="1300" dirty="0">
              <a:solidFill>
                <a:srgbClr val="111827"/>
              </a:solidFill>
              <a:latin typeface="Segoe UI" panose="020B0502040204020203" pitchFamily="34" charset="0"/>
            </a:endParaRPr>
          </a:p>
        </p:txBody>
      </p:sp>
      <p:sp>
        <p:nvSpPr>
          <p:cNvPr id="4" name="Rectángulo 3">
            <a:extLst>
              <a:ext uri="{FF2B5EF4-FFF2-40B4-BE49-F238E27FC236}">
                <a16:creationId xmlns:a16="http://schemas.microsoft.com/office/drawing/2014/main" id="{40B72355-D5BE-4577-6033-900E8F200CD4}"/>
              </a:ext>
            </a:extLst>
          </p:cNvPr>
          <p:cNvSpPr/>
          <p:nvPr/>
        </p:nvSpPr>
        <p:spPr>
          <a:xfrm>
            <a:off x="508000" y="1460500"/>
            <a:ext cx="8128000" cy="1905000"/>
          </a:xfrm>
          <a:prstGeom prst="rect">
            <a:avLst/>
          </a:prstGeom>
          <a:solidFill>
            <a:srgbClr val="F3F4F6"/>
          </a:solidFill>
          <a:ln>
            <a:solidFill>
              <a:srgbClr val="E5E7EB"/>
            </a:solidFill>
          </a:ln>
        </p:spPr>
        <p:style>
          <a:lnRef idx="2">
            <a:schemeClr val="accent1">
              <a:shade val="15000"/>
            </a:schemeClr>
          </a:lnRef>
          <a:fillRef idx="1">
            <a:schemeClr val="accent1"/>
          </a:fillRef>
          <a:effectRef idx="0">
            <a:schemeClr val="accent1"/>
          </a:effectRef>
          <a:fontRef idx="minor">
            <a:schemeClr val="lt1"/>
          </a:fontRef>
        </p:style>
        <p:txBody>
          <a:bodyPr wrap="square" lIns="177800" tIns="127000" rIns="177800" rtlCol="0" anchor="ctr"/>
          <a:lstStyle/>
          <a:p>
            <a:r>
              <a:rPr lang="es-MX" sz="1100" dirty="0">
                <a:solidFill>
                  <a:srgbClr val="111827"/>
                </a:solidFill>
                <a:latin typeface="Consolas" panose="020B0609020204030204" pitchFamily="49" charset="0"/>
              </a:rPr>
              <a:t>Cookie de SummaCham:
  Nombre:   "panelamcham.sid"
  httpOnly:  true   (JavaScript del navegador NO puede leerla - protege contra ataques)
  secure:    true   (Solo funciona con HTTPS en producción)
  maxAge:    30 min (Si no haces nada en 30 min, se cierra la sesión)
  rolling:   true   (Se renueva con cada click, así no expira mientras trabajas)
Token JWT (va en el header de cada petición):
  Duración:  1 hora (access token)
  Refresh:   7 días (permite renovar el access token sin re-login)
  Header:    Authorization: Bearer eyJhbGciOiJIUzI1NiIs...</a:t>
            </a:r>
          </a:p>
        </p:txBody>
      </p:sp>
      <p:sp>
        <p:nvSpPr>
          <p:cNvPr id="5" name="CuadroTexto 4">
            <a:extLst>
              <a:ext uri="{FF2B5EF4-FFF2-40B4-BE49-F238E27FC236}">
                <a16:creationId xmlns:a16="http://schemas.microsoft.com/office/drawing/2014/main" id="{1A4FC37E-9A47-D799-5F3D-21E146BA2C01}"/>
              </a:ext>
            </a:extLst>
          </p:cNvPr>
          <p:cNvSpPr txBox="1"/>
          <p:nvPr/>
        </p:nvSpPr>
        <p:spPr>
          <a:xfrm>
            <a:off x="508000" y="3556000"/>
            <a:ext cx="8128000" cy="1200329"/>
          </a:xfrm>
          <a:prstGeom prst="rect">
            <a:avLst/>
          </a:prstGeom>
          <a:noFill/>
        </p:spPr>
        <p:txBody>
          <a:bodyPr vert="horz" wrap="square" rtlCol="0">
            <a:spAutoFit/>
          </a:bodyPr>
          <a:lstStyle/>
          <a:p>
            <a:r>
              <a:rPr lang="es-ES" sz="1200" dirty="0">
                <a:solidFill>
                  <a:srgbClr val="111827"/>
                </a:solidFill>
                <a:latin typeface="Segoe UI" panose="020B0502040204020203" pitchFamily="34" charset="0"/>
              </a:rPr>
              <a:t>COMO SE MANTIENE LA SESIÓN:
  Login a las 09:00 -&gt; expira 09:30
  Click a las 09:15 -&gt; se extiende a 09:45 (rolling)
  Sin actividad 30 min -&gt; sesión cerrada, debe re-loguearse
DONDE SE GUARDA: En SQLite (tabla de sesiones), NO en memoria del servidor</a:t>
            </a:r>
            <a:endParaRPr lang="es-MX" sz="1200" dirty="0">
              <a:solidFill>
                <a:srgbClr val="111827"/>
              </a:solidFill>
              <a:latin typeface="Segoe UI" panose="020B0502040204020203" pitchFamily="34" charset="0"/>
            </a:endParaRPr>
          </a:p>
        </p:txBody>
      </p:sp>
    </p:spTree>
    <p:extLst>
      <p:ext uri="{BB962C8B-B14F-4D97-AF65-F5344CB8AC3E}">
        <p14:creationId xmlns:p14="http://schemas.microsoft.com/office/powerpoint/2010/main" val="31663988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76945116-A7CB-4290-B552-BFA940EA60C6}"/>
              </a:ext>
            </a:extLst>
          </p:cNvPr>
          <p:cNvSpPr/>
          <p:nvPr/>
        </p:nvSpPr>
        <p:spPr>
          <a:xfrm>
            <a:off x="0" y="0"/>
            <a:ext cx="9144000" cy="711200"/>
          </a:xfrm>
          <a:prstGeom prst="rect">
            <a:avLst/>
          </a:prstGeom>
          <a:solidFill>
            <a:srgbClr val="0D47A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254000" tIns="101600" rtlCol="0" anchor="ctr"/>
          <a:lstStyle/>
          <a:p>
            <a:pPr algn="ctr"/>
            <a:r>
              <a:rPr lang="es-MX" sz="2400" b="1" dirty="0">
                <a:solidFill>
                  <a:srgbClr val="FFFFFF"/>
                </a:solidFill>
                <a:latin typeface="Segoe UI" panose="020B0502040204020203" pitchFamily="34" charset="0"/>
              </a:rPr>
              <a:t>  Sistema de Permisos</a:t>
            </a:r>
          </a:p>
        </p:txBody>
      </p:sp>
      <p:sp>
        <p:nvSpPr>
          <p:cNvPr id="3" name="CuadroTexto 2">
            <a:extLst>
              <a:ext uri="{FF2B5EF4-FFF2-40B4-BE49-F238E27FC236}">
                <a16:creationId xmlns:a16="http://schemas.microsoft.com/office/drawing/2014/main" id="{B0A7FFBA-A705-76BF-4BCA-FFF0E37E9AAE}"/>
              </a:ext>
            </a:extLst>
          </p:cNvPr>
          <p:cNvSpPr txBox="1"/>
          <p:nvPr/>
        </p:nvSpPr>
        <p:spPr>
          <a:xfrm>
            <a:off x="508000" y="863600"/>
            <a:ext cx="8128000" cy="292388"/>
          </a:xfrm>
          <a:prstGeom prst="rect">
            <a:avLst/>
          </a:prstGeom>
          <a:noFill/>
        </p:spPr>
        <p:txBody>
          <a:bodyPr vert="horz" wrap="square" rtlCol="0">
            <a:spAutoFit/>
          </a:bodyPr>
          <a:lstStyle/>
          <a:p>
            <a:r>
              <a:rPr lang="es-ES" sz="1300" dirty="0">
                <a:solidFill>
                  <a:srgbClr val="111827"/>
                </a:solidFill>
                <a:latin typeface="Segoe UI" panose="020B0502040204020203" pitchFamily="34" charset="0"/>
              </a:rPr>
              <a:t>Cada usuario tiene permisos en 3 niveles:</a:t>
            </a:r>
            <a:endParaRPr lang="es-MX" sz="1300" dirty="0">
              <a:solidFill>
                <a:srgbClr val="111827"/>
              </a:solidFill>
              <a:latin typeface="Segoe UI" panose="020B0502040204020203" pitchFamily="34" charset="0"/>
            </a:endParaRPr>
          </a:p>
        </p:txBody>
      </p:sp>
      <p:sp>
        <p:nvSpPr>
          <p:cNvPr id="4" name="Rectángulo: esquinas redondeadas 3">
            <a:extLst>
              <a:ext uri="{FF2B5EF4-FFF2-40B4-BE49-F238E27FC236}">
                <a16:creationId xmlns:a16="http://schemas.microsoft.com/office/drawing/2014/main" id="{79843FD9-9CD2-743B-8622-9DCF4332AE94}"/>
              </a:ext>
            </a:extLst>
          </p:cNvPr>
          <p:cNvSpPr/>
          <p:nvPr/>
        </p:nvSpPr>
        <p:spPr>
          <a:xfrm>
            <a:off x="571500" y="1206500"/>
            <a:ext cx="8001000" cy="317500"/>
          </a:xfrm>
          <a:prstGeom prst="roundRect">
            <a:avLst/>
          </a:prstGeom>
          <a:solidFill>
            <a:srgbClr val="0D47A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200" b="1" dirty="0">
                <a:solidFill>
                  <a:srgbClr val="FFFFFF"/>
                </a:solidFill>
                <a:latin typeface="Segoe UI" panose="020B0502040204020203" pitchFamily="34" charset="0"/>
              </a:rPr>
              <a:t>NIVEL 1: USUARIO</a:t>
            </a:r>
          </a:p>
        </p:txBody>
      </p:sp>
      <p:sp>
        <p:nvSpPr>
          <p:cNvPr id="5" name="CuadroTexto 4">
            <a:extLst>
              <a:ext uri="{FF2B5EF4-FFF2-40B4-BE49-F238E27FC236}">
                <a16:creationId xmlns:a16="http://schemas.microsoft.com/office/drawing/2014/main" id="{4B09FC1D-E376-DA50-92F9-FA14031BEA43}"/>
              </a:ext>
            </a:extLst>
          </p:cNvPr>
          <p:cNvSpPr txBox="1"/>
          <p:nvPr/>
        </p:nvSpPr>
        <p:spPr>
          <a:xfrm>
            <a:off x="698500" y="1562100"/>
            <a:ext cx="7747000" cy="261610"/>
          </a:xfrm>
          <a:prstGeom prst="rect">
            <a:avLst/>
          </a:prstGeom>
          <a:noFill/>
        </p:spPr>
        <p:txBody>
          <a:bodyPr vert="horz" wrap="square" rtlCol="0">
            <a:spAutoFit/>
          </a:bodyPr>
          <a:lstStyle/>
          <a:p>
            <a:r>
              <a:rPr lang="es-ES" sz="1100" dirty="0">
                <a:solidFill>
                  <a:srgbClr val="111827"/>
                </a:solidFill>
                <a:latin typeface="Segoe UI" panose="020B0502040204020203" pitchFamily="34" charset="0"/>
              </a:rPr>
              <a:t>es_admin_global (acceso total) | puede_agregar | puede_modificar | puede_eliminar</a:t>
            </a:r>
            <a:endParaRPr lang="es-MX" sz="1100" dirty="0">
              <a:solidFill>
                <a:srgbClr val="111827"/>
              </a:solidFill>
              <a:latin typeface="Segoe UI" panose="020B0502040204020203" pitchFamily="34" charset="0"/>
            </a:endParaRPr>
          </a:p>
        </p:txBody>
      </p:sp>
      <p:sp>
        <p:nvSpPr>
          <p:cNvPr id="6" name="Rectángulo: esquinas redondeadas 5">
            <a:extLst>
              <a:ext uri="{FF2B5EF4-FFF2-40B4-BE49-F238E27FC236}">
                <a16:creationId xmlns:a16="http://schemas.microsoft.com/office/drawing/2014/main" id="{6CF633D6-6020-80E3-B22E-B020269E160F}"/>
              </a:ext>
            </a:extLst>
          </p:cNvPr>
          <p:cNvSpPr/>
          <p:nvPr/>
        </p:nvSpPr>
        <p:spPr>
          <a:xfrm>
            <a:off x="571500" y="1905000"/>
            <a:ext cx="8001000" cy="317500"/>
          </a:xfrm>
          <a:prstGeom prst="roundRect">
            <a:avLst/>
          </a:prstGeom>
          <a:solidFill>
            <a:srgbClr val="2ECC7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200" b="1" dirty="0">
                <a:solidFill>
                  <a:srgbClr val="FFFFFF"/>
                </a:solidFill>
                <a:latin typeface="Segoe UI" panose="020B0502040204020203" pitchFamily="34" charset="0"/>
              </a:rPr>
              <a:t>NIVEL 2: EMPRESA</a:t>
            </a:r>
          </a:p>
        </p:txBody>
      </p:sp>
      <p:sp>
        <p:nvSpPr>
          <p:cNvPr id="7" name="CuadroTexto 6">
            <a:extLst>
              <a:ext uri="{FF2B5EF4-FFF2-40B4-BE49-F238E27FC236}">
                <a16:creationId xmlns:a16="http://schemas.microsoft.com/office/drawing/2014/main" id="{2F69AD00-9EF8-950C-F0B2-B5CFAEB998E7}"/>
              </a:ext>
            </a:extLst>
          </p:cNvPr>
          <p:cNvSpPr txBox="1"/>
          <p:nvPr/>
        </p:nvSpPr>
        <p:spPr>
          <a:xfrm>
            <a:off x="698500" y="2260600"/>
            <a:ext cx="7747000" cy="261610"/>
          </a:xfrm>
          <a:prstGeom prst="rect">
            <a:avLst/>
          </a:prstGeom>
          <a:noFill/>
        </p:spPr>
        <p:txBody>
          <a:bodyPr vert="horz" wrap="square" rtlCol="0">
            <a:spAutoFit/>
          </a:bodyPr>
          <a:lstStyle/>
          <a:p>
            <a:r>
              <a:rPr lang="es-ES" sz="1100" dirty="0">
                <a:solidFill>
                  <a:srgbClr val="111827"/>
                </a:solidFill>
                <a:latin typeface="Segoe UI" panose="020B0502040204020203" pitchFamily="34" charset="0"/>
              </a:rPr>
              <a:t>Un usuario puede tener acceso a: empresa1 (CDMX), empresa2 (GDL), empresa3 (MTY), empresa4 (QRO)</a:t>
            </a:r>
            <a:endParaRPr lang="es-MX" sz="1100" dirty="0">
              <a:solidFill>
                <a:srgbClr val="111827"/>
              </a:solidFill>
              <a:latin typeface="Segoe UI" panose="020B0502040204020203" pitchFamily="34" charset="0"/>
            </a:endParaRPr>
          </a:p>
        </p:txBody>
      </p:sp>
      <p:sp>
        <p:nvSpPr>
          <p:cNvPr id="8" name="Rectángulo: esquinas redondeadas 7">
            <a:extLst>
              <a:ext uri="{FF2B5EF4-FFF2-40B4-BE49-F238E27FC236}">
                <a16:creationId xmlns:a16="http://schemas.microsoft.com/office/drawing/2014/main" id="{E6511A16-AE7D-DBAA-E6C9-AD6C2C1EE2E6}"/>
              </a:ext>
            </a:extLst>
          </p:cNvPr>
          <p:cNvSpPr/>
          <p:nvPr/>
        </p:nvSpPr>
        <p:spPr>
          <a:xfrm>
            <a:off x="571500" y="2603500"/>
            <a:ext cx="8001000" cy="317500"/>
          </a:xfrm>
          <a:prstGeom prst="roundRect">
            <a:avLst/>
          </a:prstGeom>
          <a:solidFill>
            <a:srgbClr val="E67E2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200" b="1" dirty="0">
                <a:solidFill>
                  <a:srgbClr val="FFFFFF"/>
                </a:solidFill>
                <a:latin typeface="Segoe UI" panose="020B0502040204020203" pitchFamily="34" charset="0"/>
              </a:rPr>
              <a:t>NIVEL 3: MODULO + ACCION</a:t>
            </a:r>
          </a:p>
        </p:txBody>
      </p:sp>
      <p:sp>
        <p:nvSpPr>
          <p:cNvPr id="9" name="Rectángulo 8">
            <a:extLst>
              <a:ext uri="{FF2B5EF4-FFF2-40B4-BE49-F238E27FC236}">
                <a16:creationId xmlns:a16="http://schemas.microsoft.com/office/drawing/2014/main" id="{0EAB2CAF-2AFD-243D-3654-5B4C4C23760D}"/>
              </a:ext>
            </a:extLst>
          </p:cNvPr>
          <p:cNvSpPr/>
          <p:nvPr/>
        </p:nvSpPr>
        <p:spPr>
          <a:xfrm>
            <a:off x="508000" y="2984500"/>
            <a:ext cx="8128000" cy="1778000"/>
          </a:xfrm>
          <a:prstGeom prst="rect">
            <a:avLst/>
          </a:prstGeom>
          <a:solidFill>
            <a:srgbClr val="F3F4F6"/>
          </a:solidFill>
          <a:ln>
            <a:solidFill>
              <a:srgbClr val="E5E7EB"/>
            </a:solidFill>
          </a:ln>
        </p:spPr>
        <p:style>
          <a:lnRef idx="2">
            <a:schemeClr val="accent1">
              <a:shade val="15000"/>
            </a:schemeClr>
          </a:lnRef>
          <a:fillRef idx="1">
            <a:schemeClr val="accent1"/>
          </a:fillRef>
          <a:effectRef idx="0">
            <a:schemeClr val="accent1"/>
          </a:effectRef>
          <a:fontRef idx="minor">
            <a:schemeClr val="lt1"/>
          </a:fontRef>
        </p:style>
        <p:txBody>
          <a:bodyPr wrap="square" lIns="177800" tIns="127000" rIns="177800" rtlCol="0" anchor="ctr"/>
          <a:lstStyle/>
          <a:p>
            <a:r>
              <a:rPr lang="es-MX" sz="1100" dirty="0">
                <a:solidFill>
                  <a:srgbClr val="111827"/>
                </a:solidFill>
                <a:latin typeface="Consolas" panose="020B0609020204030204" pitchFamily="49" charset="0"/>
              </a:rPr>
              <a:t>Ejemplo: Juan Pérez en empresa1 (CDMX):
  Modulo       | Ver | Cargar | Revisar | Aprobar
  -------------|-----|--------|---------|--------
  RH           | SI  |   SI   |   NO    |   NO     (puede ver y cargar datos)
  Finanzas     | SI  |   NO   |   SI    |   NO     (puede ver y revisar)
  RESUMEN      | SI  |   NO   |   NO    |   NO     (solo lectura)
Tabla SQLite: permisos_modulo  (usuario_id + empresa_id + módulo + permisos)</a:t>
            </a:r>
          </a:p>
        </p:txBody>
      </p:sp>
      <p:sp>
        <p:nvSpPr>
          <p:cNvPr id="10" name="CuadroTexto 9">
            <a:extLst>
              <a:ext uri="{FF2B5EF4-FFF2-40B4-BE49-F238E27FC236}">
                <a16:creationId xmlns:a16="http://schemas.microsoft.com/office/drawing/2014/main" id="{516C27CA-FB57-FA8A-10D9-D61E2108D802}"/>
              </a:ext>
            </a:extLst>
          </p:cNvPr>
          <p:cNvSpPr txBox="1"/>
          <p:nvPr/>
        </p:nvSpPr>
        <p:spPr>
          <a:xfrm>
            <a:off x="508000" y="4889500"/>
            <a:ext cx="8128000" cy="430887"/>
          </a:xfrm>
          <a:prstGeom prst="rect">
            <a:avLst/>
          </a:prstGeom>
          <a:noFill/>
        </p:spPr>
        <p:txBody>
          <a:bodyPr vert="horz" wrap="square" rtlCol="0">
            <a:spAutoFit/>
          </a:bodyPr>
          <a:lstStyle/>
          <a:p>
            <a:r>
              <a:rPr lang="es-ES" sz="1100" dirty="0">
                <a:solidFill>
                  <a:srgbClr val="111827"/>
                </a:solidFill>
                <a:latin typeface="Segoe UI" panose="020B0502040204020203" pitchFamily="34" charset="0"/>
              </a:rPr>
              <a:t>ADMIN GLOBAL: Salta todas las verificaciones, puede hacer todo en todo.
VERIFICACION: Cada petición al servidor se valida con requireAuth + tienePermisoModulo()</a:t>
            </a:r>
            <a:endParaRPr lang="es-MX" sz="1100" dirty="0">
              <a:solidFill>
                <a:srgbClr val="111827"/>
              </a:solidFill>
              <a:latin typeface="Segoe UI" panose="020B0502040204020203" pitchFamily="34" charset="0"/>
            </a:endParaRPr>
          </a:p>
        </p:txBody>
      </p:sp>
    </p:spTree>
    <p:extLst>
      <p:ext uri="{BB962C8B-B14F-4D97-AF65-F5344CB8AC3E}">
        <p14:creationId xmlns:p14="http://schemas.microsoft.com/office/powerpoint/2010/main" val="4881211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1487C1C1-174B-4129-5EAD-D5CB0280AB99}"/>
              </a:ext>
            </a:extLst>
          </p:cNvPr>
          <p:cNvSpPr/>
          <p:nvPr/>
        </p:nvSpPr>
        <p:spPr>
          <a:xfrm>
            <a:off x="0" y="0"/>
            <a:ext cx="9144000" cy="711200"/>
          </a:xfrm>
          <a:prstGeom prst="rect">
            <a:avLst/>
          </a:prstGeom>
          <a:solidFill>
            <a:srgbClr val="0D47A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254000" tIns="101600" rtlCol="0" anchor="ctr"/>
          <a:lstStyle/>
          <a:p>
            <a:pPr algn="ctr"/>
            <a:r>
              <a:rPr lang="es-ES" sz="2400" b="1" dirty="0">
                <a:solidFill>
                  <a:srgbClr val="FFFFFF"/>
                </a:solidFill>
                <a:latin typeface="Segoe UI" panose="020B0502040204020203" pitchFamily="34" charset="0"/>
              </a:rPr>
              <a:t>  PARTE 3: Que es una API?</a:t>
            </a:r>
            <a:endParaRPr lang="es-MX" sz="2400" b="1" dirty="0">
              <a:solidFill>
                <a:srgbClr val="FFFFFF"/>
              </a:solidFill>
              <a:latin typeface="Segoe UI" panose="020B0502040204020203" pitchFamily="34" charset="0"/>
            </a:endParaRPr>
          </a:p>
        </p:txBody>
      </p:sp>
      <p:sp>
        <p:nvSpPr>
          <p:cNvPr id="3" name="CuadroTexto 2">
            <a:extLst>
              <a:ext uri="{FF2B5EF4-FFF2-40B4-BE49-F238E27FC236}">
                <a16:creationId xmlns:a16="http://schemas.microsoft.com/office/drawing/2014/main" id="{CE9965A8-BEEE-F7BA-98FD-A55DD6B80163}"/>
              </a:ext>
            </a:extLst>
          </p:cNvPr>
          <p:cNvSpPr txBox="1"/>
          <p:nvPr/>
        </p:nvSpPr>
        <p:spPr>
          <a:xfrm>
            <a:off x="508000" y="863600"/>
            <a:ext cx="8128000" cy="308418"/>
          </a:xfrm>
          <a:prstGeom prst="rect">
            <a:avLst/>
          </a:prstGeom>
          <a:noFill/>
        </p:spPr>
        <p:txBody>
          <a:bodyPr vert="horz" wrap="square" rtlCol="0">
            <a:spAutoFit/>
          </a:bodyPr>
          <a:lstStyle/>
          <a:p>
            <a:r>
              <a:rPr lang="es-ES" sz="1400" dirty="0">
                <a:solidFill>
                  <a:srgbClr val="111827"/>
                </a:solidFill>
                <a:latin typeface="Segoe UI" panose="020B0502040204020203" pitchFamily="34" charset="0"/>
              </a:rPr>
              <a:t>API = el MENSAJERO entre lo que ves en pantalla y donde están los datos.</a:t>
            </a:r>
            <a:endParaRPr lang="es-MX" sz="1400" dirty="0">
              <a:solidFill>
                <a:srgbClr val="111827"/>
              </a:solidFill>
              <a:latin typeface="Segoe UI" panose="020B0502040204020203" pitchFamily="34" charset="0"/>
            </a:endParaRPr>
          </a:p>
        </p:txBody>
      </p:sp>
      <p:sp>
        <p:nvSpPr>
          <p:cNvPr id="4" name="Rectángulo: esquinas redondeadas 3">
            <a:extLst>
              <a:ext uri="{FF2B5EF4-FFF2-40B4-BE49-F238E27FC236}">
                <a16:creationId xmlns:a16="http://schemas.microsoft.com/office/drawing/2014/main" id="{B3C24244-41CE-3AC7-FE95-577EBBA8BD10}"/>
              </a:ext>
            </a:extLst>
          </p:cNvPr>
          <p:cNvSpPr/>
          <p:nvPr/>
        </p:nvSpPr>
        <p:spPr>
          <a:xfrm>
            <a:off x="340360" y="1270000"/>
            <a:ext cx="1651000" cy="635000"/>
          </a:xfrm>
          <a:prstGeom prst="roundRect">
            <a:avLst/>
          </a:prstGeom>
          <a:solidFill>
            <a:srgbClr val="2980B9"/>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200" b="1" dirty="0">
                <a:solidFill>
                  <a:srgbClr val="FFFFFF"/>
                </a:solidFill>
                <a:latin typeface="Segoe UI" panose="020B0502040204020203" pitchFamily="34" charset="0"/>
              </a:rPr>
              <a:t>TU
(navegador)</a:t>
            </a:r>
          </a:p>
        </p:txBody>
      </p:sp>
      <p:sp>
        <p:nvSpPr>
          <p:cNvPr id="5" name="Cilindro 4">
            <a:extLst>
              <a:ext uri="{FF2B5EF4-FFF2-40B4-BE49-F238E27FC236}">
                <a16:creationId xmlns:a16="http://schemas.microsoft.com/office/drawing/2014/main" id="{BBC68918-5198-09C2-8F5E-6683F56A0C47}"/>
              </a:ext>
            </a:extLst>
          </p:cNvPr>
          <p:cNvSpPr/>
          <p:nvPr/>
        </p:nvSpPr>
        <p:spPr>
          <a:xfrm>
            <a:off x="2080260" y="1460500"/>
            <a:ext cx="457200" cy="228600"/>
          </a:xfrm>
          <a:prstGeom prst="can">
            <a:avLst/>
          </a:prstGeom>
          <a:solidFill>
            <a:srgbClr val="0D47A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dirty="0"/>
          </a:p>
        </p:txBody>
      </p:sp>
      <p:sp>
        <p:nvSpPr>
          <p:cNvPr id="6" name="Rectángulo: esquinas redondeadas 5">
            <a:extLst>
              <a:ext uri="{FF2B5EF4-FFF2-40B4-BE49-F238E27FC236}">
                <a16:creationId xmlns:a16="http://schemas.microsoft.com/office/drawing/2014/main" id="{1ABA9E38-468F-4FFE-C637-061AAABB15E8}"/>
              </a:ext>
            </a:extLst>
          </p:cNvPr>
          <p:cNvSpPr/>
          <p:nvPr/>
        </p:nvSpPr>
        <p:spPr>
          <a:xfrm>
            <a:off x="2626360" y="1270000"/>
            <a:ext cx="1651000" cy="635000"/>
          </a:xfrm>
          <a:prstGeom prst="roundRect">
            <a:avLst/>
          </a:prstGeom>
          <a:solidFill>
            <a:srgbClr val="E67E2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200" b="1" dirty="0">
                <a:solidFill>
                  <a:srgbClr val="FFFFFF"/>
                </a:solidFill>
                <a:latin typeface="Segoe UI" panose="020B0502040204020203" pitchFamily="34" charset="0"/>
              </a:rPr>
              <a:t>API
(mensajero)</a:t>
            </a:r>
          </a:p>
        </p:txBody>
      </p:sp>
      <p:sp>
        <p:nvSpPr>
          <p:cNvPr id="7" name="Cilindro 6">
            <a:extLst>
              <a:ext uri="{FF2B5EF4-FFF2-40B4-BE49-F238E27FC236}">
                <a16:creationId xmlns:a16="http://schemas.microsoft.com/office/drawing/2014/main" id="{ACC1B6F2-F651-842B-608A-80F083339B3B}"/>
              </a:ext>
            </a:extLst>
          </p:cNvPr>
          <p:cNvSpPr/>
          <p:nvPr/>
        </p:nvSpPr>
        <p:spPr>
          <a:xfrm>
            <a:off x="4366260" y="1460500"/>
            <a:ext cx="457200" cy="228600"/>
          </a:xfrm>
          <a:prstGeom prst="can">
            <a:avLst/>
          </a:prstGeom>
          <a:solidFill>
            <a:srgbClr val="0D47A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dirty="0"/>
          </a:p>
        </p:txBody>
      </p:sp>
      <p:sp>
        <p:nvSpPr>
          <p:cNvPr id="8" name="Rectángulo: esquinas redondeadas 7">
            <a:extLst>
              <a:ext uri="{FF2B5EF4-FFF2-40B4-BE49-F238E27FC236}">
                <a16:creationId xmlns:a16="http://schemas.microsoft.com/office/drawing/2014/main" id="{4CDC8B55-8BFC-FF2F-08A9-4BC6ED3BF79A}"/>
              </a:ext>
            </a:extLst>
          </p:cNvPr>
          <p:cNvSpPr/>
          <p:nvPr/>
        </p:nvSpPr>
        <p:spPr>
          <a:xfrm>
            <a:off x="4912360" y="1270000"/>
            <a:ext cx="1651000" cy="635000"/>
          </a:xfrm>
          <a:prstGeom prst="roundRect">
            <a:avLst/>
          </a:prstGeom>
          <a:solidFill>
            <a:srgbClr val="2ECC7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200" b="1" dirty="0">
                <a:solidFill>
                  <a:srgbClr val="FFFFFF"/>
                </a:solidFill>
                <a:latin typeface="Segoe UI" panose="020B0502040204020203" pitchFamily="34" charset="0"/>
              </a:rPr>
              <a:t>SERVIDOR
(procesa)</a:t>
            </a:r>
          </a:p>
        </p:txBody>
      </p:sp>
      <p:sp>
        <p:nvSpPr>
          <p:cNvPr id="9" name="Cilindro 8">
            <a:extLst>
              <a:ext uri="{FF2B5EF4-FFF2-40B4-BE49-F238E27FC236}">
                <a16:creationId xmlns:a16="http://schemas.microsoft.com/office/drawing/2014/main" id="{89D4D5C2-06D3-6A89-2901-6474FF506CF8}"/>
              </a:ext>
            </a:extLst>
          </p:cNvPr>
          <p:cNvSpPr/>
          <p:nvPr/>
        </p:nvSpPr>
        <p:spPr>
          <a:xfrm>
            <a:off x="6652260" y="1460500"/>
            <a:ext cx="457200" cy="228600"/>
          </a:xfrm>
          <a:prstGeom prst="can">
            <a:avLst/>
          </a:prstGeom>
          <a:solidFill>
            <a:srgbClr val="0D47A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dirty="0"/>
          </a:p>
        </p:txBody>
      </p:sp>
      <p:sp>
        <p:nvSpPr>
          <p:cNvPr id="10" name="Rectángulo: esquinas redondeadas 9">
            <a:extLst>
              <a:ext uri="{FF2B5EF4-FFF2-40B4-BE49-F238E27FC236}">
                <a16:creationId xmlns:a16="http://schemas.microsoft.com/office/drawing/2014/main" id="{C63E0A76-C0A3-7B26-F330-AB5DC03F7C08}"/>
              </a:ext>
            </a:extLst>
          </p:cNvPr>
          <p:cNvSpPr/>
          <p:nvPr/>
        </p:nvSpPr>
        <p:spPr>
          <a:xfrm>
            <a:off x="7198360" y="1270000"/>
            <a:ext cx="1651000" cy="635000"/>
          </a:xfrm>
          <a:prstGeom prst="roundRect">
            <a:avLst/>
          </a:prstGeom>
          <a:solidFill>
            <a:srgbClr val="34495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200" b="1" dirty="0">
                <a:solidFill>
                  <a:srgbClr val="FFFFFF"/>
                </a:solidFill>
                <a:latin typeface="Segoe UI" panose="020B0502040204020203" pitchFamily="34" charset="0"/>
              </a:rPr>
              <a:t>BASE DE
DATOS</a:t>
            </a:r>
          </a:p>
        </p:txBody>
      </p:sp>
      <p:sp>
        <p:nvSpPr>
          <p:cNvPr id="11" name="CuadroTexto 10">
            <a:extLst>
              <a:ext uri="{FF2B5EF4-FFF2-40B4-BE49-F238E27FC236}">
                <a16:creationId xmlns:a16="http://schemas.microsoft.com/office/drawing/2014/main" id="{5FC1A0C4-FAC8-36C7-6887-A7CD4653CCC7}"/>
              </a:ext>
            </a:extLst>
          </p:cNvPr>
          <p:cNvSpPr txBox="1"/>
          <p:nvPr/>
        </p:nvSpPr>
        <p:spPr>
          <a:xfrm>
            <a:off x="508000" y="2095500"/>
            <a:ext cx="8128000" cy="3046988"/>
          </a:xfrm>
          <a:prstGeom prst="rect">
            <a:avLst/>
          </a:prstGeom>
          <a:noFill/>
        </p:spPr>
        <p:txBody>
          <a:bodyPr vert="horz" wrap="square" rtlCol="0">
            <a:spAutoFit/>
          </a:bodyPr>
          <a:lstStyle/>
          <a:p>
            <a:r>
              <a:rPr lang="es-ES" sz="1200" dirty="0">
                <a:solidFill>
                  <a:srgbClr val="111827"/>
                </a:solidFill>
                <a:latin typeface="Segoe UI" panose="020B0502040204020203" pitchFamily="34" charset="0"/>
              </a:rPr>
              <a:t>Como funciona en SummaCham:
1. Haces click en "RESUMEN" en la app
2. El frontend automáticamente envía esta petición HTTP:
     GET http://localhost:3005/api/reportes/resumen?empresaId=empresa1&amp;anio=2025&amp;mes=6
3. La petición viaja con tu cookie de sesión y token JWT
4. El servidor la recibe, verifica que tengas permiso, y busca los datos
5. Responde con un JSON (datos estructurados)
6. El frontend pinta la tabla con esos datos
CADA PETICION LLEVA:
  Cookie:      panelamcham.sid=abc123...  (identifica tu sesión)
  Header:      Authorization: Bearer eyJhbG...  (tu token JWT)
  Header:      X-Empresa-Activa: empresa1  (empresa seleccionada)</a:t>
            </a:r>
            <a:endParaRPr lang="es-MX" sz="1200" dirty="0">
              <a:solidFill>
                <a:srgbClr val="111827"/>
              </a:solidFill>
              <a:latin typeface="Segoe UI" panose="020B0502040204020203" pitchFamily="34" charset="0"/>
            </a:endParaRPr>
          </a:p>
        </p:txBody>
      </p:sp>
    </p:spTree>
    <p:extLst>
      <p:ext uri="{BB962C8B-B14F-4D97-AF65-F5344CB8AC3E}">
        <p14:creationId xmlns:p14="http://schemas.microsoft.com/office/powerpoint/2010/main" val="6119934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B35DAA71-BC88-29F1-69F8-D60984BAB94C}"/>
              </a:ext>
            </a:extLst>
          </p:cNvPr>
          <p:cNvSpPr/>
          <p:nvPr/>
        </p:nvSpPr>
        <p:spPr>
          <a:xfrm>
            <a:off x="0" y="0"/>
            <a:ext cx="9144000" cy="711200"/>
          </a:xfrm>
          <a:prstGeom prst="rect">
            <a:avLst/>
          </a:prstGeom>
          <a:solidFill>
            <a:srgbClr val="0D47A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254000" tIns="101600" rtlCol="0" anchor="ctr"/>
          <a:lstStyle/>
          <a:p>
            <a:pPr algn="ctr"/>
            <a:r>
              <a:rPr lang="es-ES" sz="2400" b="1" dirty="0">
                <a:solidFill>
                  <a:srgbClr val="FFFFFF"/>
                </a:solidFill>
                <a:latin typeface="Segoe UI" panose="020B0502040204020203" pitchFamily="34" charset="0"/>
              </a:rPr>
              <a:t>  Ejemplo real: Abrir el RESUMEN paso a paso</a:t>
            </a:r>
            <a:endParaRPr lang="es-MX" sz="2400" b="1" dirty="0">
              <a:solidFill>
                <a:srgbClr val="FFFFFF"/>
              </a:solidFill>
              <a:latin typeface="Segoe UI" panose="020B0502040204020203" pitchFamily="34" charset="0"/>
            </a:endParaRPr>
          </a:p>
        </p:txBody>
      </p:sp>
      <p:sp>
        <p:nvSpPr>
          <p:cNvPr id="3" name="Rectángulo: esquinas redondeadas 2">
            <a:extLst>
              <a:ext uri="{FF2B5EF4-FFF2-40B4-BE49-F238E27FC236}">
                <a16:creationId xmlns:a16="http://schemas.microsoft.com/office/drawing/2014/main" id="{1386324D-639A-2304-B78D-0FD778FC789E}"/>
              </a:ext>
            </a:extLst>
          </p:cNvPr>
          <p:cNvSpPr/>
          <p:nvPr/>
        </p:nvSpPr>
        <p:spPr>
          <a:xfrm>
            <a:off x="533400" y="863600"/>
            <a:ext cx="355600" cy="279400"/>
          </a:xfrm>
          <a:prstGeom prst="roundRect">
            <a:avLst/>
          </a:prstGeom>
          <a:solidFill>
            <a:srgbClr val="0D47A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100" b="1" dirty="0">
                <a:solidFill>
                  <a:srgbClr val="FFFFFF"/>
                </a:solidFill>
                <a:latin typeface="Segoe UI" panose="020B0502040204020203" pitchFamily="34" charset="0"/>
              </a:rPr>
              <a:t>1</a:t>
            </a:r>
          </a:p>
        </p:txBody>
      </p:sp>
      <p:sp>
        <p:nvSpPr>
          <p:cNvPr id="4" name="CuadroTexto 3">
            <a:extLst>
              <a:ext uri="{FF2B5EF4-FFF2-40B4-BE49-F238E27FC236}">
                <a16:creationId xmlns:a16="http://schemas.microsoft.com/office/drawing/2014/main" id="{AD3BF1A8-F1B1-0CB3-C34C-81C6B5D9A3A8}"/>
              </a:ext>
            </a:extLst>
          </p:cNvPr>
          <p:cNvSpPr txBox="1"/>
          <p:nvPr/>
        </p:nvSpPr>
        <p:spPr>
          <a:xfrm>
            <a:off x="990600" y="876300"/>
            <a:ext cx="7620000" cy="261610"/>
          </a:xfrm>
          <a:prstGeom prst="rect">
            <a:avLst/>
          </a:prstGeom>
          <a:noFill/>
        </p:spPr>
        <p:txBody>
          <a:bodyPr vert="horz" wrap="square" rtlCol="0">
            <a:spAutoFit/>
          </a:bodyPr>
          <a:lstStyle/>
          <a:p>
            <a:r>
              <a:rPr lang="es-ES" sz="1100" dirty="0">
                <a:solidFill>
                  <a:srgbClr val="111827"/>
                </a:solidFill>
                <a:latin typeface="Segoe UI" panose="020B0502040204020203" pitchFamily="34" charset="0"/>
              </a:rPr>
              <a:t>Abres RESUMEN.html en la app</a:t>
            </a:r>
            <a:endParaRPr lang="es-MX" sz="1100" dirty="0">
              <a:solidFill>
                <a:srgbClr val="111827"/>
              </a:solidFill>
              <a:latin typeface="Segoe UI" panose="020B0502040204020203" pitchFamily="34" charset="0"/>
            </a:endParaRPr>
          </a:p>
        </p:txBody>
      </p:sp>
      <p:sp>
        <p:nvSpPr>
          <p:cNvPr id="5" name="Rectángulo: esquinas redondeadas 4">
            <a:extLst>
              <a:ext uri="{FF2B5EF4-FFF2-40B4-BE49-F238E27FC236}">
                <a16:creationId xmlns:a16="http://schemas.microsoft.com/office/drawing/2014/main" id="{4E4BB831-EABF-2359-036D-D82E53E970B7}"/>
              </a:ext>
            </a:extLst>
          </p:cNvPr>
          <p:cNvSpPr/>
          <p:nvPr/>
        </p:nvSpPr>
        <p:spPr>
          <a:xfrm>
            <a:off x="533400" y="1206500"/>
            <a:ext cx="355600" cy="279400"/>
          </a:xfrm>
          <a:prstGeom prst="roundRect">
            <a:avLst/>
          </a:prstGeom>
          <a:solidFill>
            <a:srgbClr val="0D47A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100" b="1" dirty="0">
                <a:solidFill>
                  <a:srgbClr val="FFFFFF"/>
                </a:solidFill>
                <a:latin typeface="Segoe UI" panose="020B0502040204020203" pitchFamily="34" charset="0"/>
              </a:rPr>
              <a:t>2</a:t>
            </a:r>
          </a:p>
        </p:txBody>
      </p:sp>
      <p:sp>
        <p:nvSpPr>
          <p:cNvPr id="6" name="CuadroTexto 5">
            <a:extLst>
              <a:ext uri="{FF2B5EF4-FFF2-40B4-BE49-F238E27FC236}">
                <a16:creationId xmlns:a16="http://schemas.microsoft.com/office/drawing/2014/main" id="{C7D860E3-2B8A-F150-988A-3B1002089F4A}"/>
              </a:ext>
            </a:extLst>
          </p:cNvPr>
          <p:cNvSpPr txBox="1"/>
          <p:nvPr/>
        </p:nvSpPr>
        <p:spPr>
          <a:xfrm>
            <a:off x="990600" y="1219200"/>
            <a:ext cx="7620000" cy="261610"/>
          </a:xfrm>
          <a:prstGeom prst="rect">
            <a:avLst/>
          </a:prstGeom>
          <a:noFill/>
        </p:spPr>
        <p:txBody>
          <a:bodyPr vert="horz" wrap="square" rtlCol="0">
            <a:spAutoFit/>
          </a:bodyPr>
          <a:lstStyle/>
          <a:p>
            <a:r>
              <a:rPr lang="es-ES" sz="1100" dirty="0">
                <a:solidFill>
                  <a:srgbClr val="111827"/>
                </a:solidFill>
                <a:latin typeface="Segoe UI" panose="020B0502040204020203" pitchFamily="34" charset="0"/>
              </a:rPr>
              <a:t>resumen-view.js prepara la petición con empresa, año y mes</a:t>
            </a:r>
            <a:endParaRPr lang="es-MX" sz="1100" dirty="0">
              <a:solidFill>
                <a:srgbClr val="111827"/>
              </a:solidFill>
              <a:latin typeface="Segoe UI" panose="020B0502040204020203" pitchFamily="34" charset="0"/>
            </a:endParaRPr>
          </a:p>
        </p:txBody>
      </p:sp>
      <p:sp>
        <p:nvSpPr>
          <p:cNvPr id="7" name="Rectángulo: esquinas redondeadas 6">
            <a:extLst>
              <a:ext uri="{FF2B5EF4-FFF2-40B4-BE49-F238E27FC236}">
                <a16:creationId xmlns:a16="http://schemas.microsoft.com/office/drawing/2014/main" id="{8E8F84C9-8AF2-E848-9396-497B5D83539D}"/>
              </a:ext>
            </a:extLst>
          </p:cNvPr>
          <p:cNvSpPr/>
          <p:nvPr/>
        </p:nvSpPr>
        <p:spPr>
          <a:xfrm>
            <a:off x="533400" y="1549400"/>
            <a:ext cx="355600" cy="279400"/>
          </a:xfrm>
          <a:prstGeom prst="roundRect">
            <a:avLst/>
          </a:prstGeom>
          <a:solidFill>
            <a:srgbClr val="E67E2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100" b="1" dirty="0">
                <a:solidFill>
                  <a:srgbClr val="FFFFFF"/>
                </a:solidFill>
                <a:latin typeface="Segoe UI" panose="020B0502040204020203" pitchFamily="34" charset="0"/>
              </a:rPr>
              <a:t>3</a:t>
            </a:r>
          </a:p>
        </p:txBody>
      </p:sp>
      <p:sp>
        <p:nvSpPr>
          <p:cNvPr id="8" name="CuadroTexto 7">
            <a:extLst>
              <a:ext uri="{FF2B5EF4-FFF2-40B4-BE49-F238E27FC236}">
                <a16:creationId xmlns:a16="http://schemas.microsoft.com/office/drawing/2014/main" id="{245883EA-2F83-E645-9C37-9AB06DC27A5E}"/>
              </a:ext>
            </a:extLst>
          </p:cNvPr>
          <p:cNvSpPr txBox="1"/>
          <p:nvPr/>
        </p:nvSpPr>
        <p:spPr>
          <a:xfrm>
            <a:off x="990600" y="1562100"/>
            <a:ext cx="7620000" cy="261610"/>
          </a:xfrm>
          <a:prstGeom prst="rect">
            <a:avLst/>
          </a:prstGeom>
          <a:noFill/>
        </p:spPr>
        <p:txBody>
          <a:bodyPr vert="horz" wrap="square" rtlCol="0">
            <a:spAutoFit/>
          </a:bodyPr>
          <a:lstStyle/>
          <a:p>
            <a:r>
              <a:rPr lang="es-MX" sz="1100" dirty="0">
                <a:solidFill>
                  <a:srgbClr val="111827"/>
                </a:solidFill>
                <a:latin typeface="Segoe UI" panose="020B0502040204020203" pitchFamily="34" charset="0"/>
              </a:rPr>
              <a:t>Envía:  GET /api/reportes/resumen?empresaId=empresa1&amp;anio=2025&amp;mes=6</a:t>
            </a:r>
          </a:p>
        </p:txBody>
      </p:sp>
      <p:sp>
        <p:nvSpPr>
          <p:cNvPr id="9" name="Rectángulo: esquinas redondeadas 8">
            <a:extLst>
              <a:ext uri="{FF2B5EF4-FFF2-40B4-BE49-F238E27FC236}">
                <a16:creationId xmlns:a16="http://schemas.microsoft.com/office/drawing/2014/main" id="{FF53927A-E55E-7167-B23B-CD8BC511EEEE}"/>
              </a:ext>
            </a:extLst>
          </p:cNvPr>
          <p:cNvSpPr/>
          <p:nvPr/>
        </p:nvSpPr>
        <p:spPr>
          <a:xfrm>
            <a:off x="533400" y="1892300"/>
            <a:ext cx="355600" cy="279400"/>
          </a:xfrm>
          <a:prstGeom prst="roundRect">
            <a:avLst/>
          </a:prstGeom>
          <a:solidFill>
            <a:srgbClr val="E67E2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100" b="1" dirty="0">
                <a:solidFill>
                  <a:srgbClr val="FFFFFF"/>
                </a:solidFill>
                <a:latin typeface="Segoe UI" panose="020B0502040204020203" pitchFamily="34" charset="0"/>
              </a:rPr>
              <a:t>4</a:t>
            </a:r>
          </a:p>
        </p:txBody>
      </p:sp>
      <p:sp>
        <p:nvSpPr>
          <p:cNvPr id="10" name="CuadroTexto 9">
            <a:extLst>
              <a:ext uri="{FF2B5EF4-FFF2-40B4-BE49-F238E27FC236}">
                <a16:creationId xmlns:a16="http://schemas.microsoft.com/office/drawing/2014/main" id="{EEF3B03F-C9D8-3352-B961-4D59D4D2517C}"/>
              </a:ext>
            </a:extLst>
          </p:cNvPr>
          <p:cNvSpPr txBox="1"/>
          <p:nvPr/>
        </p:nvSpPr>
        <p:spPr>
          <a:xfrm>
            <a:off x="990600" y="1905000"/>
            <a:ext cx="7620000" cy="261610"/>
          </a:xfrm>
          <a:prstGeom prst="rect">
            <a:avLst/>
          </a:prstGeom>
          <a:noFill/>
        </p:spPr>
        <p:txBody>
          <a:bodyPr vert="horz" wrap="square" rtlCol="0">
            <a:spAutoFit/>
          </a:bodyPr>
          <a:lstStyle/>
          <a:p>
            <a:r>
              <a:rPr lang="es-MX" sz="1100" dirty="0">
                <a:solidFill>
                  <a:srgbClr val="111827"/>
                </a:solidFill>
                <a:latin typeface="Segoe UI" panose="020B0502040204020203" pitchFamily="34" charset="0"/>
              </a:rPr>
              <a:t>src/server.js dirige /api/reportes/* a src/routes/reportes.js</a:t>
            </a:r>
          </a:p>
        </p:txBody>
      </p:sp>
      <p:sp>
        <p:nvSpPr>
          <p:cNvPr id="11" name="Rectángulo: esquinas redondeadas 10">
            <a:extLst>
              <a:ext uri="{FF2B5EF4-FFF2-40B4-BE49-F238E27FC236}">
                <a16:creationId xmlns:a16="http://schemas.microsoft.com/office/drawing/2014/main" id="{B8CF3A2B-B429-70A2-09DD-8C5E55C38749}"/>
              </a:ext>
            </a:extLst>
          </p:cNvPr>
          <p:cNvSpPr/>
          <p:nvPr/>
        </p:nvSpPr>
        <p:spPr>
          <a:xfrm>
            <a:off x="533400" y="2235200"/>
            <a:ext cx="355600" cy="279400"/>
          </a:xfrm>
          <a:prstGeom prst="roundRect">
            <a:avLst/>
          </a:prstGeom>
          <a:solidFill>
            <a:srgbClr val="E74C3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100" b="1" dirty="0">
                <a:solidFill>
                  <a:srgbClr val="FFFFFF"/>
                </a:solidFill>
                <a:latin typeface="Segoe UI" panose="020B0502040204020203" pitchFamily="34" charset="0"/>
              </a:rPr>
              <a:t>5</a:t>
            </a:r>
          </a:p>
        </p:txBody>
      </p:sp>
      <p:sp>
        <p:nvSpPr>
          <p:cNvPr id="12" name="CuadroTexto 11">
            <a:extLst>
              <a:ext uri="{FF2B5EF4-FFF2-40B4-BE49-F238E27FC236}">
                <a16:creationId xmlns:a16="http://schemas.microsoft.com/office/drawing/2014/main" id="{4CC84076-DECE-415D-1D8D-44CE3832FB9F}"/>
              </a:ext>
            </a:extLst>
          </p:cNvPr>
          <p:cNvSpPr txBox="1"/>
          <p:nvPr/>
        </p:nvSpPr>
        <p:spPr>
          <a:xfrm>
            <a:off x="990600" y="2247900"/>
            <a:ext cx="7620000" cy="261610"/>
          </a:xfrm>
          <a:prstGeom prst="rect">
            <a:avLst/>
          </a:prstGeom>
          <a:noFill/>
        </p:spPr>
        <p:txBody>
          <a:bodyPr vert="horz" wrap="square" rtlCol="0">
            <a:spAutoFit/>
          </a:bodyPr>
          <a:lstStyle/>
          <a:p>
            <a:r>
              <a:rPr lang="es-ES" sz="1100" dirty="0">
                <a:solidFill>
                  <a:srgbClr val="111827"/>
                </a:solidFill>
                <a:latin typeface="Segoe UI" panose="020B0502040204020203" pitchFamily="34" charset="0"/>
              </a:rPr>
              <a:t>middleware/auth.js verifica tu cookie y JWT -&gt; carga tus permisos</a:t>
            </a:r>
            <a:endParaRPr lang="es-MX" sz="1100" dirty="0">
              <a:solidFill>
                <a:srgbClr val="111827"/>
              </a:solidFill>
              <a:latin typeface="Segoe UI" panose="020B0502040204020203" pitchFamily="34" charset="0"/>
            </a:endParaRPr>
          </a:p>
        </p:txBody>
      </p:sp>
      <p:sp>
        <p:nvSpPr>
          <p:cNvPr id="13" name="Rectángulo: esquinas redondeadas 12">
            <a:extLst>
              <a:ext uri="{FF2B5EF4-FFF2-40B4-BE49-F238E27FC236}">
                <a16:creationId xmlns:a16="http://schemas.microsoft.com/office/drawing/2014/main" id="{A4736F26-11B9-AEB1-22D4-CF987DBA0B00}"/>
              </a:ext>
            </a:extLst>
          </p:cNvPr>
          <p:cNvSpPr/>
          <p:nvPr/>
        </p:nvSpPr>
        <p:spPr>
          <a:xfrm>
            <a:off x="533400" y="2578100"/>
            <a:ext cx="355600" cy="279400"/>
          </a:xfrm>
          <a:prstGeom prst="roundRect">
            <a:avLst/>
          </a:prstGeom>
          <a:solidFill>
            <a:srgbClr val="2ECC7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100" b="1" dirty="0">
                <a:solidFill>
                  <a:srgbClr val="FFFFFF"/>
                </a:solidFill>
                <a:latin typeface="Segoe UI" panose="020B0502040204020203" pitchFamily="34" charset="0"/>
              </a:rPr>
              <a:t>6</a:t>
            </a:r>
          </a:p>
        </p:txBody>
      </p:sp>
      <p:sp>
        <p:nvSpPr>
          <p:cNvPr id="14" name="CuadroTexto 13">
            <a:extLst>
              <a:ext uri="{FF2B5EF4-FFF2-40B4-BE49-F238E27FC236}">
                <a16:creationId xmlns:a16="http://schemas.microsoft.com/office/drawing/2014/main" id="{6C40F109-ED50-01CD-FDD6-9A34BD7A6A5E}"/>
              </a:ext>
            </a:extLst>
          </p:cNvPr>
          <p:cNvSpPr txBox="1"/>
          <p:nvPr/>
        </p:nvSpPr>
        <p:spPr>
          <a:xfrm>
            <a:off x="990600" y="2590800"/>
            <a:ext cx="7620000" cy="261610"/>
          </a:xfrm>
          <a:prstGeom prst="rect">
            <a:avLst/>
          </a:prstGeom>
          <a:noFill/>
        </p:spPr>
        <p:txBody>
          <a:bodyPr vert="horz" wrap="square" rtlCol="0">
            <a:spAutoFit/>
          </a:bodyPr>
          <a:lstStyle/>
          <a:p>
            <a:r>
              <a:rPr lang="es-MX" sz="1100" dirty="0">
                <a:solidFill>
                  <a:srgbClr val="111827"/>
                </a:solidFill>
                <a:latin typeface="Segoe UI" panose="020B0502040204020203" pitchFamily="34" charset="0"/>
              </a:rPr>
              <a:t>reportes.js valida parámetros y llama a planeacionReportesEngine</a:t>
            </a:r>
          </a:p>
        </p:txBody>
      </p:sp>
      <p:sp>
        <p:nvSpPr>
          <p:cNvPr id="15" name="Rectángulo: esquinas redondeadas 14">
            <a:extLst>
              <a:ext uri="{FF2B5EF4-FFF2-40B4-BE49-F238E27FC236}">
                <a16:creationId xmlns:a16="http://schemas.microsoft.com/office/drawing/2014/main" id="{8C7358FD-B960-131D-595A-C7E87BC8D4BA}"/>
              </a:ext>
            </a:extLst>
          </p:cNvPr>
          <p:cNvSpPr/>
          <p:nvPr/>
        </p:nvSpPr>
        <p:spPr>
          <a:xfrm>
            <a:off x="533400" y="2921000"/>
            <a:ext cx="355600" cy="279400"/>
          </a:xfrm>
          <a:prstGeom prst="roundRect">
            <a:avLst/>
          </a:prstGeom>
          <a:solidFill>
            <a:srgbClr val="2ECC7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100" b="1" dirty="0">
                <a:solidFill>
                  <a:srgbClr val="FFFFFF"/>
                </a:solidFill>
                <a:latin typeface="Segoe UI" panose="020B0502040204020203" pitchFamily="34" charset="0"/>
              </a:rPr>
              <a:t>7</a:t>
            </a:r>
          </a:p>
        </p:txBody>
      </p:sp>
      <p:sp>
        <p:nvSpPr>
          <p:cNvPr id="16" name="CuadroTexto 15">
            <a:extLst>
              <a:ext uri="{FF2B5EF4-FFF2-40B4-BE49-F238E27FC236}">
                <a16:creationId xmlns:a16="http://schemas.microsoft.com/office/drawing/2014/main" id="{BF452CB8-0D3F-2CC6-A7D5-2D71DD40E1E3}"/>
              </a:ext>
            </a:extLst>
          </p:cNvPr>
          <p:cNvSpPr txBox="1"/>
          <p:nvPr/>
        </p:nvSpPr>
        <p:spPr>
          <a:xfrm>
            <a:off x="990600" y="2933700"/>
            <a:ext cx="7620000" cy="261610"/>
          </a:xfrm>
          <a:prstGeom prst="rect">
            <a:avLst/>
          </a:prstGeom>
          <a:noFill/>
        </p:spPr>
        <p:txBody>
          <a:bodyPr vert="horz" wrap="square" rtlCol="0">
            <a:spAutoFit/>
          </a:bodyPr>
          <a:lstStyle/>
          <a:p>
            <a:r>
              <a:rPr lang="es-ES" sz="1100" dirty="0">
                <a:solidFill>
                  <a:srgbClr val="111827"/>
                </a:solidFill>
                <a:latin typeface="Segoe UI" panose="020B0502040204020203" pitchFamily="34" charset="0"/>
              </a:rPr>
              <a:t>Engine carga layout de SQLite: que cuentas y operaciones tiene RESUMEN</a:t>
            </a:r>
            <a:endParaRPr lang="es-MX" sz="1100" dirty="0">
              <a:solidFill>
                <a:srgbClr val="111827"/>
              </a:solidFill>
              <a:latin typeface="Segoe UI" panose="020B0502040204020203" pitchFamily="34" charset="0"/>
            </a:endParaRPr>
          </a:p>
        </p:txBody>
      </p:sp>
      <p:sp>
        <p:nvSpPr>
          <p:cNvPr id="17" name="Rectángulo: esquinas redondeadas 16">
            <a:extLst>
              <a:ext uri="{FF2B5EF4-FFF2-40B4-BE49-F238E27FC236}">
                <a16:creationId xmlns:a16="http://schemas.microsoft.com/office/drawing/2014/main" id="{15474F8A-E4F9-983A-DF11-B441701977C6}"/>
              </a:ext>
            </a:extLst>
          </p:cNvPr>
          <p:cNvSpPr/>
          <p:nvPr/>
        </p:nvSpPr>
        <p:spPr>
          <a:xfrm>
            <a:off x="533400" y="3263900"/>
            <a:ext cx="355600" cy="279400"/>
          </a:xfrm>
          <a:prstGeom prst="roundRect">
            <a:avLst/>
          </a:prstGeom>
          <a:solidFill>
            <a:srgbClr val="00968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100" b="1" dirty="0">
                <a:solidFill>
                  <a:srgbClr val="FFFFFF"/>
                </a:solidFill>
                <a:latin typeface="Segoe UI" panose="020B0502040204020203" pitchFamily="34" charset="0"/>
              </a:rPr>
              <a:t>8</a:t>
            </a:r>
          </a:p>
        </p:txBody>
      </p:sp>
      <p:sp>
        <p:nvSpPr>
          <p:cNvPr id="18" name="CuadroTexto 17">
            <a:extLst>
              <a:ext uri="{FF2B5EF4-FFF2-40B4-BE49-F238E27FC236}">
                <a16:creationId xmlns:a16="http://schemas.microsoft.com/office/drawing/2014/main" id="{64C24884-E7FC-D015-14AE-C9C02A8786AF}"/>
              </a:ext>
            </a:extLst>
          </p:cNvPr>
          <p:cNvSpPr txBox="1"/>
          <p:nvPr/>
        </p:nvSpPr>
        <p:spPr>
          <a:xfrm>
            <a:off x="990600" y="3276600"/>
            <a:ext cx="7620000" cy="261610"/>
          </a:xfrm>
          <a:prstGeom prst="rect">
            <a:avLst/>
          </a:prstGeom>
          <a:noFill/>
        </p:spPr>
        <p:txBody>
          <a:bodyPr vert="horz" wrap="square" rtlCol="0">
            <a:spAutoFit/>
          </a:bodyPr>
          <a:lstStyle/>
          <a:p>
            <a:r>
              <a:rPr lang="es-ES" sz="1100" dirty="0">
                <a:solidFill>
                  <a:srgbClr val="111827"/>
                </a:solidFill>
                <a:latin typeface="Segoe UI" panose="020B0502040204020203" pitchFamily="34" charset="0"/>
              </a:rPr>
              <a:t>Engine consulta Firebird: saldos reales de SALDOS25 y presupuestos de PRESUP25</a:t>
            </a:r>
            <a:endParaRPr lang="es-MX" sz="1100" dirty="0">
              <a:solidFill>
                <a:srgbClr val="111827"/>
              </a:solidFill>
              <a:latin typeface="Segoe UI" panose="020B0502040204020203" pitchFamily="34" charset="0"/>
            </a:endParaRPr>
          </a:p>
        </p:txBody>
      </p:sp>
      <p:sp>
        <p:nvSpPr>
          <p:cNvPr id="19" name="Rectángulo: esquinas redondeadas 18">
            <a:extLst>
              <a:ext uri="{FF2B5EF4-FFF2-40B4-BE49-F238E27FC236}">
                <a16:creationId xmlns:a16="http://schemas.microsoft.com/office/drawing/2014/main" id="{BDC5D0DF-5B83-2800-2D99-76D15DF55ED7}"/>
              </a:ext>
            </a:extLst>
          </p:cNvPr>
          <p:cNvSpPr/>
          <p:nvPr/>
        </p:nvSpPr>
        <p:spPr>
          <a:xfrm>
            <a:off x="533400" y="3606800"/>
            <a:ext cx="355600" cy="279400"/>
          </a:xfrm>
          <a:prstGeom prst="roundRect">
            <a:avLst/>
          </a:prstGeom>
          <a:solidFill>
            <a:srgbClr val="00968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100" b="1" dirty="0">
                <a:solidFill>
                  <a:srgbClr val="FFFFFF"/>
                </a:solidFill>
                <a:latin typeface="Segoe UI" panose="020B0502040204020203" pitchFamily="34" charset="0"/>
              </a:rPr>
              <a:t>9</a:t>
            </a:r>
          </a:p>
        </p:txBody>
      </p:sp>
      <p:sp>
        <p:nvSpPr>
          <p:cNvPr id="20" name="CuadroTexto 19">
            <a:extLst>
              <a:ext uri="{FF2B5EF4-FFF2-40B4-BE49-F238E27FC236}">
                <a16:creationId xmlns:a16="http://schemas.microsoft.com/office/drawing/2014/main" id="{B58E2784-6958-B26A-6339-8FDD3BAB3EA6}"/>
              </a:ext>
            </a:extLst>
          </p:cNvPr>
          <p:cNvSpPr txBox="1"/>
          <p:nvPr/>
        </p:nvSpPr>
        <p:spPr>
          <a:xfrm>
            <a:off x="990600" y="3619500"/>
            <a:ext cx="7620000" cy="261610"/>
          </a:xfrm>
          <a:prstGeom prst="rect">
            <a:avLst/>
          </a:prstGeom>
          <a:noFill/>
        </p:spPr>
        <p:txBody>
          <a:bodyPr vert="horz" wrap="square" rtlCol="0">
            <a:spAutoFit/>
          </a:bodyPr>
          <a:lstStyle/>
          <a:p>
            <a:r>
              <a:rPr lang="es-ES" sz="1100" dirty="0">
                <a:solidFill>
                  <a:srgbClr val="111827"/>
                </a:solidFill>
                <a:latin typeface="Segoe UI" panose="020B0502040204020203" pitchFamily="34" charset="0"/>
              </a:rPr>
              <a:t>Engine calcula: Real, Presupuesto, Acumulados, Variaciones, Totales</a:t>
            </a:r>
            <a:endParaRPr lang="es-MX" sz="1100" dirty="0">
              <a:solidFill>
                <a:srgbClr val="111827"/>
              </a:solidFill>
              <a:latin typeface="Segoe UI" panose="020B0502040204020203" pitchFamily="34" charset="0"/>
            </a:endParaRPr>
          </a:p>
        </p:txBody>
      </p:sp>
      <p:sp>
        <p:nvSpPr>
          <p:cNvPr id="21" name="Rectángulo: esquinas redondeadas 20">
            <a:extLst>
              <a:ext uri="{FF2B5EF4-FFF2-40B4-BE49-F238E27FC236}">
                <a16:creationId xmlns:a16="http://schemas.microsoft.com/office/drawing/2014/main" id="{1D57670D-F259-83EF-924E-2E412A7523AA}"/>
              </a:ext>
            </a:extLst>
          </p:cNvPr>
          <p:cNvSpPr/>
          <p:nvPr/>
        </p:nvSpPr>
        <p:spPr>
          <a:xfrm>
            <a:off x="533400" y="3949700"/>
            <a:ext cx="355600" cy="279400"/>
          </a:xfrm>
          <a:prstGeom prst="roundRect">
            <a:avLst/>
          </a:prstGeom>
          <a:solidFill>
            <a:srgbClr val="34495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100" b="1" dirty="0">
                <a:solidFill>
                  <a:srgbClr val="FFFFFF"/>
                </a:solidFill>
                <a:latin typeface="Segoe UI" panose="020B0502040204020203" pitchFamily="34" charset="0"/>
              </a:rPr>
              <a:t>10</a:t>
            </a:r>
          </a:p>
        </p:txBody>
      </p:sp>
      <p:sp>
        <p:nvSpPr>
          <p:cNvPr id="22" name="CuadroTexto 21">
            <a:extLst>
              <a:ext uri="{FF2B5EF4-FFF2-40B4-BE49-F238E27FC236}">
                <a16:creationId xmlns:a16="http://schemas.microsoft.com/office/drawing/2014/main" id="{862D6B20-E5A6-7AF6-35AC-1E431F5D254A}"/>
              </a:ext>
            </a:extLst>
          </p:cNvPr>
          <p:cNvSpPr txBox="1"/>
          <p:nvPr/>
        </p:nvSpPr>
        <p:spPr>
          <a:xfrm>
            <a:off x="990600" y="3962400"/>
            <a:ext cx="7620000" cy="261610"/>
          </a:xfrm>
          <a:prstGeom prst="rect">
            <a:avLst/>
          </a:prstGeom>
          <a:noFill/>
        </p:spPr>
        <p:txBody>
          <a:bodyPr vert="horz" wrap="square" rtlCol="0">
            <a:spAutoFit/>
          </a:bodyPr>
          <a:lstStyle/>
          <a:p>
            <a:r>
              <a:rPr lang="es-ES" sz="1100" dirty="0">
                <a:solidFill>
                  <a:srgbClr val="111827"/>
                </a:solidFill>
                <a:latin typeface="Segoe UI" panose="020B0502040204020203" pitchFamily="34" charset="0"/>
              </a:rPr>
              <a:t>Servidor responde JSON -&gt; resumen-view.js pinta la tabla</a:t>
            </a:r>
            <a:endParaRPr lang="es-MX" sz="1100" dirty="0">
              <a:solidFill>
                <a:srgbClr val="111827"/>
              </a:solidFill>
              <a:latin typeface="Segoe UI" panose="020B0502040204020203" pitchFamily="34" charset="0"/>
            </a:endParaRPr>
          </a:p>
        </p:txBody>
      </p:sp>
      <p:sp>
        <p:nvSpPr>
          <p:cNvPr id="23" name="Rectángulo 22">
            <a:extLst>
              <a:ext uri="{FF2B5EF4-FFF2-40B4-BE49-F238E27FC236}">
                <a16:creationId xmlns:a16="http://schemas.microsoft.com/office/drawing/2014/main" id="{9C0F8DC3-41D4-E76A-27A1-CFAA5F1905EB}"/>
              </a:ext>
            </a:extLst>
          </p:cNvPr>
          <p:cNvSpPr/>
          <p:nvPr/>
        </p:nvSpPr>
        <p:spPr>
          <a:xfrm>
            <a:off x="508000" y="4330700"/>
            <a:ext cx="8128000" cy="19050"/>
          </a:xfrm>
          <a:prstGeom prst="rect">
            <a:avLst/>
          </a:prstGeom>
          <a:solidFill>
            <a:srgbClr val="E5E7E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dirty="0"/>
          </a:p>
        </p:txBody>
      </p:sp>
      <p:sp>
        <p:nvSpPr>
          <p:cNvPr id="24" name="CuadroTexto 23">
            <a:extLst>
              <a:ext uri="{FF2B5EF4-FFF2-40B4-BE49-F238E27FC236}">
                <a16:creationId xmlns:a16="http://schemas.microsoft.com/office/drawing/2014/main" id="{6AFAFCFE-2905-5338-8D59-63673E31CF00}"/>
              </a:ext>
            </a:extLst>
          </p:cNvPr>
          <p:cNvSpPr txBox="1"/>
          <p:nvPr/>
        </p:nvSpPr>
        <p:spPr>
          <a:xfrm>
            <a:off x="508000" y="4394200"/>
            <a:ext cx="8128000" cy="553998"/>
          </a:xfrm>
          <a:prstGeom prst="rect">
            <a:avLst/>
          </a:prstGeom>
          <a:noFill/>
        </p:spPr>
        <p:txBody>
          <a:bodyPr vert="horz" wrap="square" rtlCol="0">
            <a:spAutoFit/>
          </a:bodyPr>
          <a:lstStyle/>
          <a:p>
            <a:r>
              <a:rPr lang="es-MX" sz="1000" dirty="0">
                <a:solidFill>
                  <a:srgbClr val="111827"/>
                </a:solidFill>
                <a:latin typeface="Segoe UI" panose="020B0502040204020203" pitchFamily="34" charset="0"/>
              </a:rPr>
              <a:t>ARCHIVOS INVOLUCRADOS:
  Frontend: vistas/js/resumen-view.js  -&gt;  Backend: src/routes/reportes.js
  Motor: src/services/reportes/planeacionReportesEngine.js  -&gt;  Firebird: planeacionCuentasService.js</a:t>
            </a:r>
          </a:p>
        </p:txBody>
      </p:sp>
    </p:spTree>
    <p:extLst>
      <p:ext uri="{BB962C8B-B14F-4D97-AF65-F5344CB8AC3E}">
        <p14:creationId xmlns:p14="http://schemas.microsoft.com/office/powerpoint/2010/main" val="28167994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319616B1-6C83-BCAE-47EF-C5C2544983CF}"/>
              </a:ext>
            </a:extLst>
          </p:cNvPr>
          <p:cNvSpPr/>
          <p:nvPr/>
        </p:nvSpPr>
        <p:spPr>
          <a:xfrm>
            <a:off x="0" y="0"/>
            <a:ext cx="9144000" cy="711200"/>
          </a:xfrm>
          <a:prstGeom prst="rect">
            <a:avLst/>
          </a:prstGeom>
          <a:solidFill>
            <a:srgbClr val="0D47A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254000" tIns="101600" rtlCol="0" anchor="ctr"/>
          <a:lstStyle/>
          <a:p>
            <a:pPr algn="ctr"/>
            <a:r>
              <a:rPr lang="es-MX" sz="2400" b="1" dirty="0">
                <a:solidFill>
                  <a:srgbClr val="FFFFFF"/>
                </a:solidFill>
                <a:latin typeface="Segoe UI" panose="020B0502040204020203" pitchFamily="34" charset="0"/>
              </a:rPr>
              <a:t>  APIs reales: Autenticación (/api/auth)</a:t>
            </a:r>
          </a:p>
        </p:txBody>
      </p:sp>
      <p:sp>
        <p:nvSpPr>
          <p:cNvPr id="3" name="CuadroTexto 2">
            <a:extLst>
              <a:ext uri="{FF2B5EF4-FFF2-40B4-BE49-F238E27FC236}">
                <a16:creationId xmlns:a16="http://schemas.microsoft.com/office/drawing/2014/main" id="{171AEA26-2F52-BF34-69C6-BA8D708A322F}"/>
              </a:ext>
            </a:extLst>
          </p:cNvPr>
          <p:cNvSpPr txBox="1"/>
          <p:nvPr/>
        </p:nvSpPr>
        <p:spPr>
          <a:xfrm>
            <a:off x="508000" y="863600"/>
            <a:ext cx="8128000" cy="276999"/>
          </a:xfrm>
          <a:prstGeom prst="rect">
            <a:avLst/>
          </a:prstGeom>
          <a:noFill/>
        </p:spPr>
        <p:txBody>
          <a:bodyPr vert="horz" wrap="square" rtlCol="0">
            <a:spAutoFit/>
          </a:bodyPr>
          <a:lstStyle/>
          <a:p>
            <a:r>
              <a:rPr lang="es-ES" sz="1200" dirty="0">
                <a:solidFill>
                  <a:srgbClr val="111827"/>
                </a:solidFill>
                <a:latin typeface="Segoe UI" panose="020B0502040204020203" pitchFamily="34" charset="0"/>
              </a:rPr>
              <a:t>Estas son las rutas que manejan login, logout y renovación de sesión:</a:t>
            </a:r>
            <a:endParaRPr lang="es-MX" sz="1200" dirty="0">
              <a:solidFill>
                <a:srgbClr val="111827"/>
              </a:solidFill>
              <a:latin typeface="Segoe UI" panose="020B0502040204020203" pitchFamily="34" charset="0"/>
            </a:endParaRPr>
          </a:p>
        </p:txBody>
      </p:sp>
      <p:sp>
        <p:nvSpPr>
          <p:cNvPr id="4" name="Rectángulo 3">
            <a:extLst>
              <a:ext uri="{FF2B5EF4-FFF2-40B4-BE49-F238E27FC236}">
                <a16:creationId xmlns:a16="http://schemas.microsoft.com/office/drawing/2014/main" id="{A7134223-53DC-1364-1742-F64B51ECDD3E}"/>
              </a:ext>
            </a:extLst>
          </p:cNvPr>
          <p:cNvSpPr/>
          <p:nvPr/>
        </p:nvSpPr>
        <p:spPr>
          <a:xfrm>
            <a:off x="508000" y="1206500"/>
            <a:ext cx="8128000" cy="2857500"/>
          </a:xfrm>
          <a:prstGeom prst="rect">
            <a:avLst/>
          </a:prstGeom>
          <a:solidFill>
            <a:srgbClr val="F3F4F6"/>
          </a:solidFill>
          <a:ln>
            <a:solidFill>
              <a:srgbClr val="E5E7EB"/>
            </a:solidFill>
          </a:ln>
        </p:spPr>
        <p:style>
          <a:lnRef idx="2">
            <a:schemeClr val="accent1">
              <a:shade val="15000"/>
            </a:schemeClr>
          </a:lnRef>
          <a:fillRef idx="1">
            <a:schemeClr val="accent1"/>
          </a:fillRef>
          <a:effectRef idx="0">
            <a:schemeClr val="accent1"/>
          </a:effectRef>
          <a:fontRef idx="minor">
            <a:schemeClr val="lt1"/>
          </a:fontRef>
        </p:style>
        <p:txBody>
          <a:bodyPr wrap="square" lIns="177800" tIns="127000" rIns="177800" rtlCol="0" anchor="ctr"/>
          <a:lstStyle/>
          <a:p>
            <a:r>
              <a:rPr lang="es-MX" sz="1100" dirty="0">
                <a:solidFill>
                  <a:srgbClr val="111827"/>
                </a:solidFill>
                <a:latin typeface="Consolas" panose="020B0609020204030204" pitchFamily="49" charset="0"/>
              </a:rPr>
              <a:t>POST /api/auth/login
  Que hace: Iniciar sesión
  Envía:    { "usuario": "JPEREZ", "contraseña": "MiClave123" }
  Responde: { token: "eyJhbG...", refreshToken: "eyJhbG...",
              usuario: { id: 5, nombre: "Juan", esAdmin: false },
              permisos: { empresa1: { RH: {ver:true, cargar:true}, ... } } }
  Errores:  400 (datos inválidos) | 401 (credenciales incorrectas) | 429 (bloqueado)
POST /api/auth/refresh
  Que hace: Renovar el token sin re-login (cuando el access token expira)
  Envía:    { "refreshToken": "eyJhbG..." }
  Responde: { token: "nuevoToken...", refreshToken: "nuevoRefresh..." }
POST /api/auth/logout
  Que hace: Cerrar sesión (destruye cookie y sesión del servidor)
  Responde: { mensaje: "Sesión cerrada" }</a:t>
            </a:r>
          </a:p>
        </p:txBody>
      </p:sp>
      <p:sp>
        <p:nvSpPr>
          <p:cNvPr id="5" name="CuadroTexto 4">
            <a:extLst>
              <a:ext uri="{FF2B5EF4-FFF2-40B4-BE49-F238E27FC236}">
                <a16:creationId xmlns:a16="http://schemas.microsoft.com/office/drawing/2014/main" id="{0DCAB2E5-6633-A435-432C-92CE22E0B1B1}"/>
              </a:ext>
            </a:extLst>
          </p:cNvPr>
          <p:cNvSpPr txBox="1"/>
          <p:nvPr/>
        </p:nvSpPr>
        <p:spPr>
          <a:xfrm>
            <a:off x="508000" y="4064000"/>
            <a:ext cx="8128000" cy="430887"/>
          </a:xfrm>
          <a:prstGeom prst="rect">
            <a:avLst/>
          </a:prstGeom>
          <a:noFill/>
        </p:spPr>
        <p:txBody>
          <a:bodyPr vert="horz" wrap="square" rtlCol="0">
            <a:spAutoFit/>
          </a:bodyPr>
          <a:lstStyle/>
          <a:p>
            <a:r>
              <a:rPr lang="es-MX" sz="1100" dirty="0">
                <a:solidFill>
                  <a:srgbClr val="111827"/>
                </a:solidFill>
                <a:latin typeface="Segoe UI" panose="020B0502040204020203" pitchFamily="34" charset="0"/>
              </a:rPr>
              <a:t>ARCHIVO: src/routes/auth.js
PROTECCION: Rate limiting (10 intentos / 10 min, bloqueo 5 min)</a:t>
            </a:r>
          </a:p>
        </p:txBody>
      </p:sp>
    </p:spTree>
    <p:extLst>
      <p:ext uri="{BB962C8B-B14F-4D97-AF65-F5344CB8AC3E}">
        <p14:creationId xmlns:p14="http://schemas.microsoft.com/office/powerpoint/2010/main" val="15948940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FCC9BD1D-450E-1016-64C3-9AEB10FC79C1}"/>
              </a:ext>
            </a:extLst>
          </p:cNvPr>
          <p:cNvSpPr/>
          <p:nvPr/>
        </p:nvSpPr>
        <p:spPr>
          <a:xfrm>
            <a:off x="0" y="0"/>
            <a:ext cx="9144000" cy="711200"/>
          </a:xfrm>
          <a:prstGeom prst="rect">
            <a:avLst/>
          </a:prstGeom>
          <a:solidFill>
            <a:srgbClr val="0D47A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254000" tIns="101600" rtlCol="0" anchor="ctr"/>
          <a:lstStyle/>
          <a:p>
            <a:pPr algn="ctr"/>
            <a:r>
              <a:rPr lang="es-MX" sz="2400" b="1" dirty="0">
                <a:solidFill>
                  <a:srgbClr val="FFFFFF"/>
                </a:solidFill>
                <a:latin typeface="Segoe UI" panose="020B0502040204020203" pitchFamily="34" charset="0"/>
              </a:rPr>
              <a:t>  APIs reales: Reportes (/api/reportes)</a:t>
            </a:r>
          </a:p>
        </p:txBody>
      </p:sp>
      <p:sp>
        <p:nvSpPr>
          <p:cNvPr id="3" name="CuadroTexto 2">
            <a:extLst>
              <a:ext uri="{FF2B5EF4-FFF2-40B4-BE49-F238E27FC236}">
                <a16:creationId xmlns:a16="http://schemas.microsoft.com/office/drawing/2014/main" id="{1B6E6138-B1CB-C181-AF43-051C94066061}"/>
              </a:ext>
            </a:extLst>
          </p:cNvPr>
          <p:cNvSpPr txBox="1"/>
          <p:nvPr/>
        </p:nvSpPr>
        <p:spPr>
          <a:xfrm>
            <a:off x="508000" y="863600"/>
            <a:ext cx="8128000" cy="276999"/>
          </a:xfrm>
          <a:prstGeom prst="rect">
            <a:avLst/>
          </a:prstGeom>
          <a:noFill/>
        </p:spPr>
        <p:txBody>
          <a:bodyPr vert="horz" wrap="square" rtlCol="0">
            <a:spAutoFit/>
          </a:bodyPr>
          <a:lstStyle/>
          <a:p>
            <a:r>
              <a:rPr lang="es-ES" sz="1200" dirty="0">
                <a:solidFill>
                  <a:srgbClr val="111827"/>
                </a:solidFill>
                <a:latin typeface="Segoe UI" panose="020B0502040204020203" pitchFamily="34" charset="0"/>
              </a:rPr>
              <a:t>Estas rutas generan los reportes financieros:</a:t>
            </a:r>
            <a:endParaRPr lang="es-MX" sz="1200" dirty="0">
              <a:solidFill>
                <a:srgbClr val="111827"/>
              </a:solidFill>
              <a:latin typeface="Segoe UI" panose="020B0502040204020203" pitchFamily="34" charset="0"/>
            </a:endParaRPr>
          </a:p>
        </p:txBody>
      </p:sp>
      <p:sp>
        <p:nvSpPr>
          <p:cNvPr id="4" name="Rectángulo 3">
            <a:extLst>
              <a:ext uri="{FF2B5EF4-FFF2-40B4-BE49-F238E27FC236}">
                <a16:creationId xmlns:a16="http://schemas.microsoft.com/office/drawing/2014/main" id="{AADBDDA3-2D39-5DC2-50F8-DB6B29216D9B}"/>
              </a:ext>
            </a:extLst>
          </p:cNvPr>
          <p:cNvSpPr/>
          <p:nvPr/>
        </p:nvSpPr>
        <p:spPr>
          <a:xfrm>
            <a:off x="508000" y="1206500"/>
            <a:ext cx="8128000" cy="3075940"/>
          </a:xfrm>
          <a:prstGeom prst="rect">
            <a:avLst/>
          </a:prstGeom>
          <a:solidFill>
            <a:srgbClr val="F3F4F6"/>
          </a:solidFill>
          <a:ln>
            <a:solidFill>
              <a:srgbClr val="E5E7EB"/>
            </a:solidFill>
          </a:ln>
        </p:spPr>
        <p:style>
          <a:lnRef idx="2">
            <a:schemeClr val="accent1">
              <a:shade val="15000"/>
            </a:schemeClr>
          </a:lnRef>
          <a:fillRef idx="1">
            <a:schemeClr val="accent1"/>
          </a:fillRef>
          <a:effectRef idx="0">
            <a:schemeClr val="accent1"/>
          </a:effectRef>
          <a:fontRef idx="minor">
            <a:schemeClr val="lt1"/>
          </a:fontRef>
        </p:style>
        <p:txBody>
          <a:bodyPr wrap="square" lIns="177800" tIns="127000" rIns="177800" rtlCol="0" anchor="ctr"/>
          <a:lstStyle/>
          <a:p>
            <a:r>
              <a:rPr lang="es-MX" sz="1100" dirty="0">
                <a:solidFill>
                  <a:srgbClr val="111827"/>
                </a:solidFill>
                <a:latin typeface="Consolas" panose="020B0609020204030204" pitchFamily="49" charset="0"/>
              </a:rPr>
              <a:t>GET /api/reportes/summary?empresaId=empresa1&amp;anio=2025&amp;mes=6
  Que hace:  Genera el reporte SUMMARY (ingles) para empresa1, Jun 2025
  Responde:  { layout: [...], cuentas: [...], operaciones: [...], totales: {...} }
  Archivo:   src/routes/reportes.js -&gt; summaryEngine -&gt; planeacionReportesEngine
GET /api/reportes/resumen?empresaId=empresa1&amp;anio=2025&amp;mes=6
  Que hace:  Genera el reporte RESUMEN (español) para empresa1, Jun 2025
  Responde:  Misma estructura que summary pero con layout de RESUMEN
  Archivo:   src/routes/reportes.js -&gt; planeacionReportesEngine.generarReporte()
GET /api/reportes/diagnostico-firebird?empresaId=empresa1
  Que hace:  Prueba si la conexión a Firebird funciona para esa empresa
  Responde:  { conectado: true/false, mensaje: "...", tiempoMs: 45 }
POST /api/reportes/operativo-excel-native
  Que hace:  Importa datos desde un archivo Excel al modulo operativo
  Envía:     Archivo Excel (.xlsx) como binario</a:t>
            </a:r>
          </a:p>
        </p:txBody>
      </p:sp>
      <p:sp>
        <p:nvSpPr>
          <p:cNvPr id="5" name="CuadroTexto 4">
            <a:extLst>
              <a:ext uri="{FF2B5EF4-FFF2-40B4-BE49-F238E27FC236}">
                <a16:creationId xmlns:a16="http://schemas.microsoft.com/office/drawing/2014/main" id="{63FD1952-EE4D-F778-FA31-C64C80D175DA}"/>
              </a:ext>
            </a:extLst>
          </p:cNvPr>
          <p:cNvSpPr txBox="1"/>
          <p:nvPr/>
        </p:nvSpPr>
        <p:spPr>
          <a:xfrm>
            <a:off x="508000" y="4348341"/>
            <a:ext cx="8128000" cy="830997"/>
          </a:xfrm>
          <a:prstGeom prst="rect">
            <a:avLst/>
          </a:prstGeom>
          <a:noFill/>
        </p:spPr>
        <p:txBody>
          <a:bodyPr vert="horz" wrap="square" rtlCol="0">
            <a:spAutoFit/>
          </a:bodyPr>
          <a:lstStyle/>
          <a:p>
            <a:r>
              <a:rPr lang="es-MX" sz="1200" dirty="0">
                <a:solidFill>
                  <a:srgbClr val="111827"/>
                </a:solidFill>
                <a:latin typeface="Segoe UI" panose="020B0502040204020203" pitchFamily="34" charset="0"/>
              </a:rPr>
              <a:t>PARÁMETROS COMUNES:
  empresaId = empresa1, empresa2, empresa3, empresa4 (cual empresa)
  año = 2024, 2025, 2026 (que ano fiscal)
  mes = 1-12 (que mes quieres ver)</a:t>
            </a:r>
          </a:p>
        </p:txBody>
      </p:sp>
    </p:spTree>
    <p:extLst>
      <p:ext uri="{BB962C8B-B14F-4D97-AF65-F5344CB8AC3E}">
        <p14:creationId xmlns:p14="http://schemas.microsoft.com/office/powerpoint/2010/main" val="36185569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6AE3B1DC-99BE-E06B-0920-911197891790}"/>
              </a:ext>
            </a:extLst>
          </p:cNvPr>
          <p:cNvSpPr/>
          <p:nvPr/>
        </p:nvSpPr>
        <p:spPr>
          <a:xfrm>
            <a:off x="0" y="0"/>
            <a:ext cx="9144000" cy="711200"/>
          </a:xfrm>
          <a:prstGeom prst="rect">
            <a:avLst/>
          </a:prstGeom>
          <a:solidFill>
            <a:srgbClr val="0D47A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254000" tIns="101600" rtlCol="0" anchor="ctr"/>
          <a:lstStyle/>
          <a:p>
            <a:pPr algn="ctr"/>
            <a:r>
              <a:rPr lang="es-ES" sz="2400" b="1" dirty="0">
                <a:solidFill>
                  <a:srgbClr val="FFFFFF"/>
                </a:solidFill>
                <a:latin typeface="Segoe UI" panose="020B0502040204020203" pitchFamily="34" charset="0"/>
              </a:rPr>
              <a:t>  APIs reales: Presupuestos (/api/presupuestos)</a:t>
            </a:r>
            <a:endParaRPr lang="es-MX" sz="2400" b="1" dirty="0">
              <a:solidFill>
                <a:srgbClr val="FFFFFF"/>
              </a:solidFill>
              <a:latin typeface="Segoe UI" panose="020B0502040204020203" pitchFamily="34" charset="0"/>
            </a:endParaRPr>
          </a:p>
        </p:txBody>
      </p:sp>
      <p:sp>
        <p:nvSpPr>
          <p:cNvPr id="3" name="Rectángulo 2">
            <a:extLst>
              <a:ext uri="{FF2B5EF4-FFF2-40B4-BE49-F238E27FC236}">
                <a16:creationId xmlns:a16="http://schemas.microsoft.com/office/drawing/2014/main" id="{55C28100-6A99-8A6F-0EBB-859E8E403D0E}"/>
              </a:ext>
            </a:extLst>
          </p:cNvPr>
          <p:cNvSpPr/>
          <p:nvPr/>
        </p:nvSpPr>
        <p:spPr>
          <a:xfrm>
            <a:off x="508000" y="863600"/>
            <a:ext cx="8128000" cy="4318000"/>
          </a:xfrm>
          <a:prstGeom prst="rect">
            <a:avLst/>
          </a:prstGeom>
          <a:solidFill>
            <a:srgbClr val="F3F4F6"/>
          </a:solidFill>
          <a:ln>
            <a:solidFill>
              <a:srgbClr val="E5E7EB"/>
            </a:solidFill>
          </a:ln>
        </p:spPr>
        <p:style>
          <a:lnRef idx="2">
            <a:schemeClr val="accent1">
              <a:shade val="15000"/>
            </a:schemeClr>
          </a:lnRef>
          <a:fillRef idx="1">
            <a:schemeClr val="accent1"/>
          </a:fillRef>
          <a:effectRef idx="0">
            <a:schemeClr val="accent1"/>
          </a:effectRef>
          <a:fontRef idx="minor">
            <a:schemeClr val="lt1"/>
          </a:fontRef>
        </p:style>
        <p:txBody>
          <a:bodyPr wrap="square" lIns="177800" tIns="127000" rIns="177800" rtlCol="0" anchor="ctr"/>
          <a:lstStyle/>
          <a:p>
            <a:r>
              <a:rPr lang="es-ES" sz="1100" dirty="0">
                <a:solidFill>
                  <a:srgbClr val="111827"/>
                </a:solidFill>
                <a:latin typeface="Consolas" panose="020B0609020204030204" pitchFamily="49" charset="0"/>
              </a:rPr>
              <a:t>GET /api/presupuestos?empresaId=empresa1&amp;modulo=RH&amp;anio=2025&amp;capitulo=DEFAULT
  Que hace:  Trae los datos de presupuesto guardados para RH 2025
  Responde:  { datos: [...], estado: "cargado" }
GET /api/presupuestos/anios?empresaId=empresa1
  Que hace:  Lista los años disponibles en Firebird para esa empresa
  Responde:  { anios: [2023, 2024, 2025, 2026] }
GET /api/presupuestos/estado?empresaId=empresa1&amp;modulo=RH&amp;anio=2025
  Que hace:  Ver estado actual del presupuesto
  Responde:  { estado: "revisado", usuario: "JPEREZ", fecha: "2025-06-15" }
POST /api/presupuestos/estado
  Que hace:  Cambiar estado (ej: de "cargado" a "revisado")
  Envía:     { empresaId: "empresa1", modulo: "RH", anio: 2025,
               nuevoEstado: "revisado" }
POST /api/presupuestos/guardar
  Que hace:  Guardar datos de presupuesto oficialmente
  Envía:     { empresaId: "empresa1", modulo: "RH", anio: 2025,
               datos: [ { cuenta: "4100", ene: 100000, feb: 110000, ... } ] }
GET /api/presupuestos/totales-capitulo?empresaId=empresa1&amp;modulo=RH&amp;anio=2025
  Que hace:  Totales resumidos por capitulo (CDMX, GDL, MTY, QRO)</a:t>
            </a:r>
            <a:endParaRPr lang="es-MX" sz="1100" dirty="0">
              <a:solidFill>
                <a:srgbClr val="111827"/>
              </a:solidFill>
              <a:latin typeface="Consolas" panose="020B0609020204030204" pitchFamily="49" charset="0"/>
            </a:endParaRPr>
          </a:p>
        </p:txBody>
      </p:sp>
      <p:sp>
        <p:nvSpPr>
          <p:cNvPr id="4" name="CuadroTexto 3">
            <a:extLst>
              <a:ext uri="{FF2B5EF4-FFF2-40B4-BE49-F238E27FC236}">
                <a16:creationId xmlns:a16="http://schemas.microsoft.com/office/drawing/2014/main" id="{B1EAE201-45B8-4BAD-38EE-9C9DAC40992C}"/>
              </a:ext>
            </a:extLst>
          </p:cNvPr>
          <p:cNvSpPr txBox="1"/>
          <p:nvPr/>
        </p:nvSpPr>
        <p:spPr>
          <a:xfrm>
            <a:off x="508000" y="5334000"/>
            <a:ext cx="8128000" cy="246221"/>
          </a:xfrm>
          <a:prstGeom prst="rect">
            <a:avLst/>
          </a:prstGeom>
          <a:noFill/>
        </p:spPr>
        <p:txBody>
          <a:bodyPr vert="horz" wrap="square" rtlCol="0">
            <a:spAutoFit/>
          </a:bodyPr>
          <a:lstStyle/>
          <a:p>
            <a:r>
              <a:rPr lang="es-ES" sz="1000" dirty="0">
                <a:solidFill>
                  <a:srgbClr val="111827"/>
                </a:solidFill>
                <a:latin typeface="Segoe UI" panose="020B0502040204020203" pitchFamily="34" charset="0"/>
              </a:rPr>
              <a:t>ARCHIVO: src/routes/presupuestos.js | Permisos: según modulo y empresa</a:t>
            </a:r>
            <a:endParaRPr lang="es-MX" sz="1000" dirty="0">
              <a:solidFill>
                <a:srgbClr val="111827"/>
              </a:solidFill>
              <a:latin typeface="Segoe UI" panose="020B0502040204020203" pitchFamily="34" charset="0"/>
            </a:endParaRPr>
          </a:p>
        </p:txBody>
      </p:sp>
    </p:spTree>
    <p:extLst>
      <p:ext uri="{BB962C8B-B14F-4D97-AF65-F5344CB8AC3E}">
        <p14:creationId xmlns:p14="http://schemas.microsoft.com/office/powerpoint/2010/main" val="28280102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B255798F-D255-56F3-7AB1-2A66AB4DC514}"/>
              </a:ext>
            </a:extLst>
          </p:cNvPr>
          <p:cNvSpPr/>
          <p:nvPr/>
        </p:nvSpPr>
        <p:spPr>
          <a:xfrm>
            <a:off x="0" y="0"/>
            <a:ext cx="9144000" cy="711200"/>
          </a:xfrm>
          <a:prstGeom prst="rect">
            <a:avLst/>
          </a:prstGeom>
          <a:solidFill>
            <a:srgbClr val="0D47A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254000" tIns="101600" rtlCol="0" anchor="ctr"/>
          <a:lstStyle/>
          <a:p>
            <a:pPr algn="ctr"/>
            <a:r>
              <a:rPr lang="pt-BR" sz="2400" b="1" dirty="0">
                <a:solidFill>
                  <a:srgbClr val="FFFFFF"/>
                </a:solidFill>
                <a:latin typeface="Segoe UI" panose="020B0502040204020203" pitchFamily="34" charset="0"/>
              </a:rPr>
              <a:t>  APIs reales: Borradores (/api/borradores)</a:t>
            </a:r>
            <a:endParaRPr lang="es-MX" sz="2400" b="1" dirty="0">
              <a:solidFill>
                <a:srgbClr val="FFFFFF"/>
              </a:solidFill>
              <a:latin typeface="Segoe UI" panose="020B0502040204020203" pitchFamily="34" charset="0"/>
            </a:endParaRPr>
          </a:p>
        </p:txBody>
      </p:sp>
      <p:sp>
        <p:nvSpPr>
          <p:cNvPr id="3" name="CuadroTexto 2">
            <a:extLst>
              <a:ext uri="{FF2B5EF4-FFF2-40B4-BE49-F238E27FC236}">
                <a16:creationId xmlns:a16="http://schemas.microsoft.com/office/drawing/2014/main" id="{6E2A815C-8D83-B094-53CC-7C79D88CBB03}"/>
              </a:ext>
            </a:extLst>
          </p:cNvPr>
          <p:cNvSpPr txBox="1"/>
          <p:nvPr/>
        </p:nvSpPr>
        <p:spPr>
          <a:xfrm>
            <a:off x="508000" y="863600"/>
            <a:ext cx="8128000" cy="276999"/>
          </a:xfrm>
          <a:prstGeom prst="rect">
            <a:avLst/>
          </a:prstGeom>
          <a:noFill/>
        </p:spPr>
        <p:txBody>
          <a:bodyPr vert="horz" wrap="square" rtlCol="0">
            <a:spAutoFit/>
          </a:bodyPr>
          <a:lstStyle/>
          <a:p>
            <a:r>
              <a:rPr lang="es-ES" sz="1200" dirty="0">
                <a:solidFill>
                  <a:srgbClr val="111827"/>
                </a:solidFill>
                <a:latin typeface="Segoe UI" panose="020B0502040204020203" pitchFamily="34" charset="0"/>
              </a:rPr>
              <a:t>Los borradores guardan automáticamente el trabajo del usuario:</a:t>
            </a:r>
            <a:endParaRPr lang="es-MX" sz="1200" dirty="0">
              <a:solidFill>
                <a:srgbClr val="111827"/>
              </a:solidFill>
              <a:latin typeface="Segoe UI" panose="020B0502040204020203" pitchFamily="34" charset="0"/>
            </a:endParaRPr>
          </a:p>
        </p:txBody>
      </p:sp>
      <p:sp>
        <p:nvSpPr>
          <p:cNvPr id="4" name="Rectángulo 3">
            <a:extLst>
              <a:ext uri="{FF2B5EF4-FFF2-40B4-BE49-F238E27FC236}">
                <a16:creationId xmlns:a16="http://schemas.microsoft.com/office/drawing/2014/main" id="{F1322E2F-A8B7-A531-7CE4-9078A4C699B9}"/>
              </a:ext>
            </a:extLst>
          </p:cNvPr>
          <p:cNvSpPr/>
          <p:nvPr/>
        </p:nvSpPr>
        <p:spPr>
          <a:xfrm>
            <a:off x="508000" y="1140599"/>
            <a:ext cx="8128000" cy="4066401"/>
          </a:xfrm>
          <a:prstGeom prst="rect">
            <a:avLst/>
          </a:prstGeom>
          <a:solidFill>
            <a:srgbClr val="F3F4F6"/>
          </a:solidFill>
          <a:ln>
            <a:solidFill>
              <a:srgbClr val="E5E7EB"/>
            </a:solidFill>
          </a:ln>
        </p:spPr>
        <p:style>
          <a:lnRef idx="2">
            <a:schemeClr val="accent1">
              <a:shade val="15000"/>
            </a:schemeClr>
          </a:lnRef>
          <a:fillRef idx="1">
            <a:schemeClr val="accent1"/>
          </a:fillRef>
          <a:effectRef idx="0">
            <a:schemeClr val="accent1"/>
          </a:effectRef>
          <a:fontRef idx="minor">
            <a:schemeClr val="lt1"/>
          </a:fontRef>
        </p:style>
        <p:txBody>
          <a:bodyPr wrap="square" lIns="177800" tIns="127000" rIns="177800" rtlCol="0" anchor="ctr"/>
          <a:lstStyle/>
          <a:p>
            <a:r>
              <a:rPr lang="es-ES" sz="1100" dirty="0">
                <a:solidFill>
                  <a:srgbClr val="111827"/>
                </a:solidFill>
                <a:latin typeface="Consolas" panose="020B0609020204030204" pitchFamily="49" charset="0"/>
              </a:rPr>
              <a:t>POST /api/borradores/guardar
  Que hace:  Guarda automáticamente mientras el usuario escribe (autoguardado)
  Envía:     { empresaId: "empresa1", modulo: "RH", anio: 2025,
               capitulo: "DEFAULT", datos: [...] }
  Nota:      Se ejecuta automáticamente cada poco segundo
GET /api/borradores/listar?empresaId=empresa1&amp;modulo=RH&amp;anio=2025
  Que hace:  Lista todos los borradores guardados para ese modulo
  Responde:  [{ id: 12, fecha: "2025-06-15 10:30", estado: "borrador" }]
POST /api/borradores/enviar
  Que hace:  Marca el borrador como "enviado" (listo para revisión)
POST /api/borradores/revisar
  Que hace:  Un supervisor marca como "revisado"
POST /api/borradores/autorizar
  Que hace:  Un director da su aprobación final
POST /api/borradores/rechazar
  Que hace:  Regresa el borrador al estado anterior con comentarios
POST /api/borradores/recontabilizar
  Que hace:  Recalcula los saldos desde Firebird (refresca datos reales)</a:t>
            </a:r>
            <a:endParaRPr lang="es-MX" sz="1100" dirty="0">
              <a:solidFill>
                <a:srgbClr val="111827"/>
              </a:solidFill>
              <a:latin typeface="Consolas" panose="020B0609020204030204" pitchFamily="49" charset="0"/>
            </a:endParaRPr>
          </a:p>
        </p:txBody>
      </p:sp>
      <p:sp>
        <p:nvSpPr>
          <p:cNvPr id="5" name="CuadroTexto 4">
            <a:extLst>
              <a:ext uri="{FF2B5EF4-FFF2-40B4-BE49-F238E27FC236}">
                <a16:creationId xmlns:a16="http://schemas.microsoft.com/office/drawing/2014/main" id="{6A5DC5F4-AB90-2742-6B40-9E3D82E63C71}"/>
              </a:ext>
            </a:extLst>
          </p:cNvPr>
          <p:cNvSpPr txBox="1"/>
          <p:nvPr/>
        </p:nvSpPr>
        <p:spPr>
          <a:xfrm>
            <a:off x="508000" y="5207000"/>
            <a:ext cx="8128000" cy="246221"/>
          </a:xfrm>
          <a:prstGeom prst="rect">
            <a:avLst/>
          </a:prstGeom>
          <a:noFill/>
        </p:spPr>
        <p:txBody>
          <a:bodyPr vert="horz" wrap="square" rtlCol="0">
            <a:spAutoFit/>
          </a:bodyPr>
          <a:lstStyle/>
          <a:p>
            <a:r>
              <a:rPr lang="pt-BR" sz="1000" dirty="0">
                <a:solidFill>
                  <a:srgbClr val="111827"/>
                </a:solidFill>
                <a:latin typeface="Segoe UI" panose="020B0502040204020203" pitchFamily="34" charset="0"/>
              </a:rPr>
              <a:t>ARCHIVO: src/routes/borradores.js | FLUJO: borrador &gt; enviado &gt; revisado &gt; autorizado</a:t>
            </a:r>
            <a:endParaRPr lang="es-MX" sz="1000" dirty="0">
              <a:solidFill>
                <a:srgbClr val="111827"/>
              </a:solidFill>
              <a:latin typeface="Segoe UI" panose="020B0502040204020203" pitchFamily="34" charset="0"/>
            </a:endParaRPr>
          </a:p>
        </p:txBody>
      </p:sp>
    </p:spTree>
    <p:extLst>
      <p:ext uri="{BB962C8B-B14F-4D97-AF65-F5344CB8AC3E}">
        <p14:creationId xmlns:p14="http://schemas.microsoft.com/office/powerpoint/2010/main" val="399490997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75552E52-F8BC-6542-AB79-29B35F79F50B}"/>
              </a:ext>
            </a:extLst>
          </p:cNvPr>
          <p:cNvSpPr/>
          <p:nvPr/>
        </p:nvSpPr>
        <p:spPr>
          <a:xfrm>
            <a:off x="0" y="0"/>
            <a:ext cx="9144000" cy="711200"/>
          </a:xfrm>
          <a:prstGeom prst="rect">
            <a:avLst/>
          </a:prstGeom>
          <a:solidFill>
            <a:srgbClr val="0D47A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254000" tIns="101600" rtlCol="0" anchor="ctr"/>
          <a:lstStyle/>
          <a:p>
            <a:pPr algn="ctr"/>
            <a:r>
              <a:rPr lang="es-ES" sz="2400" b="1" dirty="0">
                <a:solidFill>
                  <a:srgbClr val="FFFFFF"/>
                </a:solidFill>
                <a:latin typeface="Segoe UI" panose="020B0502040204020203" pitchFamily="34" charset="0"/>
              </a:rPr>
              <a:t>  APIs reales: Usuarios (/api/usuarios)</a:t>
            </a:r>
            <a:endParaRPr lang="es-MX" sz="2400" b="1" dirty="0">
              <a:solidFill>
                <a:srgbClr val="FFFFFF"/>
              </a:solidFill>
              <a:latin typeface="Segoe UI" panose="020B0502040204020203" pitchFamily="34" charset="0"/>
            </a:endParaRPr>
          </a:p>
        </p:txBody>
      </p:sp>
      <p:sp>
        <p:nvSpPr>
          <p:cNvPr id="3" name="Rectángulo 2">
            <a:extLst>
              <a:ext uri="{FF2B5EF4-FFF2-40B4-BE49-F238E27FC236}">
                <a16:creationId xmlns:a16="http://schemas.microsoft.com/office/drawing/2014/main" id="{FBADAA03-6638-60DD-005D-EB78CF399E63}"/>
              </a:ext>
            </a:extLst>
          </p:cNvPr>
          <p:cNvSpPr/>
          <p:nvPr/>
        </p:nvSpPr>
        <p:spPr>
          <a:xfrm>
            <a:off x="508000" y="772160"/>
            <a:ext cx="8128000" cy="4470400"/>
          </a:xfrm>
          <a:prstGeom prst="rect">
            <a:avLst/>
          </a:prstGeom>
          <a:solidFill>
            <a:srgbClr val="F3F4F6"/>
          </a:solidFill>
          <a:ln>
            <a:solidFill>
              <a:srgbClr val="E5E7EB"/>
            </a:solidFill>
          </a:ln>
        </p:spPr>
        <p:style>
          <a:lnRef idx="2">
            <a:schemeClr val="accent1">
              <a:shade val="15000"/>
            </a:schemeClr>
          </a:lnRef>
          <a:fillRef idx="1">
            <a:schemeClr val="accent1"/>
          </a:fillRef>
          <a:effectRef idx="0">
            <a:schemeClr val="accent1"/>
          </a:effectRef>
          <a:fontRef idx="minor">
            <a:schemeClr val="lt1"/>
          </a:fontRef>
        </p:style>
        <p:txBody>
          <a:bodyPr wrap="square" lIns="177800" tIns="127000" rIns="177800" rtlCol="0" anchor="ctr"/>
          <a:lstStyle/>
          <a:p>
            <a:r>
              <a:rPr lang="es-ES" sz="1100" dirty="0">
                <a:solidFill>
                  <a:srgbClr val="111827"/>
                </a:solidFill>
                <a:latin typeface="Consolas" panose="020B0609020204030204" pitchFamily="49" charset="0"/>
              </a:rPr>
              <a:t>GET /api/usuarios
  Que hace:  Lista todos los usuarios del sistema
  Responde:  [{ id: 1, usuario: "ICONET", nombre: "Admin", esAdmin: true },
              { id: 5, usuario: "JPEREZ", nombre: "Juan Pérez", esAdmin: false }]
GET /api/usuarios/5
  Que hace:  Datos de un usuario especifico (por id)
  Responde:  { id: 5, usuario: "JPEREZ", nombres: "Juan Carlos", ... }
POST /api/usuarios
  Que hace:  Crear un usuario nuevo (requiere permiso puede_agregar)
  Envía:     { usuario: "MLOPEZ", nombres: "Maria", contraseña: "Segura123",
               correo: "maria@empresa.com", es_admin_global: 0 }
PUT /api/usuarios/5
  Que hace:  Editar un usuario existente (requiere permiso puede_modificar)
  Envía:     { nombres: "Juan Carlos", correo: "nuevo@empresa.com" }
DELETE /api/usuarios/5
  Que hace:  Eliminar un usuario (requiere permiso puede_eliminar)
  Nota:      También elimina todos sus permisos (CASCADE)
POST /api/usuarios/5/permisos
  Que hace:  Asignar permisos a un usuario
  Envía:     { empresa_id: "empresa1", modulo: "RH",
               puede_leer: 1, puede_cargar_guardar: 1, puede_revisar: 0 }</a:t>
            </a:r>
            <a:endParaRPr lang="es-MX" sz="1100" dirty="0">
              <a:solidFill>
                <a:srgbClr val="111827"/>
              </a:solidFill>
              <a:latin typeface="Consolas" panose="020B0609020204030204" pitchFamily="49" charset="0"/>
            </a:endParaRPr>
          </a:p>
        </p:txBody>
      </p:sp>
      <p:sp>
        <p:nvSpPr>
          <p:cNvPr id="4" name="CuadroTexto 3">
            <a:extLst>
              <a:ext uri="{FF2B5EF4-FFF2-40B4-BE49-F238E27FC236}">
                <a16:creationId xmlns:a16="http://schemas.microsoft.com/office/drawing/2014/main" id="{8FC6998E-5F1C-3C3D-C49A-68D262E205E5}"/>
              </a:ext>
            </a:extLst>
          </p:cNvPr>
          <p:cNvSpPr txBox="1"/>
          <p:nvPr/>
        </p:nvSpPr>
        <p:spPr>
          <a:xfrm>
            <a:off x="508000" y="5334000"/>
            <a:ext cx="8128000" cy="246221"/>
          </a:xfrm>
          <a:prstGeom prst="rect">
            <a:avLst/>
          </a:prstGeom>
          <a:noFill/>
        </p:spPr>
        <p:txBody>
          <a:bodyPr vert="horz" wrap="square" rtlCol="0">
            <a:spAutoFit/>
          </a:bodyPr>
          <a:lstStyle/>
          <a:p>
            <a:r>
              <a:rPr lang="es-ES" sz="1000" dirty="0">
                <a:solidFill>
                  <a:srgbClr val="111827"/>
                </a:solidFill>
                <a:latin typeface="Segoe UI" panose="020B0502040204020203" pitchFamily="34" charset="0"/>
              </a:rPr>
              <a:t>ARCHIVO: src/routes/usuarios.js | REQUIERE: ser admin o tener permisos generales</a:t>
            </a:r>
            <a:endParaRPr lang="es-MX" sz="1000" dirty="0">
              <a:solidFill>
                <a:srgbClr val="111827"/>
              </a:solidFill>
              <a:latin typeface="Segoe UI" panose="020B0502040204020203" pitchFamily="34" charset="0"/>
            </a:endParaRPr>
          </a:p>
        </p:txBody>
      </p:sp>
    </p:spTree>
    <p:extLst>
      <p:ext uri="{BB962C8B-B14F-4D97-AF65-F5344CB8AC3E}">
        <p14:creationId xmlns:p14="http://schemas.microsoft.com/office/powerpoint/2010/main" val="166340018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2480FBB1-6509-7F98-3EC4-2A3AF3D66513}"/>
              </a:ext>
            </a:extLst>
          </p:cNvPr>
          <p:cNvSpPr/>
          <p:nvPr/>
        </p:nvSpPr>
        <p:spPr>
          <a:xfrm>
            <a:off x="0" y="0"/>
            <a:ext cx="9144000" cy="711200"/>
          </a:xfrm>
          <a:prstGeom prst="rect">
            <a:avLst/>
          </a:prstGeom>
          <a:solidFill>
            <a:srgbClr val="0D47A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254000" tIns="101600" rtlCol="0" anchor="ctr"/>
          <a:lstStyle/>
          <a:p>
            <a:pPr algn="ctr"/>
            <a:r>
              <a:rPr lang="es-ES" sz="2400" b="1" dirty="0">
                <a:solidFill>
                  <a:srgbClr val="FFFFFF"/>
                </a:solidFill>
                <a:latin typeface="Segoe UI" panose="020B0502040204020203" pitchFamily="34" charset="0"/>
              </a:rPr>
              <a:t>  PARTE 4: Mapa completo de TODAS las APIs</a:t>
            </a:r>
            <a:endParaRPr lang="es-MX" sz="2400" b="1" dirty="0">
              <a:solidFill>
                <a:srgbClr val="FFFFFF"/>
              </a:solidFill>
              <a:latin typeface="Segoe UI" panose="020B0502040204020203" pitchFamily="34" charset="0"/>
            </a:endParaRPr>
          </a:p>
        </p:txBody>
      </p:sp>
      <p:sp>
        <p:nvSpPr>
          <p:cNvPr id="3" name="CuadroTexto 2">
            <a:extLst>
              <a:ext uri="{FF2B5EF4-FFF2-40B4-BE49-F238E27FC236}">
                <a16:creationId xmlns:a16="http://schemas.microsoft.com/office/drawing/2014/main" id="{1736551D-4A97-DAC7-6A22-5BECF8F7F5F1}"/>
              </a:ext>
            </a:extLst>
          </p:cNvPr>
          <p:cNvSpPr txBox="1"/>
          <p:nvPr/>
        </p:nvSpPr>
        <p:spPr>
          <a:xfrm>
            <a:off x="406400" y="876300"/>
            <a:ext cx="3365500" cy="246221"/>
          </a:xfrm>
          <a:prstGeom prst="rect">
            <a:avLst/>
          </a:prstGeom>
          <a:noFill/>
        </p:spPr>
        <p:txBody>
          <a:bodyPr vert="horz" rtlCol="0">
            <a:spAutoFit/>
          </a:bodyPr>
          <a:lstStyle/>
          <a:p>
            <a:r>
              <a:rPr lang="es-MX" sz="1000" dirty="0">
                <a:solidFill>
                  <a:srgbClr val="6B7280"/>
                </a:solidFill>
                <a:latin typeface="Segoe UI" panose="020B0502040204020203" pitchFamily="34" charset="0"/>
              </a:rPr>
              <a:t>AUTENTICACION Y USUARIOS</a:t>
            </a:r>
          </a:p>
        </p:txBody>
      </p:sp>
      <p:sp>
        <p:nvSpPr>
          <p:cNvPr id="4" name="Rectángulo: esquinas redondeadas 3">
            <a:extLst>
              <a:ext uri="{FF2B5EF4-FFF2-40B4-BE49-F238E27FC236}">
                <a16:creationId xmlns:a16="http://schemas.microsoft.com/office/drawing/2014/main" id="{6617AEB6-35DB-48C3-D396-409F00B38CA3}"/>
              </a:ext>
            </a:extLst>
          </p:cNvPr>
          <p:cNvSpPr/>
          <p:nvPr/>
        </p:nvSpPr>
        <p:spPr>
          <a:xfrm>
            <a:off x="406400" y="1122680"/>
            <a:ext cx="2700000" cy="304800"/>
          </a:xfrm>
          <a:prstGeom prst="roundRect">
            <a:avLst/>
          </a:prstGeom>
          <a:solidFill>
            <a:srgbClr val="0D47A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000" b="1" dirty="0">
                <a:solidFill>
                  <a:srgbClr val="FFFFFF"/>
                </a:solidFill>
                <a:latin typeface="Segoe UI" panose="020B0502040204020203" pitchFamily="34" charset="0"/>
              </a:rPr>
              <a:t>POST  /api/auth/login</a:t>
            </a:r>
          </a:p>
        </p:txBody>
      </p:sp>
      <p:sp>
        <p:nvSpPr>
          <p:cNvPr id="5" name="Rectángulo: esquinas redondeadas 4">
            <a:extLst>
              <a:ext uri="{FF2B5EF4-FFF2-40B4-BE49-F238E27FC236}">
                <a16:creationId xmlns:a16="http://schemas.microsoft.com/office/drawing/2014/main" id="{BAB3BF1B-19B3-B334-A7A2-77988017D528}"/>
              </a:ext>
            </a:extLst>
          </p:cNvPr>
          <p:cNvSpPr/>
          <p:nvPr/>
        </p:nvSpPr>
        <p:spPr>
          <a:xfrm>
            <a:off x="406400" y="1478280"/>
            <a:ext cx="2700000" cy="304800"/>
          </a:xfrm>
          <a:prstGeom prst="roundRect">
            <a:avLst/>
          </a:prstGeom>
          <a:solidFill>
            <a:srgbClr val="0D47A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000" b="1" dirty="0">
                <a:solidFill>
                  <a:srgbClr val="FFFFFF"/>
                </a:solidFill>
                <a:latin typeface="Segoe UI" panose="020B0502040204020203" pitchFamily="34" charset="0"/>
              </a:rPr>
              <a:t>POST  /api/auth/refresh</a:t>
            </a:r>
          </a:p>
        </p:txBody>
      </p:sp>
      <p:sp>
        <p:nvSpPr>
          <p:cNvPr id="6" name="Rectángulo: esquinas redondeadas 5">
            <a:extLst>
              <a:ext uri="{FF2B5EF4-FFF2-40B4-BE49-F238E27FC236}">
                <a16:creationId xmlns:a16="http://schemas.microsoft.com/office/drawing/2014/main" id="{DCBE1291-E545-FAF0-CEF9-0593C1DBD2E7}"/>
              </a:ext>
            </a:extLst>
          </p:cNvPr>
          <p:cNvSpPr/>
          <p:nvPr/>
        </p:nvSpPr>
        <p:spPr>
          <a:xfrm>
            <a:off x="406400" y="1833880"/>
            <a:ext cx="2700000" cy="304800"/>
          </a:xfrm>
          <a:prstGeom prst="roundRect">
            <a:avLst/>
          </a:prstGeom>
          <a:solidFill>
            <a:srgbClr val="0D47A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000" b="1" dirty="0">
                <a:solidFill>
                  <a:srgbClr val="FFFFFF"/>
                </a:solidFill>
                <a:latin typeface="Segoe UI" panose="020B0502040204020203" pitchFamily="34" charset="0"/>
              </a:rPr>
              <a:t>POST  /api/auth/logout</a:t>
            </a:r>
          </a:p>
        </p:txBody>
      </p:sp>
      <p:sp>
        <p:nvSpPr>
          <p:cNvPr id="7" name="Rectángulo: esquinas redondeadas 6">
            <a:extLst>
              <a:ext uri="{FF2B5EF4-FFF2-40B4-BE49-F238E27FC236}">
                <a16:creationId xmlns:a16="http://schemas.microsoft.com/office/drawing/2014/main" id="{693453D2-2F2C-25C0-3485-CC396D391B2B}"/>
              </a:ext>
            </a:extLst>
          </p:cNvPr>
          <p:cNvSpPr/>
          <p:nvPr/>
        </p:nvSpPr>
        <p:spPr>
          <a:xfrm>
            <a:off x="406400" y="2189480"/>
            <a:ext cx="2700000" cy="304800"/>
          </a:xfrm>
          <a:prstGeom prst="roundRect">
            <a:avLst/>
          </a:prstGeom>
          <a:solidFill>
            <a:srgbClr val="2980B9"/>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000" b="1" dirty="0">
                <a:solidFill>
                  <a:srgbClr val="FFFFFF"/>
                </a:solidFill>
                <a:latin typeface="Segoe UI" panose="020B0502040204020203" pitchFamily="34" charset="0"/>
              </a:rPr>
              <a:t>GET|POST|PUT|DEL /api/usuarios</a:t>
            </a:r>
          </a:p>
        </p:txBody>
      </p:sp>
      <p:sp>
        <p:nvSpPr>
          <p:cNvPr id="8" name="Rectángulo: esquinas redondeadas 7">
            <a:extLst>
              <a:ext uri="{FF2B5EF4-FFF2-40B4-BE49-F238E27FC236}">
                <a16:creationId xmlns:a16="http://schemas.microsoft.com/office/drawing/2014/main" id="{FF7A5745-B1EF-4524-3440-FC0BC61C18BE}"/>
              </a:ext>
            </a:extLst>
          </p:cNvPr>
          <p:cNvSpPr/>
          <p:nvPr/>
        </p:nvSpPr>
        <p:spPr>
          <a:xfrm>
            <a:off x="406400" y="2545080"/>
            <a:ext cx="2700000" cy="304800"/>
          </a:xfrm>
          <a:prstGeom prst="roundRect">
            <a:avLst/>
          </a:prstGeom>
          <a:solidFill>
            <a:srgbClr val="2980B9"/>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000" b="1" dirty="0">
                <a:solidFill>
                  <a:srgbClr val="FFFFFF"/>
                </a:solidFill>
                <a:latin typeface="Segoe UI" panose="020B0502040204020203" pitchFamily="34" charset="0"/>
              </a:rPr>
              <a:t>GET  /api/empresas</a:t>
            </a:r>
          </a:p>
        </p:txBody>
      </p:sp>
      <p:sp>
        <p:nvSpPr>
          <p:cNvPr id="9" name="CuadroTexto 8">
            <a:extLst>
              <a:ext uri="{FF2B5EF4-FFF2-40B4-BE49-F238E27FC236}">
                <a16:creationId xmlns:a16="http://schemas.microsoft.com/office/drawing/2014/main" id="{5578AE7D-5F23-8925-ED61-0D49AACDFBA3}"/>
              </a:ext>
            </a:extLst>
          </p:cNvPr>
          <p:cNvSpPr txBox="1"/>
          <p:nvPr/>
        </p:nvSpPr>
        <p:spPr>
          <a:xfrm>
            <a:off x="406400" y="2971800"/>
            <a:ext cx="2700000" cy="246221"/>
          </a:xfrm>
          <a:prstGeom prst="rect">
            <a:avLst/>
          </a:prstGeom>
          <a:noFill/>
        </p:spPr>
        <p:txBody>
          <a:bodyPr vert="horz" rtlCol="0">
            <a:spAutoFit/>
          </a:bodyPr>
          <a:lstStyle/>
          <a:p>
            <a:r>
              <a:rPr lang="es-MX" sz="1000" dirty="0">
                <a:solidFill>
                  <a:srgbClr val="6B7280"/>
                </a:solidFill>
                <a:latin typeface="Segoe UI" panose="020B0502040204020203" pitchFamily="34" charset="0"/>
              </a:rPr>
              <a:t>REPORTES</a:t>
            </a:r>
          </a:p>
        </p:txBody>
      </p:sp>
      <p:sp>
        <p:nvSpPr>
          <p:cNvPr id="10" name="Rectángulo: esquinas redondeadas 9">
            <a:extLst>
              <a:ext uri="{FF2B5EF4-FFF2-40B4-BE49-F238E27FC236}">
                <a16:creationId xmlns:a16="http://schemas.microsoft.com/office/drawing/2014/main" id="{29DF78EF-EFA5-3FE2-DF1D-EB712220FAA1}"/>
              </a:ext>
            </a:extLst>
          </p:cNvPr>
          <p:cNvSpPr/>
          <p:nvPr/>
        </p:nvSpPr>
        <p:spPr>
          <a:xfrm>
            <a:off x="406400" y="3241040"/>
            <a:ext cx="2700000" cy="304800"/>
          </a:xfrm>
          <a:prstGeom prst="roundRect">
            <a:avLst/>
          </a:prstGeom>
          <a:solidFill>
            <a:srgbClr val="E67E2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000" b="1" dirty="0">
                <a:solidFill>
                  <a:srgbClr val="FFFFFF"/>
                </a:solidFill>
                <a:latin typeface="Segoe UI" panose="020B0502040204020203" pitchFamily="34" charset="0"/>
              </a:rPr>
              <a:t>GET  /api/reportes/summary</a:t>
            </a:r>
          </a:p>
        </p:txBody>
      </p:sp>
      <p:sp>
        <p:nvSpPr>
          <p:cNvPr id="11" name="Rectángulo: esquinas redondeadas 10">
            <a:extLst>
              <a:ext uri="{FF2B5EF4-FFF2-40B4-BE49-F238E27FC236}">
                <a16:creationId xmlns:a16="http://schemas.microsoft.com/office/drawing/2014/main" id="{FB9BD83F-E7CA-D27D-9E7E-B4B35AB00EE4}"/>
              </a:ext>
            </a:extLst>
          </p:cNvPr>
          <p:cNvSpPr/>
          <p:nvPr/>
        </p:nvSpPr>
        <p:spPr>
          <a:xfrm>
            <a:off x="406400" y="3596640"/>
            <a:ext cx="2700000" cy="304800"/>
          </a:xfrm>
          <a:prstGeom prst="roundRect">
            <a:avLst/>
          </a:prstGeom>
          <a:solidFill>
            <a:srgbClr val="E67E2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000" b="1" dirty="0">
                <a:solidFill>
                  <a:srgbClr val="FFFFFF"/>
                </a:solidFill>
                <a:latin typeface="Segoe UI" panose="020B0502040204020203" pitchFamily="34" charset="0"/>
              </a:rPr>
              <a:t>GET  /api/reportes/resumen</a:t>
            </a:r>
          </a:p>
        </p:txBody>
      </p:sp>
      <p:sp>
        <p:nvSpPr>
          <p:cNvPr id="12" name="Rectángulo: esquinas redondeadas 11">
            <a:extLst>
              <a:ext uri="{FF2B5EF4-FFF2-40B4-BE49-F238E27FC236}">
                <a16:creationId xmlns:a16="http://schemas.microsoft.com/office/drawing/2014/main" id="{EDC36871-664C-BF69-615E-FDA6F71DB817}"/>
              </a:ext>
            </a:extLst>
          </p:cNvPr>
          <p:cNvSpPr/>
          <p:nvPr/>
        </p:nvSpPr>
        <p:spPr>
          <a:xfrm>
            <a:off x="406400" y="3952240"/>
            <a:ext cx="2700000" cy="304800"/>
          </a:xfrm>
          <a:prstGeom prst="roundRect">
            <a:avLst/>
          </a:prstGeom>
          <a:solidFill>
            <a:srgbClr val="E67E2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000" b="1" dirty="0">
                <a:solidFill>
                  <a:srgbClr val="FFFFFF"/>
                </a:solidFill>
                <a:latin typeface="Segoe UI" panose="020B0502040204020203" pitchFamily="34" charset="0"/>
              </a:rPr>
              <a:t>GET  /api/saldos/:empresaId</a:t>
            </a:r>
          </a:p>
        </p:txBody>
      </p:sp>
      <p:sp>
        <p:nvSpPr>
          <p:cNvPr id="13" name="CuadroTexto 12">
            <a:extLst>
              <a:ext uri="{FF2B5EF4-FFF2-40B4-BE49-F238E27FC236}">
                <a16:creationId xmlns:a16="http://schemas.microsoft.com/office/drawing/2014/main" id="{C57A812B-5256-67EE-35E4-7863D9BB1C87}"/>
              </a:ext>
            </a:extLst>
          </p:cNvPr>
          <p:cNvSpPr txBox="1"/>
          <p:nvPr/>
        </p:nvSpPr>
        <p:spPr>
          <a:xfrm>
            <a:off x="3248660" y="876300"/>
            <a:ext cx="3365500" cy="246221"/>
          </a:xfrm>
          <a:prstGeom prst="rect">
            <a:avLst/>
          </a:prstGeom>
          <a:noFill/>
        </p:spPr>
        <p:txBody>
          <a:bodyPr vert="horz" rtlCol="0">
            <a:spAutoFit/>
          </a:bodyPr>
          <a:lstStyle/>
          <a:p>
            <a:r>
              <a:rPr lang="es-MX" sz="1000" dirty="0">
                <a:solidFill>
                  <a:srgbClr val="6B7280"/>
                </a:solidFill>
                <a:latin typeface="Segoe UI" panose="020B0502040204020203" pitchFamily="34" charset="0"/>
              </a:rPr>
              <a:t>PRESUPUESTOS</a:t>
            </a:r>
          </a:p>
        </p:txBody>
      </p:sp>
      <p:sp>
        <p:nvSpPr>
          <p:cNvPr id="14" name="Rectángulo: esquinas redondeadas 13">
            <a:extLst>
              <a:ext uri="{FF2B5EF4-FFF2-40B4-BE49-F238E27FC236}">
                <a16:creationId xmlns:a16="http://schemas.microsoft.com/office/drawing/2014/main" id="{56E10799-111E-B060-21A1-0603353BC93F}"/>
              </a:ext>
            </a:extLst>
          </p:cNvPr>
          <p:cNvSpPr/>
          <p:nvPr/>
        </p:nvSpPr>
        <p:spPr>
          <a:xfrm>
            <a:off x="3248660" y="1122680"/>
            <a:ext cx="2700000" cy="304800"/>
          </a:xfrm>
          <a:prstGeom prst="roundRect">
            <a:avLst/>
          </a:prstGeom>
          <a:solidFill>
            <a:srgbClr val="2ECC7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000" b="1" dirty="0">
                <a:solidFill>
                  <a:srgbClr val="FFFFFF"/>
                </a:solidFill>
                <a:latin typeface="Segoe UI" panose="020B0502040204020203" pitchFamily="34" charset="0"/>
              </a:rPr>
              <a:t>GET  /api/presupuestos</a:t>
            </a:r>
          </a:p>
        </p:txBody>
      </p:sp>
      <p:sp>
        <p:nvSpPr>
          <p:cNvPr id="15" name="Rectángulo: esquinas redondeadas 14">
            <a:extLst>
              <a:ext uri="{FF2B5EF4-FFF2-40B4-BE49-F238E27FC236}">
                <a16:creationId xmlns:a16="http://schemas.microsoft.com/office/drawing/2014/main" id="{FC4B9F22-0F95-B7E2-AAC0-B3F5B0A2A810}"/>
              </a:ext>
            </a:extLst>
          </p:cNvPr>
          <p:cNvSpPr/>
          <p:nvPr/>
        </p:nvSpPr>
        <p:spPr>
          <a:xfrm>
            <a:off x="3248660" y="1478280"/>
            <a:ext cx="2700000" cy="304800"/>
          </a:xfrm>
          <a:prstGeom prst="roundRect">
            <a:avLst/>
          </a:prstGeom>
          <a:solidFill>
            <a:srgbClr val="2ECC7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000" b="1" dirty="0">
                <a:solidFill>
                  <a:srgbClr val="FFFFFF"/>
                </a:solidFill>
                <a:latin typeface="Segoe UI" panose="020B0502040204020203" pitchFamily="34" charset="0"/>
              </a:rPr>
              <a:t>POST /api/presupuestos/guardar</a:t>
            </a:r>
          </a:p>
        </p:txBody>
      </p:sp>
      <p:sp>
        <p:nvSpPr>
          <p:cNvPr id="16" name="Rectángulo: esquinas redondeadas 15">
            <a:extLst>
              <a:ext uri="{FF2B5EF4-FFF2-40B4-BE49-F238E27FC236}">
                <a16:creationId xmlns:a16="http://schemas.microsoft.com/office/drawing/2014/main" id="{A8FFE952-EEF1-9FA2-26D3-4A97100B6153}"/>
              </a:ext>
            </a:extLst>
          </p:cNvPr>
          <p:cNvSpPr/>
          <p:nvPr/>
        </p:nvSpPr>
        <p:spPr>
          <a:xfrm>
            <a:off x="3248660" y="1833880"/>
            <a:ext cx="2700000" cy="304800"/>
          </a:xfrm>
          <a:prstGeom prst="roundRect">
            <a:avLst/>
          </a:prstGeom>
          <a:solidFill>
            <a:srgbClr val="2ECC7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000" b="1" dirty="0">
                <a:solidFill>
                  <a:srgbClr val="FFFFFF"/>
                </a:solidFill>
                <a:latin typeface="Segoe UI" panose="020B0502040204020203" pitchFamily="34" charset="0"/>
              </a:rPr>
              <a:t>GET|POST /api/presupuestos/estado</a:t>
            </a:r>
            <a:endParaRPr lang="es-MX" sz="1000" b="1" dirty="0">
              <a:solidFill>
                <a:srgbClr val="FFFFFF"/>
              </a:solidFill>
              <a:latin typeface="Segoe UI" panose="020B0502040204020203" pitchFamily="34" charset="0"/>
            </a:endParaRPr>
          </a:p>
        </p:txBody>
      </p:sp>
      <p:sp>
        <p:nvSpPr>
          <p:cNvPr id="17" name="CuadroTexto 16">
            <a:extLst>
              <a:ext uri="{FF2B5EF4-FFF2-40B4-BE49-F238E27FC236}">
                <a16:creationId xmlns:a16="http://schemas.microsoft.com/office/drawing/2014/main" id="{C14D26FC-5F65-A5E7-8458-94838BC8CCC1}"/>
              </a:ext>
            </a:extLst>
          </p:cNvPr>
          <p:cNvSpPr txBox="1"/>
          <p:nvPr/>
        </p:nvSpPr>
        <p:spPr>
          <a:xfrm>
            <a:off x="3248660" y="2260600"/>
            <a:ext cx="2700000" cy="246221"/>
          </a:xfrm>
          <a:prstGeom prst="rect">
            <a:avLst/>
          </a:prstGeom>
          <a:noFill/>
        </p:spPr>
        <p:txBody>
          <a:bodyPr vert="horz" rtlCol="0">
            <a:spAutoFit/>
          </a:bodyPr>
          <a:lstStyle/>
          <a:p>
            <a:r>
              <a:rPr lang="es-MX" sz="1000" dirty="0">
                <a:solidFill>
                  <a:srgbClr val="6B7280"/>
                </a:solidFill>
                <a:latin typeface="Segoe UI" panose="020B0502040204020203" pitchFamily="34" charset="0"/>
              </a:rPr>
              <a:t>BORRADORES</a:t>
            </a:r>
          </a:p>
        </p:txBody>
      </p:sp>
      <p:sp>
        <p:nvSpPr>
          <p:cNvPr id="18" name="Rectángulo: esquinas redondeadas 17">
            <a:extLst>
              <a:ext uri="{FF2B5EF4-FFF2-40B4-BE49-F238E27FC236}">
                <a16:creationId xmlns:a16="http://schemas.microsoft.com/office/drawing/2014/main" id="{89B9FC5E-C2F4-43A6-7769-24F7235B4FE3}"/>
              </a:ext>
            </a:extLst>
          </p:cNvPr>
          <p:cNvSpPr/>
          <p:nvPr/>
        </p:nvSpPr>
        <p:spPr>
          <a:xfrm>
            <a:off x="3248660" y="2534920"/>
            <a:ext cx="2700000" cy="304800"/>
          </a:xfrm>
          <a:prstGeom prst="roundRect">
            <a:avLst/>
          </a:prstGeom>
          <a:solidFill>
            <a:srgbClr val="00968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000" b="1" dirty="0">
                <a:solidFill>
                  <a:srgbClr val="FFFFFF"/>
                </a:solidFill>
                <a:latin typeface="Segoe UI" panose="020B0502040204020203" pitchFamily="34" charset="0"/>
              </a:rPr>
              <a:t>POST /api/borradores/guardar</a:t>
            </a:r>
          </a:p>
        </p:txBody>
      </p:sp>
      <p:sp>
        <p:nvSpPr>
          <p:cNvPr id="19" name="Rectángulo: esquinas redondeadas 18">
            <a:extLst>
              <a:ext uri="{FF2B5EF4-FFF2-40B4-BE49-F238E27FC236}">
                <a16:creationId xmlns:a16="http://schemas.microsoft.com/office/drawing/2014/main" id="{C1428535-BCBB-DE88-6748-5CD6906C9522}"/>
              </a:ext>
            </a:extLst>
          </p:cNvPr>
          <p:cNvSpPr/>
          <p:nvPr/>
        </p:nvSpPr>
        <p:spPr>
          <a:xfrm>
            <a:off x="3248660" y="2890520"/>
            <a:ext cx="2700000" cy="304800"/>
          </a:xfrm>
          <a:prstGeom prst="roundRect">
            <a:avLst/>
          </a:prstGeom>
          <a:solidFill>
            <a:srgbClr val="00968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000" b="1" dirty="0">
                <a:solidFill>
                  <a:srgbClr val="FFFFFF"/>
                </a:solidFill>
                <a:latin typeface="Segoe UI" panose="020B0502040204020203" pitchFamily="34" charset="0"/>
              </a:rPr>
              <a:t>POST /api/borradores/enviar</a:t>
            </a:r>
          </a:p>
        </p:txBody>
      </p:sp>
      <p:sp>
        <p:nvSpPr>
          <p:cNvPr id="20" name="Rectángulo: esquinas redondeadas 19">
            <a:extLst>
              <a:ext uri="{FF2B5EF4-FFF2-40B4-BE49-F238E27FC236}">
                <a16:creationId xmlns:a16="http://schemas.microsoft.com/office/drawing/2014/main" id="{DED19B35-532F-F5D5-9434-C595BBA13973}"/>
              </a:ext>
            </a:extLst>
          </p:cNvPr>
          <p:cNvSpPr/>
          <p:nvPr/>
        </p:nvSpPr>
        <p:spPr>
          <a:xfrm>
            <a:off x="3248660" y="3246120"/>
            <a:ext cx="2700000" cy="304800"/>
          </a:xfrm>
          <a:prstGeom prst="roundRect">
            <a:avLst/>
          </a:prstGeom>
          <a:solidFill>
            <a:srgbClr val="00968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000" b="1" dirty="0">
                <a:solidFill>
                  <a:srgbClr val="FFFFFF"/>
                </a:solidFill>
                <a:latin typeface="Segoe UI" panose="020B0502040204020203" pitchFamily="34" charset="0"/>
              </a:rPr>
              <a:t>POST /api/borradores/revisar</a:t>
            </a:r>
          </a:p>
        </p:txBody>
      </p:sp>
      <p:sp>
        <p:nvSpPr>
          <p:cNvPr id="21" name="Rectángulo: esquinas redondeadas 20">
            <a:extLst>
              <a:ext uri="{FF2B5EF4-FFF2-40B4-BE49-F238E27FC236}">
                <a16:creationId xmlns:a16="http://schemas.microsoft.com/office/drawing/2014/main" id="{5A70252F-7F22-508E-FF3B-13F98056B9E0}"/>
              </a:ext>
            </a:extLst>
          </p:cNvPr>
          <p:cNvSpPr/>
          <p:nvPr/>
        </p:nvSpPr>
        <p:spPr>
          <a:xfrm>
            <a:off x="3248660" y="3601720"/>
            <a:ext cx="2700000" cy="304800"/>
          </a:xfrm>
          <a:prstGeom prst="roundRect">
            <a:avLst/>
          </a:prstGeom>
          <a:solidFill>
            <a:srgbClr val="00968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000" b="1" dirty="0">
                <a:solidFill>
                  <a:srgbClr val="FFFFFF"/>
                </a:solidFill>
                <a:latin typeface="Segoe UI" panose="020B0502040204020203" pitchFamily="34" charset="0"/>
              </a:rPr>
              <a:t>POST /api/borradores/autorizar</a:t>
            </a:r>
          </a:p>
        </p:txBody>
      </p:sp>
      <p:sp>
        <p:nvSpPr>
          <p:cNvPr id="22" name="Rectángulo: esquinas redondeadas 21">
            <a:extLst>
              <a:ext uri="{FF2B5EF4-FFF2-40B4-BE49-F238E27FC236}">
                <a16:creationId xmlns:a16="http://schemas.microsoft.com/office/drawing/2014/main" id="{5C12E391-5878-DE2A-F071-A780AB17F802}"/>
              </a:ext>
            </a:extLst>
          </p:cNvPr>
          <p:cNvSpPr/>
          <p:nvPr/>
        </p:nvSpPr>
        <p:spPr>
          <a:xfrm>
            <a:off x="3248660" y="3957320"/>
            <a:ext cx="2700000" cy="304800"/>
          </a:xfrm>
          <a:prstGeom prst="roundRect">
            <a:avLst/>
          </a:prstGeom>
          <a:solidFill>
            <a:srgbClr val="00968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000" b="1" dirty="0">
                <a:solidFill>
                  <a:srgbClr val="FFFFFF"/>
                </a:solidFill>
                <a:latin typeface="Segoe UI" panose="020B0502040204020203" pitchFamily="34" charset="0"/>
              </a:rPr>
              <a:t>POST /api/borradores/recontabilizar</a:t>
            </a:r>
          </a:p>
        </p:txBody>
      </p:sp>
      <p:sp>
        <p:nvSpPr>
          <p:cNvPr id="23" name="CuadroTexto 22">
            <a:extLst>
              <a:ext uri="{FF2B5EF4-FFF2-40B4-BE49-F238E27FC236}">
                <a16:creationId xmlns:a16="http://schemas.microsoft.com/office/drawing/2014/main" id="{29119934-F9BE-76A2-44EA-00B2476989F6}"/>
              </a:ext>
            </a:extLst>
          </p:cNvPr>
          <p:cNvSpPr txBox="1"/>
          <p:nvPr/>
        </p:nvSpPr>
        <p:spPr>
          <a:xfrm>
            <a:off x="6090920" y="876300"/>
            <a:ext cx="3365500" cy="246221"/>
          </a:xfrm>
          <a:prstGeom prst="rect">
            <a:avLst/>
          </a:prstGeom>
          <a:noFill/>
        </p:spPr>
        <p:txBody>
          <a:bodyPr vert="horz" rtlCol="0">
            <a:spAutoFit/>
          </a:bodyPr>
          <a:lstStyle/>
          <a:p>
            <a:r>
              <a:rPr lang="es-MX" sz="1000" dirty="0">
                <a:solidFill>
                  <a:srgbClr val="6B7280"/>
                </a:solidFill>
                <a:latin typeface="Segoe UI" panose="020B0502040204020203" pitchFamily="34" charset="0"/>
              </a:rPr>
              <a:t>PLANTILLAS (LAYOUTS)</a:t>
            </a:r>
          </a:p>
        </p:txBody>
      </p:sp>
      <p:sp>
        <p:nvSpPr>
          <p:cNvPr id="24" name="Rectángulo: esquinas redondeadas 23">
            <a:extLst>
              <a:ext uri="{FF2B5EF4-FFF2-40B4-BE49-F238E27FC236}">
                <a16:creationId xmlns:a16="http://schemas.microsoft.com/office/drawing/2014/main" id="{762F23BD-1758-CBD8-5EC8-A5564FCAEA92}"/>
              </a:ext>
            </a:extLst>
          </p:cNvPr>
          <p:cNvSpPr/>
          <p:nvPr/>
        </p:nvSpPr>
        <p:spPr>
          <a:xfrm>
            <a:off x="6090920" y="1122680"/>
            <a:ext cx="2700000" cy="304800"/>
          </a:xfrm>
          <a:prstGeom prst="roundRect">
            <a:avLst/>
          </a:prstGeom>
          <a:solidFill>
            <a:srgbClr val="8E44A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000" b="1" dirty="0">
                <a:solidFill>
                  <a:srgbClr val="FFFFFF"/>
                </a:solidFill>
                <a:latin typeface="Segoe UI" panose="020B0502040204020203" pitchFamily="34" charset="0"/>
              </a:rPr>
              <a:t>GET|POST /api/layouts-config/...</a:t>
            </a:r>
          </a:p>
        </p:txBody>
      </p:sp>
      <p:sp>
        <p:nvSpPr>
          <p:cNvPr id="25" name="Rectángulo: esquinas redondeadas 24">
            <a:extLst>
              <a:ext uri="{FF2B5EF4-FFF2-40B4-BE49-F238E27FC236}">
                <a16:creationId xmlns:a16="http://schemas.microsoft.com/office/drawing/2014/main" id="{8BD07D5D-4613-28EB-CC22-020D520667DE}"/>
              </a:ext>
            </a:extLst>
          </p:cNvPr>
          <p:cNvSpPr/>
          <p:nvPr/>
        </p:nvSpPr>
        <p:spPr>
          <a:xfrm>
            <a:off x="6090920" y="1478280"/>
            <a:ext cx="2700000" cy="304800"/>
          </a:xfrm>
          <a:prstGeom prst="roundRect">
            <a:avLst/>
          </a:prstGeom>
          <a:solidFill>
            <a:srgbClr val="8E44A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000" b="1" dirty="0">
                <a:solidFill>
                  <a:srgbClr val="FFFFFF"/>
                </a:solidFill>
                <a:latin typeface="Segoe UI" panose="020B0502040204020203" pitchFamily="34" charset="0"/>
              </a:rPr>
              <a:t>PUT|DEL  /api/layouts-config/...</a:t>
            </a:r>
          </a:p>
        </p:txBody>
      </p:sp>
      <p:sp>
        <p:nvSpPr>
          <p:cNvPr id="26" name="Rectángulo: esquinas redondeadas 25">
            <a:extLst>
              <a:ext uri="{FF2B5EF4-FFF2-40B4-BE49-F238E27FC236}">
                <a16:creationId xmlns:a16="http://schemas.microsoft.com/office/drawing/2014/main" id="{B6A4BDE8-2BA2-E6AE-972E-E356360DD091}"/>
              </a:ext>
            </a:extLst>
          </p:cNvPr>
          <p:cNvSpPr/>
          <p:nvPr/>
        </p:nvSpPr>
        <p:spPr>
          <a:xfrm>
            <a:off x="6090920" y="1833880"/>
            <a:ext cx="2700000" cy="304800"/>
          </a:xfrm>
          <a:prstGeom prst="roundRect">
            <a:avLst/>
          </a:prstGeom>
          <a:solidFill>
            <a:srgbClr val="8E44A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000" b="1" dirty="0">
                <a:solidFill>
                  <a:srgbClr val="FFFFFF"/>
                </a:solidFill>
                <a:latin typeface="Segoe UI" panose="020B0502040204020203" pitchFamily="34" charset="0"/>
              </a:rPr>
              <a:t>POST /api/insercion/...</a:t>
            </a:r>
          </a:p>
        </p:txBody>
      </p:sp>
      <p:sp>
        <p:nvSpPr>
          <p:cNvPr id="27" name="CuadroTexto 26">
            <a:extLst>
              <a:ext uri="{FF2B5EF4-FFF2-40B4-BE49-F238E27FC236}">
                <a16:creationId xmlns:a16="http://schemas.microsoft.com/office/drawing/2014/main" id="{8AC85F48-07C3-DE0A-1DDF-DE19B454DD63}"/>
              </a:ext>
            </a:extLst>
          </p:cNvPr>
          <p:cNvSpPr txBox="1"/>
          <p:nvPr/>
        </p:nvSpPr>
        <p:spPr>
          <a:xfrm>
            <a:off x="6090920" y="2260600"/>
            <a:ext cx="2700000" cy="246221"/>
          </a:xfrm>
          <a:prstGeom prst="rect">
            <a:avLst/>
          </a:prstGeom>
          <a:noFill/>
        </p:spPr>
        <p:txBody>
          <a:bodyPr vert="horz" rtlCol="0">
            <a:spAutoFit/>
          </a:bodyPr>
          <a:lstStyle/>
          <a:p>
            <a:r>
              <a:rPr lang="es-MX" sz="1000" dirty="0">
                <a:solidFill>
                  <a:srgbClr val="6B7280"/>
                </a:solidFill>
                <a:latin typeface="Segoe UI" panose="020B0502040204020203" pitchFamily="34" charset="0"/>
              </a:rPr>
              <a:t>GRÁFICAS Y CONFIG</a:t>
            </a:r>
          </a:p>
        </p:txBody>
      </p:sp>
      <p:sp>
        <p:nvSpPr>
          <p:cNvPr id="28" name="Rectángulo: esquinas redondeadas 27">
            <a:extLst>
              <a:ext uri="{FF2B5EF4-FFF2-40B4-BE49-F238E27FC236}">
                <a16:creationId xmlns:a16="http://schemas.microsoft.com/office/drawing/2014/main" id="{FB68E08B-0B5C-913B-5A62-64B0FFB48E28}"/>
              </a:ext>
            </a:extLst>
          </p:cNvPr>
          <p:cNvSpPr/>
          <p:nvPr/>
        </p:nvSpPr>
        <p:spPr>
          <a:xfrm>
            <a:off x="6090920" y="2534920"/>
            <a:ext cx="2700000" cy="304800"/>
          </a:xfrm>
          <a:prstGeom prst="roundRect">
            <a:avLst/>
          </a:prstGeom>
          <a:solidFill>
            <a:srgbClr val="34495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000" b="1" dirty="0">
                <a:solidFill>
                  <a:srgbClr val="FFFFFF"/>
                </a:solidFill>
                <a:latin typeface="Segoe UI" panose="020B0502040204020203" pitchFamily="34" charset="0"/>
              </a:rPr>
              <a:t>GET|POST /api/graficas-config</a:t>
            </a:r>
          </a:p>
        </p:txBody>
      </p:sp>
      <p:sp>
        <p:nvSpPr>
          <p:cNvPr id="29" name="Rectángulo: esquinas redondeadas 28">
            <a:extLst>
              <a:ext uri="{FF2B5EF4-FFF2-40B4-BE49-F238E27FC236}">
                <a16:creationId xmlns:a16="http://schemas.microsoft.com/office/drawing/2014/main" id="{2375C449-925D-DE9B-85E8-CD0AD166E750}"/>
              </a:ext>
            </a:extLst>
          </p:cNvPr>
          <p:cNvSpPr/>
          <p:nvPr/>
        </p:nvSpPr>
        <p:spPr>
          <a:xfrm>
            <a:off x="6090920" y="2890520"/>
            <a:ext cx="2700000" cy="304800"/>
          </a:xfrm>
          <a:prstGeom prst="roundRect">
            <a:avLst/>
          </a:prstGeom>
          <a:solidFill>
            <a:srgbClr val="34495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000" b="1" dirty="0">
                <a:solidFill>
                  <a:srgbClr val="FFFFFF"/>
                </a:solidFill>
                <a:latin typeface="Segoe UI" panose="020B0502040204020203" pitchFamily="34" charset="0"/>
              </a:rPr>
              <a:t>GET|PUT  /api/firebird-config</a:t>
            </a:r>
          </a:p>
        </p:txBody>
      </p:sp>
      <p:sp>
        <p:nvSpPr>
          <p:cNvPr id="30" name="Rectángulo: esquinas redondeadas 29">
            <a:extLst>
              <a:ext uri="{FF2B5EF4-FFF2-40B4-BE49-F238E27FC236}">
                <a16:creationId xmlns:a16="http://schemas.microsoft.com/office/drawing/2014/main" id="{CC5534D7-77F2-0861-9703-DAC77FA2BBB4}"/>
              </a:ext>
            </a:extLst>
          </p:cNvPr>
          <p:cNvSpPr/>
          <p:nvPr/>
        </p:nvSpPr>
        <p:spPr>
          <a:xfrm>
            <a:off x="6090920" y="3246120"/>
            <a:ext cx="2700000" cy="304800"/>
          </a:xfrm>
          <a:prstGeom prst="roundRect">
            <a:avLst/>
          </a:prstGeom>
          <a:solidFill>
            <a:srgbClr val="34495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000" b="1" dirty="0">
                <a:solidFill>
                  <a:srgbClr val="FFFFFF"/>
                </a:solidFill>
                <a:latin typeface="Segoe UI" panose="020B0502040204020203" pitchFamily="34" charset="0"/>
              </a:rPr>
              <a:t>GET|POST /api/backups/...</a:t>
            </a:r>
          </a:p>
        </p:txBody>
      </p:sp>
      <p:sp>
        <p:nvSpPr>
          <p:cNvPr id="31" name="Rectángulo: esquinas redondeadas 30">
            <a:extLst>
              <a:ext uri="{FF2B5EF4-FFF2-40B4-BE49-F238E27FC236}">
                <a16:creationId xmlns:a16="http://schemas.microsoft.com/office/drawing/2014/main" id="{A1A4D09A-A05B-88FC-8D2A-232893396D3D}"/>
              </a:ext>
            </a:extLst>
          </p:cNvPr>
          <p:cNvSpPr/>
          <p:nvPr/>
        </p:nvSpPr>
        <p:spPr>
          <a:xfrm>
            <a:off x="6090920" y="3601720"/>
            <a:ext cx="2700000" cy="304800"/>
          </a:xfrm>
          <a:prstGeom prst="roundRect">
            <a:avLst/>
          </a:prstGeom>
          <a:solidFill>
            <a:srgbClr val="34495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000" b="1" dirty="0">
                <a:solidFill>
                  <a:srgbClr val="FFFFFF"/>
                </a:solidFill>
                <a:latin typeface="Segoe UI" panose="020B0502040204020203" pitchFamily="34" charset="0"/>
              </a:rPr>
              <a:t>GET|POST /api/notificaciones</a:t>
            </a:r>
          </a:p>
        </p:txBody>
      </p:sp>
      <p:sp>
        <p:nvSpPr>
          <p:cNvPr id="32" name="Rectángulo: esquinas redondeadas 31">
            <a:extLst>
              <a:ext uri="{FF2B5EF4-FFF2-40B4-BE49-F238E27FC236}">
                <a16:creationId xmlns:a16="http://schemas.microsoft.com/office/drawing/2014/main" id="{33961153-CBAC-E56B-D9A2-1C5643B0770B}"/>
              </a:ext>
            </a:extLst>
          </p:cNvPr>
          <p:cNvSpPr/>
          <p:nvPr/>
        </p:nvSpPr>
        <p:spPr>
          <a:xfrm>
            <a:off x="6090920" y="3957320"/>
            <a:ext cx="2700000" cy="304800"/>
          </a:xfrm>
          <a:prstGeom prst="roundRect">
            <a:avLst/>
          </a:prstGeom>
          <a:solidFill>
            <a:srgbClr val="34495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000" b="1" dirty="0">
                <a:solidFill>
                  <a:srgbClr val="FFFFFF"/>
                </a:solidFill>
                <a:latin typeface="Segoe UI" panose="020B0502040204020203" pitchFamily="34" charset="0"/>
              </a:rPr>
              <a:t>GET|PUT  /api/perfil</a:t>
            </a:r>
          </a:p>
        </p:txBody>
      </p:sp>
      <p:sp>
        <p:nvSpPr>
          <p:cNvPr id="33" name="CuadroTexto 32">
            <a:extLst>
              <a:ext uri="{FF2B5EF4-FFF2-40B4-BE49-F238E27FC236}">
                <a16:creationId xmlns:a16="http://schemas.microsoft.com/office/drawing/2014/main" id="{5E6EC8B6-8F24-A06D-1FC3-A5F3BCD5567C}"/>
              </a:ext>
            </a:extLst>
          </p:cNvPr>
          <p:cNvSpPr txBox="1"/>
          <p:nvPr/>
        </p:nvSpPr>
        <p:spPr>
          <a:xfrm>
            <a:off x="508000" y="5334000"/>
            <a:ext cx="8128000" cy="246221"/>
          </a:xfrm>
          <a:prstGeom prst="rect">
            <a:avLst/>
          </a:prstGeom>
          <a:noFill/>
        </p:spPr>
        <p:txBody>
          <a:bodyPr vert="horz" wrap="square" rtlCol="0">
            <a:spAutoFit/>
          </a:bodyPr>
          <a:lstStyle/>
          <a:p>
            <a:r>
              <a:rPr lang="es-ES" sz="1000" dirty="0">
                <a:solidFill>
                  <a:srgbClr val="111827"/>
                </a:solidFill>
                <a:latin typeface="Segoe UI" panose="020B0502040204020203" pitchFamily="34" charset="0"/>
              </a:rPr>
              <a:t>Todas las rutas se registran en src/server.js y se definen en src/routes/*.js</a:t>
            </a:r>
            <a:endParaRPr lang="es-MX" sz="1000" dirty="0">
              <a:solidFill>
                <a:srgbClr val="111827"/>
              </a:solidFill>
              <a:latin typeface="Segoe UI" panose="020B0502040204020203" pitchFamily="34" charset="0"/>
            </a:endParaRPr>
          </a:p>
        </p:txBody>
      </p:sp>
    </p:spTree>
    <p:extLst>
      <p:ext uri="{BB962C8B-B14F-4D97-AF65-F5344CB8AC3E}">
        <p14:creationId xmlns:p14="http://schemas.microsoft.com/office/powerpoint/2010/main" val="107547667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42183573-72F1-A357-E371-F8894E4FCA60}"/>
              </a:ext>
            </a:extLst>
          </p:cNvPr>
          <p:cNvSpPr/>
          <p:nvPr/>
        </p:nvSpPr>
        <p:spPr>
          <a:xfrm>
            <a:off x="0" y="0"/>
            <a:ext cx="9144000" cy="711200"/>
          </a:xfrm>
          <a:prstGeom prst="rect">
            <a:avLst/>
          </a:prstGeom>
          <a:solidFill>
            <a:srgbClr val="0D47A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254000" tIns="101600" rtlCol="0" anchor="ctr"/>
          <a:lstStyle/>
          <a:p>
            <a:pPr algn="ctr"/>
            <a:r>
              <a:rPr lang="es-ES" sz="2400" b="1" dirty="0">
                <a:solidFill>
                  <a:srgbClr val="FFFFFF"/>
                </a:solidFill>
                <a:latin typeface="Segoe UI" panose="020B0502040204020203" pitchFamily="34" charset="0"/>
              </a:rPr>
              <a:t>  PARTE 5: ¿De dónde salen los números?</a:t>
            </a:r>
            <a:endParaRPr lang="es-MX" sz="2400" b="1" dirty="0">
              <a:solidFill>
                <a:srgbClr val="FFFFFF"/>
              </a:solidFill>
              <a:latin typeface="Segoe UI" panose="020B0502040204020203" pitchFamily="34" charset="0"/>
            </a:endParaRPr>
          </a:p>
        </p:txBody>
      </p:sp>
      <p:sp>
        <p:nvSpPr>
          <p:cNvPr id="3" name="CuadroTexto 2">
            <a:extLst>
              <a:ext uri="{FF2B5EF4-FFF2-40B4-BE49-F238E27FC236}">
                <a16:creationId xmlns:a16="http://schemas.microsoft.com/office/drawing/2014/main" id="{38460449-C66D-05E8-6A6F-45BED932D92A}"/>
              </a:ext>
            </a:extLst>
          </p:cNvPr>
          <p:cNvSpPr txBox="1"/>
          <p:nvPr/>
        </p:nvSpPr>
        <p:spPr>
          <a:xfrm>
            <a:off x="508000" y="772160"/>
            <a:ext cx="8128000" cy="292388"/>
          </a:xfrm>
          <a:prstGeom prst="rect">
            <a:avLst/>
          </a:prstGeom>
          <a:noFill/>
        </p:spPr>
        <p:txBody>
          <a:bodyPr vert="horz" wrap="square" rtlCol="0">
            <a:spAutoFit/>
          </a:bodyPr>
          <a:lstStyle/>
          <a:p>
            <a:r>
              <a:rPr lang="es-ES" sz="1300" dirty="0">
                <a:solidFill>
                  <a:srgbClr val="111827"/>
                </a:solidFill>
                <a:latin typeface="Segoe UI" panose="020B0502040204020203" pitchFamily="34" charset="0"/>
              </a:rPr>
              <a:t>Los números que ves en pantalla vienen de Firebird (Aspel COI):</a:t>
            </a:r>
            <a:endParaRPr lang="es-MX" sz="1300" dirty="0">
              <a:solidFill>
                <a:srgbClr val="111827"/>
              </a:solidFill>
              <a:latin typeface="Segoe UI" panose="020B0502040204020203" pitchFamily="34" charset="0"/>
            </a:endParaRPr>
          </a:p>
        </p:txBody>
      </p:sp>
      <p:sp>
        <p:nvSpPr>
          <p:cNvPr id="4" name="Rectángulo: esquinas redondeadas 3">
            <a:extLst>
              <a:ext uri="{FF2B5EF4-FFF2-40B4-BE49-F238E27FC236}">
                <a16:creationId xmlns:a16="http://schemas.microsoft.com/office/drawing/2014/main" id="{1EB1556C-7B47-C080-66ED-8BEC87F11370}"/>
              </a:ext>
            </a:extLst>
          </p:cNvPr>
          <p:cNvSpPr/>
          <p:nvPr/>
        </p:nvSpPr>
        <p:spPr>
          <a:xfrm>
            <a:off x="571500" y="1178560"/>
            <a:ext cx="1905000" cy="508000"/>
          </a:xfrm>
          <a:prstGeom prst="roundRect">
            <a:avLst/>
          </a:prstGeom>
          <a:solidFill>
            <a:srgbClr val="34495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300" b="1" dirty="0">
                <a:solidFill>
                  <a:srgbClr val="FFFFFF"/>
                </a:solidFill>
                <a:latin typeface="Segoe UI" panose="020B0502040204020203" pitchFamily="34" charset="0"/>
              </a:rPr>
              <a:t>Firebird</a:t>
            </a:r>
          </a:p>
        </p:txBody>
      </p:sp>
      <p:sp>
        <p:nvSpPr>
          <p:cNvPr id="5" name="CuadroTexto 4">
            <a:extLst>
              <a:ext uri="{FF2B5EF4-FFF2-40B4-BE49-F238E27FC236}">
                <a16:creationId xmlns:a16="http://schemas.microsoft.com/office/drawing/2014/main" id="{250BAAF7-6230-6A16-BB9F-06D4E5538097}"/>
              </a:ext>
            </a:extLst>
          </p:cNvPr>
          <p:cNvSpPr txBox="1"/>
          <p:nvPr/>
        </p:nvSpPr>
        <p:spPr>
          <a:xfrm>
            <a:off x="571500" y="1724660"/>
            <a:ext cx="1905000" cy="369332"/>
          </a:xfrm>
          <a:prstGeom prst="rect">
            <a:avLst/>
          </a:prstGeom>
          <a:noFill/>
        </p:spPr>
        <p:txBody>
          <a:bodyPr vert="horz" rtlCol="0">
            <a:spAutoFit/>
          </a:bodyPr>
          <a:lstStyle/>
          <a:p>
            <a:r>
              <a:rPr lang="es-ES" sz="900" dirty="0">
                <a:solidFill>
                  <a:srgbClr val="6B7280"/>
                </a:solidFill>
                <a:latin typeface="Segoe UI" panose="020B0502040204020203" pitchFamily="34" charset="0"/>
              </a:rPr>
              <a:t>Base de datos del sistema
contable (Aspel COI)</a:t>
            </a:r>
            <a:endParaRPr lang="es-MX" sz="900" dirty="0">
              <a:solidFill>
                <a:srgbClr val="6B7280"/>
              </a:solidFill>
              <a:latin typeface="Segoe UI" panose="020B0502040204020203" pitchFamily="34" charset="0"/>
            </a:endParaRPr>
          </a:p>
        </p:txBody>
      </p:sp>
      <p:sp>
        <p:nvSpPr>
          <p:cNvPr id="6" name="Cilindro 5">
            <a:extLst>
              <a:ext uri="{FF2B5EF4-FFF2-40B4-BE49-F238E27FC236}">
                <a16:creationId xmlns:a16="http://schemas.microsoft.com/office/drawing/2014/main" id="{E19C7057-4D66-0294-BDBD-03AA1379602E}"/>
              </a:ext>
            </a:extLst>
          </p:cNvPr>
          <p:cNvSpPr/>
          <p:nvPr/>
        </p:nvSpPr>
        <p:spPr>
          <a:xfrm>
            <a:off x="2603500" y="1305560"/>
            <a:ext cx="457200" cy="228600"/>
          </a:xfrm>
          <a:prstGeom prst="can">
            <a:avLst/>
          </a:prstGeom>
          <a:solidFill>
            <a:srgbClr val="0D47A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dirty="0"/>
          </a:p>
        </p:txBody>
      </p:sp>
      <p:sp>
        <p:nvSpPr>
          <p:cNvPr id="7" name="Rectángulo: esquinas redondeadas 6">
            <a:extLst>
              <a:ext uri="{FF2B5EF4-FFF2-40B4-BE49-F238E27FC236}">
                <a16:creationId xmlns:a16="http://schemas.microsoft.com/office/drawing/2014/main" id="{1B4C70EC-171A-3357-1F32-89052CFF3AB5}"/>
              </a:ext>
            </a:extLst>
          </p:cNvPr>
          <p:cNvSpPr/>
          <p:nvPr/>
        </p:nvSpPr>
        <p:spPr>
          <a:xfrm>
            <a:off x="3175000" y="1115060"/>
            <a:ext cx="1968500" cy="279400"/>
          </a:xfrm>
          <a:prstGeom prst="roundRect">
            <a:avLst/>
          </a:prstGeom>
          <a:solidFill>
            <a:srgbClr val="2980B9"/>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000" b="1" dirty="0">
                <a:solidFill>
                  <a:srgbClr val="FFFFFF"/>
                </a:solidFill>
                <a:latin typeface="Segoe UI" panose="020B0502040204020203" pitchFamily="34" charset="0"/>
              </a:rPr>
              <a:t>CUENTAS25</a:t>
            </a:r>
          </a:p>
        </p:txBody>
      </p:sp>
      <p:sp>
        <p:nvSpPr>
          <p:cNvPr id="8" name="CuadroTexto 7">
            <a:extLst>
              <a:ext uri="{FF2B5EF4-FFF2-40B4-BE49-F238E27FC236}">
                <a16:creationId xmlns:a16="http://schemas.microsoft.com/office/drawing/2014/main" id="{EFC09B6C-0B36-314B-62D2-F6A211C1343D}"/>
              </a:ext>
            </a:extLst>
          </p:cNvPr>
          <p:cNvSpPr txBox="1"/>
          <p:nvPr/>
        </p:nvSpPr>
        <p:spPr>
          <a:xfrm>
            <a:off x="3175000" y="1419860"/>
            <a:ext cx="2540000" cy="230832"/>
          </a:xfrm>
          <a:prstGeom prst="rect">
            <a:avLst/>
          </a:prstGeom>
          <a:noFill/>
        </p:spPr>
        <p:txBody>
          <a:bodyPr vert="horz" rtlCol="0">
            <a:spAutoFit/>
          </a:bodyPr>
          <a:lstStyle/>
          <a:p>
            <a:r>
              <a:rPr lang="es-MX" sz="900" dirty="0">
                <a:solidFill>
                  <a:srgbClr val="6B7280"/>
                </a:solidFill>
                <a:latin typeface="Segoe UI" panose="020B0502040204020203" pitchFamily="34" charset="0"/>
              </a:rPr>
              <a:t>Catalogo de cuentas del ano 2025</a:t>
            </a:r>
          </a:p>
        </p:txBody>
      </p:sp>
      <p:sp>
        <p:nvSpPr>
          <p:cNvPr id="9" name="Rectángulo: esquinas redondeadas 8">
            <a:extLst>
              <a:ext uri="{FF2B5EF4-FFF2-40B4-BE49-F238E27FC236}">
                <a16:creationId xmlns:a16="http://schemas.microsoft.com/office/drawing/2014/main" id="{3131BE4D-36FF-7E58-C4A2-6BD361D7A25C}"/>
              </a:ext>
            </a:extLst>
          </p:cNvPr>
          <p:cNvSpPr/>
          <p:nvPr/>
        </p:nvSpPr>
        <p:spPr>
          <a:xfrm>
            <a:off x="3175000" y="1686560"/>
            <a:ext cx="1968500" cy="279400"/>
          </a:xfrm>
          <a:prstGeom prst="roundRect">
            <a:avLst/>
          </a:prstGeom>
          <a:solidFill>
            <a:srgbClr val="E67E2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000" b="1" dirty="0">
                <a:solidFill>
                  <a:srgbClr val="FFFFFF"/>
                </a:solidFill>
                <a:latin typeface="Segoe UI" panose="020B0502040204020203" pitchFamily="34" charset="0"/>
              </a:rPr>
              <a:t>SALDOS25</a:t>
            </a:r>
          </a:p>
        </p:txBody>
      </p:sp>
      <p:sp>
        <p:nvSpPr>
          <p:cNvPr id="10" name="CuadroTexto 9">
            <a:extLst>
              <a:ext uri="{FF2B5EF4-FFF2-40B4-BE49-F238E27FC236}">
                <a16:creationId xmlns:a16="http://schemas.microsoft.com/office/drawing/2014/main" id="{ECA1AEA7-D798-C1E7-49FE-F0F6581F35E4}"/>
              </a:ext>
            </a:extLst>
          </p:cNvPr>
          <p:cNvSpPr txBox="1"/>
          <p:nvPr/>
        </p:nvSpPr>
        <p:spPr>
          <a:xfrm>
            <a:off x="3175000" y="1991360"/>
            <a:ext cx="2794000" cy="230832"/>
          </a:xfrm>
          <a:prstGeom prst="rect">
            <a:avLst/>
          </a:prstGeom>
          <a:noFill/>
        </p:spPr>
        <p:txBody>
          <a:bodyPr vert="horz" rtlCol="0">
            <a:spAutoFit/>
          </a:bodyPr>
          <a:lstStyle/>
          <a:p>
            <a:r>
              <a:rPr lang="es-MX" sz="900" dirty="0">
                <a:solidFill>
                  <a:srgbClr val="6B7280"/>
                </a:solidFill>
                <a:latin typeface="Segoe UI" panose="020B0502040204020203" pitchFamily="34" charset="0"/>
              </a:rPr>
              <a:t>Movimientos mensuales (cargos/abonos)</a:t>
            </a:r>
          </a:p>
        </p:txBody>
      </p:sp>
      <p:sp>
        <p:nvSpPr>
          <p:cNvPr id="11" name="Rectángulo: esquinas redondeadas 10">
            <a:extLst>
              <a:ext uri="{FF2B5EF4-FFF2-40B4-BE49-F238E27FC236}">
                <a16:creationId xmlns:a16="http://schemas.microsoft.com/office/drawing/2014/main" id="{CB23DDD2-F91A-6483-8D52-D9B25596EB89}"/>
              </a:ext>
            </a:extLst>
          </p:cNvPr>
          <p:cNvSpPr/>
          <p:nvPr/>
        </p:nvSpPr>
        <p:spPr>
          <a:xfrm>
            <a:off x="3175000" y="2258060"/>
            <a:ext cx="1968500" cy="279400"/>
          </a:xfrm>
          <a:prstGeom prst="roundRect">
            <a:avLst/>
          </a:prstGeom>
          <a:solidFill>
            <a:srgbClr val="2ECC7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000" b="1" dirty="0">
                <a:solidFill>
                  <a:srgbClr val="FFFFFF"/>
                </a:solidFill>
                <a:latin typeface="Segoe UI" panose="020B0502040204020203" pitchFamily="34" charset="0"/>
              </a:rPr>
              <a:t>PRESUP25</a:t>
            </a:r>
          </a:p>
        </p:txBody>
      </p:sp>
      <p:sp>
        <p:nvSpPr>
          <p:cNvPr id="12" name="CuadroTexto 11">
            <a:extLst>
              <a:ext uri="{FF2B5EF4-FFF2-40B4-BE49-F238E27FC236}">
                <a16:creationId xmlns:a16="http://schemas.microsoft.com/office/drawing/2014/main" id="{08AEDF55-BD96-637C-246E-EBEB8CD5E3F5}"/>
              </a:ext>
            </a:extLst>
          </p:cNvPr>
          <p:cNvSpPr txBox="1"/>
          <p:nvPr/>
        </p:nvSpPr>
        <p:spPr>
          <a:xfrm>
            <a:off x="3175000" y="2562860"/>
            <a:ext cx="2540000" cy="230832"/>
          </a:xfrm>
          <a:prstGeom prst="rect">
            <a:avLst/>
          </a:prstGeom>
          <a:noFill/>
        </p:spPr>
        <p:txBody>
          <a:bodyPr vert="horz" rtlCol="0">
            <a:spAutoFit/>
          </a:bodyPr>
          <a:lstStyle/>
          <a:p>
            <a:r>
              <a:rPr lang="es-MX" sz="900" dirty="0">
                <a:solidFill>
                  <a:srgbClr val="6B7280"/>
                </a:solidFill>
                <a:latin typeface="Segoe UI" panose="020B0502040204020203" pitchFamily="34" charset="0"/>
              </a:rPr>
              <a:t>Presupuestos por mes</a:t>
            </a:r>
          </a:p>
        </p:txBody>
      </p:sp>
      <p:sp>
        <p:nvSpPr>
          <p:cNvPr id="13" name="Cilindro 12">
            <a:extLst>
              <a:ext uri="{FF2B5EF4-FFF2-40B4-BE49-F238E27FC236}">
                <a16:creationId xmlns:a16="http://schemas.microsoft.com/office/drawing/2014/main" id="{30ABCF7E-2B32-BAB4-1900-1BE265BA356E}"/>
              </a:ext>
            </a:extLst>
          </p:cNvPr>
          <p:cNvSpPr/>
          <p:nvPr/>
        </p:nvSpPr>
        <p:spPr>
          <a:xfrm>
            <a:off x="5270500" y="1559560"/>
            <a:ext cx="457200" cy="228600"/>
          </a:xfrm>
          <a:prstGeom prst="can">
            <a:avLst/>
          </a:prstGeom>
          <a:solidFill>
            <a:srgbClr val="0D47A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dirty="0"/>
          </a:p>
        </p:txBody>
      </p:sp>
      <p:sp>
        <p:nvSpPr>
          <p:cNvPr id="14" name="Rectángulo: esquinas redondeadas 13">
            <a:extLst>
              <a:ext uri="{FF2B5EF4-FFF2-40B4-BE49-F238E27FC236}">
                <a16:creationId xmlns:a16="http://schemas.microsoft.com/office/drawing/2014/main" id="{39BFDA42-A374-B3C9-15C6-5CBE7BD85B89}"/>
              </a:ext>
            </a:extLst>
          </p:cNvPr>
          <p:cNvSpPr/>
          <p:nvPr/>
        </p:nvSpPr>
        <p:spPr>
          <a:xfrm>
            <a:off x="5842000" y="1242060"/>
            <a:ext cx="1905000" cy="635000"/>
          </a:xfrm>
          <a:prstGeom prst="roundRect">
            <a:avLst/>
          </a:prstGeom>
          <a:solidFill>
            <a:srgbClr val="0D47A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300" b="1" dirty="0">
                <a:solidFill>
                  <a:srgbClr val="FFFFFF"/>
                </a:solidFill>
                <a:latin typeface="Segoe UI" panose="020B0502040204020203" pitchFamily="34" charset="0"/>
              </a:rPr>
              <a:t>SummaCham</a:t>
            </a:r>
          </a:p>
        </p:txBody>
      </p:sp>
      <p:sp>
        <p:nvSpPr>
          <p:cNvPr id="15" name="CuadroTexto 14">
            <a:extLst>
              <a:ext uri="{FF2B5EF4-FFF2-40B4-BE49-F238E27FC236}">
                <a16:creationId xmlns:a16="http://schemas.microsoft.com/office/drawing/2014/main" id="{B6251BE3-0A5F-7CBE-A53E-07D198EA77DB}"/>
              </a:ext>
            </a:extLst>
          </p:cNvPr>
          <p:cNvSpPr txBox="1"/>
          <p:nvPr/>
        </p:nvSpPr>
        <p:spPr>
          <a:xfrm>
            <a:off x="5842000" y="1915160"/>
            <a:ext cx="1905000" cy="369332"/>
          </a:xfrm>
          <a:prstGeom prst="rect">
            <a:avLst/>
          </a:prstGeom>
          <a:noFill/>
        </p:spPr>
        <p:txBody>
          <a:bodyPr vert="horz" rtlCol="0">
            <a:spAutoFit/>
          </a:bodyPr>
          <a:lstStyle/>
          <a:p>
            <a:r>
              <a:rPr lang="es-ES" sz="900" dirty="0">
                <a:solidFill>
                  <a:srgbClr val="6B7280"/>
                </a:solidFill>
                <a:latin typeface="Segoe UI" panose="020B0502040204020203" pitchFamily="34" charset="0"/>
              </a:rPr>
              <a:t>Lee, calcula y
muestra los datos</a:t>
            </a:r>
            <a:endParaRPr lang="es-MX" sz="900" dirty="0">
              <a:solidFill>
                <a:srgbClr val="6B7280"/>
              </a:solidFill>
              <a:latin typeface="Segoe UI" panose="020B0502040204020203" pitchFamily="34" charset="0"/>
            </a:endParaRPr>
          </a:p>
        </p:txBody>
      </p:sp>
      <p:sp>
        <p:nvSpPr>
          <p:cNvPr id="16" name="Rectángulo 15">
            <a:extLst>
              <a:ext uri="{FF2B5EF4-FFF2-40B4-BE49-F238E27FC236}">
                <a16:creationId xmlns:a16="http://schemas.microsoft.com/office/drawing/2014/main" id="{CEF45C10-96AF-7BD2-1DDD-378CEBCBCEAD}"/>
              </a:ext>
            </a:extLst>
          </p:cNvPr>
          <p:cNvSpPr/>
          <p:nvPr/>
        </p:nvSpPr>
        <p:spPr>
          <a:xfrm>
            <a:off x="508000" y="2829560"/>
            <a:ext cx="8128000" cy="19050"/>
          </a:xfrm>
          <a:prstGeom prst="rect">
            <a:avLst/>
          </a:prstGeom>
          <a:solidFill>
            <a:srgbClr val="E5E7E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dirty="0"/>
          </a:p>
        </p:txBody>
      </p:sp>
      <p:sp>
        <p:nvSpPr>
          <p:cNvPr id="17" name="CuadroTexto 16">
            <a:extLst>
              <a:ext uri="{FF2B5EF4-FFF2-40B4-BE49-F238E27FC236}">
                <a16:creationId xmlns:a16="http://schemas.microsoft.com/office/drawing/2014/main" id="{5AC307E1-3A4B-29BF-8B8C-D96470C2190D}"/>
              </a:ext>
            </a:extLst>
          </p:cNvPr>
          <p:cNvSpPr txBox="1"/>
          <p:nvPr/>
        </p:nvSpPr>
        <p:spPr>
          <a:xfrm>
            <a:off x="508000" y="2931160"/>
            <a:ext cx="8128000" cy="2677656"/>
          </a:xfrm>
          <a:prstGeom prst="rect">
            <a:avLst/>
          </a:prstGeom>
          <a:noFill/>
        </p:spPr>
        <p:txBody>
          <a:bodyPr vert="horz" wrap="square" rtlCol="0">
            <a:spAutoFit/>
          </a:bodyPr>
          <a:lstStyle/>
          <a:p>
            <a:r>
              <a:rPr lang="es-ES" sz="1200" dirty="0">
                <a:solidFill>
                  <a:srgbClr val="111827"/>
                </a:solidFill>
                <a:latin typeface="Segoe UI" panose="020B0502040204020203" pitchFamily="34" charset="0"/>
              </a:rPr>
              <a:t>TABLAS POR ANO: Firebird tiene tablas separadas para cada año fiscal:
  2024: CUENTAS24, SALDOS24, PRESUP24
  2025: CUENTAS25, SALDOS25, PRESUP25
  2026: CUENTAS26, SALDOS26, PRESUP26
CADA CUENTA EN SALDOS TIENE:
  12 columnas de CARGO (CARGO01...CARGO12) = dinero que ENTRA a la cuenta
  12 columnas de ABONO (ABONO01...ABONO12) = dinero que SALE de la cuenta
QUE HACE SUMMACHAM CON ESTOS DATOS:
  1. Lee las cuentas del layout (cuales mostrar)
  2. Busca sus saldos en Firebird
  3. Aplica la regla de NATURALEZA (siguiente slide)
  4. Calcula Real, Presupuesto, Acumulados y Variaciones</a:t>
            </a:r>
            <a:endParaRPr lang="es-MX" sz="1200" dirty="0">
              <a:solidFill>
                <a:srgbClr val="111827"/>
              </a:solidFill>
              <a:latin typeface="Segoe UI" panose="020B0502040204020203" pitchFamily="34" charset="0"/>
            </a:endParaRPr>
          </a:p>
        </p:txBody>
      </p:sp>
    </p:spTree>
    <p:extLst>
      <p:ext uri="{BB962C8B-B14F-4D97-AF65-F5344CB8AC3E}">
        <p14:creationId xmlns:p14="http://schemas.microsoft.com/office/powerpoint/2010/main" val="328242325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D733D7E5-2542-5757-A37F-06F1309B83EE}"/>
              </a:ext>
            </a:extLst>
          </p:cNvPr>
          <p:cNvSpPr/>
          <p:nvPr/>
        </p:nvSpPr>
        <p:spPr>
          <a:xfrm>
            <a:off x="0" y="0"/>
            <a:ext cx="9144000" cy="711200"/>
          </a:xfrm>
          <a:prstGeom prst="rect">
            <a:avLst/>
          </a:prstGeom>
          <a:solidFill>
            <a:srgbClr val="0D47A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254000" tIns="101600" rtlCol="0" anchor="ctr"/>
          <a:lstStyle/>
          <a:p>
            <a:pPr algn="ctr"/>
            <a:r>
              <a:rPr lang="es-ES" sz="2400" b="1" dirty="0">
                <a:solidFill>
                  <a:srgbClr val="FFFFFF"/>
                </a:solidFill>
                <a:latin typeface="Segoe UI" panose="020B0502040204020203" pitchFamily="34" charset="0"/>
              </a:rPr>
              <a:t>  Como se calcula el REAL (dato contable actual)</a:t>
            </a:r>
            <a:endParaRPr lang="es-MX" sz="2400" b="1" dirty="0">
              <a:solidFill>
                <a:srgbClr val="FFFFFF"/>
              </a:solidFill>
              <a:latin typeface="Segoe UI" panose="020B0502040204020203" pitchFamily="34" charset="0"/>
            </a:endParaRPr>
          </a:p>
        </p:txBody>
      </p:sp>
      <p:sp>
        <p:nvSpPr>
          <p:cNvPr id="3" name="CuadroTexto 2">
            <a:extLst>
              <a:ext uri="{FF2B5EF4-FFF2-40B4-BE49-F238E27FC236}">
                <a16:creationId xmlns:a16="http://schemas.microsoft.com/office/drawing/2014/main" id="{D7F23163-A620-C589-2B77-7F69C52BDF7A}"/>
              </a:ext>
            </a:extLst>
          </p:cNvPr>
          <p:cNvSpPr txBox="1"/>
          <p:nvPr/>
        </p:nvSpPr>
        <p:spPr>
          <a:xfrm>
            <a:off x="508000" y="863600"/>
            <a:ext cx="8128000" cy="292388"/>
          </a:xfrm>
          <a:prstGeom prst="rect">
            <a:avLst/>
          </a:prstGeom>
          <a:noFill/>
        </p:spPr>
        <p:txBody>
          <a:bodyPr vert="horz" wrap="square" rtlCol="0">
            <a:spAutoFit/>
          </a:bodyPr>
          <a:lstStyle/>
          <a:p>
            <a:r>
              <a:rPr lang="es-ES" sz="1300" dirty="0">
                <a:solidFill>
                  <a:srgbClr val="111827"/>
                </a:solidFill>
                <a:latin typeface="Segoe UI" panose="020B0502040204020203" pitchFamily="34" charset="0"/>
              </a:rPr>
              <a:t>La NATURALEZA de la cuenta decide la fórmula:</a:t>
            </a:r>
            <a:endParaRPr lang="es-MX" sz="1300" dirty="0">
              <a:solidFill>
                <a:srgbClr val="111827"/>
              </a:solidFill>
              <a:latin typeface="Segoe UI" panose="020B0502040204020203" pitchFamily="34" charset="0"/>
            </a:endParaRPr>
          </a:p>
        </p:txBody>
      </p:sp>
      <p:sp>
        <p:nvSpPr>
          <p:cNvPr id="4" name="Rectángulo: esquinas redondeadas 3">
            <a:extLst>
              <a:ext uri="{FF2B5EF4-FFF2-40B4-BE49-F238E27FC236}">
                <a16:creationId xmlns:a16="http://schemas.microsoft.com/office/drawing/2014/main" id="{5B58B1EB-017A-A6CB-FEA5-4077FF349C40}"/>
              </a:ext>
            </a:extLst>
          </p:cNvPr>
          <p:cNvSpPr/>
          <p:nvPr/>
        </p:nvSpPr>
        <p:spPr>
          <a:xfrm>
            <a:off x="571500" y="1206500"/>
            <a:ext cx="3873500" cy="508000"/>
          </a:xfrm>
          <a:prstGeom prst="roundRect">
            <a:avLst/>
          </a:prstGeom>
          <a:solidFill>
            <a:srgbClr val="2ECC7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100" b="1" dirty="0">
                <a:solidFill>
                  <a:srgbClr val="FFFFFF"/>
                </a:solidFill>
                <a:latin typeface="Segoe UI" panose="020B0502040204020203" pitchFamily="34" charset="0"/>
              </a:rPr>
              <a:t>Cuenta ACREEDORA (ingresos)
Cuentas que empiezan con 2, 3, 4</a:t>
            </a:r>
            <a:endParaRPr lang="es-MX" sz="1100" b="1" dirty="0">
              <a:solidFill>
                <a:srgbClr val="FFFFFF"/>
              </a:solidFill>
              <a:latin typeface="Segoe UI" panose="020B0502040204020203" pitchFamily="34" charset="0"/>
            </a:endParaRPr>
          </a:p>
        </p:txBody>
      </p:sp>
      <p:sp>
        <p:nvSpPr>
          <p:cNvPr id="5" name="Rectángulo 4">
            <a:extLst>
              <a:ext uri="{FF2B5EF4-FFF2-40B4-BE49-F238E27FC236}">
                <a16:creationId xmlns:a16="http://schemas.microsoft.com/office/drawing/2014/main" id="{8DAACC34-EDB5-E37A-5E6D-29380A36709C}"/>
              </a:ext>
            </a:extLst>
          </p:cNvPr>
          <p:cNvSpPr/>
          <p:nvPr/>
        </p:nvSpPr>
        <p:spPr>
          <a:xfrm>
            <a:off x="571500" y="1778000"/>
            <a:ext cx="3873500" cy="1333500"/>
          </a:xfrm>
          <a:prstGeom prst="rect">
            <a:avLst/>
          </a:prstGeom>
          <a:solidFill>
            <a:srgbClr val="F3F4F6"/>
          </a:solidFill>
          <a:ln>
            <a:solidFill>
              <a:srgbClr val="E5E7EB"/>
            </a:solidFill>
          </a:ln>
        </p:spPr>
        <p:style>
          <a:lnRef idx="2">
            <a:schemeClr val="accent1">
              <a:shade val="15000"/>
            </a:schemeClr>
          </a:lnRef>
          <a:fillRef idx="1">
            <a:schemeClr val="accent1"/>
          </a:fillRef>
          <a:effectRef idx="0">
            <a:schemeClr val="accent1"/>
          </a:effectRef>
          <a:fontRef idx="minor">
            <a:schemeClr val="lt1"/>
          </a:fontRef>
        </p:style>
        <p:txBody>
          <a:bodyPr wrap="square" lIns="177800" tIns="127000" rIns="177800" rtlCol="0" anchor="ctr"/>
          <a:lstStyle/>
          <a:p>
            <a:pPr algn="ctr"/>
            <a:r>
              <a:rPr lang="es-ES" sz="1100" dirty="0">
                <a:solidFill>
                  <a:srgbClr val="111827"/>
                </a:solidFill>
                <a:latin typeface="Consolas" panose="020B0609020204030204" pitchFamily="49" charset="0"/>
              </a:rPr>
              <a:t>Real = ABONOS - CARGOS
Ejemplo cuenta 4100 "Membership" en Junio:
  ABONO06 = 150,000  (créditos)
  CARGO06 =  15,000  (débitos)
  REAL = 150,000 - 15,000 = 135,000</a:t>
            </a:r>
            <a:endParaRPr lang="es-MX" sz="1100" dirty="0">
              <a:solidFill>
                <a:srgbClr val="111827"/>
              </a:solidFill>
              <a:latin typeface="Consolas" panose="020B0609020204030204" pitchFamily="49" charset="0"/>
            </a:endParaRPr>
          </a:p>
        </p:txBody>
      </p:sp>
      <p:sp>
        <p:nvSpPr>
          <p:cNvPr id="6" name="Rectángulo: esquinas redondeadas 5">
            <a:extLst>
              <a:ext uri="{FF2B5EF4-FFF2-40B4-BE49-F238E27FC236}">
                <a16:creationId xmlns:a16="http://schemas.microsoft.com/office/drawing/2014/main" id="{93758A91-DA8B-ADF9-EE4F-BF8AD35DCE33}"/>
              </a:ext>
            </a:extLst>
          </p:cNvPr>
          <p:cNvSpPr/>
          <p:nvPr/>
        </p:nvSpPr>
        <p:spPr>
          <a:xfrm>
            <a:off x="4572000" y="1206500"/>
            <a:ext cx="3873500" cy="508000"/>
          </a:xfrm>
          <a:prstGeom prst="roundRect">
            <a:avLst/>
          </a:prstGeom>
          <a:solidFill>
            <a:srgbClr val="E67E2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100" b="1" dirty="0">
                <a:solidFill>
                  <a:srgbClr val="FFFFFF"/>
                </a:solidFill>
                <a:latin typeface="Segoe UI" panose="020B0502040204020203" pitchFamily="34" charset="0"/>
              </a:rPr>
              <a:t>Cuenta DEUDORA (gastos)
Cuentas que empiezan con 1, 5-9</a:t>
            </a:r>
            <a:endParaRPr lang="es-MX" sz="1100" b="1" dirty="0">
              <a:solidFill>
                <a:srgbClr val="FFFFFF"/>
              </a:solidFill>
              <a:latin typeface="Segoe UI" panose="020B0502040204020203" pitchFamily="34" charset="0"/>
            </a:endParaRPr>
          </a:p>
        </p:txBody>
      </p:sp>
      <p:sp>
        <p:nvSpPr>
          <p:cNvPr id="7" name="Rectángulo 6">
            <a:extLst>
              <a:ext uri="{FF2B5EF4-FFF2-40B4-BE49-F238E27FC236}">
                <a16:creationId xmlns:a16="http://schemas.microsoft.com/office/drawing/2014/main" id="{05BCDD02-1EC6-7871-795A-4454255B42DE}"/>
              </a:ext>
            </a:extLst>
          </p:cNvPr>
          <p:cNvSpPr/>
          <p:nvPr/>
        </p:nvSpPr>
        <p:spPr>
          <a:xfrm>
            <a:off x="4572000" y="1778000"/>
            <a:ext cx="3873500" cy="1333500"/>
          </a:xfrm>
          <a:prstGeom prst="rect">
            <a:avLst/>
          </a:prstGeom>
          <a:solidFill>
            <a:srgbClr val="F3F4F6"/>
          </a:solidFill>
          <a:ln>
            <a:solidFill>
              <a:srgbClr val="E5E7EB"/>
            </a:solidFill>
          </a:ln>
        </p:spPr>
        <p:style>
          <a:lnRef idx="2">
            <a:schemeClr val="accent1">
              <a:shade val="15000"/>
            </a:schemeClr>
          </a:lnRef>
          <a:fillRef idx="1">
            <a:schemeClr val="accent1"/>
          </a:fillRef>
          <a:effectRef idx="0">
            <a:schemeClr val="accent1"/>
          </a:effectRef>
          <a:fontRef idx="minor">
            <a:schemeClr val="lt1"/>
          </a:fontRef>
        </p:style>
        <p:txBody>
          <a:bodyPr wrap="square" lIns="177800" tIns="127000" rIns="177800" rtlCol="0" anchor="ctr"/>
          <a:lstStyle/>
          <a:p>
            <a:pPr algn="ctr"/>
            <a:r>
              <a:rPr lang="es-ES" sz="1100" dirty="0">
                <a:solidFill>
                  <a:srgbClr val="111827"/>
                </a:solidFill>
                <a:latin typeface="Consolas" panose="020B0609020204030204" pitchFamily="49" charset="0"/>
              </a:rPr>
              <a:t>Real = CARGOS - ABONOS
Ejemplo cuenta 5100 "Salaries" en Junio:
  CARGO06 = 120,000  (débitos)
  ABONO06 =   5,000  (créditos)
  REAL = 120,000 - 5,000 = 115,000</a:t>
            </a:r>
            <a:endParaRPr lang="es-MX" sz="1100" dirty="0">
              <a:solidFill>
                <a:srgbClr val="111827"/>
              </a:solidFill>
              <a:latin typeface="Consolas" panose="020B0609020204030204" pitchFamily="49" charset="0"/>
            </a:endParaRPr>
          </a:p>
        </p:txBody>
      </p:sp>
      <p:sp>
        <p:nvSpPr>
          <p:cNvPr id="8" name="Rectángulo 7">
            <a:extLst>
              <a:ext uri="{FF2B5EF4-FFF2-40B4-BE49-F238E27FC236}">
                <a16:creationId xmlns:a16="http://schemas.microsoft.com/office/drawing/2014/main" id="{9719FCBC-BF6B-2C00-774E-82F389E4C2C5}"/>
              </a:ext>
            </a:extLst>
          </p:cNvPr>
          <p:cNvSpPr/>
          <p:nvPr/>
        </p:nvSpPr>
        <p:spPr>
          <a:xfrm>
            <a:off x="508000" y="3238500"/>
            <a:ext cx="8128000" cy="19050"/>
          </a:xfrm>
          <a:prstGeom prst="rect">
            <a:avLst/>
          </a:prstGeom>
          <a:solidFill>
            <a:srgbClr val="E5E7E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dirty="0"/>
          </a:p>
        </p:txBody>
      </p:sp>
      <p:sp>
        <p:nvSpPr>
          <p:cNvPr id="9" name="CuadroTexto 8">
            <a:extLst>
              <a:ext uri="{FF2B5EF4-FFF2-40B4-BE49-F238E27FC236}">
                <a16:creationId xmlns:a16="http://schemas.microsoft.com/office/drawing/2014/main" id="{A5518535-ED61-010C-C0C6-676DD0AA44D5}"/>
              </a:ext>
            </a:extLst>
          </p:cNvPr>
          <p:cNvSpPr txBox="1"/>
          <p:nvPr/>
        </p:nvSpPr>
        <p:spPr>
          <a:xfrm>
            <a:off x="508000" y="3365500"/>
            <a:ext cx="8128000" cy="1384995"/>
          </a:xfrm>
          <a:prstGeom prst="rect">
            <a:avLst/>
          </a:prstGeom>
          <a:noFill/>
        </p:spPr>
        <p:txBody>
          <a:bodyPr vert="horz" wrap="square" rtlCol="0">
            <a:spAutoFit/>
          </a:bodyPr>
          <a:lstStyle/>
          <a:p>
            <a:r>
              <a:rPr lang="es-ES" sz="1200" dirty="0">
                <a:solidFill>
                  <a:srgbClr val="111827"/>
                </a:solidFill>
                <a:latin typeface="Segoe UI" panose="020B0502040204020203" pitchFamily="34" charset="0"/>
              </a:rPr>
              <a:t>¿POR QUÉ ES DIFERENTE?
  Porque en contabilidad, un ingreso AUMENTA con abonos (créditos)
  y un gasto AUMENTA con cargos (débitos). La fórmula ajusta para que
  el numero siempre sea POSITIVO cuando la cuenta tiene saldo a favor.
ARCHIVO CLAVE: src/services/planeacionCuentasService.js
  Función: obtenerSaldosPorCuentas() y determinarNaturalezaReal()</a:t>
            </a:r>
            <a:endParaRPr lang="es-MX" sz="1200" dirty="0">
              <a:solidFill>
                <a:srgbClr val="111827"/>
              </a:solidFill>
              <a:latin typeface="Segoe UI" panose="020B0502040204020203" pitchFamily="34" charset="0"/>
            </a:endParaRPr>
          </a:p>
        </p:txBody>
      </p:sp>
    </p:spTree>
    <p:extLst>
      <p:ext uri="{BB962C8B-B14F-4D97-AF65-F5344CB8AC3E}">
        <p14:creationId xmlns:p14="http://schemas.microsoft.com/office/powerpoint/2010/main" val="47582989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5AEADBAC-C519-6838-B218-CB0163CCEA10}"/>
              </a:ext>
            </a:extLst>
          </p:cNvPr>
          <p:cNvSpPr/>
          <p:nvPr/>
        </p:nvSpPr>
        <p:spPr>
          <a:xfrm>
            <a:off x="0" y="0"/>
            <a:ext cx="9144000" cy="711200"/>
          </a:xfrm>
          <a:prstGeom prst="rect">
            <a:avLst/>
          </a:prstGeom>
          <a:solidFill>
            <a:srgbClr val="0D47A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254000" tIns="101600" rtlCol="0" anchor="ctr"/>
          <a:lstStyle/>
          <a:p>
            <a:pPr algn="ctr"/>
            <a:r>
              <a:rPr lang="es-ES" sz="2400" b="1" dirty="0">
                <a:solidFill>
                  <a:srgbClr val="FFFFFF"/>
                </a:solidFill>
                <a:latin typeface="Segoe UI" panose="020B0502040204020203" pitchFamily="34" charset="0"/>
              </a:rPr>
              <a:t>  PARTE 6: Como se calcula el PRESUPUESTO</a:t>
            </a:r>
            <a:endParaRPr lang="es-MX" sz="2400" b="1" dirty="0">
              <a:solidFill>
                <a:srgbClr val="FFFFFF"/>
              </a:solidFill>
              <a:latin typeface="Segoe UI" panose="020B0502040204020203" pitchFamily="34" charset="0"/>
            </a:endParaRPr>
          </a:p>
        </p:txBody>
      </p:sp>
      <p:sp>
        <p:nvSpPr>
          <p:cNvPr id="3" name="CuadroTexto 2">
            <a:extLst>
              <a:ext uri="{FF2B5EF4-FFF2-40B4-BE49-F238E27FC236}">
                <a16:creationId xmlns:a16="http://schemas.microsoft.com/office/drawing/2014/main" id="{1C73FDD0-5A29-B179-0EE3-0D333DAAE3D0}"/>
              </a:ext>
            </a:extLst>
          </p:cNvPr>
          <p:cNvSpPr txBox="1"/>
          <p:nvPr/>
        </p:nvSpPr>
        <p:spPr>
          <a:xfrm>
            <a:off x="508000" y="863600"/>
            <a:ext cx="8128000" cy="292388"/>
          </a:xfrm>
          <a:prstGeom prst="rect">
            <a:avLst/>
          </a:prstGeom>
          <a:noFill/>
        </p:spPr>
        <p:txBody>
          <a:bodyPr vert="horz" wrap="square" rtlCol="0">
            <a:spAutoFit/>
          </a:bodyPr>
          <a:lstStyle/>
          <a:p>
            <a:r>
              <a:rPr lang="es-ES" sz="1300" dirty="0">
                <a:solidFill>
                  <a:srgbClr val="111827"/>
                </a:solidFill>
                <a:latin typeface="Segoe UI" panose="020B0502040204020203" pitchFamily="34" charset="0"/>
              </a:rPr>
              <a:t>El presupuesto es MÁS SIMPLE que el Real. Se lee directo:</a:t>
            </a:r>
            <a:endParaRPr lang="es-MX" sz="1300" dirty="0">
              <a:solidFill>
                <a:srgbClr val="111827"/>
              </a:solidFill>
              <a:latin typeface="Segoe UI" panose="020B0502040204020203" pitchFamily="34" charset="0"/>
            </a:endParaRPr>
          </a:p>
        </p:txBody>
      </p:sp>
      <p:sp>
        <p:nvSpPr>
          <p:cNvPr id="4" name="Rectángulo 3">
            <a:extLst>
              <a:ext uri="{FF2B5EF4-FFF2-40B4-BE49-F238E27FC236}">
                <a16:creationId xmlns:a16="http://schemas.microsoft.com/office/drawing/2014/main" id="{4914AD1B-9D2F-CE63-9C76-135DE736228F}"/>
              </a:ext>
            </a:extLst>
          </p:cNvPr>
          <p:cNvSpPr/>
          <p:nvPr/>
        </p:nvSpPr>
        <p:spPr>
          <a:xfrm>
            <a:off x="508000" y="1206500"/>
            <a:ext cx="8128000" cy="1841500"/>
          </a:xfrm>
          <a:prstGeom prst="rect">
            <a:avLst/>
          </a:prstGeom>
          <a:solidFill>
            <a:srgbClr val="F3F4F6"/>
          </a:solidFill>
          <a:ln>
            <a:solidFill>
              <a:srgbClr val="E5E7EB"/>
            </a:solidFill>
          </a:ln>
        </p:spPr>
        <p:style>
          <a:lnRef idx="2">
            <a:schemeClr val="accent1">
              <a:shade val="15000"/>
            </a:schemeClr>
          </a:lnRef>
          <a:fillRef idx="1">
            <a:schemeClr val="accent1"/>
          </a:fillRef>
          <a:effectRef idx="0">
            <a:schemeClr val="accent1"/>
          </a:effectRef>
          <a:fontRef idx="minor">
            <a:schemeClr val="lt1"/>
          </a:fontRef>
        </p:style>
        <p:txBody>
          <a:bodyPr wrap="square" lIns="177800" tIns="127000" rIns="177800" rtlCol="0" anchor="ctr"/>
          <a:lstStyle/>
          <a:p>
            <a:r>
              <a:rPr lang="es-MX" sz="1100" dirty="0">
                <a:solidFill>
                  <a:srgbClr val="111827"/>
                </a:solidFill>
                <a:latin typeface="Consolas" panose="020B0609020204030204" pitchFamily="49" charset="0"/>
              </a:rPr>
              <a:t>-- Tabla Firebird: PRESUP25 (presupuestos del ano 2025)
-- Tiene 12 columnas: PRESUP01, PRESUP02, ... PRESUP12
SELECT pr.NUM_CTA,
       COALESCE(pr.PRESUP06, 0) AS presupuesto_junio
FROM PRESUP25 pr
WHERE pr.NUM_CTA IN ('4100', '5100')
-- Resultado:
-- 4100 (Membership):  PRESUP06 = 140,000  &lt;- se usa TAL CUAL
-- 5100 (Salaries):    PRESUP06 = 110,000  &lt;- se usa TAL CUAL</a:t>
            </a:r>
          </a:p>
        </p:txBody>
      </p:sp>
      <p:sp>
        <p:nvSpPr>
          <p:cNvPr id="5" name="CuadroTexto 4">
            <a:extLst>
              <a:ext uri="{FF2B5EF4-FFF2-40B4-BE49-F238E27FC236}">
                <a16:creationId xmlns:a16="http://schemas.microsoft.com/office/drawing/2014/main" id="{36D601F2-0FC5-F1C9-1F8A-9DAF825DF0A8}"/>
              </a:ext>
            </a:extLst>
          </p:cNvPr>
          <p:cNvSpPr txBox="1"/>
          <p:nvPr/>
        </p:nvSpPr>
        <p:spPr>
          <a:xfrm>
            <a:off x="508000" y="3238500"/>
            <a:ext cx="8128000" cy="1692771"/>
          </a:xfrm>
          <a:prstGeom prst="rect">
            <a:avLst/>
          </a:prstGeom>
          <a:noFill/>
        </p:spPr>
        <p:txBody>
          <a:bodyPr vert="horz" wrap="square" rtlCol="0">
            <a:spAutoFit/>
          </a:bodyPr>
          <a:lstStyle/>
          <a:p>
            <a:r>
              <a:rPr lang="es-ES" sz="1300" dirty="0">
                <a:solidFill>
                  <a:srgbClr val="111827"/>
                </a:solidFill>
                <a:latin typeface="Segoe UI" panose="020B0502040204020203" pitchFamily="34" charset="0"/>
              </a:rPr>
              <a:t>DIFERENCIA CLAVE CON EL REAL:
  El REAL se CALCULA (abonos - cargos o cargos - abonos según naturaleza)
  El PRESUPUESTO se LEE directamente de la tabla (sin calculo)
PARA QUE SIRVE LA COMPARACIÓN:
  Si Real = 135,000 y Presupuesto = 140,000
  Variación = (135K - 140K) / 140K x 100 = -3.6%
  Significa que estás 3.6% por debajo de lo planeado</a:t>
            </a:r>
            <a:endParaRPr lang="es-MX" sz="1300" dirty="0">
              <a:solidFill>
                <a:srgbClr val="111827"/>
              </a:solidFill>
              <a:latin typeface="Segoe UI" panose="020B0502040204020203" pitchFamily="34" charset="0"/>
            </a:endParaRPr>
          </a:p>
        </p:txBody>
      </p:sp>
    </p:spTree>
    <p:extLst>
      <p:ext uri="{BB962C8B-B14F-4D97-AF65-F5344CB8AC3E}">
        <p14:creationId xmlns:p14="http://schemas.microsoft.com/office/powerpoint/2010/main" val="317471061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D491AACD-3FD8-1DBE-7ACA-DA841CFEE37C}"/>
              </a:ext>
            </a:extLst>
          </p:cNvPr>
          <p:cNvSpPr/>
          <p:nvPr/>
        </p:nvSpPr>
        <p:spPr>
          <a:xfrm>
            <a:off x="0" y="0"/>
            <a:ext cx="9144000" cy="711200"/>
          </a:xfrm>
          <a:prstGeom prst="rect">
            <a:avLst/>
          </a:prstGeom>
          <a:solidFill>
            <a:srgbClr val="0D47A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254000" tIns="101600" rtlCol="0" anchor="ctr"/>
          <a:lstStyle/>
          <a:p>
            <a:pPr algn="ctr"/>
            <a:r>
              <a:rPr lang="es-ES" sz="2400" b="1" dirty="0">
                <a:solidFill>
                  <a:srgbClr val="FFFFFF"/>
                </a:solidFill>
                <a:latin typeface="Segoe UI" panose="020B0502040204020203" pitchFamily="34" charset="0"/>
              </a:rPr>
              <a:t>  Como se calculan los ACUMULADOS (YTD)</a:t>
            </a:r>
            <a:endParaRPr lang="es-MX" sz="2400" b="1" dirty="0">
              <a:solidFill>
                <a:srgbClr val="FFFFFF"/>
              </a:solidFill>
              <a:latin typeface="Segoe UI" panose="020B0502040204020203" pitchFamily="34" charset="0"/>
            </a:endParaRPr>
          </a:p>
        </p:txBody>
      </p:sp>
      <p:sp>
        <p:nvSpPr>
          <p:cNvPr id="3" name="CuadroTexto 2">
            <a:extLst>
              <a:ext uri="{FF2B5EF4-FFF2-40B4-BE49-F238E27FC236}">
                <a16:creationId xmlns:a16="http://schemas.microsoft.com/office/drawing/2014/main" id="{98746CBA-1824-8439-BD19-A1C3BED0C45E}"/>
              </a:ext>
            </a:extLst>
          </p:cNvPr>
          <p:cNvSpPr txBox="1"/>
          <p:nvPr/>
        </p:nvSpPr>
        <p:spPr>
          <a:xfrm>
            <a:off x="508000" y="863600"/>
            <a:ext cx="8128000" cy="292388"/>
          </a:xfrm>
          <a:prstGeom prst="rect">
            <a:avLst/>
          </a:prstGeom>
          <a:noFill/>
        </p:spPr>
        <p:txBody>
          <a:bodyPr vert="horz" wrap="square" rtlCol="0">
            <a:spAutoFit/>
          </a:bodyPr>
          <a:lstStyle/>
          <a:p>
            <a:r>
              <a:rPr lang="es-ES" sz="1300" dirty="0">
                <a:solidFill>
                  <a:srgbClr val="111827"/>
                </a:solidFill>
                <a:latin typeface="Segoe UI" panose="020B0502040204020203" pitchFamily="34" charset="0"/>
              </a:rPr>
              <a:t>YTD = Year-To-Date = Suma desde Enero hasta el mes que seleccionaste:</a:t>
            </a:r>
            <a:endParaRPr lang="es-MX" sz="1300" dirty="0">
              <a:solidFill>
                <a:srgbClr val="111827"/>
              </a:solidFill>
              <a:latin typeface="Segoe UI" panose="020B0502040204020203" pitchFamily="34" charset="0"/>
            </a:endParaRPr>
          </a:p>
        </p:txBody>
      </p:sp>
      <p:sp>
        <p:nvSpPr>
          <p:cNvPr id="4" name="Rectángulo 3">
            <a:extLst>
              <a:ext uri="{FF2B5EF4-FFF2-40B4-BE49-F238E27FC236}">
                <a16:creationId xmlns:a16="http://schemas.microsoft.com/office/drawing/2014/main" id="{32002FDF-CCF2-02C9-4D9D-B4CB1BFD6D61}"/>
              </a:ext>
            </a:extLst>
          </p:cNvPr>
          <p:cNvSpPr/>
          <p:nvPr/>
        </p:nvSpPr>
        <p:spPr>
          <a:xfrm>
            <a:off x="508000" y="1206500"/>
            <a:ext cx="8128000" cy="952500"/>
          </a:xfrm>
          <a:prstGeom prst="rect">
            <a:avLst/>
          </a:prstGeom>
          <a:solidFill>
            <a:srgbClr val="F3F4F6"/>
          </a:solidFill>
          <a:ln>
            <a:solidFill>
              <a:srgbClr val="E5E7EB"/>
            </a:solidFill>
          </a:ln>
        </p:spPr>
        <p:style>
          <a:lnRef idx="2">
            <a:schemeClr val="accent1">
              <a:shade val="15000"/>
            </a:schemeClr>
          </a:lnRef>
          <a:fillRef idx="1">
            <a:schemeClr val="accent1"/>
          </a:fillRef>
          <a:effectRef idx="0">
            <a:schemeClr val="accent1"/>
          </a:effectRef>
          <a:fontRef idx="minor">
            <a:schemeClr val="lt1"/>
          </a:fontRef>
        </p:style>
        <p:txBody>
          <a:bodyPr wrap="square" lIns="177800" tIns="127000" rIns="177800" rtlCol="0" anchor="ctr"/>
          <a:lstStyle/>
          <a:p>
            <a:r>
              <a:rPr lang="es-ES" sz="1100" dirty="0">
                <a:solidFill>
                  <a:srgbClr val="111827"/>
                </a:solidFill>
                <a:latin typeface="Consolas" panose="020B0609020204030204" pitchFamily="49" charset="0"/>
              </a:rPr>
              <a:t>Si seleccionas MES = 6 (Junio):
  Real Acumulado = Real Ene + Real Feb + Real Mar + Real Abr + Real May + Real Jun
  Ppto Acumulado = PRESUP01 + PRESUP02 + PRESUP03 + PRESUP04 + PRESUP05 + PRESUP06
  Real Acum AA   = Misma suma pero del ano ANTERIOR (SALDOS24 en vez de SALDOS25)</a:t>
            </a:r>
            <a:endParaRPr lang="es-MX" sz="1100" dirty="0">
              <a:solidFill>
                <a:srgbClr val="111827"/>
              </a:solidFill>
              <a:latin typeface="Consolas" panose="020B0609020204030204" pitchFamily="49" charset="0"/>
            </a:endParaRPr>
          </a:p>
        </p:txBody>
      </p:sp>
      <p:sp>
        <p:nvSpPr>
          <p:cNvPr id="5" name="CuadroTexto 4">
            <a:extLst>
              <a:ext uri="{FF2B5EF4-FFF2-40B4-BE49-F238E27FC236}">
                <a16:creationId xmlns:a16="http://schemas.microsoft.com/office/drawing/2014/main" id="{803988C7-CD8B-0594-CED9-593BDC7A473B}"/>
              </a:ext>
            </a:extLst>
          </p:cNvPr>
          <p:cNvSpPr txBox="1"/>
          <p:nvPr/>
        </p:nvSpPr>
        <p:spPr>
          <a:xfrm>
            <a:off x="508000" y="2286000"/>
            <a:ext cx="8128000" cy="1785104"/>
          </a:xfrm>
          <a:prstGeom prst="rect">
            <a:avLst/>
          </a:prstGeom>
          <a:noFill/>
        </p:spPr>
        <p:txBody>
          <a:bodyPr vert="horz" wrap="square" rtlCol="0">
            <a:spAutoFit/>
          </a:bodyPr>
          <a:lstStyle/>
          <a:p>
            <a:r>
              <a:rPr lang="es-ES" sz="1100" dirty="0">
                <a:solidFill>
                  <a:srgbClr val="111827"/>
                </a:solidFill>
                <a:latin typeface="Segoe UI" panose="020B0502040204020203" pitchFamily="34" charset="0"/>
              </a:rPr>
              <a:t>EJEMPLO - Cuenta 4100 "Membership" - Selección: Junio 2025
  Valor                  Número      Qué significa
  ------------------     ----------  ------------------------------------------
  Real del Mes           135,000     Movimiento neto de Junio 2025
  Presupuesto del Mes    140,000     Lo que se planeo para Junio 2025
  Real Acumulado         810,000     Suma real de Enero a Junio 2025
  Ppto Acumulado         840,000     Suma planeada de Enero a Junio 2025
  Real Acumulado AA      780,000     Suma real de Enero a Junio 2024
  Variación vs Plan      -3.6%       (Real - Ppto) / Ppto = debajo del plan</a:t>
            </a:r>
            <a:endParaRPr lang="es-MX" sz="1100" dirty="0">
              <a:solidFill>
                <a:srgbClr val="111827"/>
              </a:solidFill>
              <a:latin typeface="Segoe UI" panose="020B0502040204020203" pitchFamily="34" charset="0"/>
            </a:endParaRPr>
          </a:p>
        </p:txBody>
      </p:sp>
      <p:sp>
        <p:nvSpPr>
          <p:cNvPr id="6" name="Rectángulo 5">
            <a:extLst>
              <a:ext uri="{FF2B5EF4-FFF2-40B4-BE49-F238E27FC236}">
                <a16:creationId xmlns:a16="http://schemas.microsoft.com/office/drawing/2014/main" id="{60374504-A13C-6D47-13B7-C2CCAE6E9016}"/>
              </a:ext>
            </a:extLst>
          </p:cNvPr>
          <p:cNvSpPr/>
          <p:nvPr/>
        </p:nvSpPr>
        <p:spPr>
          <a:xfrm>
            <a:off x="508000" y="4038600"/>
            <a:ext cx="8128000" cy="19050"/>
          </a:xfrm>
          <a:prstGeom prst="rect">
            <a:avLst/>
          </a:prstGeom>
          <a:solidFill>
            <a:srgbClr val="E5E7E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dirty="0"/>
          </a:p>
        </p:txBody>
      </p:sp>
      <p:sp>
        <p:nvSpPr>
          <p:cNvPr id="7" name="CuadroTexto 6">
            <a:extLst>
              <a:ext uri="{FF2B5EF4-FFF2-40B4-BE49-F238E27FC236}">
                <a16:creationId xmlns:a16="http://schemas.microsoft.com/office/drawing/2014/main" id="{8C0592CE-026A-CF6E-6585-551401D824EA}"/>
              </a:ext>
            </a:extLst>
          </p:cNvPr>
          <p:cNvSpPr txBox="1"/>
          <p:nvPr/>
        </p:nvSpPr>
        <p:spPr>
          <a:xfrm>
            <a:off x="508000" y="4127500"/>
            <a:ext cx="8128000" cy="938719"/>
          </a:xfrm>
          <a:prstGeom prst="rect">
            <a:avLst/>
          </a:prstGeom>
          <a:noFill/>
        </p:spPr>
        <p:txBody>
          <a:bodyPr vert="horz" wrap="square" rtlCol="0">
            <a:spAutoFit/>
          </a:bodyPr>
          <a:lstStyle/>
          <a:p>
            <a:r>
              <a:rPr lang="es-MX" sz="1100" dirty="0">
                <a:solidFill>
                  <a:srgbClr val="111827"/>
                </a:solidFill>
                <a:latin typeface="Segoe UI" panose="020B0502040204020203" pitchFamily="34" charset="0"/>
              </a:rPr>
              <a:t>ESTOS 6 VALORES SON LOS QUE VES EN CADA FILA DEL REPORTE:
  actualMonth (Real)  |  planMonth (Ppto)  |  prevMonth (Real año anterior)
  actualYTD (Real Acum)  |  planYTD (Ppto Acum)  |  prevYTD (Real Acum AA)
ARCHIVOS: planeacionCuentasService.js (query SQL) + planeacionReportesEngine.js (calculo)</a:t>
            </a:r>
          </a:p>
        </p:txBody>
      </p:sp>
    </p:spTree>
    <p:extLst>
      <p:ext uri="{BB962C8B-B14F-4D97-AF65-F5344CB8AC3E}">
        <p14:creationId xmlns:p14="http://schemas.microsoft.com/office/powerpoint/2010/main" val="314359581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EC5B59A0-366D-6F9D-0B91-CAA1ED8FFA71}"/>
              </a:ext>
            </a:extLst>
          </p:cNvPr>
          <p:cNvSpPr/>
          <p:nvPr/>
        </p:nvSpPr>
        <p:spPr>
          <a:xfrm>
            <a:off x="0" y="0"/>
            <a:ext cx="9144000" cy="711200"/>
          </a:xfrm>
          <a:prstGeom prst="rect">
            <a:avLst/>
          </a:prstGeom>
          <a:solidFill>
            <a:srgbClr val="0D47A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254000" tIns="101600" rtlCol="0" anchor="ctr"/>
          <a:lstStyle/>
          <a:p>
            <a:pPr algn="ctr"/>
            <a:r>
              <a:rPr lang="es-MX" sz="2400" b="1" dirty="0">
                <a:solidFill>
                  <a:srgbClr val="FFFFFF"/>
                </a:solidFill>
                <a:latin typeface="Segoe UI" panose="020B0502040204020203" pitchFamily="34" charset="0"/>
              </a:rPr>
              <a:t>  Flujo completo: De Firebird a tu pantalla</a:t>
            </a:r>
          </a:p>
        </p:txBody>
      </p:sp>
      <p:sp>
        <p:nvSpPr>
          <p:cNvPr id="3" name="Rectángulo: esquinas redondeadas 2">
            <a:extLst>
              <a:ext uri="{FF2B5EF4-FFF2-40B4-BE49-F238E27FC236}">
                <a16:creationId xmlns:a16="http://schemas.microsoft.com/office/drawing/2014/main" id="{111472E7-DCD7-B00B-F94D-F6334570E68F}"/>
              </a:ext>
            </a:extLst>
          </p:cNvPr>
          <p:cNvSpPr/>
          <p:nvPr/>
        </p:nvSpPr>
        <p:spPr>
          <a:xfrm>
            <a:off x="1313180" y="914400"/>
            <a:ext cx="3600000" cy="508000"/>
          </a:xfrm>
          <a:prstGeom prst="roundRect">
            <a:avLst/>
          </a:prstGeom>
          <a:solidFill>
            <a:srgbClr val="34495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200" b="1" dirty="0">
                <a:solidFill>
                  <a:srgbClr val="FFFFFF"/>
                </a:solidFill>
                <a:latin typeface="Segoe UI" panose="020B0502040204020203" pitchFamily="34" charset="0"/>
              </a:rPr>
              <a:t>FIREBIRD - Aspel COI
SALDOS25 + PRESUP25 + CUENTAS25</a:t>
            </a:r>
            <a:endParaRPr lang="es-MX" sz="1200" b="1" dirty="0">
              <a:solidFill>
                <a:srgbClr val="FFFFFF"/>
              </a:solidFill>
              <a:latin typeface="Segoe UI" panose="020B0502040204020203" pitchFamily="34" charset="0"/>
            </a:endParaRPr>
          </a:p>
        </p:txBody>
      </p:sp>
      <p:sp>
        <p:nvSpPr>
          <p:cNvPr id="4" name="Cilindro 3">
            <a:extLst>
              <a:ext uri="{FF2B5EF4-FFF2-40B4-BE49-F238E27FC236}">
                <a16:creationId xmlns:a16="http://schemas.microsoft.com/office/drawing/2014/main" id="{1B406168-0D69-0150-F708-F50F557173C9}"/>
              </a:ext>
            </a:extLst>
          </p:cNvPr>
          <p:cNvSpPr/>
          <p:nvPr/>
        </p:nvSpPr>
        <p:spPr>
          <a:xfrm rot="5400000">
            <a:off x="2961640" y="1460500"/>
            <a:ext cx="228600" cy="304800"/>
          </a:xfrm>
          <a:prstGeom prst="can">
            <a:avLst/>
          </a:prstGeom>
          <a:solidFill>
            <a:srgbClr val="0D47A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dirty="0"/>
          </a:p>
        </p:txBody>
      </p:sp>
      <p:sp>
        <p:nvSpPr>
          <p:cNvPr id="5" name="Rectángulo: esquinas redondeadas 4">
            <a:extLst>
              <a:ext uri="{FF2B5EF4-FFF2-40B4-BE49-F238E27FC236}">
                <a16:creationId xmlns:a16="http://schemas.microsoft.com/office/drawing/2014/main" id="{406192CA-035C-F89A-9B12-11B783BCCAB0}"/>
              </a:ext>
            </a:extLst>
          </p:cNvPr>
          <p:cNvSpPr/>
          <p:nvPr/>
        </p:nvSpPr>
        <p:spPr>
          <a:xfrm>
            <a:off x="1313180" y="1841500"/>
            <a:ext cx="3600000" cy="508000"/>
          </a:xfrm>
          <a:prstGeom prst="roundRect">
            <a:avLst/>
          </a:prstGeom>
          <a:solidFill>
            <a:srgbClr val="E67E2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000" b="1" dirty="0">
                <a:solidFill>
                  <a:srgbClr val="FFFFFF"/>
                </a:solidFill>
                <a:latin typeface="Segoe UI" panose="020B0502040204020203" pitchFamily="34" charset="0"/>
              </a:rPr>
              <a:t>planeacionCuentasService.js
obtenerSaldosPorCuentas(empresaId, 2025, cuentas)</a:t>
            </a:r>
            <a:endParaRPr lang="es-MX" sz="1000" b="1" dirty="0">
              <a:solidFill>
                <a:srgbClr val="FFFFFF"/>
              </a:solidFill>
              <a:latin typeface="Segoe UI" panose="020B0502040204020203" pitchFamily="34" charset="0"/>
            </a:endParaRPr>
          </a:p>
        </p:txBody>
      </p:sp>
      <p:sp>
        <p:nvSpPr>
          <p:cNvPr id="6" name="CuadroTexto 5">
            <a:extLst>
              <a:ext uri="{FF2B5EF4-FFF2-40B4-BE49-F238E27FC236}">
                <a16:creationId xmlns:a16="http://schemas.microsoft.com/office/drawing/2014/main" id="{0A5A1525-3931-2D87-2F3C-0D93B54746BA}"/>
              </a:ext>
            </a:extLst>
          </p:cNvPr>
          <p:cNvSpPr txBox="1"/>
          <p:nvPr/>
        </p:nvSpPr>
        <p:spPr>
          <a:xfrm>
            <a:off x="5438140" y="1968500"/>
            <a:ext cx="3175000" cy="230832"/>
          </a:xfrm>
          <a:prstGeom prst="rect">
            <a:avLst/>
          </a:prstGeom>
          <a:noFill/>
        </p:spPr>
        <p:txBody>
          <a:bodyPr vert="horz" rtlCol="0">
            <a:spAutoFit/>
          </a:bodyPr>
          <a:lstStyle/>
          <a:p>
            <a:r>
              <a:rPr lang="es-MX" sz="900" dirty="0">
                <a:solidFill>
                  <a:srgbClr val="6B7280"/>
                </a:solidFill>
                <a:latin typeface="Segoe UI" panose="020B0502040204020203" pitchFamily="34" charset="0"/>
              </a:rPr>
              <a:t>Ejecuta SQL, aplica naturaleza, calcula Real</a:t>
            </a:r>
          </a:p>
        </p:txBody>
      </p:sp>
      <p:sp>
        <p:nvSpPr>
          <p:cNvPr id="7" name="Cilindro 6">
            <a:extLst>
              <a:ext uri="{FF2B5EF4-FFF2-40B4-BE49-F238E27FC236}">
                <a16:creationId xmlns:a16="http://schemas.microsoft.com/office/drawing/2014/main" id="{68B7547A-85DE-4FC2-276F-BAEB43F9543C}"/>
              </a:ext>
            </a:extLst>
          </p:cNvPr>
          <p:cNvSpPr/>
          <p:nvPr/>
        </p:nvSpPr>
        <p:spPr>
          <a:xfrm rot="5400000">
            <a:off x="2961640" y="2387600"/>
            <a:ext cx="228600" cy="304800"/>
          </a:xfrm>
          <a:prstGeom prst="can">
            <a:avLst/>
          </a:prstGeom>
          <a:solidFill>
            <a:srgbClr val="0D47A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dirty="0"/>
          </a:p>
        </p:txBody>
      </p:sp>
      <p:sp>
        <p:nvSpPr>
          <p:cNvPr id="8" name="Rectángulo: esquinas redondeadas 7">
            <a:extLst>
              <a:ext uri="{FF2B5EF4-FFF2-40B4-BE49-F238E27FC236}">
                <a16:creationId xmlns:a16="http://schemas.microsoft.com/office/drawing/2014/main" id="{EA0798C2-B6B8-65D1-9198-3B7487B5CB63}"/>
              </a:ext>
            </a:extLst>
          </p:cNvPr>
          <p:cNvSpPr/>
          <p:nvPr/>
        </p:nvSpPr>
        <p:spPr>
          <a:xfrm>
            <a:off x="1313180" y="2768600"/>
            <a:ext cx="3600000" cy="508000"/>
          </a:xfrm>
          <a:prstGeom prst="roundRect">
            <a:avLst/>
          </a:prstGeom>
          <a:solidFill>
            <a:srgbClr val="E67E2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000" b="1" dirty="0">
                <a:solidFill>
                  <a:srgbClr val="FFFFFF"/>
                </a:solidFill>
                <a:latin typeface="Segoe UI" panose="020B0502040204020203" pitchFamily="34" charset="0"/>
              </a:rPr>
              <a:t>planeacionReportesEngine.js
generarReporte('RESUMEN', empresa1, 2025, 6)</a:t>
            </a:r>
          </a:p>
        </p:txBody>
      </p:sp>
      <p:sp>
        <p:nvSpPr>
          <p:cNvPr id="9" name="CuadroTexto 8">
            <a:extLst>
              <a:ext uri="{FF2B5EF4-FFF2-40B4-BE49-F238E27FC236}">
                <a16:creationId xmlns:a16="http://schemas.microsoft.com/office/drawing/2014/main" id="{7105B4F4-CE39-0145-1831-C35BFB79709B}"/>
              </a:ext>
            </a:extLst>
          </p:cNvPr>
          <p:cNvSpPr txBox="1"/>
          <p:nvPr/>
        </p:nvSpPr>
        <p:spPr>
          <a:xfrm>
            <a:off x="5438140" y="2895600"/>
            <a:ext cx="3175000" cy="230832"/>
          </a:xfrm>
          <a:prstGeom prst="rect">
            <a:avLst/>
          </a:prstGeom>
          <a:noFill/>
        </p:spPr>
        <p:txBody>
          <a:bodyPr vert="horz" rtlCol="0">
            <a:spAutoFit/>
          </a:bodyPr>
          <a:lstStyle/>
          <a:p>
            <a:r>
              <a:rPr lang="es-ES" sz="900" dirty="0">
                <a:solidFill>
                  <a:srgbClr val="6B7280"/>
                </a:solidFill>
                <a:latin typeface="Segoe UI" panose="020B0502040204020203" pitchFamily="34" charset="0"/>
              </a:rPr>
              <a:t>Carga layout SQLite, calcula operaciones, ordena</a:t>
            </a:r>
            <a:endParaRPr lang="es-MX" sz="900" dirty="0">
              <a:solidFill>
                <a:srgbClr val="6B7280"/>
              </a:solidFill>
              <a:latin typeface="Segoe UI" panose="020B0502040204020203" pitchFamily="34" charset="0"/>
            </a:endParaRPr>
          </a:p>
        </p:txBody>
      </p:sp>
      <p:sp>
        <p:nvSpPr>
          <p:cNvPr id="10" name="Cilindro 9">
            <a:extLst>
              <a:ext uri="{FF2B5EF4-FFF2-40B4-BE49-F238E27FC236}">
                <a16:creationId xmlns:a16="http://schemas.microsoft.com/office/drawing/2014/main" id="{E6BEE2E8-FEA2-EFDA-5E59-02794C314637}"/>
              </a:ext>
            </a:extLst>
          </p:cNvPr>
          <p:cNvSpPr/>
          <p:nvPr/>
        </p:nvSpPr>
        <p:spPr>
          <a:xfrm rot="5400000">
            <a:off x="2961640" y="3314700"/>
            <a:ext cx="228600" cy="304800"/>
          </a:xfrm>
          <a:prstGeom prst="can">
            <a:avLst/>
          </a:prstGeom>
          <a:solidFill>
            <a:srgbClr val="0D47A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dirty="0"/>
          </a:p>
        </p:txBody>
      </p:sp>
      <p:sp>
        <p:nvSpPr>
          <p:cNvPr id="11" name="Rectángulo: esquinas redondeadas 10">
            <a:extLst>
              <a:ext uri="{FF2B5EF4-FFF2-40B4-BE49-F238E27FC236}">
                <a16:creationId xmlns:a16="http://schemas.microsoft.com/office/drawing/2014/main" id="{382500EB-CF01-7E49-9530-34B49961C29D}"/>
              </a:ext>
            </a:extLst>
          </p:cNvPr>
          <p:cNvSpPr/>
          <p:nvPr/>
        </p:nvSpPr>
        <p:spPr>
          <a:xfrm>
            <a:off x="1313180" y="3695700"/>
            <a:ext cx="3600000" cy="444500"/>
          </a:xfrm>
          <a:prstGeom prst="roundRect">
            <a:avLst/>
          </a:prstGeom>
          <a:solidFill>
            <a:srgbClr val="2ECC7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b="1" dirty="0">
                <a:solidFill>
                  <a:srgbClr val="FFFFFF"/>
                </a:solidFill>
                <a:latin typeface="Segoe UI" panose="020B0502040204020203" pitchFamily="34" charset="0"/>
              </a:rPr>
              <a:t>src/routes/reportes.js
GET /api/reportes/resumen</a:t>
            </a:r>
            <a:endParaRPr lang="es-MX" sz="1100" b="1" dirty="0">
              <a:solidFill>
                <a:srgbClr val="FFFFFF"/>
              </a:solidFill>
              <a:latin typeface="Segoe UI" panose="020B0502040204020203" pitchFamily="34" charset="0"/>
            </a:endParaRPr>
          </a:p>
        </p:txBody>
      </p:sp>
      <p:sp>
        <p:nvSpPr>
          <p:cNvPr id="12" name="CuadroTexto 11">
            <a:extLst>
              <a:ext uri="{FF2B5EF4-FFF2-40B4-BE49-F238E27FC236}">
                <a16:creationId xmlns:a16="http://schemas.microsoft.com/office/drawing/2014/main" id="{DADA60B1-E939-9A40-D457-25A4383A148C}"/>
              </a:ext>
            </a:extLst>
          </p:cNvPr>
          <p:cNvSpPr txBox="1"/>
          <p:nvPr/>
        </p:nvSpPr>
        <p:spPr>
          <a:xfrm>
            <a:off x="5438140" y="3784600"/>
            <a:ext cx="3175000" cy="230832"/>
          </a:xfrm>
          <a:prstGeom prst="rect">
            <a:avLst/>
          </a:prstGeom>
          <a:noFill/>
        </p:spPr>
        <p:txBody>
          <a:bodyPr vert="horz" rtlCol="0">
            <a:spAutoFit/>
          </a:bodyPr>
          <a:lstStyle/>
          <a:p>
            <a:r>
              <a:rPr lang="es-ES" sz="900" dirty="0">
                <a:solidFill>
                  <a:srgbClr val="6B7280"/>
                </a:solidFill>
                <a:latin typeface="Segoe UI" panose="020B0502040204020203" pitchFamily="34" charset="0"/>
              </a:rPr>
              <a:t>Valida permisos, responde JSON al frontend</a:t>
            </a:r>
            <a:endParaRPr lang="es-MX" sz="900" dirty="0">
              <a:solidFill>
                <a:srgbClr val="6B7280"/>
              </a:solidFill>
              <a:latin typeface="Segoe UI" panose="020B0502040204020203" pitchFamily="34" charset="0"/>
            </a:endParaRPr>
          </a:p>
        </p:txBody>
      </p:sp>
      <p:sp>
        <p:nvSpPr>
          <p:cNvPr id="13" name="Cilindro 12">
            <a:extLst>
              <a:ext uri="{FF2B5EF4-FFF2-40B4-BE49-F238E27FC236}">
                <a16:creationId xmlns:a16="http://schemas.microsoft.com/office/drawing/2014/main" id="{0D985949-B0B6-6BFD-A9E9-47F47513641F}"/>
              </a:ext>
            </a:extLst>
          </p:cNvPr>
          <p:cNvSpPr/>
          <p:nvPr/>
        </p:nvSpPr>
        <p:spPr>
          <a:xfrm rot="5400000">
            <a:off x="2961640" y="4178300"/>
            <a:ext cx="228600" cy="304800"/>
          </a:xfrm>
          <a:prstGeom prst="can">
            <a:avLst/>
          </a:prstGeom>
          <a:solidFill>
            <a:srgbClr val="0D47A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dirty="0"/>
          </a:p>
        </p:txBody>
      </p:sp>
      <p:sp>
        <p:nvSpPr>
          <p:cNvPr id="14" name="Rectángulo: esquinas redondeadas 13">
            <a:extLst>
              <a:ext uri="{FF2B5EF4-FFF2-40B4-BE49-F238E27FC236}">
                <a16:creationId xmlns:a16="http://schemas.microsoft.com/office/drawing/2014/main" id="{B0023069-553A-09B1-F6BB-43EC5B975AB1}"/>
              </a:ext>
            </a:extLst>
          </p:cNvPr>
          <p:cNvSpPr/>
          <p:nvPr/>
        </p:nvSpPr>
        <p:spPr>
          <a:xfrm>
            <a:off x="1313180" y="4559300"/>
            <a:ext cx="3600000" cy="444500"/>
          </a:xfrm>
          <a:prstGeom prst="roundRect">
            <a:avLst/>
          </a:prstGeom>
          <a:solidFill>
            <a:srgbClr val="2980B9"/>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100" b="1" dirty="0">
                <a:solidFill>
                  <a:srgbClr val="FFFFFF"/>
                </a:solidFill>
                <a:latin typeface="Segoe UI" panose="020B0502040204020203" pitchFamily="34" charset="0"/>
              </a:rPr>
              <a:t>resumen-view.js
Renderiza tabla HTML con los datos</a:t>
            </a:r>
            <a:endParaRPr lang="es-MX" sz="1100" b="1" dirty="0">
              <a:solidFill>
                <a:srgbClr val="FFFFFF"/>
              </a:solidFill>
              <a:latin typeface="Segoe UI" panose="020B0502040204020203" pitchFamily="34" charset="0"/>
            </a:endParaRPr>
          </a:p>
        </p:txBody>
      </p:sp>
      <p:sp>
        <p:nvSpPr>
          <p:cNvPr id="15" name="CuadroTexto 14">
            <a:extLst>
              <a:ext uri="{FF2B5EF4-FFF2-40B4-BE49-F238E27FC236}">
                <a16:creationId xmlns:a16="http://schemas.microsoft.com/office/drawing/2014/main" id="{B96C3091-7195-6AC4-5E5B-E6E7E7D9A5AF}"/>
              </a:ext>
            </a:extLst>
          </p:cNvPr>
          <p:cNvSpPr txBox="1"/>
          <p:nvPr/>
        </p:nvSpPr>
        <p:spPr>
          <a:xfrm>
            <a:off x="5438140" y="4648200"/>
            <a:ext cx="3175000" cy="230832"/>
          </a:xfrm>
          <a:prstGeom prst="rect">
            <a:avLst/>
          </a:prstGeom>
          <a:noFill/>
        </p:spPr>
        <p:txBody>
          <a:bodyPr vert="horz" rtlCol="0">
            <a:spAutoFit/>
          </a:bodyPr>
          <a:lstStyle/>
          <a:p>
            <a:r>
              <a:rPr lang="es-MX" sz="900" dirty="0">
                <a:solidFill>
                  <a:srgbClr val="6B7280"/>
                </a:solidFill>
                <a:latin typeface="Segoe UI" panose="020B0502040204020203" pitchFamily="34" charset="0"/>
              </a:rPr>
              <a:t>Pinta filas, columnas, totales, colores</a:t>
            </a:r>
          </a:p>
        </p:txBody>
      </p:sp>
    </p:spTree>
    <p:extLst>
      <p:ext uri="{BB962C8B-B14F-4D97-AF65-F5344CB8AC3E}">
        <p14:creationId xmlns:p14="http://schemas.microsoft.com/office/powerpoint/2010/main" val="199688167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DAE6815C-6302-9842-892D-5000EE78B605}"/>
              </a:ext>
            </a:extLst>
          </p:cNvPr>
          <p:cNvSpPr/>
          <p:nvPr/>
        </p:nvSpPr>
        <p:spPr>
          <a:xfrm>
            <a:off x="0" y="0"/>
            <a:ext cx="9144000" cy="711200"/>
          </a:xfrm>
          <a:prstGeom prst="rect">
            <a:avLst/>
          </a:prstGeom>
          <a:solidFill>
            <a:srgbClr val="0D47A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254000" tIns="101600" rtlCol="0" anchor="ctr"/>
          <a:lstStyle/>
          <a:p>
            <a:pPr algn="ctr"/>
            <a:r>
              <a:rPr lang="es-ES" sz="2400" b="1" dirty="0">
                <a:solidFill>
                  <a:srgbClr val="FFFFFF"/>
                </a:solidFill>
                <a:latin typeface="Segoe UI" panose="020B0502040204020203" pitchFamily="34" charset="0"/>
              </a:rPr>
              <a:t>  PARTE 7: Gestor de Plantillas</a:t>
            </a:r>
            <a:endParaRPr lang="es-MX" sz="2400" b="1" dirty="0">
              <a:solidFill>
                <a:srgbClr val="FFFFFF"/>
              </a:solidFill>
              <a:latin typeface="Segoe UI" panose="020B0502040204020203" pitchFamily="34" charset="0"/>
            </a:endParaRPr>
          </a:p>
        </p:txBody>
      </p:sp>
      <p:sp>
        <p:nvSpPr>
          <p:cNvPr id="3" name="CuadroTexto 2">
            <a:extLst>
              <a:ext uri="{FF2B5EF4-FFF2-40B4-BE49-F238E27FC236}">
                <a16:creationId xmlns:a16="http://schemas.microsoft.com/office/drawing/2014/main" id="{B36F861C-E582-C118-EFD8-D93897339255}"/>
              </a:ext>
            </a:extLst>
          </p:cNvPr>
          <p:cNvSpPr txBox="1"/>
          <p:nvPr/>
        </p:nvSpPr>
        <p:spPr>
          <a:xfrm>
            <a:off x="508000" y="863600"/>
            <a:ext cx="8128000" cy="492443"/>
          </a:xfrm>
          <a:prstGeom prst="rect">
            <a:avLst/>
          </a:prstGeom>
          <a:noFill/>
        </p:spPr>
        <p:txBody>
          <a:bodyPr vert="horz" wrap="square" rtlCol="0">
            <a:spAutoFit/>
          </a:bodyPr>
          <a:lstStyle/>
          <a:p>
            <a:r>
              <a:rPr lang="es-ES" sz="1300" dirty="0">
                <a:solidFill>
                  <a:srgbClr val="111827"/>
                </a:solidFill>
                <a:latin typeface="Segoe UI" panose="020B0502040204020203" pitchFamily="34" charset="0"/>
              </a:rPr>
              <a:t>El Gestor de Plantillas define la ESTRUCTURA de los reportes.
Sin plantilla, no hay reporte. Es como el "molde" que dice que cuentas mostrar.</a:t>
            </a:r>
            <a:endParaRPr lang="es-MX" sz="1300" dirty="0">
              <a:solidFill>
                <a:srgbClr val="111827"/>
              </a:solidFill>
              <a:latin typeface="Segoe UI" panose="020B0502040204020203" pitchFamily="34" charset="0"/>
            </a:endParaRPr>
          </a:p>
        </p:txBody>
      </p:sp>
      <p:sp>
        <p:nvSpPr>
          <p:cNvPr id="4" name="Rectángulo: esquinas redondeadas 3">
            <a:extLst>
              <a:ext uri="{FF2B5EF4-FFF2-40B4-BE49-F238E27FC236}">
                <a16:creationId xmlns:a16="http://schemas.microsoft.com/office/drawing/2014/main" id="{0E50FF64-CD6A-73C1-2174-F605EAA849E0}"/>
              </a:ext>
            </a:extLst>
          </p:cNvPr>
          <p:cNvSpPr/>
          <p:nvPr/>
        </p:nvSpPr>
        <p:spPr>
          <a:xfrm>
            <a:off x="571500" y="1460500"/>
            <a:ext cx="2160000" cy="444500"/>
          </a:xfrm>
          <a:prstGeom prst="roundRect">
            <a:avLst/>
          </a:prstGeom>
          <a:solidFill>
            <a:srgbClr val="2980B9"/>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300" b="1" dirty="0">
                <a:solidFill>
                  <a:srgbClr val="FFFFFF"/>
                </a:solidFill>
                <a:latin typeface="Segoe UI" panose="020B0502040204020203" pitchFamily="34" charset="0"/>
              </a:rPr>
              <a:t>CUENTAS</a:t>
            </a:r>
          </a:p>
        </p:txBody>
      </p:sp>
      <p:sp>
        <p:nvSpPr>
          <p:cNvPr id="5" name="CuadroTexto 4">
            <a:extLst>
              <a:ext uri="{FF2B5EF4-FFF2-40B4-BE49-F238E27FC236}">
                <a16:creationId xmlns:a16="http://schemas.microsoft.com/office/drawing/2014/main" id="{4CE9048F-5DD0-D0F7-D110-9C3DBD73F62D}"/>
              </a:ext>
            </a:extLst>
          </p:cNvPr>
          <p:cNvSpPr txBox="1"/>
          <p:nvPr/>
        </p:nvSpPr>
        <p:spPr>
          <a:xfrm>
            <a:off x="571500" y="1968500"/>
            <a:ext cx="3175000" cy="400110"/>
          </a:xfrm>
          <a:prstGeom prst="rect">
            <a:avLst/>
          </a:prstGeom>
          <a:noFill/>
        </p:spPr>
        <p:txBody>
          <a:bodyPr vert="horz" wrap="square" rtlCol="0">
            <a:spAutoFit/>
          </a:bodyPr>
          <a:lstStyle/>
          <a:p>
            <a:r>
              <a:rPr lang="es-ES" sz="1000" dirty="0">
                <a:solidFill>
                  <a:srgbClr val="111827"/>
                </a:solidFill>
                <a:latin typeface="Segoe UI" panose="020B0502040204020203" pitchFamily="34" charset="0"/>
              </a:rPr>
              <a:t>Filas individuales. Ej: '4100' Membership
Se guardan en layout_cuentas (SQLite)</a:t>
            </a:r>
            <a:endParaRPr lang="es-MX" sz="1000" dirty="0">
              <a:solidFill>
                <a:srgbClr val="111827"/>
              </a:solidFill>
              <a:latin typeface="Segoe UI" panose="020B0502040204020203" pitchFamily="34" charset="0"/>
            </a:endParaRPr>
          </a:p>
        </p:txBody>
      </p:sp>
      <p:sp>
        <p:nvSpPr>
          <p:cNvPr id="6" name="Rectángulo: esquinas redondeadas 5">
            <a:extLst>
              <a:ext uri="{FF2B5EF4-FFF2-40B4-BE49-F238E27FC236}">
                <a16:creationId xmlns:a16="http://schemas.microsoft.com/office/drawing/2014/main" id="{5ED21937-1F4A-648D-5BC3-41F3D868EDD9}"/>
              </a:ext>
            </a:extLst>
          </p:cNvPr>
          <p:cNvSpPr/>
          <p:nvPr/>
        </p:nvSpPr>
        <p:spPr>
          <a:xfrm>
            <a:off x="3268980" y="1460500"/>
            <a:ext cx="2160000" cy="444500"/>
          </a:xfrm>
          <a:prstGeom prst="roundRect">
            <a:avLst/>
          </a:prstGeom>
          <a:solidFill>
            <a:srgbClr val="E67E2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300" b="1" dirty="0">
                <a:solidFill>
                  <a:srgbClr val="FFFFFF"/>
                </a:solidFill>
                <a:latin typeface="Segoe UI" panose="020B0502040204020203" pitchFamily="34" charset="0"/>
              </a:rPr>
              <a:t>OPERACIONES</a:t>
            </a:r>
          </a:p>
        </p:txBody>
      </p:sp>
      <p:sp>
        <p:nvSpPr>
          <p:cNvPr id="7" name="CuadroTexto 6">
            <a:extLst>
              <a:ext uri="{FF2B5EF4-FFF2-40B4-BE49-F238E27FC236}">
                <a16:creationId xmlns:a16="http://schemas.microsoft.com/office/drawing/2014/main" id="{610BB0F2-5579-EF9B-4722-DB84A7E8E0BA}"/>
              </a:ext>
            </a:extLst>
          </p:cNvPr>
          <p:cNvSpPr txBox="1"/>
          <p:nvPr/>
        </p:nvSpPr>
        <p:spPr>
          <a:xfrm>
            <a:off x="3218180" y="1968500"/>
            <a:ext cx="3175000" cy="400110"/>
          </a:xfrm>
          <a:prstGeom prst="rect">
            <a:avLst/>
          </a:prstGeom>
          <a:noFill/>
        </p:spPr>
        <p:txBody>
          <a:bodyPr vert="horz" wrap="square" rtlCol="0">
            <a:spAutoFit/>
          </a:bodyPr>
          <a:lstStyle/>
          <a:p>
            <a:r>
              <a:rPr lang="es-ES" sz="1000" dirty="0">
                <a:solidFill>
                  <a:srgbClr val="111827"/>
                </a:solidFill>
                <a:latin typeface="Segoe UI" panose="020B0502040204020203" pitchFamily="34" charset="0"/>
              </a:rPr>
              <a:t>Filas de CÁLCULO. Ej: Total Income
Se guardan en layout_operaciones (SQLite)</a:t>
            </a:r>
            <a:endParaRPr lang="es-MX" sz="1000" dirty="0">
              <a:solidFill>
                <a:srgbClr val="111827"/>
              </a:solidFill>
              <a:latin typeface="Segoe UI" panose="020B0502040204020203" pitchFamily="34" charset="0"/>
            </a:endParaRPr>
          </a:p>
        </p:txBody>
      </p:sp>
      <p:sp>
        <p:nvSpPr>
          <p:cNvPr id="8" name="Rectángulo: esquinas redondeadas 7">
            <a:extLst>
              <a:ext uri="{FF2B5EF4-FFF2-40B4-BE49-F238E27FC236}">
                <a16:creationId xmlns:a16="http://schemas.microsoft.com/office/drawing/2014/main" id="{33ED70B3-67EB-1486-B999-2C47BAAE70B2}"/>
              </a:ext>
            </a:extLst>
          </p:cNvPr>
          <p:cNvSpPr/>
          <p:nvPr/>
        </p:nvSpPr>
        <p:spPr>
          <a:xfrm>
            <a:off x="6068060" y="1460500"/>
            <a:ext cx="2160000" cy="444500"/>
          </a:xfrm>
          <a:prstGeom prst="roundRect">
            <a:avLst/>
          </a:prstGeom>
          <a:solidFill>
            <a:srgbClr val="2ECC7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300" b="1" dirty="0">
                <a:solidFill>
                  <a:srgbClr val="FFFFFF"/>
                </a:solidFill>
                <a:latin typeface="Segoe UI" panose="020B0502040204020203" pitchFamily="34" charset="0"/>
              </a:rPr>
              <a:t>SECCIONES</a:t>
            </a:r>
          </a:p>
        </p:txBody>
      </p:sp>
      <p:sp>
        <p:nvSpPr>
          <p:cNvPr id="9" name="CuadroTexto 8">
            <a:extLst>
              <a:ext uri="{FF2B5EF4-FFF2-40B4-BE49-F238E27FC236}">
                <a16:creationId xmlns:a16="http://schemas.microsoft.com/office/drawing/2014/main" id="{385E1F00-92D9-B6CF-2A32-C8DE9A08645F}"/>
              </a:ext>
            </a:extLst>
          </p:cNvPr>
          <p:cNvSpPr txBox="1"/>
          <p:nvPr/>
        </p:nvSpPr>
        <p:spPr>
          <a:xfrm>
            <a:off x="6068060" y="1968500"/>
            <a:ext cx="3175000" cy="400110"/>
          </a:xfrm>
          <a:prstGeom prst="rect">
            <a:avLst/>
          </a:prstGeom>
          <a:noFill/>
        </p:spPr>
        <p:txBody>
          <a:bodyPr vert="horz" wrap="square" rtlCol="0">
            <a:spAutoFit/>
          </a:bodyPr>
          <a:lstStyle/>
          <a:p>
            <a:r>
              <a:rPr lang="es-ES" sz="1000" dirty="0">
                <a:solidFill>
                  <a:srgbClr val="111827"/>
                </a:solidFill>
                <a:latin typeface="Segoe UI" panose="020B0502040204020203" pitchFamily="34" charset="0"/>
              </a:rPr>
              <a:t>Agrupan cuentas. Ej: Income (CDMX)
Se guardan en layout_secciones (SQLite)</a:t>
            </a:r>
            <a:endParaRPr lang="es-MX" sz="1000" dirty="0">
              <a:solidFill>
                <a:srgbClr val="111827"/>
              </a:solidFill>
              <a:latin typeface="Segoe UI" panose="020B0502040204020203" pitchFamily="34" charset="0"/>
            </a:endParaRPr>
          </a:p>
        </p:txBody>
      </p:sp>
      <p:sp>
        <p:nvSpPr>
          <p:cNvPr id="10" name="Rectángulo 9">
            <a:extLst>
              <a:ext uri="{FF2B5EF4-FFF2-40B4-BE49-F238E27FC236}">
                <a16:creationId xmlns:a16="http://schemas.microsoft.com/office/drawing/2014/main" id="{E4B3AF64-CD44-2083-7EA6-DDCE89D6DF5E}"/>
              </a:ext>
            </a:extLst>
          </p:cNvPr>
          <p:cNvSpPr/>
          <p:nvPr/>
        </p:nvSpPr>
        <p:spPr>
          <a:xfrm>
            <a:off x="508000" y="2514600"/>
            <a:ext cx="8128000" cy="19050"/>
          </a:xfrm>
          <a:prstGeom prst="rect">
            <a:avLst/>
          </a:prstGeom>
          <a:solidFill>
            <a:srgbClr val="E5E7E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dirty="0"/>
          </a:p>
        </p:txBody>
      </p:sp>
      <p:sp>
        <p:nvSpPr>
          <p:cNvPr id="11" name="CuadroTexto 10">
            <a:extLst>
              <a:ext uri="{FF2B5EF4-FFF2-40B4-BE49-F238E27FC236}">
                <a16:creationId xmlns:a16="http://schemas.microsoft.com/office/drawing/2014/main" id="{1CA2EEB8-A3E5-09D7-0CDB-F45641921054}"/>
              </a:ext>
            </a:extLst>
          </p:cNvPr>
          <p:cNvSpPr txBox="1"/>
          <p:nvPr/>
        </p:nvSpPr>
        <p:spPr>
          <a:xfrm>
            <a:off x="508000" y="2603500"/>
            <a:ext cx="8128000" cy="2677656"/>
          </a:xfrm>
          <a:prstGeom prst="rect">
            <a:avLst/>
          </a:prstGeom>
          <a:noFill/>
        </p:spPr>
        <p:txBody>
          <a:bodyPr vert="horz" wrap="square" rtlCol="0">
            <a:spAutoFit/>
          </a:bodyPr>
          <a:lstStyle/>
          <a:p>
            <a:r>
              <a:rPr lang="es-ES" sz="1200" dirty="0">
                <a:solidFill>
                  <a:srgbClr val="111827"/>
                </a:solidFill>
                <a:latin typeface="Segoe UI" panose="020B0502040204020203" pitchFamily="34" charset="0"/>
              </a:rPr>
              <a:t>COMO SE USA (paso a paso):
  1. Abres plantillas.html
  2. Seleccionas: empresa + módulo + año + capítulo
  3. El sistema carga el layout existente (o creas uno nuevo)
  4. Agregas cuentas contables (número + nombre + sección)
  5. Configuras operaciones (fórmulas que suman/restan secciones)
  6. Ordenas con drag-and-drop (el orden en que se muestran)
  7. Guardas -&gt; listo para generar reportes
CADA LAYOUT ES ÚNICO POR:
  Empresa (empresa1, empresa2...)  +  Módulo (RESUMEN, RH, Finanzas...)
  Año (2024, 2025, 2026...)  +  Capítulo (CDMX, GDL, MTY, QRO, DEFAULT)
ARCHIVO PRINCIPAL: vistas/js/plantillas.js (~13,900 líneas)</a:t>
            </a:r>
            <a:endParaRPr lang="es-MX" sz="1200" dirty="0">
              <a:solidFill>
                <a:srgbClr val="111827"/>
              </a:solidFill>
              <a:latin typeface="Segoe UI" panose="020B0502040204020203" pitchFamily="34" charset="0"/>
            </a:endParaRPr>
          </a:p>
        </p:txBody>
      </p:sp>
    </p:spTree>
    <p:extLst>
      <p:ext uri="{BB962C8B-B14F-4D97-AF65-F5344CB8AC3E}">
        <p14:creationId xmlns:p14="http://schemas.microsoft.com/office/powerpoint/2010/main" val="419368996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275BD630-281B-B5C7-C3A0-C951FDF4D303}"/>
              </a:ext>
            </a:extLst>
          </p:cNvPr>
          <p:cNvSpPr/>
          <p:nvPr/>
        </p:nvSpPr>
        <p:spPr>
          <a:xfrm>
            <a:off x="0" y="0"/>
            <a:ext cx="9144000" cy="711200"/>
          </a:xfrm>
          <a:prstGeom prst="rect">
            <a:avLst/>
          </a:prstGeom>
          <a:solidFill>
            <a:srgbClr val="0D47A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254000" tIns="101600" rtlCol="0" anchor="ctr"/>
          <a:lstStyle/>
          <a:p>
            <a:pPr algn="ctr"/>
            <a:r>
              <a:rPr lang="en-US" sz="2400" b="1" dirty="0">
                <a:solidFill>
                  <a:srgbClr val="FFFFFF"/>
                </a:solidFill>
                <a:latin typeface="Segoe UI" panose="020B0502040204020203" pitchFamily="34" charset="0"/>
              </a:rPr>
              <a:t>  APIs reales: Plantillas (/api/layouts-config)</a:t>
            </a:r>
            <a:endParaRPr lang="es-MX" sz="2400" b="1" dirty="0">
              <a:solidFill>
                <a:srgbClr val="FFFFFF"/>
              </a:solidFill>
              <a:latin typeface="Segoe UI" panose="020B0502040204020203" pitchFamily="34" charset="0"/>
            </a:endParaRPr>
          </a:p>
        </p:txBody>
      </p:sp>
      <p:sp>
        <p:nvSpPr>
          <p:cNvPr id="3" name="Rectángulo 2">
            <a:extLst>
              <a:ext uri="{FF2B5EF4-FFF2-40B4-BE49-F238E27FC236}">
                <a16:creationId xmlns:a16="http://schemas.microsoft.com/office/drawing/2014/main" id="{DD9D4D77-4806-61B4-1063-B1783E93D5B2}"/>
              </a:ext>
            </a:extLst>
          </p:cNvPr>
          <p:cNvSpPr/>
          <p:nvPr/>
        </p:nvSpPr>
        <p:spPr>
          <a:xfrm>
            <a:off x="508000" y="863600"/>
            <a:ext cx="8128000" cy="4635500"/>
          </a:xfrm>
          <a:prstGeom prst="rect">
            <a:avLst/>
          </a:prstGeom>
          <a:solidFill>
            <a:srgbClr val="F3F4F6"/>
          </a:solidFill>
          <a:ln>
            <a:solidFill>
              <a:srgbClr val="E5E7EB"/>
            </a:solidFill>
          </a:ln>
        </p:spPr>
        <p:style>
          <a:lnRef idx="2">
            <a:schemeClr val="accent1">
              <a:shade val="15000"/>
            </a:schemeClr>
          </a:lnRef>
          <a:fillRef idx="1">
            <a:schemeClr val="accent1"/>
          </a:fillRef>
          <a:effectRef idx="0">
            <a:schemeClr val="accent1"/>
          </a:effectRef>
          <a:fontRef idx="minor">
            <a:schemeClr val="lt1"/>
          </a:fontRef>
        </p:style>
        <p:txBody>
          <a:bodyPr wrap="square" lIns="177800" tIns="127000" rIns="177800" rtlCol="0" anchor="ctr"/>
          <a:lstStyle/>
          <a:p>
            <a:r>
              <a:rPr lang="es-MX" sz="1100" dirty="0">
                <a:solidFill>
                  <a:srgbClr val="111827"/>
                </a:solidFill>
                <a:latin typeface="Consolas" panose="020B0609020204030204" pitchFamily="49" charset="0"/>
              </a:rPr>
              <a:t>BASE: /api/layouts-config    ARCHIVO: src/routes/layoutRoutes.js
CARGAR Y GUARDAR:
  GET  /.../RESUMEN/2025/DEFAULT            Cargar layout completo de RESUMEN 2025
  POST /.../RESUMEN/2025/DEFAULT            Guardar layout completo
  POST /.../RESUMEN/2025/DEFAULT/cuentas    Guardar solo las cuentas
  POST /.../RESUMEN/2025/operaciones        Guardar solo las operaciones
CONSULTAS:
  GET  /.../RESUMEN/anios                   Que años existen
  GET  /.../RESUMEN/2025/capitulos          Que capítulos hay (CDMX, GDL, etc.)
  GET  /.../RESUMEN/2025/estadisticas       Cuantas cuentas y operaciones tiene
  GET  /.../RESUMEN/2025/existe             Verificar si ya existe este layout
EDICION INDIVIDUAL:
  PUT    /.../RESUMEN/2025/DEFAULT/cuenta/4100    Editar cuenta 4100
  DELETE /.../RESUMEN/2025/DEFAULT/cuenta/4100    Eliminar cuenta 4100
  PUT    /.../RESUMEN/2025/operacion/TOTAL_INCOME Editar una operacion
  DELETE /.../RESUMEN/2025/operacion/TOTAL_INCOME Eliminar una operacion
ADMINISTRACION:
  POST   /.../RESUMEN/copiar                     operación layout de otro ano
  POST   /.../RESUMEN/2025/DEFAULT/reordenar     Cambiar orden de filas
  DELETE /.../RESUMEN/2025                        Eliminar layout completo
  GET    /.../RESUMEN/2025/DEFAULT/bitacora       Ver registro de cambios</a:t>
            </a:r>
          </a:p>
        </p:txBody>
      </p:sp>
    </p:spTree>
    <p:extLst>
      <p:ext uri="{BB962C8B-B14F-4D97-AF65-F5344CB8AC3E}">
        <p14:creationId xmlns:p14="http://schemas.microsoft.com/office/powerpoint/2010/main" val="416269924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1AC03136-F00F-222C-4FC6-671B245DD8FB}"/>
              </a:ext>
            </a:extLst>
          </p:cNvPr>
          <p:cNvSpPr/>
          <p:nvPr/>
        </p:nvSpPr>
        <p:spPr>
          <a:xfrm>
            <a:off x="0" y="0"/>
            <a:ext cx="9144000" cy="711200"/>
          </a:xfrm>
          <a:prstGeom prst="rect">
            <a:avLst/>
          </a:prstGeom>
          <a:solidFill>
            <a:srgbClr val="0D47A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254000" tIns="101600" rtlCol="0" anchor="ctr"/>
          <a:lstStyle/>
          <a:p>
            <a:pPr algn="ctr"/>
            <a:r>
              <a:rPr lang="es-ES" sz="2400" b="1" dirty="0">
                <a:solidFill>
                  <a:srgbClr val="FFFFFF"/>
                </a:solidFill>
                <a:latin typeface="Segoe UI" panose="020B0502040204020203" pitchFamily="34" charset="0"/>
              </a:rPr>
              <a:t>  Como funcionan las Operaciones (fórmulas)</a:t>
            </a:r>
            <a:endParaRPr lang="es-MX" sz="2400" b="1" dirty="0">
              <a:solidFill>
                <a:srgbClr val="FFFFFF"/>
              </a:solidFill>
              <a:latin typeface="Segoe UI" panose="020B0502040204020203" pitchFamily="34" charset="0"/>
            </a:endParaRPr>
          </a:p>
        </p:txBody>
      </p:sp>
      <p:sp>
        <p:nvSpPr>
          <p:cNvPr id="3" name="CuadroTexto 2">
            <a:extLst>
              <a:ext uri="{FF2B5EF4-FFF2-40B4-BE49-F238E27FC236}">
                <a16:creationId xmlns:a16="http://schemas.microsoft.com/office/drawing/2014/main" id="{5322867A-D389-5AC3-C5AD-C2A49900ED77}"/>
              </a:ext>
            </a:extLst>
          </p:cNvPr>
          <p:cNvSpPr txBox="1"/>
          <p:nvPr/>
        </p:nvSpPr>
        <p:spPr>
          <a:xfrm>
            <a:off x="508000" y="863600"/>
            <a:ext cx="8128000" cy="276999"/>
          </a:xfrm>
          <a:prstGeom prst="rect">
            <a:avLst/>
          </a:prstGeom>
          <a:noFill/>
        </p:spPr>
        <p:txBody>
          <a:bodyPr vert="horz" wrap="square" rtlCol="0">
            <a:spAutoFit/>
          </a:bodyPr>
          <a:lstStyle/>
          <a:p>
            <a:r>
              <a:rPr lang="es-ES" sz="1200" dirty="0">
                <a:solidFill>
                  <a:srgbClr val="111827"/>
                </a:solidFill>
                <a:latin typeface="Segoe UI" panose="020B0502040204020203" pitchFamily="34" charset="0"/>
              </a:rPr>
              <a:t>Las operaciones son filas que CALCULAN totales sumando o restando cuentas:</a:t>
            </a:r>
            <a:endParaRPr lang="es-MX" sz="1200" dirty="0">
              <a:solidFill>
                <a:srgbClr val="111827"/>
              </a:solidFill>
              <a:latin typeface="Segoe UI" panose="020B0502040204020203" pitchFamily="34" charset="0"/>
            </a:endParaRPr>
          </a:p>
        </p:txBody>
      </p:sp>
      <p:sp>
        <p:nvSpPr>
          <p:cNvPr id="4" name="Rectángulo 3">
            <a:extLst>
              <a:ext uri="{FF2B5EF4-FFF2-40B4-BE49-F238E27FC236}">
                <a16:creationId xmlns:a16="http://schemas.microsoft.com/office/drawing/2014/main" id="{D2DEF320-374A-3195-7FB4-21AA6FE07F15}"/>
              </a:ext>
            </a:extLst>
          </p:cNvPr>
          <p:cNvSpPr/>
          <p:nvPr/>
        </p:nvSpPr>
        <p:spPr>
          <a:xfrm>
            <a:off x="508000" y="1206500"/>
            <a:ext cx="8128000" cy="2774188"/>
          </a:xfrm>
          <a:prstGeom prst="rect">
            <a:avLst/>
          </a:prstGeom>
          <a:solidFill>
            <a:srgbClr val="F3F4F6"/>
          </a:solidFill>
          <a:ln>
            <a:solidFill>
              <a:srgbClr val="E5E7EB"/>
            </a:solidFill>
          </a:ln>
        </p:spPr>
        <p:style>
          <a:lnRef idx="2">
            <a:schemeClr val="accent1">
              <a:shade val="15000"/>
            </a:schemeClr>
          </a:lnRef>
          <a:fillRef idx="1">
            <a:schemeClr val="accent1"/>
          </a:fillRef>
          <a:effectRef idx="0">
            <a:schemeClr val="accent1"/>
          </a:effectRef>
          <a:fontRef idx="minor">
            <a:schemeClr val="lt1"/>
          </a:fontRef>
        </p:style>
        <p:txBody>
          <a:bodyPr wrap="square" lIns="177800" tIns="127000" rIns="177800" rtlCol="0" anchor="ctr"/>
          <a:lstStyle/>
          <a:p>
            <a:r>
              <a:rPr lang="es-MX" sz="1100" dirty="0">
                <a:solidFill>
                  <a:srgbClr val="111827"/>
                </a:solidFill>
                <a:latin typeface="Consolas" panose="020B0609020204030204" pitchFamily="49" charset="0"/>
              </a:rPr>
              <a:t>Ejemplo de fórmula guardada en layout_operaciones:
  Operacion: "TOTAL INCOME"
  Formula: [
    { operator: "+", type: "section", value: "Income (CDMX)" },
    { operator: "+", type: "section", value: "Income (GDL)" },
    { operator: "+", type: "section", value: "Income (MTY)" }
  ]
  Resultado: TOTAL INCOME = Suma de TODOS los ingresos de todas las ciudades
  Operacion: "NET INCOME"
  Formula: [
    { operator: "+", type: "operation", value: "CONSOLIDATED INCOME" },
    { operator: "-", type: "operation", value: "CONSOLIDATED EXPENSE" }
  ]
  Resultado: NET INCOME = Ingresos totales - Gastos totales</a:t>
            </a:r>
          </a:p>
        </p:txBody>
      </p:sp>
      <p:sp>
        <p:nvSpPr>
          <p:cNvPr id="5" name="CuadroTexto 4">
            <a:extLst>
              <a:ext uri="{FF2B5EF4-FFF2-40B4-BE49-F238E27FC236}">
                <a16:creationId xmlns:a16="http://schemas.microsoft.com/office/drawing/2014/main" id="{F2C55F26-F05A-C03F-C5A8-6F0E3119DF09}"/>
              </a:ext>
            </a:extLst>
          </p:cNvPr>
          <p:cNvSpPr txBox="1"/>
          <p:nvPr/>
        </p:nvSpPr>
        <p:spPr>
          <a:xfrm>
            <a:off x="508000" y="4142740"/>
            <a:ext cx="8128000" cy="1200329"/>
          </a:xfrm>
          <a:prstGeom prst="rect">
            <a:avLst/>
          </a:prstGeom>
          <a:noFill/>
        </p:spPr>
        <p:txBody>
          <a:bodyPr vert="horz" wrap="square" rtlCol="0">
            <a:spAutoFit/>
          </a:bodyPr>
          <a:lstStyle/>
          <a:p>
            <a:r>
              <a:rPr lang="es-ES" sz="1200" dirty="0">
                <a:solidFill>
                  <a:srgbClr val="111827"/>
                </a:solidFill>
                <a:latin typeface="Segoe UI" panose="020B0502040204020203" pitchFamily="34" charset="0"/>
              </a:rPr>
              <a:t>TIPOS DE TÉRMINOS:
  section:    Suma TODAS las cuentas de esa sección
  operation:  Usa el resultado de OTRA operación (recursivo)
  account:    Usa el valor de UNA cuenta específica
ARCHIVO: src/services/reportes/planeacionReportesEngine.js (calcularTotalesOperacion)</a:t>
            </a:r>
            <a:endParaRPr lang="es-MX" sz="1200" dirty="0">
              <a:solidFill>
                <a:srgbClr val="111827"/>
              </a:solidFill>
              <a:latin typeface="Segoe UI" panose="020B0502040204020203" pitchFamily="34" charset="0"/>
            </a:endParaRPr>
          </a:p>
        </p:txBody>
      </p:sp>
    </p:spTree>
    <p:extLst>
      <p:ext uri="{BB962C8B-B14F-4D97-AF65-F5344CB8AC3E}">
        <p14:creationId xmlns:p14="http://schemas.microsoft.com/office/powerpoint/2010/main" val="423282462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95B32218-9381-F1C5-6C06-99E80D656E3C}"/>
              </a:ext>
            </a:extLst>
          </p:cNvPr>
          <p:cNvSpPr/>
          <p:nvPr/>
        </p:nvSpPr>
        <p:spPr>
          <a:xfrm>
            <a:off x="0" y="0"/>
            <a:ext cx="9144000" cy="711200"/>
          </a:xfrm>
          <a:prstGeom prst="rect">
            <a:avLst/>
          </a:prstGeom>
          <a:solidFill>
            <a:srgbClr val="0D47A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254000" tIns="101600" rtlCol="0" anchor="ctr"/>
          <a:lstStyle/>
          <a:p>
            <a:pPr algn="ctr"/>
            <a:r>
              <a:rPr lang="es-MX" sz="2400" b="1" dirty="0">
                <a:solidFill>
                  <a:srgbClr val="FFFFFF"/>
                </a:solidFill>
                <a:latin typeface="Segoe UI" panose="020B0502040204020203" pitchFamily="34" charset="0"/>
              </a:rPr>
              <a:t>  PARTE 8: Sistema de Gráficas</a:t>
            </a:r>
          </a:p>
        </p:txBody>
      </p:sp>
      <p:sp>
        <p:nvSpPr>
          <p:cNvPr id="3" name="CuadroTexto 2">
            <a:extLst>
              <a:ext uri="{FF2B5EF4-FFF2-40B4-BE49-F238E27FC236}">
                <a16:creationId xmlns:a16="http://schemas.microsoft.com/office/drawing/2014/main" id="{492E84F6-3E1F-1C04-1316-39ED88881A77}"/>
              </a:ext>
            </a:extLst>
          </p:cNvPr>
          <p:cNvSpPr txBox="1"/>
          <p:nvPr/>
        </p:nvSpPr>
        <p:spPr>
          <a:xfrm>
            <a:off x="508000" y="863600"/>
            <a:ext cx="8128000" cy="292388"/>
          </a:xfrm>
          <a:prstGeom prst="rect">
            <a:avLst/>
          </a:prstGeom>
          <a:noFill/>
        </p:spPr>
        <p:txBody>
          <a:bodyPr vert="horz" wrap="square" rtlCol="0">
            <a:spAutoFit/>
          </a:bodyPr>
          <a:lstStyle/>
          <a:p>
            <a:r>
              <a:rPr lang="es-ES" sz="1300" dirty="0">
                <a:solidFill>
                  <a:srgbClr val="111827"/>
                </a:solidFill>
                <a:latin typeface="Segoe UI" panose="020B0502040204020203" pitchFamily="34" charset="0"/>
              </a:rPr>
              <a:t>Las gráficas toman los MISMOS datos del reporte y los visualizan:</a:t>
            </a:r>
            <a:endParaRPr lang="es-MX" sz="1300" dirty="0">
              <a:solidFill>
                <a:srgbClr val="111827"/>
              </a:solidFill>
              <a:latin typeface="Segoe UI" panose="020B0502040204020203" pitchFamily="34" charset="0"/>
            </a:endParaRPr>
          </a:p>
        </p:txBody>
      </p:sp>
      <p:sp>
        <p:nvSpPr>
          <p:cNvPr id="4" name="Rectángulo: esquinas redondeadas 3">
            <a:extLst>
              <a:ext uri="{FF2B5EF4-FFF2-40B4-BE49-F238E27FC236}">
                <a16:creationId xmlns:a16="http://schemas.microsoft.com/office/drawing/2014/main" id="{61C6475F-A594-43C8-234C-E4C4EE20CDFC}"/>
              </a:ext>
            </a:extLst>
          </p:cNvPr>
          <p:cNvSpPr/>
          <p:nvPr/>
        </p:nvSpPr>
        <p:spPr>
          <a:xfrm>
            <a:off x="1000760" y="1270000"/>
            <a:ext cx="1080000" cy="381000"/>
          </a:xfrm>
          <a:prstGeom prst="roundRect">
            <a:avLst/>
          </a:prstGeom>
          <a:solidFill>
            <a:srgbClr val="2980B9"/>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200" b="1" dirty="0">
                <a:solidFill>
                  <a:srgbClr val="FFFFFF"/>
                </a:solidFill>
                <a:latin typeface="Segoe UI" panose="020B0502040204020203" pitchFamily="34" charset="0"/>
              </a:rPr>
              <a:t>Barra</a:t>
            </a:r>
          </a:p>
        </p:txBody>
      </p:sp>
      <p:sp>
        <p:nvSpPr>
          <p:cNvPr id="5" name="Rectángulo: esquinas redondeadas 4">
            <a:extLst>
              <a:ext uri="{FF2B5EF4-FFF2-40B4-BE49-F238E27FC236}">
                <a16:creationId xmlns:a16="http://schemas.microsoft.com/office/drawing/2014/main" id="{30FE635A-BACC-7F4D-900B-0AE28F4CC42D}"/>
              </a:ext>
            </a:extLst>
          </p:cNvPr>
          <p:cNvSpPr/>
          <p:nvPr/>
        </p:nvSpPr>
        <p:spPr>
          <a:xfrm>
            <a:off x="2176780" y="1270000"/>
            <a:ext cx="1080000" cy="381000"/>
          </a:xfrm>
          <a:prstGeom prst="roundRect">
            <a:avLst/>
          </a:prstGeom>
          <a:solidFill>
            <a:srgbClr val="E67E2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200" b="1" dirty="0">
                <a:solidFill>
                  <a:srgbClr val="FFFFFF"/>
                </a:solidFill>
                <a:latin typeface="Segoe UI" panose="020B0502040204020203" pitchFamily="34" charset="0"/>
              </a:rPr>
              <a:t>Línea</a:t>
            </a:r>
          </a:p>
        </p:txBody>
      </p:sp>
      <p:sp>
        <p:nvSpPr>
          <p:cNvPr id="6" name="Rectángulo: esquinas redondeadas 5">
            <a:extLst>
              <a:ext uri="{FF2B5EF4-FFF2-40B4-BE49-F238E27FC236}">
                <a16:creationId xmlns:a16="http://schemas.microsoft.com/office/drawing/2014/main" id="{1161307F-4158-FCED-95BC-2CB1FD628143}"/>
              </a:ext>
            </a:extLst>
          </p:cNvPr>
          <p:cNvSpPr/>
          <p:nvPr/>
        </p:nvSpPr>
        <p:spPr>
          <a:xfrm>
            <a:off x="3368040" y="1270000"/>
            <a:ext cx="1080000" cy="381000"/>
          </a:xfrm>
          <a:prstGeom prst="roundRect">
            <a:avLst/>
          </a:prstGeom>
          <a:solidFill>
            <a:srgbClr val="2ECC7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200" b="1" dirty="0">
                <a:solidFill>
                  <a:srgbClr val="FFFFFF"/>
                </a:solidFill>
                <a:latin typeface="Segoe UI" panose="020B0502040204020203" pitchFamily="34" charset="0"/>
              </a:rPr>
              <a:t>Pie</a:t>
            </a:r>
          </a:p>
        </p:txBody>
      </p:sp>
      <p:sp>
        <p:nvSpPr>
          <p:cNvPr id="7" name="Rectángulo: esquinas redondeadas 6">
            <a:extLst>
              <a:ext uri="{FF2B5EF4-FFF2-40B4-BE49-F238E27FC236}">
                <a16:creationId xmlns:a16="http://schemas.microsoft.com/office/drawing/2014/main" id="{455D745B-CB8E-05AC-0C89-92D8445D1CA4}"/>
              </a:ext>
            </a:extLst>
          </p:cNvPr>
          <p:cNvSpPr/>
          <p:nvPr/>
        </p:nvSpPr>
        <p:spPr>
          <a:xfrm>
            <a:off x="4566920" y="1270000"/>
            <a:ext cx="1080000" cy="381000"/>
          </a:xfrm>
          <a:prstGeom prst="roundRect">
            <a:avLst/>
          </a:prstGeom>
          <a:solidFill>
            <a:srgbClr val="34495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200" b="1" dirty="0">
                <a:solidFill>
                  <a:srgbClr val="FFFFFF"/>
                </a:solidFill>
                <a:latin typeface="Segoe UI" panose="020B0502040204020203" pitchFamily="34" charset="0"/>
              </a:rPr>
              <a:t>Dona</a:t>
            </a:r>
          </a:p>
        </p:txBody>
      </p:sp>
      <p:sp>
        <p:nvSpPr>
          <p:cNvPr id="8" name="Rectángulo: esquinas redondeadas 7">
            <a:extLst>
              <a:ext uri="{FF2B5EF4-FFF2-40B4-BE49-F238E27FC236}">
                <a16:creationId xmlns:a16="http://schemas.microsoft.com/office/drawing/2014/main" id="{B47B19C5-50AA-F6FD-59D3-6D7CE9B4C891}"/>
              </a:ext>
            </a:extLst>
          </p:cNvPr>
          <p:cNvSpPr/>
          <p:nvPr/>
        </p:nvSpPr>
        <p:spPr>
          <a:xfrm>
            <a:off x="5750560" y="1270000"/>
            <a:ext cx="1080000" cy="381000"/>
          </a:xfrm>
          <a:prstGeom prst="roundRect">
            <a:avLst/>
          </a:prstGeom>
          <a:solidFill>
            <a:srgbClr val="E74C3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200" b="1" dirty="0">
                <a:solidFill>
                  <a:srgbClr val="FFFFFF"/>
                </a:solidFill>
                <a:latin typeface="Segoe UI" panose="020B0502040204020203" pitchFamily="34" charset="0"/>
              </a:rPr>
              <a:t>Radar</a:t>
            </a:r>
          </a:p>
        </p:txBody>
      </p:sp>
      <p:sp>
        <p:nvSpPr>
          <p:cNvPr id="9" name="Rectángulo: esquinas redondeadas 8">
            <a:extLst>
              <a:ext uri="{FF2B5EF4-FFF2-40B4-BE49-F238E27FC236}">
                <a16:creationId xmlns:a16="http://schemas.microsoft.com/office/drawing/2014/main" id="{1D8903DE-E4F1-1075-4934-F56479966107}"/>
              </a:ext>
            </a:extLst>
          </p:cNvPr>
          <p:cNvSpPr/>
          <p:nvPr/>
        </p:nvSpPr>
        <p:spPr>
          <a:xfrm>
            <a:off x="6941820" y="1270000"/>
            <a:ext cx="1080000" cy="381000"/>
          </a:xfrm>
          <a:prstGeom prst="roundRect">
            <a:avLst/>
          </a:prstGeom>
          <a:solidFill>
            <a:srgbClr val="8E44A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200" b="1" dirty="0">
                <a:solidFill>
                  <a:srgbClr val="FFFFFF"/>
                </a:solidFill>
                <a:latin typeface="Segoe UI" panose="020B0502040204020203" pitchFamily="34" charset="0"/>
              </a:rPr>
              <a:t>Área</a:t>
            </a:r>
          </a:p>
        </p:txBody>
      </p:sp>
      <p:sp>
        <p:nvSpPr>
          <p:cNvPr id="10" name="CuadroTexto 9">
            <a:extLst>
              <a:ext uri="{FF2B5EF4-FFF2-40B4-BE49-F238E27FC236}">
                <a16:creationId xmlns:a16="http://schemas.microsoft.com/office/drawing/2014/main" id="{3D6D8839-C0E7-E770-7D87-73B24D0DE2FE}"/>
              </a:ext>
            </a:extLst>
          </p:cNvPr>
          <p:cNvSpPr txBox="1"/>
          <p:nvPr/>
        </p:nvSpPr>
        <p:spPr>
          <a:xfrm>
            <a:off x="508000" y="1689100"/>
            <a:ext cx="8128000" cy="2677656"/>
          </a:xfrm>
          <a:prstGeom prst="rect">
            <a:avLst/>
          </a:prstGeom>
          <a:noFill/>
        </p:spPr>
        <p:txBody>
          <a:bodyPr vert="horz" wrap="square" rtlCol="0">
            <a:spAutoFit/>
          </a:bodyPr>
          <a:lstStyle/>
          <a:p>
            <a:r>
              <a:rPr lang="es-MX" sz="1200" dirty="0">
                <a:solidFill>
                  <a:srgbClr val="111827"/>
                </a:solidFill>
                <a:latin typeface="Segoe UI" panose="020B0502040204020203" pitchFamily="34" charset="0"/>
              </a:rPr>
              <a:t>GRÁFICAS PREDEFINIDAS:
  1. Resultado Operativo: Real Acum vs Ppto Acum vs Real AA por capitulo
  2. Resumen Neto: Ganancia o perdida neta por capitulo
  3. Consolidados: Ingreso total vs Gasto total
  4. Tendencia mensual por ciudad
  5. Gráficas personalizadas con Chart Wizard (4 pasos)
LOS 3 VALORES QUE SE GRAFICAN:
  Real Acumulado (actualYTD)    Color azul oscuro #0d47a1
  Ppto Acumulado (planYTD)      Color azul claro #60a5fa
  Real Acum AA   (prevYTD)      Color gris #94a3b8
SE GUARDAN EN: graficas_config (tabla SQLite)
</a:t>
            </a:r>
          </a:p>
        </p:txBody>
      </p:sp>
      <p:sp>
        <p:nvSpPr>
          <p:cNvPr id="11" name="Rectángulo 10">
            <a:extLst>
              <a:ext uri="{FF2B5EF4-FFF2-40B4-BE49-F238E27FC236}">
                <a16:creationId xmlns:a16="http://schemas.microsoft.com/office/drawing/2014/main" id="{E079B040-B929-D0E1-E977-C16D408B801C}"/>
              </a:ext>
            </a:extLst>
          </p:cNvPr>
          <p:cNvSpPr/>
          <p:nvPr/>
        </p:nvSpPr>
        <p:spPr>
          <a:xfrm>
            <a:off x="508000" y="4191000"/>
            <a:ext cx="8128000" cy="19050"/>
          </a:xfrm>
          <a:prstGeom prst="rect">
            <a:avLst/>
          </a:prstGeom>
          <a:solidFill>
            <a:srgbClr val="E5E7E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dirty="0"/>
          </a:p>
        </p:txBody>
      </p:sp>
      <p:sp>
        <p:nvSpPr>
          <p:cNvPr id="12" name="CuadroTexto 11">
            <a:extLst>
              <a:ext uri="{FF2B5EF4-FFF2-40B4-BE49-F238E27FC236}">
                <a16:creationId xmlns:a16="http://schemas.microsoft.com/office/drawing/2014/main" id="{E8A27464-CDAE-12CA-DE4A-BBE2E7D3D8BC}"/>
              </a:ext>
            </a:extLst>
          </p:cNvPr>
          <p:cNvSpPr txBox="1"/>
          <p:nvPr/>
        </p:nvSpPr>
        <p:spPr>
          <a:xfrm>
            <a:off x="508000" y="4318000"/>
            <a:ext cx="8128000" cy="938719"/>
          </a:xfrm>
          <a:prstGeom prst="rect">
            <a:avLst/>
          </a:prstGeom>
          <a:noFill/>
        </p:spPr>
        <p:txBody>
          <a:bodyPr vert="horz" wrap="square" rtlCol="0">
            <a:spAutoFit/>
          </a:bodyPr>
          <a:lstStyle/>
          <a:p>
            <a:r>
              <a:rPr lang="es-MX" sz="1100" dirty="0">
                <a:solidFill>
                  <a:srgbClr val="111827"/>
                </a:solidFill>
                <a:latin typeface="Segoe UI" panose="020B0502040204020203" pitchFamily="34" charset="0"/>
              </a:rPr>
              <a:t>APIs:
  GET  /api/graficas-config             Cargar configuración guardada
  POST /api/graficas-config             Guardar configuración (solo admin)
ARCHIVOS: vistas/js/graficas-resumen.js + graficas-config.js + chart-wizard.js</a:t>
            </a:r>
          </a:p>
        </p:txBody>
      </p:sp>
    </p:spTree>
    <p:extLst>
      <p:ext uri="{BB962C8B-B14F-4D97-AF65-F5344CB8AC3E}">
        <p14:creationId xmlns:p14="http://schemas.microsoft.com/office/powerpoint/2010/main" val="18120692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5C6333B1-5F79-37BB-683B-0CDB76B7EFAC}"/>
              </a:ext>
            </a:extLst>
          </p:cNvPr>
          <p:cNvSpPr/>
          <p:nvPr/>
        </p:nvSpPr>
        <p:spPr>
          <a:xfrm>
            <a:off x="0" y="0"/>
            <a:ext cx="9144000" cy="711200"/>
          </a:xfrm>
          <a:prstGeom prst="rect">
            <a:avLst/>
          </a:prstGeom>
          <a:solidFill>
            <a:srgbClr val="0D47A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254000" tIns="101600" rtlCol="0" anchor="ctr"/>
          <a:lstStyle/>
          <a:p>
            <a:pPr algn="ctr"/>
            <a:r>
              <a:rPr lang="es-ES" sz="2400" b="1" dirty="0">
                <a:solidFill>
                  <a:srgbClr val="FFFFFF"/>
                </a:solidFill>
                <a:latin typeface="Segoe UI" panose="020B0502040204020203" pitchFamily="34" charset="0"/>
              </a:rPr>
              <a:t>  PARTE 9: Base de Datos SQLite</a:t>
            </a:r>
            <a:endParaRPr lang="es-MX" sz="2400" b="1" dirty="0">
              <a:solidFill>
                <a:srgbClr val="FFFFFF"/>
              </a:solidFill>
              <a:latin typeface="Segoe UI" panose="020B0502040204020203" pitchFamily="34" charset="0"/>
            </a:endParaRPr>
          </a:p>
        </p:txBody>
      </p:sp>
      <p:sp>
        <p:nvSpPr>
          <p:cNvPr id="3" name="CuadroTexto 2">
            <a:extLst>
              <a:ext uri="{FF2B5EF4-FFF2-40B4-BE49-F238E27FC236}">
                <a16:creationId xmlns:a16="http://schemas.microsoft.com/office/drawing/2014/main" id="{BD281C8F-E037-F5C9-7742-D0990C6741DA}"/>
              </a:ext>
            </a:extLst>
          </p:cNvPr>
          <p:cNvSpPr txBox="1"/>
          <p:nvPr/>
        </p:nvSpPr>
        <p:spPr>
          <a:xfrm>
            <a:off x="508000" y="863600"/>
            <a:ext cx="8128000" cy="276999"/>
          </a:xfrm>
          <a:prstGeom prst="rect">
            <a:avLst/>
          </a:prstGeom>
          <a:noFill/>
        </p:spPr>
        <p:txBody>
          <a:bodyPr vert="horz" wrap="square" rtlCol="0">
            <a:spAutoFit/>
          </a:bodyPr>
          <a:lstStyle/>
          <a:p>
            <a:r>
              <a:rPr lang="es-ES" sz="1200" dirty="0">
                <a:solidFill>
                  <a:srgbClr val="111827"/>
                </a:solidFill>
                <a:latin typeface="Segoe UI" panose="020B0502040204020203" pitchFamily="34" charset="0"/>
              </a:rPr>
              <a:t>Archivo local: datos/panel.sqlite - Guarda toda la configuración:</a:t>
            </a:r>
            <a:endParaRPr lang="es-MX" sz="1200" dirty="0">
              <a:solidFill>
                <a:srgbClr val="111827"/>
              </a:solidFill>
              <a:latin typeface="Segoe UI" panose="020B0502040204020203" pitchFamily="34" charset="0"/>
            </a:endParaRPr>
          </a:p>
        </p:txBody>
      </p:sp>
      <p:sp>
        <p:nvSpPr>
          <p:cNvPr id="4" name="Rectángulo: esquinas redondeadas 3">
            <a:extLst>
              <a:ext uri="{FF2B5EF4-FFF2-40B4-BE49-F238E27FC236}">
                <a16:creationId xmlns:a16="http://schemas.microsoft.com/office/drawing/2014/main" id="{117D8B08-2EA8-3FA7-2EBE-E7FC4DF8E8ED}"/>
              </a:ext>
            </a:extLst>
          </p:cNvPr>
          <p:cNvSpPr/>
          <p:nvPr/>
        </p:nvSpPr>
        <p:spPr>
          <a:xfrm>
            <a:off x="571500" y="1206500"/>
            <a:ext cx="2286000" cy="254000"/>
          </a:xfrm>
          <a:prstGeom prst="roundRect">
            <a:avLst/>
          </a:prstGeom>
          <a:solidFill>
            <a:srgbClr val="0D47A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900" b="1" dirty="0">
                <a:solidFill>
                  <a:srgbClr val="FFFFFF"/>
                </a:solidFill>
                <a:latin typeface="Segoe UI" panose="020B0502040204020203" pitchFamily="34" charset="0"/>
              </a:rPr>
              <a:t>usuarios</a:t>
            </a:r>
          </a:p>
        </p:txBody>
      </p:sp>
      <p:sp>
        <p:nvSpPr>
          <p:cNvPr id="5" name="CuadroTexto 4">
            <a:extLst>
              <a:ext uri="{FF2B5EF4-FFF2-40B4-BE49-F238E27FC236}">
                <a16:creationId xmlns:a16="http://schemas.microsoft.com/office/drawing/2014/main" id="{0A35052E-A481-D948-7988-EC336D5B328C}"/>
              </a:ext>
            </a:extLst>
          </p:cNvPr>
          <p:cNvSpPr txBox="1"/>
          <p:nvPr/>
        </p:nvSpPr>
        <p:spPr>
          <a:xfrm>
            <a:off x="2946400" y="1219200"/>
            <a:ext cx="5651500" cy="230832"/>
          </a:xfrm>
          <a:prstGeom prst="rect">
            <a:avLst/>
          </a:prstGeom>
          <a:noFill/>
        </p:spPr>
        <p:txBody>
          <a:bodyPr vert="horz" wrap="square" rtlCol="0">
            <a:spAutoFit/>
          </a:bodyPr>
          <a:lstStyle/>
          <a:p>
            <a:r>
              <a:rPr lang="es-ES" sz="900" dirty="0">
                <a:solidFill>
                  <a:srgbClr val="111827"/>
                </a:solidFill>
                <a:latin typeface="Segoe UI" panose="020B0502040204020203" pitchFamily="34" charset="0"/>
              </a:rPr>
              <a:t>Nombre, contraseña (hash), es_admin, permisos generales</a:t>
            </a:r>
            <a:endParaRPr lang="es-MX" sz="900" dirty="0">
              <a:solidFill>
                <a:srgbClr val="111827"/>
              </a:solidFill>
              <a:latin typeface="Segoe UI" panose="020B0502040204020203" pitchFamily="34" charset="0"/>
            </a:endParaRPr>
          </a:p>
        </p:txBody>
      </p:sp>
      <p:sp>
        <p:nvSpPr>
          <p:cNvPr id="6" name="Rectángulo: esquinas redondeadas 5">
            <a:extLst>
              <a:ext uri="{FF2B5EF4-FFF2-40B4-BE49-F238E27FC236}">
                <a16:creationId xmlns:a16="http://schemas.microsoft.com/office/drawing/2014/main" id="{F2EB6C85-0779-DE45-9C58-7C41BE5AF616}"/>
              </a:ext>
            </a:extLst>
          </p:cNvPr>
          <p:cNvSpPr/>
          <p:nvPr/>
        </p:nvSpPr>
        <p:spPr>
          <a:xfrm>
            <a:off x="571500" y="1511300"/>
            <a:ext cx="2286000" cy="254000"/>
          </a:xfrm>
          <a:prstGeom prst="roundRect">
            <a:avLst/>
          </a:prstGeom>
          <a:solidFill>
            <a:srgbClr val="0D47A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900" b="1" dirty="0">
                <a:solidFill>
                  <a:srgbClr val="FFFFFF"/>
                </a:solidFill>
                <a:latin typeface="Segoe UI" panose="020B0502040204020203" pitchFamily="34" charset="0"/>
              </a:rPr>
              <a:t>permisos_modulo</a:t>
            </a:r>
          </a:p>
        </p:txBody>
      </p:sp>
      <p:sp>
        <p:nvSpPr>
          <p:cNvPr id="7" name="CuadroTexto 6">
            <a:extLst>
              <a:ext uri="{FF2B5EF4-FFF2-40B4-BE49-F238E27FC236}">
                <a16:creationId xmlns:a16="http://schemas.microsoft.com/office/drawing/2014/main" id="{BE7A7CA7-AF4D-14D0-8C1F-6D81DEE3A510}"/>
              </a:ext>
            </a:extLst>
          </p:cNvPr>
          <p:cNvSpPr txBox="1"/>
          <p:nvPr/>
        </p:nvSpPr>
        <p:spPr>
          <a:xfrm>
            <a:off x="2946400" y="1524000"/>
            <a:ext cx="5651500" cy="230832"/>
          </a:xfrm>
          <a:prstGeom prst="rect">
            <a:avLst/>
          </a:prstGeom>
          <a:noFill/>
        </p:spPr>
        <p:txBody>
          <a:bodyPr vert="horz" wrap="square" rtlCol="0">
            <a:spAutoFit/>
          </a:bodyPr>
          <a:lstStyle/>
          <a:p>
            <a:r>
              <a:rPr lang="es-ES" sz="900" dirty="0">
                <a:solidFill>
                  <a:srgbClr val="111827"/>
                </a:solidFill>
                <a:latin typeface="Segoe UI" panose="020B0502040204020203" pitchFamily="34" charset="0"/>
              </a:rPr>
              <a:t>Que puede hacer cada usuario en cada empresa/modulo</a:t>
            </a:r>
            <a:endParaRPr lang="es-MX" sz="900" dirty="0">
              <a:solidFill>
                <a:srgbClr val="111827"/>
              </a:solidFill>
              <a:latin typeface="Segoe UI" panose="020B0502040204020203" pitchFamily="34" charset="0"/>
            </a:endParaRPr>
          </a:p>
        </p:txBody>
      </p:sp>
      <p:sp>
        <p:nvSpPr>
          <p:cNvPr id="8" name="Rectángulo: esquinas redondeadas 7">
            <a:extLst>
              <a:ext uri="{FF2B5EF4-FFF2-40B4-BE49-F238E27FC236}">
                <a16:creationId xmlns:a16="http://schemas.microsoft.com/office/drawing/2014/main" id="{674DA2F8-BC97-53A8-E89A-FA5B6AD22D55}"/>
              </a:ext>
            </a:extLst>
          </p:cNvPr>
          <p:cNvSpPr/>
          <p:nvPr/>
        </p:nvSpPr>
        <p:spPr>
          <a:xfrm>
            <a:off x="571500" y="1816100"/>
            <a:ext cx="2286000" cy="254000"/>
          </a:xfrm>
          <a:prstGeom prst="roundRect">
            <a:avLst/>
          </a:prstGeom>
          <a:solidFill>
            <a:srgbClr val="2ECC7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900" b="1" dirty="0">
                <a:solidFill>
                  <a:srgbClr val="FFFFFF"/>
                </a:solidFill>
                <a:latin typeface="Segoe UI" panose="020B0502040204020203" pitchFamily="34" charset="0"/>
              </a:rPr>
              <a:t>presupuestos_estado</a:t>
            </a:r>
          </a:p>
        </p:txBody>
      </p:sp>
      <p:sp>
        <p:nvSpPr>
          <p:cNvPr id="9" name="CuadroTexto 8">
            <a:extLst>
              <a:ext uri="{FF2B5EF4-FFF2-40B4-BE49-F238E27FC236}">
                <a16:creationId xmlns:a16="http://schemas.microsoft.com/office/drawing/2014/main" id="{0918D538-5A44-A671-0931-8891CE841A94}"/>
              </a:ext>
            </a:extLst>
          </p:cNvPr>
          <p:cNvSpPr txBox="1"/>
          <p:nvPr/>
        </p:nvSpPr>
        <p:spPr>
          <a:xfrm>
            <a:off x="2946400" y="1828800"/>
            <a:ext cx="5651500" cy="230832"/>
          </a:xfrm>
          <a:prstGeom prst="rect">
            <a:avLst/>
          </a:prstGeom>
          <a:noFill/>
        </p:spPr>
        <p:txBody>
          <a:bodyPr vert="horz" wrap="square" rtlCol="0">
            <a:spAutoFit/>
          </a:bodyPr>
          <a:lstStyle/>
          <a:p>
            <a:r>
              <a:rPr lang="es-MX" sz="900" dirty="0">
                <a:solidFill>
                  <a:srgbClr val="111827"/>
                </a:solidFill>
                <a:latin typeface="Segoe UI" panose="020B0502040204020203" pitchFamily="34" charset="0"/>
              </a:rPr>
              <a:t>Estado actual: sin-cargar, cargado, revisado, aprobado</a:t>
            </a:r>
          </a:p>
        </p:txBody>
      </p:sp>
      <p:sp>
        <p:nvSpPr>
          <p:cNvPr id="10" name="Rectángulo: esquinas redondeadas 9">
            <a:extLst>
              <a:ext uri="{FF2B5EF4-FFF2-40B4-BE49-F238E27FC236}">
                <a16:creationId xmlns:a16="http://schemas.microsoft.com/office/drawing/2014/main" id="{F282BE78-4110-2C33-C33F-C07BD6FAB092}"/>
              </a:ext>
            </a:extLst>
          </p:cNvPr>
          <p:cNvSpPr/>
          <p:nvPr/>
        </p:nvSpPr>
        <p:spPr>
          <a:xfrm>
            <a:off x="571500" y="2120900"/>
            <a:ext cx="2286000" cy="254000"/>
          </a:xfrm>
          <a:prstGeom prst="roundRect">
            <a:avLst/>
          </a:prstGeom>
          <a:solidFill>
            <a:srgbClr val="2ECC7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900" b="1" dirty="0">
                <a:solidFill>
                  <a:srgbClr val="FFFFFF"/>
                </a:solidFill>
                <a:latin typeface="Segoe UI" panose="020B0502040204020203" pitchFamily="34" charset="0"/>
              </a:rPr>
              <a:t>presupuestos_guardados</a:t>
            </a:r>
          </a:p>
        </p:txBody>
      </p:sp>
      <p:sp>
        <p:nvSpPr>
          <p:cNvPr id="11" name="CuadroTexto 10">
            <a:extLst>
              <a:ext uri="{FF2B5EF4-FFF2-40B4-BE49-F238E27FC236}">
                <a16:creationId xmlns:a16="http://schemas.microsoft.com/office/drawing/2014/main" id="{C5B7F4DE-EA8F-EE54-4489-4D1D1ECC498C}"/>
              </a:ext>
            </a:extLst>
          </p:cNvPr>
          <p:cNvSpPr txBox="1"/>
          <p:nvPr/>
        </p:nvSpPr>
        <p:spPr>
          <a:xfrm>
            <a:off x="2946400" y="2133600"/>
            <a:ext cx="5651500" cy="230832"/>
          </a:xfrm>
          <a:prstGeom prst="rect">
            <a:avLst/>
          </a:prstGeom>
          <a:noFill/>
        </p:spPr>
        <p:txBody>
          <a:bodyPr vert="horz" wrap="square" rtlCol="0">
            <a:spAutoFit/>
          </a:bodyPr>
          <a:lstStyle/>
          <a:p>
            <a:r>
              <a:rPr lang="es-ES" sz="900" dirty="0">
                <a:solidFill>
                  <a:srgbClr val="111827"/>
                </a:solidFill>
                <a:latin typeface="Segoe UI" panose="020B0502040204020203" pitchFamily="34" charset="0"/>
              </a:rPr>
              <a:t>Datos de presupuesto guardados oficialmente</a:t>
            </a:r>
            <a:endParaRPr lang="es-MX" sz="900" dirty="0">
              <a:solidFill>
                <a:srgbClr val="111827"/>
              </a:solidFill>
              <a:latin typeface="Segoe UI" panose="020B0502040204020203" pitchFamily="34" charset="0"/>
            </a:endParaRPr>
          </a:p>
        </p:txBody>
      </p:sp>
      <p:sp>
        <p:nvSpPr>
          <p:cNvPr id="12" name="Rectángulo: esquinas redondeadas 11">
            <a:extLst>
              <a:ext uri="{FF2B5EF4-FFF2-40B4-BE49-F238E27FC236}">
                <a16:creationId xmlns:a16="http://schemas.microsoft.com/office/drawing/2014/main" id="{D03B9B6C-4006-7158-6095-DB41F4EE4774}"/>
              </a:ext>
            </a:extLst>
          </p:cNvPr>
          <p:cNvSpPr/>
          <p:nvPr/>
        </p:nvSpPr>
        <p:spPr>
          <a:xfrm>
            <a:off x="571500" y="2425700"/>
            <a:ext cx="2286000" cy="254000"/>
          </a:xfrm>
          <a:prstGeom prst="roundRect">
            <a:avLst/>
          </a:prstGeom>
          <a:solidFill>
            <a:srgbClr val="2ECC7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900" b="1" dirty="0">
                <a:solidFill>
                  <a:srgbClr val="FFFFFF"/>
                </a:solidFill>
                <a:latin typeface="Segoe UI" panose="020B0502040204020203" pitchFamily="34" charset="0"/>
              </a:rPr>
              <a:t>PLAN_BORRADORES</a:t>
            </a:r>
          </a:p>
        </p:txBody>
      </p:sp>
      <p:sp>
        <p:nvSpPr>
          <p:cNvPr id="13" name="CuadroTexto 12">
            <a:extLst>
              <a:ext uri="{FF2B5EF4-FFF2-40B4-BE49-F238E27FC236}">
                <a16:creationId xmlns:a16="http://schemas.microsoft.com/office/drawing/2014/main" id="{DEAEB04C-035E-468E-7692-37BE8ACA3A74}"/>
              </a:ext>
            </a:extLst>
          </p:cNvPr>
          <p:cNvSpPr txBox="1"/>
          <p:nvPr/>
        </p:nvSpPr>
        <p:spPr>
          <a:xfrm>
            <a:off x="2946400" y="2438400"/>
            <a:ext cx="5651500" cy="230832"/>
          </a:xfrm>
          <a:prstGeom prst="rect">
            <a:avLst/>
          </a:prstGeom>
          <a:noFill/>
        </p:spPr>
        <p:txBody>
          <a:bodyPr vert="horz" wrap="square" rtlCol="0">
            <a:spAutoFit/>
          </a:bodyPr>
          <a:lstStyle/>
          <a:p>
            <a:r>
              <a:rPr lang="es-ES" sz="900" dirty="0">
                <a:solidFill>
                  <a:srgbClr val="111827"/>
                </a:solidFill>
                <a:latin typeface="Segoe UI" panose="020B0502040204020203" pitchFamily="34" charset="0"/>
              </a:rPr>
              <a:t>Autoguardado: datos que el usuario esta editando</a:t>
            </a:r>
            <a:endParaRPr lang="es-MX" sz="900" dirty="0">
              <a:solidFill>
                <a:srgbClr val="111827"/>
              </a:solidFill>
              <a:latin typeface="Segoe UI" panose="020B0502040204020203" pitchFamily="34" charset="0"/>
            </a:endParaRPr>
          </a:p>
        </p:txBody>
      </p:sp>
      <p:sp>
        <p:nvSpPr>
          <p:cNvPr id="14" name="Rectángulo: esquinas redondeadas 13">
            <a:extLst>
              <a:ext uri="{FF2B5EF4-FFF2-40B4-BE49-F238E27FC236}">
                <a16:creationId xmlns:a16="http://schemas.microsoft.com/office/drawing/2014/main" id="{D712EABB-688D-857E-1751-5B2CA512C108}"/>
              </a:ext>
            </a:extLst>
          </p:cNvPr>
          <p:cNvSpPr/>
          <p:nvPr/>
        </p:nvSpPr>
        <p:spPr>
          <a:xfrm>
            <a:off x="571500" y="2730500"/>
            <a:ext cx="2286000" cy="254000"/>
          </a:xfrm>
          <a:prstGeom prst="roundRect">
            <a:avLst/>
          </a:prstGeom>
          <a:solidFill>
            <a:srgbClr val="E67E2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900" b="1" dirty="0">
                <a:solidFill>
                  <a:srgbClr val="FFFFFF"/>
                </a:solidFill>
                <a:latin typeface="Segoe UI" panose="020B0502040204020203" pitchFamily="34" charset="0"/>
              </a:rPr>
              <a:t>layout_cuentas</a:t>
            </a:r>
          </a:p>
        </p:txBody>
      </p:sp>
      <p:sp>
        <p:nvSpPr>
          <p:cNvPr id="15" name="CuadroTexto 14">
            <a:extLst>
              <a:ext uri="{FF2B5EF4-FFF2-40B4-BE49-F238E27FC236}">
                <a16:creationId xmlns:a16="http://schemas.microsoft.com/office/drawing/2014/main" id="{6D5A4FC8-8D8C-01A8-6022-CBA82AED971B}"/>
              </a:ext>
            </a:extLst>
          </p:cNvPr>
          <p:cNvSpPr txBox="1"/>
          <p:nvPr/>
        </p:nvSpPr>
        <p:spPr>
          <a:xfrm>
            <a:off x="2946400" y="2743200"/>
            <a:ext cx="5651500" cy="230832"/>
          </a:xfrm>
          <a:prstGeom prst="rect">
            <a:avLst/>
          </a:prstGeom>
          <a:noFill/>
        </p:spPr>
        <p:txBody>
          <a:bodyPr vert="horz" wrap="square" rtlCol="0">
            <a:spAutoFit/>
          </a:bodyPr>
          <a:lstStyle/>
          <a:p>
            <a:r>
              <a:rPr lang="es-MX" sz="900" dirty="0">
                <a:solidFill>
                  <a:srgbClr val="111827"/>
                </a:solidFill>
                <a:latin typeface="Segoe UI" panose="020B0502040204020203" pitchFamily="34" charset="0"/>
              </a:rPr>
              <a:t>Catalogo de cuentas por empresa/modulo/ano</a:t>
            </a:r>
          </a:p>
        </p:txBody>
      </p:sp>
      <p:sp>
        <p:nvSpPr>
          <p:cNvPr id="16" name="Rectángulo: esquinas redondeadas 15">
            <a:extLst>
              <a:ext uri="{FF2B5EF4-FFF2-40B4-BE49-F238E27FC236}">
                <a16:creationId xmlns:a16="http://schemas.microsoft.com/office/drawing/2014/main" id="{4337C97F-DEF2-1125-0B17-F2511D575E35}"/>
              </a:ext>
            </a:extLst>
          </p:cNvPr>
          <p:cNvSpPr/>
          <p:nvPr/>
        </p:nvSpPr>
        <p:spPr>
          <a:xfrm>
            <a:off x="571500" y="3035300"/>
            <a:ext cx="2286000" cy="254000"/>
          </a:xfrm>
          <a:prstGeom prst="roundRect">
            <a:avLst/>
          </a:prstGeom>
          <a:solidFill>
            <a:srgbClr val="E67E2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900" b="1" dirty="0">
                <a:solidFill>
                  <a:srgbClr val="FFFFFF"/>
                </a:solidFill>
                <a:latin typeface="Segoe UI" panose="020B0502040204020203" pitchFamily="34" charset="0"/>
              </a:rPr>
              <a:t>layout_operaciones</a:t>
            </a:r>
          </a:p>
        </p:txBody>
      </p:sp>
      <p:sp>
        <p:nvSpPr>
          <p:cNvPr id="17" name="CuadroTexto 16">
            <a:extLst>
              <a:ext uri="{FF2B5EF4-FFF2-40B4-BE49-F238E27FC236}">
                <a16:creationId xmlns:a16="http://schemas.microsoft.com/office/drawing/2014/main" id="{42756DBA-6DBC-7027-5646-963648A839FA}"/>
              </a:ext>
            </a:extLst>
          </p:cNvPr>
          <p:cNvSpPr txBox="1"/>
          <p:nvPr/>
        </p:nvSpPr>
        <p:spPr>
          <a:xfrm>
            <a:off x="2946400" y="3048000"/>
            <a:ext cx="5651500" cy="230832"/>
          </a:xfrm>
          <a:prstGeom prst="rect">
            <a:avLst/>
          </a:prstGeom>
          <a:noFill/>
        </p:spPr>
        <p:txBody>
          <a:bodyPr vert="horz" wrap="square" rtlCol="0">
            <a:spAutoFit/>
          </a:bodyPr>
          <a:lstStyle/>
          <a:p>
            <a:r>
              <a:rPr lang="es-MX" sz="900" dirty="0">
                <a:solidFill>
                  <a:srgbClr val="111827"/>
                </a:solidFill>
                <a:latin typeface="Segoe UI" panose="020B0502040204020203" pitchFamily="34" charset="0"/>
              </a:rPr>
              <a:t>Fórmulas de calculo (totales, consolidados)</a:t>
            </a:r>
          </a:p>
        </p:txBody>
      </p:sp>
      <p:sp>
        <p:nvSpPr>
          <p:cNvPr id="18" name="Rectángulo: esquinas redondeadas 17">
            <a:extLst>
              <a:ext uri="{FF2B5EF4-FFF2-40B4-BE49-F238E27FC236}">
                <a16:creationId xmlns:a16="http://schemas.microsoft.com/office/drawing/2014/main" id="{0FD0D452-8474-21F6-AC46-824AAE83F03B}"/>
              </a:ext>
            </a:extLst>
          </p:cNvPr>
          <p:cNvSpPr/>
          <p:nvPr/>
        </p:nvSpPr>
        <p:spPr>
          <a:xfrm>
            <a:off x="571500" y="3340100"/>
            <a:ext cx="2286000" cy="254000"/>
          </a:xfrm>
          <a:prstGeom prst="roundRect">
            <a:avLst/>
          </a:prstGeom>
          <a:solidFill>
            <a:srgbClr val="E67E2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900" b="1" dirty="0">
                <a:solidFill>
                  <a:srgbClr val="FFFFFF"/>
                </a:solidFill>
                <a:latin typeface="Segoe UI" panose="020B0502040204020203" pitchFamily="34" charset="0"/>
              </a:rPr>
              <a:t>layout_secciones</a:t>
            </a:r>
          </a:p>
        </p:txBody>
      </p:sp>
      <p:sp>
        <p:nvSpPr>
          <p:cNvPr id="19" name="CuadroTexto 18">
            <a:extLst>
              <a:ext uri="{FF2B5EF4-FFF2-40B4-BE49-F238E27FC236}">
                <a16:creationId xmlns:a16="http://schemas.microsoft.com/office/drawing/2014/main" id="{497A92AE-70C5-5F44-B567-0557F0E041DA}"/>
              </a:ext>
            </a:extLst>
          </p:cNvPr>
          <p:cNvSpPr txBox="1"/>
          <p:nvPr/>
        </p:nvSpPr>
        <p:spPr>
          <a:xfrm>
            <a:off x="2946400" y="3352800"/>
            <a:ext cx="5651500" cy="230832"/>
          </a:xfrm>
          <a:prstGeom prst="rect">
            <a:avLst/>
          </a:prstGeom>
          <a:noFill/>
        </p:spPr>
        <p:txBody>
          <a:bodyPr vert="horz" wrap="square" rtlCol="0">
            <a:spAutoFit/>
          </a:bodyPr>
          <a:lstStyle/>
          <a:p>
            <a:r>
              <a:rPr lang="es-MX" sz="900" dirty="0">
                <a:solidFill>
                  <a:srgbClr val="111827"/>
                </a:solidFill>
                <a:latin typeface="Segoe UI" panose="020B0502040204020203" pitchFamily="34" charset="0"/>
              </a:rPr>
              <a:t>Agrupaciones (Income, Expense, etc.)</a:t>
            </a:r>
          </a:p>
        </p:txBody>
      </p:sp>
      <p:sp>
        <p:nvSpPr>
          <p:cNvPr id="20" name="Rectángulo: esquinas redondeadas 19">
            <a:extLst>
              <a:ext uri="{FF2B5EF4-FFF2-40B4-BE49-F238E27FC236}">
                <a16:creationId xmlns:a16="http://schemas.microsoft.com/office/drawing/2014/main" id="{B6049A8F-88E1-A1F8-AD80-AB60D94C6578}"/>
              </a:ext>
            </a:extLst>
          </p:cNvPr>
          <p:cNvSpPr/>
          <p:nvPr/>
        </p:nvSpPr>
        <p:spPr>
          <a:xfrm>
            <a:off x="571500" y="3644900"/>
            <a:ext cx="2286000" cy="254000"/>
          </a:xfrm>
          <a:prstGeom prst="roundRect">
            <a:avLst/>
          </a:prstGeom>
          <a:solidFill>
            <a:srgbClr val="34495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900" b="1" dirty="0">
                <a:solidFill>
                  <a:srgbClr val="FFFFFF"/>
                </a:solidFill>
                <a:latin typeface="Segoe UI" panose="020B0502040204020203" pitchFamily="34" charset="0"/>
              </a:rPr>
              <a:t>graficas_config</a:t>
            </a:r>
          </a:p>
        </p:txBody>
      </p:sp>
      <p:sp>
        <p:nvSpPr>
          <p:cNvPr id="21" name="CuadroTexto 20">
            <a:extLst>
              <a:ext uri="{FF2B5EF4-FFF2-40B4-BE49-F238E27FC236}">
                <a16:creationId xmlns:a16="http://schemas.microsoft.com/office/drawing/2014/main" id="{61EE9393-F91C-B4A5-2334-DEA9AEC8CEE7}"/>
              </a:ext>
            </a:extLst>
          </p:cNvPr>
          <p:cNvSpPr txBox="1"/>
          <p:nvPr/>
        </p:nvSpPr>
        <p:spPr>
          <a:xfrm>
            <a:off x="2946400" y="3657600"/>
            <a:ext cx="5651500" cy="230832"/>
          </a:xfrm>
          <a:prstGeom prst="rect">
            <a:avLst/>
          </a:prstGeom>
          <a:noFill/>
        </p:spPr>
        <p:txBody>
          <a:bodyPr vert="horz" wrap="square" rtlCol="0">
            <a:spAutoFit/>
          </a:bodyPr>
          <a:lstStyle/>
          <a:p>
            <a:r>
              <a:rPr lang="es-MX" sz="900" dirty="0">
                <a:solidFill>
                  <a:srgbClr val="111827"/>
                </a:solidFill>
                <a:latin typeface="Segoe UI" panose="020B0502040204020203" pitchFamily="34" charset="0"/>
              </a:rPr>
              <a:t>Configuración de gráficas guardadas</a:t>
            </a:r>
          </a:p>
        </p:txBody>
      </p:sp>
      <p:sp>
        <p:nvSpPr>
          <p:cNvPr id="22" name="Rectángulo: esquinas redondeadas 21">
            <a:extLst>
              <a:ext uri="{FF2B5EF4-FFF2-40B4-BE49-F238E27FC236}">
                <a16:creationId xmlns:a16="http://schemas.microsoft.com/office/drawing/2014/main" id="{A4B4CA95-1FC5-3D49-C254-88FDD65F8259}"/>
              </a:ext>
            </a:extLst>
          </p:cNvPr>
          <p:cNvSpPr/>
          <p:nvPr/>
        </p:nvSpPr>
        <p:spPr>
          <a:xfrm>
            <a:off x="571500" y="3949700"/>
            <a:ext cx="2286000" cy="254000"/>
          </a:xfrm>
          <a:prstGeom prst="roundRect">
            <a:avLst/>
          </a:prstGeom>
          <a:solidFill>
            <a:srgbClr val="34495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900" b="1" dirty="0">
                <a:solidFill>
                  <a:srgbClr val="FFFFFF"/>
                </a:solidFill>
                <a:latin typeface="Segoe UI" panose="020B0502040204020203" pitchFamily="34" charset="0"/>
              </a:rPr>
              <a:t>comentarios_celdas</a:t>
            </a:r>
          </a:p>
        </p:txBody>
      </p:sp>
      <p:sp>
        <p:nvSpPr>
          <p:cNvPr id="23" name="CuadroTexto 22">
            <a:extLst>
              <a:ext uri="{FF2B5EF4-FFF2-40B4-BE49-F238E27FC236}">
                <a16:creationId xmlns:a16="http://schemas.microsoft.com/office/drawing/2014/main" id="{5B9B9FD2-B884-4BEE-E2BC-2AD7B79903E1}"/>
              </a:ext>
            </a:extLst>
          </p:cNvPr>
          <p:cNvSpPr txBox="1"/>
          <p:nvPr/>
        </p:nvSpPr>
        <p:spPr>
          <a:xfrm>
            <a:off x="2946400" y="3962400"/>
            <a:ext cx="5651500" cy="230832"/>
          </a:xfrm>
          <a:prstGeom prst="rect">
            <a:avLst/>
          </a:prstGeom>
          <a:noFill/>
        </p:spPr>
        <p:txBody>
          <a:bodyPr vert="horz" wrap="square" rtlCol="0">
            <a:spAutoFit/>
          </a:bodyPr>
          <a:lstStyle/>
          <a:p>
            <a:r>
              <a:rPr lang="es-ES" sz="900" dirty="0">
                <a:solidFill>
                  <a:srgbClr val="111827"/>
                </a:solidFill>
                <a:latin typeface="Segoe UI" panose="020B0502040204020203" pitchFamily="34" charset="0"/>
              </a:rPr>
              <a:t>Comentarios en celdas específicas del presupuesto</a:t>
            </a:r>
            <a:endParaRPr lang="es-MX" sz="900" dirty="0">
              <a:solidFill>
                <a:srgbClr val="111827"/>
              </a:solidFill>
              <a:latin typeface="Segoe UI" panose="020B0502040204020203" pitchFamily="34" charset="0"/>
            </a:endParaRPr>
          </a:p>
        </p:txBody>
      </p:sp>
      <p:sp>
        <p:nvSpPr>
          <p:cNvPr id="24" name="Rectángulo: esquinas redondeadas 23">
            <a:extLst>
              <a:ext uri="{FF2B5EF4-FFF2-40B4-BE49-F238E27FC236}">
                <a16:creationId xmlns:a16="http://schemas.microsoft.com/office/drawing/2014/main" id="{AED3340E-8A21-923F-43A5-14FD76C8EB10}"/>
              </a:ext>
            </a:extLst>
          </p:cNvPr>
          <p:cNvSpPr/>
          <p:nvPr/>
        </p:nvSpPr>
        <p:spPr>
          <a:xfrm>
            <a:off x="571500" y="4254500"/>
            <a:ext cx="2286000" cy="254000"/>
          </a:xfrm>
          <a:prstGeom prst="roundRect">
            <a:avLst/>
          </a:prstGeom>
          <a:solidFill>
            <a:srgbClr val="34495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900" b="1" dirty="0">
                <a:solidFill>
                  <a:srgbClr val="FFFFFF"/>
                </a:solidFill>
                <a:latin typeface="Segoe UI" panose="020B0502040204020203" pitchFamily="34" charset="0"/>
              </a:rPr>
              <a:t>notificaciones</a:t>
            </a:r>
          </a:p>
        </p:txBody>
      </p:sp>
      <p:sp>
        <p:nvSpPr>
          <p:cNvPr id="25" name="CuadroTexto 24">
            <a:extLst>
              <a:ext uri="{FF2B5EF4-FFF2-40B4-BE49-F238E27FC236}">
                <a16:creationId xmlns:a16="http://schemas.microsoft.com/office/drawing/2014/main" id="{144C71B0-F6B2-EDD3-DE8E-2515CDA24C6E}"/>
              </a:ext>
            </a:extLst>
          </p:cNvPr>
          <p:cNvSpPr txBox="1"/>
          <p:nvPr/>
        </p:nvSpPr>
        <p:spPr>
          <a:xfrm>
            <a:off x="2946400" y="4267200"/>
            <a:ext cx="5651500" cy="230832"/>
          </a:xfrm>
          <a:prstGeom prst="rect">
            <a:avLst/>
          </a:prstGeom>
          <a:noFill/>
        </p:spPr>
        <p:txBody>
          <a:bodyPr vert="horz" wrap="square" rtlCol="0">
            <a:spAutoFit/>
          </a:bodyPr>
          <a:lstStyle/>
          <a:p>
            <a:r>
              <a:rPr lang="es-MX" sz="900" dirty="0">
                <a:solidFill>
                  <a:srgbClr val="111827"/>
                </a:solidFill>
                <a:latin typeface="Segoe UI" panose="020B0502040204020203" pitchFamily="34" charset="0"/>
              </a:rPr>
              <a:t>Alertas para los usuarios</a:t>
            </a:r>
          </a:p>
        </p:txBody>
      </p:sp>
      <p:sp>
        <p:nvSpPr>
          <p:cNvPr id="26" name="Rectángulo: esquinas redondeadas 25">
            <a:extLst>
              <a:ext uri="{FF2B5EF4-FFF2-40B4-BE49-F238E27FC236}">
                <a16:creationId xmlns:a16="http://schemas.microsoft.com/office/drawing/2014/main" id="{0947C945-4885-CCE6-483E-4DAE3015BC0A}"/>
              </a:ext>
            </a:extLst>
          </p:cNvPr>
          <p:cNvSpPr/>
          <p:nvPr/>
        </p:nvSpPr>
        <p:spPr>
          <a:xfrm>
            <a:off x="571500" y="4559300"/>
            <a:ext cx="2286000" cy="254000"/>
          </a:xfrm>
          <a:prstGeom prst="roundRect">
            <a:avLst/>
          </a:prstGeom>
          <a:solidFill>
            <a:srgbClr val="34495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900" b="1" dirty="0">
                <a:solidFill>
                  <a:srgbClr val="FFFFFF"/>
                </a:solidFill>
                <a:latin typeface="Segoe UI" panose="020B0502040204020203" pitchFamily="34" charset="0"/>
              </a:rPr>
              <a:t>sesiones</a:t>
            </a:r>
          </a:p>
        </p:txBody>
      </p:sp>
      <p:sp>
        <p:nvSpPr>
          <p:cNvPr id="27" name="CuadroTexto 26">
            <a:extLst>
              <a:ext uri="{FF2B5EF4-FFF2-40B4-BE49-F238E27FC236}">
                <a16:creationId xmlns:a16="http://schemas.microsoft.com/office/drawing/2014/main" id="{B8C3A48E-D94C-972C-9F60-56AA87D8A3C3}"/>
              </a:ext>
            </a:extLst>
          </p:cNvPr>
          <p:cNvSpPr txBox="1"/>
          <p:nvPr/>
        </p:nvSpPr>
        <p:spPr>
          <a:xfrm>
            <a:off x="2946400" y="4572000"/>
            <a:ext cx="5651500" cy="230832"/>
          </a:xfrm>
          <a:prstGeom prst="rect">
            <a:avLst/>
          </a:prstGeom>
          <a:noFill/>
        </p:spPr>
        <p:txBody>
          <a:bodyPr vert="horz" wrap="square" rtlCol="0">
            <a:spAutoFit/>
          </a:bodyPr>
          <a:lstStyle/>
          <a:p>
            <a:r>
              <a:rPr lang="es-MX" sz="900" dirty="0">
                <a:solidFill>
                  <a:srgbClr val="111827"/>
                </a:solidFill>
                <a:latin typeface="Segoe UI" panose="020B0502040204020203" pitchFamily="34" charset="0"/>
              </a:rPr>
              <a:t>Sesiones activas (express-session store)</a:t>
            </a:r>
          </a:p>
        </p:txBody>
      </p:sp>
      <p:sp>
        <p:nvSpPr>
          <p:cNvPr id="28" name="CuadroTexto 27">
            <a:extLst>
              <a:ext uri="{FF2B5EF4-FFF2-40B4-BE49-F238E27FC236}">
                <a16:creationId xmlns:a16="http://schemas.microsoft.com/office/drawing/2014/main" id="{EA26E034-03A1-0638-2F9F-E16E6993CD7E}"/>
              </a:ext>
            </a:extLst>
          </p:cNvPr>
          <p:cNvSpPr txBox="1"/>
          <p:nvPr/>
        </p:nvSpPr>
        <p:spPr>
          <a:xfrm>
            <a:off x="508000" y="5397500"/>
            <a:ext cx="8128000" cy="246221"/>
          </a:xfrm>
          <a:prstGeom prst="rect">
            <a:avLst/>
          </a:prstGeom>
          <a:noFill/>
        </p:spPr>
        <p:txBody>
          <a:bodyPr vert="horz" wrap="square" rtlCol="0">
            <a:spAutoFit/>
          </a:bodyPr>
          <a:lstStyle/>
          <a:p>
            <a:r>
              <a:rPr lang="es-ES" sz="1000" dirty="0">
                <a:solidFill>
                  <a:srgbClr val="111827"/>
                </a:solidFill>
                <a:latin typeface="Segoe UI" panose="020B0502040204020203" pitchFamily="34" charset="0"/>
              </a:rPr>
              <a:t>MODO: WAL (Write-Ahead Logging) permite lectura concurrente por múltiples usuarios</a:t>
            </a:r>
            <a:endParaRPr lang="es-MX" sz="1000" dirty="0">
              <a:solidFill>
                <a:srgbClr val="111827"/>
              </a:solidFill>
              <a:latin typeface="Segoe UI" panose="020B0502040204020203" pitchFamily="34" charset="0"/>
            </a:endParaRPr>
          </a:p>
        </p:txBody>
      </p:sp>
    </p:spTree>
    <p:extLst>
      <p:ext uri="{BB962C8B-B14F-4D97-AF65-F5344CB8AC3E}">
        <p14:creationId xmlns:p14="http://schemas.microsoft.com/office/powerpoint/2010/main" val="112389137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4ADE9123-A7A2-1F94-A7E3-22151DE6C822}"/>
              </a:ext>
            </a:extLst>
          </p:cNvPr>
          <p:cNvSpPr/>
          <p:nvPr/>
        </p:nvSpPr>
        <p:spPr>
          <a:xfrm>
            <a:off x="0" y="0"/>
            <a:ext cx="9144000" cy="711200"/>
          </a:xfrm>
          <a:prstGeom prst="rect">
            <a:avLst/>
          </a:prstGeom>
          <a:solidFill>
            <a:srgbClr val="0D47A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254000" tIns="101600" rtlCol="0" anchor="ctr"/>
          <a:lstStyle/>
          <a:p>
            <a:pPr algn="ctr"/>
            <a:r>
              <a:rPr lang="es-MX" sz="2400" b="1" dirty="0">
                <a:solidFill>
                  <a:srgbClr val="FFFFFF"/>
                </a:solidFill>
                <a:latin typeface="Segoe UI" panose="020B0502040204020203" pitchFamily="34" charset="0"/>
              </a:rPr>
              <a:t>  Sistema de Backups Automáticos</a:t>
            </a:r>
          </a:p>
        </p:txBody>
      </p:sp>
      <p:sp>
        <p:nvSpPr>
          <p:cNvPr id="3" name="CuadroTexto 2">
            <a:extLst>
              <a:ext uri="{FF2B5EF4-FFF2-40B4-BE49-F238E27FC236}">
                <a16:creationId xmlns:a16="http://schemas.microsoft.com/office/drawing/2014/main" id="{39579DC8-1931-8DB3-85CD-137F26EEAB36}"/>
              </a:ext>
            </a:extLst>
          </p:cNvPr>
          <p:cNvSpPr txBox="1"/>
          <p:nvPr/>
        </p:nvSpPr>
        <p:spPr>
          <a:xfrm>
            <a:off x="508000" y="863600"/>
            <a:ext cx="8128000" cy="1292662"/>
          </a:xfrm>
          <a:prstGeom prst="rect">
            <a:avLst/>
          </a:prstGeom>
          <a:noFill/>
        </p:spPr>
        <p:txBody>
          <a:bodyPr vert="horz" wrap="square" rtlCol="0">
            <a:spAutoFit/>
          </a:bodyPr>
          <a:lstStyle/>
          <a:p>
            <a:r>
              <a:rPr lang="es-ES" sz="1300" dirty="0">
                <a:solidFill>
                  <a:srgbClr val="111827"/>
                </a:solidFill>
                <a:latin typeface="Segoe UI" panose="020B0502040204020203" pitchFamily="34" charset="0"/>
              </a:rPr>
              <a:t>SummaCham copia automáticamente la base de datos para proteger contra pérdida:
  1. Al iniciar la app, se hace el primer backup
  2. Cada 60 minutos, se crea otro backup automáticamente
  3. Se guardan los últimos 24 backups (los antiguos se eliminan)
  4. Ubicación: datos/backups/panel.sqlite.bak_20260209_143022</a:t>
            </a:r>
            <a:endParaRPr lang="es-MX" sz="1300" dirty="0">
              <a:solidFill>
                <a:srgbClr val="111827"/>
              </a:solidFill>
              <a:latin typeface="Segoe UI" panose="020B0502040204020203" pitchFamily="34" charset="0"/>
            </a:endParaRPr>
          </a:p>
        </p:txBody>
      </p:sp>
      <p:sp>
        <p:nvSpPr>
          <p:cNvPr id="4" name="Rectángulo 3">
            <a:extLst>
              <a:ext uri="{FF2B5EF4-FFF2-40B4-BE49-F238E27FC236}">
                <a16:creationId xmlns:a16="http://schemas.microsoft.com/office/drawing/2014/main" id="{FFBEB0A6-F029-B22C-3F8F-5D5E065E2B5C}"/>
              </a:ext>
            </a:extLst>
          </p:cNvPr>
          <p:cNvSpPr/>
          <p:nvPr/>
        </p:nvSpPr>
        <p:spPr>
          <a:xfrm>
            <a:off x="508000" y="2184400"/>
            <a:ext cx="8128000" cy="1778000"/>
          </a:xfrm>
          <a:prstGeom prst="rect">
            <a:avLst/>
          </a:prstGeom>
          <a:solidFill>
            <a:srgbClr val="F3F4F6"/>
          </a:solidFill>
          <a:ln>
            <a:solidFill>
              <a:srgbClr val="E5E7EB"/>
            </a:solidFill>
          </a:ln>
        </p:spPr>
        <p:style>
          <a:lnRef idx="2">
            <a:schemeClr val="accent1">
              <a:shade val="15000"/>
            </a:schemeClr>
          </a:lnRef>
          <a:fillRef idx="1">
            <a:schemeClr val="accent1"/>
          </a:fillRef>
          <a:effectRef idx="0">
            <a:schemeClr val="accent1"/>
          </a:effectRef>
          <a:fontRef idx="minor">
            <a:schemeClr val="lt1"/>
          </a:fontRef>
        </p:style>
        <p:txBody>
          <a:bodyPr wrap="square" lIns="177800" tIns="127000" rIns="177800" rtlCol="0" anchor="ctr"/>
          <a:lstStyle/>
          <a:p>
            <a:r>
              <a:rPr lang="es-MX" sz="1100" dirty="0">
                <a:solidFill>
                  <a:srgbClr val="111827"/>
                </a:solidFill>
                <a:latin typeface="Consolas" panose="020B0609020204030204" pitchFamily="49" charset="0"/>
              </a:rPr>
              <a:t>APIs de Backups (/api/backups):
  GET  /api/backups/status                  Estado del servicio de backups
  GET  /api/backups/list                    Listar backups disponibles
  POST /api/backups/create                  Crear backup manual (solo admin)
  POST /api/backups/restore                 Restaurar desde un backup (solo admin)
  GET  /api/backups/download/:fileName      Descargar un archivo de backup
  PUT  /api/backups/config                  Cambiar configuración (intervalo, etc.)
Archivo: src/routes/backups.js + src/services/backupService.js</a:t>
            </a:r>
          </a:p>
        </p:txBody>
      </p:sp>
      <p:sp>
        <p:nvSpPr>
          <p:cNvPr id="5" name="CuadroTexto 4">
            <a:extLst>
              <a:ext uri="{FF2B5EF4-FFF2-40B4-BE49-F238E27FC236}">
                <a16:creationId xmlns:a16="http://schemas.microsoft.com/office/drawing/2014/main" id="{4E1CE210-74A4-52D0-5AEA-FDF2906191EF}"/>
              </a:ext>
            </a:extLst>
          </p:cNvPr>
          <p:cNvSpPr txBox="1"/>
          <p:nvPr/>
        </p:nvSpPr>
        <p:spPr>
          <a:xfrm>
            <a:off x="508000" y="4127500"/>
            <a:ext cx="8128000" cy="1107996"/>
          </a:xfrm>
          <a:prstGeom prst="rect">
            <a:avLst/>
          </a:prstGeom>
          <a:noFill/>
        </p:spPr>
        <p:txBody>
          <a:bodyPr vert="horz" wrap="square" rtlCol="0">
            <a:spAutoFit/>
          </a:bodyPr>
          <a:lstStyle/>
          <a:p>
            <a:r>
              <a:rPr lang="es-MX" sz="1100" dirty="0">
                <a:solidFill>
                  <a:srgbClr val="111827"/>
                </a:solidFill>
                <a:latin typeface="Segoe UI" panose="020B0502040204020203" pitchFamily="34" charset="0"/>
              </a:rPr>
              <a:t>CONFIGURACIÓN FIREBIRD (/api/firebird-config):
  GET  /api/firebird-config               Ver config actual (host, port, empresas)
  PUT  /api/firebird-config/base          Cambiar host, puerto, usuario, contraseña
  PUT  /api/firebird-config/empresa/:id   Cambiar ruta de BD de una empresa
  POST /api/firebird-config/probar/:id    Probar conexión a una empresa
  Solo administradores pueden modificar estas configuraciones.</a:t>
            </a:r>
          </a:p>
        </p:txBody>
      </p:sp>
    </p:spTree>
    <p:extLst>
      <p:ext uri="{BB962C8B-B14F-4D97-AF65-F5344CB8AC3E}">
        <p14:creationId xmlns:p14="http://schemas.microsoft.com/office/powerpoint/2010/main" val="58737120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03F7C87B-1AF4-EBB3-ED11-EAD05AC5F183}"/>
              </a:ext>
            </a:extLst>
          </p:cNvPr>
          <p:cNvSpPr/>
          <p:nvPr/>
        </p:nvSpPr>
        <p:spPr>
          <a:xfrm>
            <a:off x="0" y="0"/>
            <a:ext cx="9144000" cy="711200"/>
          </a:xfrm>
          <a:prstGeom prst="rect">
            <a:avLst/>
          </a:prstGeom>
          <a:solidFill>
            <a:srgbClr val="0D47A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254000" tIns="101600" rtlCol="0" anchor="ctr"/>
          <a:lstStyle/>
          <a:p>
            <a:pPr algn="ctr"/>
            <a:r>
              <a:rPr lang="es-MX" sz="2400" b="1" dirty="0">
                <a:solidFill>
                  <a:srgbClr val="FFFFFF"/>
                </a:solidFill>
                <a:latin typeface="Segoe UI" panose="020B0502040204020203" pitchFamily="34" charset="0"/>
              </a:rPr>
              <a:t>  Resumen de Seguridad</a:t>
            </a:r>
          </a:p>
        </p:txBody>
      </p:sp>
      <p:sp>
        <p:nvSpPr>
          <p:cNvPr id="3" name="Rectángulo: esquinas redondeadas 2">
            <a:extLst>
              <a:ext uri="{FF2B5EF4-FFF2-40B4-BE49-F238E27FC236}">
                <a16:creationId xmlns:a16="http://schemas.microsoft.com/office/drawing/2014/main" id="{C4586AF7-DF90-3CF3-6BD4-9376F9C7A90F}"/>
              </a:ext>
            </a:extLst>
          </p:cNvPr>
          <p:cNvSpPr/>
          <p:nvPr/>
        </p:nvSpPr>
        <p:spPr>
          <a:xfrm>
            <a:off x="533400" y="914400"/>
            <a:ext cx="279400" cy="279400"/>
          </a:xfrm>
          <a:prstGeom prst="roundRect">
            <a:avLst/>
          </a:prstGeom>
          <a:solidFill>
            <a:srgbClr val="0D47A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000" b="1" dirty="0">
                <a:solidFill>
                  <a:srgbClr val="FFFFFF"/>
                </a:solidFill>
                <a:latin typeface="Segoe UI" panose="020B0502040204020203" pitchFamily="34" charset="0"/>
              </a:rPr>
              <a:t>1</a:t>
            </a:r>
          </a:p>
        </p:txBody>
      </p:sp>
      <p:sp>
        <p:nvSpPr>
          <p:cNvPr id="4" name="CuadroTexto 3">
            <a:extLst>
              <a:ext uri="{FF2B5EF4-FFF2-40B4-BE49-F238E27FC236}">
                <a16:creationId xmlns:a16="http://schemas.microsoft.com/office/drawing/2014/main" id="{E4EE4EB6-95E3-4E12-FFC4-34A027D86592}"/>
              </a:ext>
            </a:extLst>
          </p:cNvPr>
          <p:cNvSpPr txBox="1"/>
          <p:nvPr/>
        </p:nvSpPr>
        <p:spPr>
          <a:xfrm>
            <a:off x="914400" y="939800"/>
            <a:ext cx="7683500" cy="261610"/>
          </a:xfrm>
          <a:prstGeom prst="rect">
            <a:avLst/>
          </a:prstGeom>
          <a:noFill/>
        </p:spPr>
        <p:txBody>
          <a:bodyPr vert="horz" wrap="square" rtlCol="0">
            <a:spAutoFit/>
          </a:bodyPr>
          <a:lstStyle/>
          <a:p>
            <a:r>
              <a:rPr lang="es-ES" sz="1100" dirty="0">
                <a:solidFill>
                  <a:srgbClr val="111827"/>
                </a:solidFill>
                <a:latin typeface="Segoe UI" panose="020B0502040204020203" pitchFamily="34" charset="0"/>
              </a:rPr>
              <a:t>Contraseñas: bcrypt con 10 rondas de sal. NADIE puede leerlas.</a:t>
            </a:r>
            <a:endParaRPr lang="es-MX" sz="1100" dirty="0">
              <a:solidFill>
                <a:srgbClr val="111827"/>
              </a:solidFill>
              <a:latin typeface="Segoe UI" panose="020B0502040204020203" pitchFamily="34" charset="0"/>
            </a:endParaRPr>
          </a:p>
        </p:txBody>
      </p:sp>
      <p:sp>
        <p:nvSpPr>
          <p:cNvPr id="5" name="Rectángulo: esquinas redondeadas 4">
            <a:extLst>
              <a:ext uri="{FF2B5EF4-FFF2-40B4-BE49-F238E27FC236}">
                <a16:creationId xmlns:a16="http://schemas.microsoft.com/office/drawing/2014/main" id="{7B976973-BB45-FEB7-B516-DE0B2A40F9D8}"/>
              </a:ext>
            </a:extLst>
          </p:cNvPr>
          <p:cNvSpPr/>
          <p:nvPr/>
        </p:nvSpPr>
        <p:spPr>
          <a:xfrm>
            <a:off x="533400" y="1257300"/>
            <a:ext cx="279400" cy="279400"/>
          </a:xfrm>
          <a:prstGeom prst="roundRect">
            <a:avLst/>
          </a:prstGeom>
          <a:solidFill>
            <a:srgbClr val="0D47A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000" b="1" dirty="0">
                <a:solidFill>
                  <a:srgbClr val="FFFFFF"/>
                </a:solidFill>
                <a:latin typeface="Segoe UI" panose="020B0502040204020203" pitchFamily="34" charset="0"/>
              </a:rPr>
              <a:t>2</a:t>
            </a:r>
          </a:p>
        </p:txBody>
      </p:sp>
      <p:sp>
        <p:nvSpPr>
          <p:cNvPr id="6" name="CuadroTexto 5">
            <a:extLst>
              <a:ext uri="{FF2B5EF4-FFF2-40B4-BE49-F238E27FC236}">
                <a16:creationId xmlns:a16="http://schemas.microsoft.com/office/drawing/2014/main" id="{0A292BED-2711-AF02-BB0F-9E51A1237A67}"/>
              </a:ext>
            </a:extLst>
          </p:cNvPr>
          <p:cNvSpPr txBox="1"/>
          <p:nvPr/>
        </p:nvSpPr>
        <p:spPr>
          <a:xfrm>
            <a:off x="914400" y="1282700"/>
            <a:ext cx="7683500" cy="261610"/>
          </a:xfrm>
          <a:prstGeom prst="rect">
            <a:avLst/>
          </a:prstGeom>
          <a:noFill/>
        </p:spPr>
        <p:txBody>
          <a:bodyPr vert="horz" wrap="square" rtlCol="0">
            <a:spAutoFit/>
          </a:bodyPr>
          <a:lstStyle/>
          <a:p>
            <a:r>
              <a:rPr lang="es-MX" sz="1100" dirty="0">
                <a:solidFill>
                  <a:srgbClr val="111827"/>
                </a:solidFill>
                <a:latin typeface="Segoe UI" panose="020B0502040204020203" pitchFamily="34" charset="0"/>
              </a:rPr>
              <a:t>Tokens JWT: Access token 1hr + Refresh token 7 días. Se renuevan automáticamente.</a:t>
            </a:r>
          </a:p>
        </p:txBody>
      </p:sp>
      <p:sp>
        <p:nvSpPr>
          <p:cNvPr id="7" name="Rectángulo: esquinas redondeadas 6">
            <a:extLst>
              <a:ext uri="{FF2B5EF4-FFF2-40B4-BE49-F238E27FC236}">
                <a16:creationId xmlns:a16="http://schemas.microsoft.com/office/drawing/2014/main" id="{0641541D-8522-862A-1455-3BD9342D2991}"/>
              </a:ext>
            </a:extLst>
          </p:cNvPr>
          <p:cNvSpPr/>
          <p:nvPr/>
        </p:nvSpPr>
        <p:spPr>
          <a:xfrm>
            <a:off x="533400" y="1600200"/>
            <a:ext cx="279400" cy="279400"/>
          </a:xfrm>
          <a:prstGeom prst="roundRect">
            <a:avLst/>
          </a:prstGeom>
          <a:solidFill>
            <a:srgbClr val="2ECC7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000" b="1" dirty="0">
                <a:solidFill>
                  <a:srgbClr val="FFFFFF"/>
                </a:solidFill>
                <a:latin typeface="Segoe UI" panose="020B0502040204020203" pitchFamily="34" charset="0"/>
              </a:rPr>
              <a:t>3</a:t>
            </a:r>
          </a:p>
        </p:txBody>
      </p:sp>
      <p:sp>
        <p:nvSpPr>
          <p:cNvPr id="8" name="CuadroTexto 7">
            <a:extLst>
              <a:ext uri="{FF2B5EF4-FFF2-40B4-BE49-F238E27FC236}">
                <a16:creationId xmlns:a16="http://schemas.microsoft.com/office/drawing/2014/main" id="{B8920837-0E47-5C76-695C-A313ECF548BE}"/>
              </a:ext>
            </a:extLst>
          </p:cNvPr>
          <p:cNvSpPr txBox="1"/>
          <p:nvPr/>
        </p:nvSpPr>
        <p:spPr>
          <a:xfrm>
            <a:off x="914400" y="1625600"/>
            <a:ext cx="7683500" cy="261610"/>
          </a:xfrm>
          <a:prstGeom prst="rect">
            <a:avLst/>
          </a:prstGeom>
          <a:noFill/>
        </p:spPr>
        <p:txBody>
          <a:bodyPr vert="horz" wrap="square" rtlCol="0">
            <a:spAutoFit/>
          </a:bodyPr>
          <a:lstStyle/>
          <a:p>
            <a:r>
              <a:rPr lang="es-ES" sz="1100" dirty="0">
                <a:solidFill>
                  <a:srgbClr val="111827"/>
                </a:solidFill>
                <a:latin typeface="Segoe UI" panose="020B0502040204020203" pitchFamily="34" charset="0"/>
              </a:rPr>
              <a:t>Sesiones: Cookie httpOnly (JS no puede leerla) + SQLite store.</a:t>
            </a:r>
            <a:endParaRPr lang="es-MX" sz="1100" dirty="0">
              <a:solidFill>
                <a:srgbClr val="111827"/>
              </a:solidFill>
              <a:latin typeface="Segoe UI" panose="020B0502040204020203" pitchFamily="34" charset="0"/>
            </a:endParaRPr>
          </a:p>
        </p:txBody>
      </p:sp>
      <p:sp>
        <p:nvSpPr>
          <p:cNvPr id="9" name="Rectángulo: esquinas redondeadas 8">
            <a:extLst>
              <a:ext uri="{FF2B5EF4-FFF2-40B4-BE49-F238E27FC236}">
                <a16:creationId xmlns:a16="http://schemas.microsoft.com/office/drawing/2014/main" id="{8693D08F-9FF7-728E-42AA-E48B02F3E4BE}"/>
              </a:ext>
            </a:extLst>
          </p:cNvPr>
          <p:cNvSpPr/>
          <p:nvPr/>
        </p:nvSpPr>
        <p:spPr>
          <a:xfrm>
            <a:off x="533400" y="1943100"/>
            <a:ext cx="279400" cy="279400"/>
          </a:xfrm>
          <a:prstGeom prst="roundRect">
            <a:avLst/>
          </a:prstGeom>
          <a:solidFill>
            <a:srgbClr val="2ECC7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000" b="1" dirty="0">
                <a:solidFill>
                  <a:srgbClr val="FFFFFF"/>
                </a:solidFill>
                <a:latin typeface="Segoe UI" panose="020B0502040204020203" pitchFamily="34" charset="0"/>
              </a:rPr>
              <a:t>4</a:t>
            </a:r>
          </a:p>
        </p:txBody>
      </p:sp>
      <p:sp>
        <p:nvSpPr>
          <p:cNvPr id="10" name="CuadroTexto 9">
            <a:extLst>
              <a:ext uri="{FF2B5EF4-FFF2-40B4-BE49-F238E27FC236}">
                <a16:creationId xmlns:a16="http://schemas.microsoft.com/office/drawing/2014/main" id="{6D68E441-E27B-DAB5-BA56-72A5D8DB106D}"/>
              </a:ext>
            </a:extLst>
          </p:cNvPr>
          <p:cNvSpPr txBox="1"/>
          <p:nvPr/>
        </p:nvSpPr>
        <p:spPr>
          <a:xfrm>
            <a:off x="914400" y="1968500"/>
            <a:ext cx="7683500" cy="261610"/>
          </a:xfrm>
          <a:prstGeom prst="rect">
            <a:avLst/>
          </a:prstGeom>
          <a:noFill/>
        </p:spPr>
        <p:txBody>
          <a:bodyPr vert="horz" wrap="square" rtlCol="0">
            <a:spAutoFit/>
          </a:bodyPr>
          <a:lstStyle/>
          <a:p>
            <a:r>
              <a:rPr lang="es-ES" sz="1100" dirty="0">
                <a:solidFill>
                  <a:srgbClr val="111827"/>
                </a:solidFill>
                <a:latin typeface="Segoe UI" panose="020B0502040204020203" pitchFamily="34" charset="0"/>
              </a:rPr>
              <a:t>Rate Limiting: Max 10 intentos/10 min. Bloqueo 5 min contra fuerza bruta.</a:t>
            </a:r>
            <a:endParaRPr lang="es-MX" sz="1100" dirty="0">
              <a:solidFill>
                <a:srgbClr val="111827"/>
              </a:solidFill>
              <a:latin typeface="Segoe UI" panose="020B0502040204020203" pitchFamily="34" charset="0"/>
            </a:endParaRPr>
          </a:p>
        </p:txBody>
      </p:sp>
      <p:sp>
        <p:nvSpPr>
          <p:cNvPr id="11" name="Rectángulo: esquinas redondeadas 10">
            <a:extLst>
              <a:ext uri="{FF2B5EF4-FFF2-40B4-BE49-F238E27FC236}">
                <a16:creationId xmlns:a16="http://schemas.microsoft.com/office/drawing/2014/main" id="{34E5005D-89DD-11A0-11DB-A592B739CC86}"/>
              </a:ext>
            </a:extLst>
          </p:cNvPr>
          <p:cNvSpPr/>
          <p:nvPr/>
        </p:nvSpPr>
        <p:spPr>
          <a:xfrm>
            <a:off x="533400" y="2286000"/>
            <a:ext cx="279400" cy="279400"/>
          </a:xfrm>
          <a:prstGeom prst="roundRect">
            <a:avLst/>
          </a:prstGeom>
          <a:solidFill>
            <a:srgbClr val="E67E2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000" b="1" dirty="0">
                <a:solidFill>
                  <a:srgbClr val="FFFFFF"/>
                </a:solidFill>
                <a:latin typeface="Segoe UI" panose="020B0502040204020203" pitchFamily="34" charset="0"/>
              </a:rPr>
              <a:t>5</a:t>
            </a:r>
          </a:p>
        </p:txBody>
      </p:sp>
      <p:sp>
        <p:nvSpPr>
          <p:cNvPr id="12" name="CuadroTexto 11">
            <a:extLst>
              <a:ext uri="{FF2B5EF4-FFF2-40B4-BE49-F238E27FC236}">
                <a16:creationId xmlns:a16="http://schemas.microsoft.com/office/drawing/2014/main" id="{05E7DC71-6CE2-5CB8-B10E-4F88E1CEB9A3}"/>
              </a:ext>
            </a:extLst>
          </p:cNvPr>
          <p:cNvSpPr txBox="1"/>
          <p:nvPr/>
        </p:nvSpPr>
        <p:spPr>
          <a:xfrm>
            <a:off x="914400" y="2311400"/>
            <a:ext cx="7683500" cy="261610"/>
          </a:xfrm>
          <a:prstGeom prst="rect">
            <a:avLst/>
          </a:prstGeom>
          <a:noFill/>
        </p:spPr>
        <p:txBody>
          <a:bodyPr vert="horz" wrap="square" rtlCol="0">
            <a:spAutoFit/>
          </a:bodyPr>
          <a:lstStyle/>
          <a:p>
            <a:r>
              <a:rPr lang="es-MX" sz="1100" dirty="0">
                <a:solidFill>
                  <a:srgbClr val="111827"/>
                </a:solidFill>
                <a:latin typeface="Segoe UI" panose="020B0502040204020203" pitchFamily="34" charset="0"/>
              </a:rPr>
              <a:t>Helmet: Cabeceras HTTP de seguridad automáticas (XSS, CSRF, etc.)</a:t>
            </a:r>
          </a:p>
        </p:txBody>
      </p:sp>
      <p:sp>
        <p:nvSpPr>
          <p:cNvPr id="13" name="Rectángulo: esquinas redondeadas 12">
            <a:extLst>
              <a:ext uri="{FF2B5EF4-FFF2-40B4-BE49-F238E27FC236}">
                <a16:creationId xmlns:a16="http://schemas.microsoft.com/office/drawing/2014/main" id="{B59B6C94-A54B-8DC3-0A9B-E8F8808BA580}"/>
              </a:ext>
            </a:extLst>
          </p:cNvPr>
          <p:cNvSpPr/>
          <p:nvPr/>
        </p:nvSpPr>
        <p:spPr>
          <a:xfrm>
            <a:off x="533400" y="2628900"/>
            <a:ext cx="279400" cy="279400"/>
          </a:xfrm>
          <a:prstGeom prst="roundRect">
            <a:avLst/>
          </a:prstGeom>
          <a:solidFill>
            <a:srgbClr val="E67E2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000" b="1" dirty="0">
                <a:solidFill>
                  <a:srgbClr val="FFFFFF"/>
                </a:solidFill>
                <a:latin typeface="Segoe UI" panose="020B0502040204020203" pitchFamily="34" charset="0"/>
              </a:rPr>
              <a:t>6</a:t>
            </a:r>
          </a:p>
        </p:txBody>
      </p:sp>
      <p:sp>
        <p:nvSpPr>
          <p:cNvPr id="14" name="CuadroTexto 13">
            <a:extLst>
              <a:ext uri="{FF2B5EF4-FFF2-40B4-BE49-F238E27FC236}">
                <a16:creationId xmlns:a16="http://schemas.microsoft.com/office/drawing/2014/main" id="{BAB2474A-A445-6FD8-D64C-9F226CEA6736}"/>
              </a:ext>
            </a:extLst>
          </p:cNvPr>
          <p:cNvSpPr txBox="1"/>
          <p:nvPr/>
        </p:nvSpPr>
        <p:spPr>
          <a:xfrm>
            <a:off x="914400" y="2654300"/>
            <a:ext cx="7683500" cy="261610"/>
          </a:xfrm>
          <a:prstGeom prst="rect">
            <a:avLst/>
          </a:prstGeom>
          <a:noFill/>
        </p:spPr>
        <p:txBody>
          <a:bodyPr vert="horz" wrap="square" rtlCol="0">
            <a:spAutoFit/>
          </a:bodyPr>
          <a:lstStyle/>
          <a:p>
            <a:r>
              <a:rPr lang="es-ES" sz="1100" dirty="0">
                <a:solidFill>
                  <a:srgbClr val="111827"/>
                </a:solidFill>
                <a:latin typeface="Segoe UI" panose="020B0502040204020203" pitchFamily="34" charset="0"/>
              </a:rPr>
              <a:t>CORS: Solo orígenes autorizados pueden hacer peticiones.</a:t>
            </a:r>
            <a:endParaRPr lang="es-MX" sz="1100" dirty="0">
              <a:solidFill>
                <a:srgbClr val="111827"/>
              </a:solidFill>
              <a:latin typeface="Segoe UI" panose="020B0502040204020203" pitchFamily="34" charset="0"/>
            </a:endParaRPr>
          </a:p>
        </p:txBody>
      </p:sp>
      <p:sp>
        <p:nvSpPr>
          <p:cNvPr id="15" name="Rectángulo: esquinas redondeadas 14">
            <a:extLst>
              <a:ext uri="{FF2B5EF4-FFF2-40B4-BE49-F238E27FC236}">
                <a16:creationId xmlns:a16="http://schemas.microsoft.com/office/drawing/2014/main" id="{166B2484-D34E-7601-98CB-9A2EA4584BBA}"/>
              </a:ext>
            </a:extLst>
          </p:cNvPr>
          <p:cNvSpPr/>
          <p:nvPr/>
        </p:nvSpPr>
        <p:spPr>
          <a:xfrm>
            <a:off x="533400" y="2971800"/>
            <a:ext cx="279400" cy="279400"/>
          </a:xfrm>
          <a:prstGeom prst="roundRect">
            <a:avLst/>
          </a:prstGeom>
          <a:solidFill>
            <a:srgbClr val="34495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000" b="1" dirty="0">
                <a:solidFill>
                  <a:srgbClr val="FFFFFF"/>
                </a:solidFill>
                <a:latin typeface="Segoe UI" panose="020B0502040204020203" pitchFamily="34" charset="0"/>
              </a:rPr>
              <a:t>7</a:t>
            </a:r>
          </a:p>
        </p:txBody>
      </p:sp>
      <p:sp>
        <p:nvSpPr>
          <p:cNvPr id="16" name="CuadroTexto 15">
            <a:extLst>
              <a:ext uri="{FF2B5EF4-FFF2-40B4-BE49-F238E27FC236}">
                <a16:creationId xmlns:a16="http://schemas.microsoft.com/office/drawing/2014/main" id="{C6BE2FAF-0390-BD2D-6219-0978CCD8BD20}"/>
              </a:ext>
            </a:extLst>
          </p:cNvPr>
          <p:cNvSpPr txBox="1"/>
          <p:nvPr/>
        </p:nvSpPr>
        <p:spPr>
          <a:xfrm>
            <a:off x="914400" y="2997200"/>
            <a:ext cx="7683500" cy="261610"/>
          </a:xfrm>
          <a:prstGeom prst="rect">
            <a:avLst/>
          </a:prstGeom>
          <a:noFill/>
        </p:spPr>
        <p:txBody>
          <a:bodyPr vert="horz" wrap="square" rtlCol="0">
            <a:spAutoFit/>
          </a:bodyPr>
          <a:lstStyle/>
          <a:p>
            <a:r>
              <a:rPr lang="es-ES" sz="1100" dirty="0">
                <a:solidFill>
                  <a:srgbClr val="111827"/>
                </a:solidFill>
                <a:latin typeface="Segoe UI" panose="020B0502040204020203" pitchFamily="34" charset="0"/>
              </a:rPr>
              <a:t>Validación: Joi valida TODOS los datos de entrada antes de procesarlos.</a:t>
            </a:r>
            <a:endParaRPr lang="es-MX" sz="1100" dirty="0">
              <a:solidFill>
                <a:srgbClr val="111827"/>
              </a:solidFill>
              <a:latin typeface="Segoe UI" panose="020B0502040204020203" pitchFamily="34" charset="0"/>
            </a:endParaRPr>
          </a:p>
        </p:txBody>
      </p:sp>
      <p:sp>
        <p:nvSpPr>
          <p:cNvPr id="17" name="Rectángulo: esquinas redondeadas 16">
            <a:extLst>
              <a:ext uri="{FF2B5EF4-FFF2-40B4-BE49-F238E27FC236}">
                <a16:creationId xmlns:a16="http://schemas.microsoft.com/office/drawing/2014/main" id="{78F2F540-E144-C5C5-4B1C-680EC1F56053}"/>
              </a:ext>
            </a:extLst>
          </p:cNvPr>
          <p:cNvSpPr/>
          <p:nvPr/>
        </p:nvSpPr>
        <p:spPr>
          <a:xfrm>
            <a:off x="533400" y="3314700"/>
            <a:ext cx="279400" cy="279400"/>
          </a:xfrm>
          <a:prstGeom prst="roundRect">
            <a:avLst/>
          </a:prstGeom>
          <a:solidFill>
            <a:srgbClr val="34495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000" b="1" dirty="0">
                <a:solidFill>
                  <a:srgbClr val="FFFFFF"/>
                </a:solidFill>
                <a:latin typeface="Segoe UI" panose="020B0502040204020203" pitchFamily="34" charset="0"/>
              </a:rPr>
              <a:t>8</a:t>
            </a:r>
          </a:p>
        </p:txBody>
      </p:sp>
      <p:sp>
        <p:nvSpPr>
          <p:cNvPr id="18" name="CuadroTexto 17">
            <a:extLst>
              <a:ext uri="{FF2B5EF4-FFF2-40B4-BE49-F238E27FC236}">
                <a16:creationId xmlns:a16="http://schemas.microsoft.com/office/drawing/2014/main" id="{10E9EE0B-BF42-F823-4790-0D53654FDCBC}"/>
              </a:ext>
            </a:extLst>
          </p:cNvPr>
          <p:cNvSpPr txBox="1"/>
          <p:nvPr/>
        </p:nvSpPr>
        <p:spPr>
          <a:xfrm>
            <a:off x="914400" y="3340100"/>
            <a:ext cx="7683500" cy="261610"/>
          </a:xfrm>
          <a:prstGeom prst="rect">
            <a:avLst/>
          </a:prstGeom>
          <a:noFill/>
        </p:spPr>
        <p:txBody>
          <a:bodyPr vert="horz" wrap="square" rtlCol="0">
            <a:spAutoFit/>
          </a:bodyPr>
          <a:lstStyle/>
          <a:p>
            <a:r>
              <a:rPr lang="es-MX" sz="1100" dirty="0">
                <a:solidFill>
                  <a:srgbClr val="111827"/>
                </a:solidFill>
                <a:latin typeface="Segoe UI" panose="020B0502040204020203" pitchFamily="34" charset="0"/>
              </a:rPr>
              <a:t>SQL seguro: Queries parametrizados (?) previenen SQL injection.</a:t>
            </a:r>
          </a:p>
        </p:txBody>
      </p:sp>
      <p:sp>
        <p:nvSpPr>
          <p:cNvPr id="19" name="Rectángulo: esquinas redondeadas 18">
            <a:extLst>
              <a:ext uri="{FF2B5EF4-FFF2-40B4-BE49-F238E27FC236}">
                <a16:creationId xmlns:a16="http://schemas.microsoft.com/office/drawing/2014/main" id="{4BD9A9E1-729C-7A5F-C52E-31B76255FE1B}"/>
              </a:ext>
            </a:extLst>
          </p:cNvPr>
          <p:cNvSpPr/>
          <p:nvPr/>
        </p:nvSpPr>
        <p:spPr>
          <a:xfrm>
            <a:off x="533400" y="3657600"/>
            <a:ext cx="279400" cy="279400"/>
          </a:xfrm>
          <a:prstGeom prst="roundRect">
            <a:avLst/>
          </a:prstGeom>
          <a:solidFill>
            <a:srgbClr val="E74C3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000" b="1" dirty="0">
                <a:solidFill>
                  <a:srgbClr val="FFFFFF"/>
                </a:solidFill>
                <a:latin typeface="Segoe UI" panose="020B0502040204020203" pitchFamily="34" charset="0"/>
              </a:rPr>
              <a:t>9</a:t>
            </a:r>
          </a:p>
        </p:txBody>
      </p:sp>
      <p:sp>
        <p:nvSpPr>
          <p:cNvPr id="20" name="CuadroTexto 19">
            <a:extLst>
              <a:ext uri="{FF2B5EF4-FFF2-40B4-BE49-F238E27FC236}">
                <a16:creationId xmlns:a16="http://schemas.microsoft.com/office/drawing/2014/main" id="{2B8FC434-9554-7DF3-21C1-DEAD4AE5352D}"/>
              </a:ext>
            </a:extLst>
          </p:cNvPr>
          <p:cNvSpPr txBox="1"/>
          <p:nvPr/>
        </p:nvSpPr>
        <p:spPr>
          <a:xfrm>
            <a:off x="914400" y="3683000"/>
            <a:ext cx="7683500" cy="261610"/>
          </a:xfrm>
          <a:prstGeom prst="rect">
            <a:avLst/>
          </a:prstGeom>
          <a:noFill/>
        </p:spPr>
        <p:txBody>
          <a:bodyPr vert="horz" wrap="square" rtlCol="0">
            <a:spAutoFit/>
          </a:bodyPr>
          <a:lstStyle/>
          <a:p>
            <a:r>
              <a:rPr lang="es-ES" sz="1100" dirty="0">
                <a:solidFill>
                  <a:srgbClr val="111827"/>
                </a:solidFill>
                <a:latin typeface="Segoe UI" panose="020B0502040204020203" pitchFamily="34" charset="0"/>
              </a:rPr>
              <a:t>Backups: Copias automáticas cada 60 min con checksum.</a:t>
            </a:r>
            <a:endParaRPr lang="es-MX" sz="1100" dirty="0">
              <a:solidFill>
                <a:srgbClr val="111827"/>
              </a:solidFill>
              <a:latin typeface="Segoe UI" panose="020B0502040204020203" pitchFamily="34" charset="0"/>
            </a:endParaRPr>
          </a:p>
        </p:txBody>
      </p:sp>
      <p:sp>
        <p:nvSpPr>
          <p:cNvPr id="21" name="Rectángulo: esquinas redondeadas 20">
            <a:extLst>
              <a:ext uri="{FF2B5EF4-FFF2-40B4-BE49-F238E27FC236}">
                <a16:creationId xmlns:a16="http://schemas.microsoft.com/office/drawing/2014/main" id="{3813017A-2BF4-E63E-9154-2694A32CE0C6}"/>
              </a:ext>
            </a:extLst>
          </p:cNvPr>
          <p:cNvSpPr/>
          <p:nvPr/>
        </p:nvSpPr>
        <p:spPr>
          <a:xfrm>
            <a:off x="533400" y="4000500"/>
            <a:ext cx="279400" cy="279400"/>
          </a:xfrm>
          <a:prstGeom prst="roundRect">
            <a:avLst/>
          </a:prstGeom>
          <a:solidFill>
            <a:srgbClr val="E74C3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000" b="1" dirty="0">
                <a:solidFill>
                  <a:srgbClr val="FFFFFF"/>
                </a:solidFill>
                <a:latin typeface="Segoe UI" panose="020B0502040204020203" pitchFamily="34" charset="0"/>
              </a:rPr>
              <a:t>10</a:t>
            </a:r>
          </a:p>
        </p:txBody>
      </p:sp>
      <p:sp>
        <p:nvSpPr>
          <p:cNvPr id="22" name="CuadroTexto 21">
            <a:extLst>
              <a:ext uri="{FF2B5EF4-FFF2-40B4-BE49-F238E27FC236}">
                <a16:creationId xmlns:a16="http://schemas.microsoft.com/office/drawing/2014/main" id="{95EDB934-5949-ABF4-49B2-B6F8DD2702C9}"/>
              </a:ext>
            </a:extLst>
          </p:cNvPr>
          <p:cNvSpPr txBox="1"/>
          <p:nvPr/>
        </p:nvSpPr>
        <p:spPr>
          <a:xfrm>
            <a:off x="914400" y="4025900"/>
            <a:ext cx="7683500" cy="261610"/>
          </a:xfrm>
          <a:prstGeom prst="rect">
            <a:avLst/>
          </a:prstGeom>
          <a:noFill/>
        </p:spPr>
        <p:txBody>
          <a:bodyPr vert="horz" wrap="square" rtlCol="0">
            <a:spAutoFit/>
          </a:bodyPr>
          <a:lstStyle/>
          <a:p>
            <a:r>
              <a:rPr lang="es-MX" sz="1100" dirty="0">
                <a:solidFill>
                  <a:srgbClr val="111827"/>
                </a:solidFill>
                <a:latin typeface="Segoe UI" panose="020B0502040204020203" pitchFamily="34" charset="0"/>
              </a:rPr>
              <a:t>Auditoria: Se registra todo: logins, cambios, queries lentas.</a:t>
            </a:r>
          </a:p>
        </p:txBody>
      </p:sp>
    </p:spTree>
    <p:extLst>
      <p:ext uri="{BB962C8B-B14F-4D97-AF65-F5344CB8AC3E}">
        <p14:creationId xmlns:p14="http://schemas.microsoft.com/office/powerpoint/2010/main" val="411005233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9BF38980-5AF6-551A-7C11-5987831B7848}"/>
              </a:ext>
            </a:extLst>
          </p:cNvPr>
          <p:cNvSpPr/>
          <p:nvPr/>
        </p:nvSpPr>
        <p:spPr>
          <a:xfrm>
            <a:off x="0" y="0"/>
            <a:ext cx="9144000" cy="711200"/>
          </a:xfrm>
          <a:prstGeom prst="rect">
            <a:avLst/>
          </a:prstGeom>
          <a:solidFill>
            <a:srgbClr val="0D47A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254000" tIns="101600" rtlCol="0" anchor="ctr"/>
          <a:lstStyle/>
          <a:p>
            <a:pPr algn="ctr"/>
            <a:r>
              <a:rPr lang="es-MX" sz="2400" b="1" dirty="0">
                <a:solidFill>
                  <a:srgbClr val="FFFFFF"/>
                </a:solidFill>
                <a:latin typeface="Segoe UI" panose="020B0502040204020203" pitchFamily="34" charset="0"/>
              </a:rPr>
              <a:t>  Compilación y Distribución</a:t>
            </a:r>
          </a:p>
        </p:txBody>
      </p:sp>
      <p:sp>
        <p:nvSpPr>
          <p:cNvPr id="3" name="CuadroTexto 2">
            <a:extLst>
              <a:ext uri="{FF2B5EF4-FFF2-40B4-BE49-F238E27FC236}">
                <a16:creationId xmlns:a16="http://schemas.microsoft.com/office/drawing/2014/main" id="{23D75A64-0B8E-5163-3FE4-F777882AFFD1}"/>
              </a:ext>
            </a:extLst>
          </p:cNvPr>
          <p:cNvSpPr txBox="1"/>
          <p:nvPr/>
        </p:nvSpPr>
        <p:spPr>
          <a:xfrm>
            <a:off x="508000" y="863600"/>
            <a:ext cx="8128000" cy="3293209"/>
          </a:xfrm>
          <a:prstGeom prst="rect">
            <a:avLst/>
          </a:prstGeom>
          <a:noFill/>
        </p:spPr>
        <p:txBody>
          <a:bodyPr vert="horz" wrap="square" rtlCol="0">
            <a:spAutoFit/>
          </a:bodyPr>
          <a:lstStyle/>
          <a:p>
            <a:r>
              <a:rPr lang="es-MX" sz="1300" dirty="0">
                <a:solidFill>
                  <a:srgbClr val="111827"/>
                </a:solidFill>
                <a:latin typeface="Segoe UI" panose="020B0502040204020203" pitchFamily="34" charset="0"/>
              </a:rPr>
              <a:t>COMO SE COMPILA:
  npm install                    Instalar dependencias
  npm run dist                   Crear instalador Windows (NSIS)
  npm run build:portable         Crear versión portable (un solo .exe)
ARCHIVOS GENERADOS en ./dist/:
  SummaCham Setup 4.1.0.exe      Instalador (requiere admin)
  SummaCham 4.1.0.exe            Portable (sin instalación)
  latest.yml                     Metadatos para auto-update
ACTUALIZACION AUTOMÁTICA:
  1. La app verifica en GitHub Releases si hay versión nueva
  2. Si hay: pregunta "Descargar nueva versión?"
  3. Descarga en segundo plano (no interrumpe el trabajo)
  4. Al cerrar la app, instala automáticamente
  5. Los DATOS del usuario se conservan (solo actualiza el programa)</a:t>
            </a:r>
          </a:p>
        </p:txBody>
      </p:sp>
    </p:spTree>
    <p:extLst>
      <p:ext uri="{BB962C8B-B14F-4D97-AF65-F5344CB8AC3E}">
        <p14:creationId xmlns:p14="http://schemas.microsoft.com/office/powerpoint/2010/main" val="421093770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A48D7573-E829-1A7B-730E-005BB9331E5C}"/>
              </a:ext>
            </a:extLst>
          </p:cNvPr>
          <p:cNvSpPr/>
          <p:nvPr/>
        </p:nvSpPr>
        <p:spPr>
          <a:xfrm>
            <a:off x="0" y="0"/>
            <a:ext cx="9144000" cy="5715000"/>
          </a:xfrm>
          <a:prstGeom prst="rect">
            <a:avLst/>
          </a:prstGeom>
          <a:solidFill>
            <a:srgbClr val="0D47A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dirty="0"/>
          </a:p>
        </p:txBody>
      </p:sp>
      <p:sp>
        <p:nvSpPr>
          <p:cNvPr id="3" name="CuadroTexto 2">
            <a:extLst>
              <a:ext uri="{FF2B5EF4-FFF2-40B4-BE49-F238E27FC236}">
                <a16:creationId xmlns:a16="http://schemas.microsoft.com/office/drawing/2014/main" id="{7FBD88E4-99A9-EB35-F5D9-3BC632085634}"/>
              </a:ext>
            </a:extLst>
          </p:cNvPr>
          <p:cNvSpPr txBox="1"/>
          <p:nvPr/>
        </p:nvSpPr>
        <p:spPr>
          <a:xfrm>
            <a:off x="1016000" y="762000"/>
            <a:ext cx="7596554" cy="677108"/>
          </a:xfrm>
          <a:prstGeom prst="rect">
            <a:avLst/>
          </a:prstGeom>
          <a:noFill/>
        </p:spPr>
        <p:txBody>
          <a:bodyPr vert="horz" wrap="square" rtlCol="0">
            <a:spAutoFit/>
          </a:bodyPr>
          <a:lstStyle/>
          <a:p>
            <a:r>
              <a:rPr lang="es-MX" sz="3800" b="1" dirty="0">
                <a:solidFill>
                  <a:srgbClr val="FFFFFF"/>
                </a:solidFill>
                <a:latin typeface="Segoe UI" panose="020B0502040204020203" pitchFamily="34" charset="0"/>
              </a:rPr>
              <a:t>SummaCham - PanelAMCHAM</a:t>
            </a:r>
          </a:p>
        </p:txBody>
      </p:sp>
      <p:sp>
        <p:nvSpPr>
          <p:cNvPr id="4" name="Rectángulo 3">
            <a:extLst>
              <a:ext uri="{FF2B5EF4-FFF2-40B4-BE49-F238E27FC236}">
                <a16:creationId xmlns:a16="http://schemas.microsoft.com/office/drawing/2014/main" id="{3C0084D4-B4D5-FEFD-CF5C-D2C3A81159BE}"/>
              </a:ext>
            </a:extLst>
          </p:cNvPr>
          <p:cNvSpPr/>
          <p:nvPr/>
        </p:nvSpPr>
        <p:spPr>
          <a:xfrm>
            <a:off x="1016000" y="1498600"/>
            <a:ext cx="3810000" cy="38100"/>
          </a:xfrm>
          <a:prstGeom prst="rect">
            <a:avLst/>
          </a:prstGeom>
          <a:solidFill>
            <a:srgbClr val="2ECC7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dirty="0"/>
          </a:p>
        </p:txBody>
      </p:sp>
      <p:sp>
        <p:nvSpPr>
          <p:cNvPr id="5" name="CuadroTexto 4">
            <a:extLst>
              <a:ext uri="{FF2B5EF4-FFF2-40B4-BE49-F238E27FC236}">
                <a16:creationId xmlns:a16="http://schemas.microsoft.com/office/drawing/2014/main" id="{B8392AD5-276B-0507-FD35-F1EBC3F8110A}"/>
              </a:ext>
            </a:extLst>
          </p:cNvPr>
          <p:cNvSpPr txBox="1"/>
          <p:nvPr/>
        </p:nvSpPr>
        <p:spPr>
          <a:xfrm>
            <a:off x="1143000" y="1714500"/>
            <a:ext cx="6858000" cy="292388"/>
          </a:xfrm>
          <a:prstGeom prst="rect">
            <a:avLst/>
          </a:prstGeom>
          <a:noFill/>
        </p:spPr>
        <p:txBody>
          <a:bodyPr vert="horz" rtlCol="0">
            <a:spAutoFit/>
          </a:bodyPr>
          <a:lstStyle/>
          <a:p>
            <a:r>
              <a:rPr lang="es-MX" sz="1300" dirty="0">
                <a:solidFill>
                  <a:srgbClr val="FFFFFF"/>
                </a:solidFill>
                <a:latin typeface="Segoe UI" panose="020B0502040204020203" pitchFamily="34" charset="0"/>
              </a:rPr>
              <a:t>Arquitectura en capas: Frontend + Backend + 2 bases de datos</a:t>
            </a:r>
          </a:p>
        </p:txBody>
      </p:sp>
      <p:sp>
        <p:nvSpPr>
          <p:cNvPr id="6" name="CuadroTexto 5">
            <a:extLst>
              <a:ext uri="{FF2B5EF4-FFF2-40B4-BE49-F238E27FC236}">
                <a16:creationId xmlns:a16="http://schemas.microsoft.com/office/drawing/2014/main" id="{6974A983-93C1-391F-A070-ECF25AFCC148}"/>
              </a:ext>
            </a:extLst>
          </p:cNvPr>
          <p:cNvSpPr txBox="1"/>
          <p:nvPr/>
        </p:nvSpPr>
        <p:spPr>
          <a:xfrm>
            <a:off x="1143000" y="2032000"/>
            <a:ext cx="6858000" cy="292388"/>
          </a:xfrm>
          <a:prstGeom prst="rect">
            <a:avLst/>
          </a:prstGeom>
          <a:noFill/>
        </p:spPr>
        <p:txBody>
          <a:bodyPr vert="horz" rtlCol="0">
            <a:spAutoFit/>
          </a:bodyPr>
          <a:lstStyle/>
          <a:p>
            <a:r>
              <a:rPr lang="es-MX" sz="1300" dirty="0">
                <a:solidFill>
                  <a:srgbClr val="FFFFFF"/>
                </a:solidFill>
                <a:latin typeface="Segoe UI" panose="020B0502040204020203" pitchFamily="34" charset="0"/>
              </a:rPr>
              <a:t>APIs REST completas: 20+ grupos de endpoints documentados</a:t>
            </a:r>
          </a:p>
        </p:txBody>
      </p:sp>
      <p:sp>
        <p:nvSpPr>
          <p:cNvPr id="7" name="CuadroTexto 6">
            <a:extLst>
              <a:ext uri="{FF2B5EF4-FFF2-40B4-BE49-F238E27FC236}">
                <a16:creationId xmlns:a16="http://schemas.microsoft.com/office/drawing/2014/main" id="{D5019E23-75D9-6EE2-F7F3-4F8BD15F2F66}"/>
              </a:ext>
            </a:extLst>
          </p:cNvPr>
          <p:cNvSpPr txBox="1"/>
          <p:nvPr/>
        </p:nvSpPr>
        <p:spPr>
          <a:xfrm>
            <a:off x="1143000" y="2349500"/>
            <a:ext cx="6858000" cy="292388"/>
          </a:xfrm>
          <a:prstGeom prst="rect">
            <a:avLst/>
          </a:prstGeom>
          <a:noFill/>
        </p:spPr>
        <p:txBody>
          <a:bodyPr vert="horz" rtlCol="0">
            <a:spAutoFit/>
          </a:bodyPr>
          <a:lstStyle/>
          <a:p>
            <a:r>
              <a:rPr lang="es-ES" sz="1300" dirty="0">
                <a:solidFill>
                  <a:srgbClr val="FFFFFF"/>
                </a:solidFill>
                <a:latin typeface="Segoe UI" panose="020B0502040204020203" pitchFamily="34" charset="0"/>
              </a:rPr>
              <a:t>Queries a Firebird con regla de naturaleza (Acreedora/Deudora)</a:t>
            </a:r>
            <a:endParaRPr lang="es-MX" sz="1300" dirty="0">
              <a:solidFill>
                <a:srgbClr val="FFFFFF"/>
              </a:solidFill>
              <a:latin typeface="Segoe UI" panose="020B0502040204020203" pitchFamily="34" charset="0"/>
            </a:endParaRPr>
          </a:p>
        </p:txBody>
      </p:sp>
      <p:sp>
        <p:nvSpPr>
          <p:cNvPr id="8" name="CuadroTexto 7">
            <a:extLst>
              <a:ext uri="{FF2B5EF4-FFF2-40B4-BE49-F238E27FC236}">
                <a16:creationId xmlns:a16="http://schemas.microsoft.com/office/drawing/2014/main" id="{FE2DA42B-3CE9-520F-9B70-B40DEDCA54D9}"/>
              </a:ext>
            </a:extLst>
          </p:cNvPr>
          <p:cNvSpPr txBox="1"/>
          <p:nvPr/>
        </p:nvSpPr>
        <p:spPr>
          <a:xfrm>
            <a:off x="1143000" y="2667000"/>
            <a:ext cx="6858000" cy="292388"/>
          </a:xfrm>
          <a:prstGeom prst="rect">
            <a:avLst/>
          </a:prstGeom>
          <a:noFill/>
        </p:spPr>
        <p:txBody>
          <a:bodyPr vert="horz" rtlCol="0">
            <a:spAutoFit/>
          </a:bodyPr>
          <a:lstStyle/>
          <a:p>
            <a:r>
              <a:rPr lang="es-MX" sz="1300" dirty="0">
                <a:solidFill>
                  <a:srgbClr val="FFFFFF"/>
                </a:solidFill>
                <a:latin typeface="Segoe UI" panose="020B0502040204020203" pitchFamily="34" charset="0"/>
              </a:rPr>
              <a:t>6 valores por cuenta: Real, Ppto, AA, Real Acum, Ppto Acum, AA Acum</a:t>
            </a:r>
          </a:p>
        </p:txBody>
      </p:sp>
      <p:sp>
        <p:nvSpPr>
          <p:cNvPr id="9" name="CuadroTexto 8">
            <a:extLst>
              <a:ext uri="{FF2B5EF4-FFF2-40B4-BE49-F238E27FC236}">
                <a16:creationId xmlns:a16="http://schemas.microsoft.com/office/drawing/2014/main" id="{FAD7E2E5-A85B-E0FB-E44D-8ACC1FE7993D}"/>
              </a:ext>
            </a:extLst>
          </p:cNvPr>
          <p:cNvSpPr txBox="1"/>
          <p:nvPr/>
        </p:nvSpPr>
        <p:spPr>
          <a:xfrm>
            <a:off x="1143000" y="2984500"/>
            <a:ext cx="6858000" cy="292388"/>
          </a:xfrm>
          <a:prstGeom prst="rect">
            <a:avLst/>
          </a:prstGeom>
          <a:noFill/>
        </p:spPr>
        <p:txBody>
          <a:bodyPr vert="horz" rtlCol="0">
            <a:spAutoFit/>
          </a:bodyPr>
          <a:lstStyle/>
          <a:p>
            <a:r>
              <a:rPr lang="es-ES" sz="1300" dirty="0">
                <a:solidFill>
                  <a:srgbClr val="FFFFFF"/>
                </a:solidFill>
                <a:latin typeface="Segoe UI" panose="020B0502040204020203" pitchFamily="34" charset="0"/>
              </a:rPr>
              <a:t>Gestor de Plantillas: 13,900 líneas que definen la estructura de reportes</a:t>
            </a:r>
            <a:endParaRPr lang="es-MX" sz="1300" dirty="0">
              <a:solidFill>
                <a:srgbClr val="FFFFFF"/>
              </a:solidFill>
              <a:latin typeface="Segoe UI" panose="020B0502040204020203" pitchFamily="34" charset="0"/>
            </a:endParaRPr>
          </a:p>
        </p:txBody>
      </p:sp>
      <p:sp>
        <p:nvSpPr>
          <p:cNvPr id="10" name="CuadroTexto 9">
            <a:extLst>
              <a:ext uri="{FF2B5EF4-FFF2-40B4-BE49-F238E27FC236}">
                <a16:creationId xmlns:a16="http://schemas.microsoft.com/office/drawing/2014/main" id="{CC8F1750-6EA5-33D0-167F-848F0D59E998}"/>
              </a:ext>
            </a:extLst>
          </p:cNvPr>
          <p:cNvSpPr txBox="1"/>
          <p:nvPr/>
        </p:nvSpPr>
        <p:spPr>
          <a:xfrm>
            <a:off x="1143000" y="3302000"/>
            <a:ext cx="6858000" cy="292388"/>
          </a:xfrm>
          <a:prstGeom prst="rect">
            <a:avLst/>
          </a:prstGeom>
          <a:noFill/>
        </p:spPr>
        <p:txBody>
          <a:bodyPr vert="horz" rtlCol="0">
            <a:spAutoFit/>
          </a:bodyPr>
          <a:lstStyle/>
          <a:p>
            <a:r>
              <a:rPr lang="es-MX" sz="1300" dirty="0">
                <a:solidFill>
                  <a:srgbClr val="FFFFFF"/>
                </a:solidFill>
                <a:latin typeface="Segoe UI" panose="020B0502040204020203" pitchFamily="34" charset="0"/>
              </a:rPr>
              <a:t>Operaciones recursivas: fórmulas que se auto-construyen</a:t>
            </a:r>
          </a:p>
        </p:txBody>
      </p:sp>
      <p:sp>
        <p:nvSpPr>
          <p:cNvPr id="11" name="CuadroTexto 10">
            <a:extLst>
              <a:ext uri="{FF2B5EF4-FFF2-40B4-BE49-F238E27FC236}">
                <a16:creationId xmlns:a16="http://schemas.microsoft.com/office/drawing/2014/main" id="{4A2897CC-08E8-8E09-1115-F920C666418F}"/>
              </a:ext>
            </a:extLst>
          </p:cNvPr>
          <p:cNvSpPr txBox="1"/>
          <p:nvPr/>
        </p:nvSpPr>
        <p:spPr>
          <a:xfrm>
            <a:off x="1143000" y="3619500"/>
            <a:ext cx="6858000" cy="292388"/>
          </a:xfrm>
          <a:prstGeom prst="rect">
            <a:avLst/>
          </a:prstGeom>
          <a:noFill/>
        </p:spPr>
        <p:txBody>
          <a:bodyPr vert="horz" rtlCol="0">
            <a:spAutoFit/>
          </a:bodyPr>
          <a:lstStyle/>
          <a:p>
            <a:r>
              <a:rPr lang="es-MX" sz="1300" dirty="0">
                <a:solidFill>
                  <a:srgbClr val="FFFFFF"/>
                </a:solidFill>
                <a:latin typeface="Segoe UI" panose="020B0502040204020203" pitchFamily="34" charset="0"/>
              </a:rPr>
              <a:t>Gráficas interactivas con Chart.js (barra, línea, pie, dona, radar)</a:t>
            </a:r>
          </a:p>
        </p:txBody>
      </p:sp>
      <p:sp>
        <p:nvSpPr>
          <p:cNvPr id="12" name="CuadroTexto 11">
            <a:extLst>
              <a:ext uri="{FF2B5EF4-FFF2-40B4-BE49-F238E27FC236}">
                <a16:creationId xmlns:a16="http://schemas.microsoft.com/office/drawing/2014/main" id="{F139CE40-FBA1-5F7A-2F35-EC01C844835B}"/>
              </a:ext>
            </a:extLst>
          </p:cNvPr>
          <p:cNvSpPr txBox="1"/>
          <p:nvPr/>
        </p:nvSpPr>
        <p:spPr>
          <a:xfrm>
            <a:off x="1143000" y="3937000"/>
            <a:ext cx="6858000" cy="292388"/>
          </a:xfrm>
          <a:prstGeom prst="rect">
            <a:avLst/>
          </a:prstGeom>
          <a:noFill/>
        </p:spPr>
        <p:txBody>
          <a:bodyPr vert="horz" rtlCol="0">
            <a:spAutoFit/>
          </a:bodyPr>
          <a:lstStyle/>
          <a:p>
            <a:r>
              <a:rPr lang="es-MX" sz="1300" dirty="0">
                <a:solidFill>
                  <a:srgbClr val="FFFFFF"/>
                </a:solidFill>
                <a:latin typeface="Segoe UI" panose="020B0502040204020203" pitchFamily="34" charset="0"/>
              </a:rPr>
              <a:t>Seguridad multicapa: bcrypt, JWT, rate limiting, helmet, CORS</a:t>
            </a:r>
          </a:p>
        </p:txBody>
      </p:sp>
      <p:sp>
        <p:nvSpPr>
          <p:cNvPr id="13" name="CuadroTexto 12">
            <a:extLst>
              <a:ext uri="{FF2B5EF4-FFF2-40B4-BE49-F238E27FC236}">
                <a16:creationId xmlns:a16="http://schemas.microsoft.com/office/drawing/2014/main" id="{D568D713-2997-3426-7AE1-2A09DA6F5E8C}"/>
              </a:ext>
            </a:extLst>
          </p:cNvPr>
          <p:cNvSpPr txBox="1"/>
          <p:nvPr/>
        </p:nvSpPr>
        <p:spPr>
          <a:xfrm>
            <a:off x="1143000" y="4254500"/>
            <a:ext cx="6858000" cy="292388"/>
          </a:xfrm>
          <a:prstGeom prst="rect">
            <a:avLst/>
          </a:prstGeom>
          <a:noFill/>
        </p:spPr>
        <p:txBody>
          <a:bodyPr vert="horz" rtlCol="0">
            <a:spAutoFit/>
          </a:bodyPr>
          <a:lstStyle/>
          <a:p>
            <a:r>
              <a:rPr lang="pt-BR" sz="1300" dirty="0">
                <a:solidFill>
                  <a:srgbClr val="FFFFFF"/>
                </a:solidFill>
                <a:latin typeface="Segoe UI" panose="020B0502040204020203" pitchFamily="34" charset="0"/>
              </a:rPr>
              <a:t>Backups automáticos cada 60 minutos</a:t>
            </a:r>
            <a:endParaRPr lang="es-MX" sz="1300" dirty="0">
              <a:solidFill>
                <a:srgbClr val="FFFFFF"/>
              </a:solidFill>
              <a:latin typeface="Segoe UI" panose="020B0502040204020203" pitchFamily="34" charset="0"/>
            </a:endParaRPr>
          </a:p>
        </p:txBody>
      </p:sp>
      <p:sp>
        <p:nvSpPr>
          <p:cNvPr id="14" name="CuadroTexto 13">
            <a:extLst>
              <a:ext uri="{FF2B5EF4-FFF2-40B4-BE49-F238E27FC236}">
                <a16:creationId xmlns:a16="http://schemas.microsoft.com/office/drawing/2014/main" id="{8C0E9E2C-9FE5-4248-0783-40F1A5499417}"/>
              </a:ext>
            </a:extLst>
          </p:cNvPr>
          <p:cNvSpPr txBox="1"/>
          <p:nvPr/>
        </p:nvSpPr>
        <p:spPr>
          <a:xfrm>
            <a:off x="1143000" y="4572000"/>
            <a:ext cx="6858000" cy="292388"/>
          </a:xfrm>
          <a:prstGeom prst="rect">
            <a:avLst/>
          </a:prstGeom>
          <a:noFill/>
        </p:spPr>
        <p:txBody>
          <a:bodyPr vert="horz" rtlCol="0">
            <a:spAutoFit/>
          </a:bodyPr>
          <a:lstStyle/>
          <a:p>
            <a:r>
              <a:rPr lang="es-MX" sz="1300" dirty="0">
                <a:solidFill>
                  <a:srgbClr val="FFFFFF"/>
                </a:solidFill>
                <a:latin typeface="Segoe UI" panose="020B0502040204020203" pitchFamily="34" charset="0"/>
              </a:rPr>
              <a:t>Actualización automática vía GitHub Releases</a:t>
            </a:r>
          </a:p>
        </p:txBody>
      </p:sp>
      <p:sp>
        <p:nvSpPr>
          <p:cNvPr id="15" name="CuadroTexto 14">
            <a:extLst>
              <a:ext uri="{FF2B5EF4-FFF2-40B4-BE49-F238E27FC236}">
                <a16:creationId xmlns:a16="http://schemas.microsoft.com/office/drawing/2014/main" id="{F5D8C61D-43FF-9556-BC3C-D48BD2497908}"/>
              </a:ext>
            </a:extLst>
          </p:cNvPr>
          <p:cNvSpPr txBox="1"/>
          <p:nvPr/>
        </p:nvSpPr>
        <p:spPr>
          <a:xfrm>
            <a:off x="1016000" y="5080000"/>
            <a:ext cx="7112000" cy="308418"/>
          </a:xfrm>
          <a:prstGeom prst="rect">
            <a:avLst/>
          </a:prstGeom>
          <a:noFill/>
        </p:spPr>
        <p:txBody>
          <a:bodyPr vert="horz" rtlCol="0">
            <a:spAutoFit/>
          </a:bodyPr>
          <a:lstStyle/>
          <a:p>
            <a:r>
              <a:rPr lang="es-MX" sz="1400" dirty="0">
                <a:solidFill>
                  <a:srgbClr val="B4C8E6"/>
                </a:solidFill>
                <a:latin typeface="Segoe UI" panose="020B0502040204020203" pitchFamily="34" charset="0"/>
              </a:rPr>
              <a:t>Versión 4.1.0  |  Febrero 2026  |  Iustus Renidet</a:t>
            </a:r>
          </a:p>
        </p:txBody>
      </p:sp>
    </p:spTree>
    <p:extLst>
      <p:ext uri="{BB962C8B-B14F-4D97-AF65-F5344CB8AC3E}">
        <p14:creationId xmlns:p14="http://schemas.microsoft.com/office/powerpoint/2010/main" val="188039462"/>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300</TotalTime>
  <Words>6073</Words>
  <Application>Microsoft Office PowerPoint</Application>
  <PresentationFormat>Presentación en pantalla (16:10)</PresentationFormat>
  <Paragraphs>284</Paragraphs>
  <Slides>30</Slides>
  <Notes>0</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30</vt:i4>
      </vt:variant>
    </vt:vector>
  </HeadingPairs>
  <TitlesOfParts>
    <vt:vector size="36" baseType="lpstr">
      <vt:lpstr>Aptos</vt:lpstr>
      <vt:lpstr>Aptos Display</vt:lpstr>
      <vt:lpstr>Arial</vt:lpstr>
      <vt:lpstr>Consolas</vt:lpstr>
      <vt:lpstr>Segoe UI</vt:lpstr>
      <vt:lpstr>Tema de Office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sophie guevara</dc:creator>
  <cp:lastModifiedBy>sophie guevara</cp:lastModifiedBy>
  <cp:revision>3</cp:revision>
  <dcterms:created xsi:type="dcterms:W3CDTF">2026-02-10T04:19:44Z</dcterms:created>
  <dcterms:modified xsi:type="dcterms:W3CDTF">2026-02-10T23:16:06Z</dcterms:modified>
</cp:coreProperties>
</file>