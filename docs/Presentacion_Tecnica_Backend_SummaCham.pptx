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5" Type="http://schemas.openxmlformats.org/officeDocument/2006/relationships/slide" Target="slides/slide174.xml"/><Relationship Id="rId170" Type="http://schemas.openxmlformats.org/officeDocument/2006/relationships/slide" Target="slides/slide169.xml"/><Relationship Id="rId191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181" Type="http://schemas.openxmlformats.org/officeDocument/2006/relationships/slide" Target="slides/slide180.xml"/><Relationship Id="rId186" Type="http://schemas.openxmlformats.org/officeDocument/2006/relationships/slide" Target="slides/slide185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92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72" Type="http://schemas.openxmlformats.org/officeDocument/2006/relationships/slide" Target="slides/slide171.xml"/><Relationship Id="rId193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0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A83E0-710F-FFBC-9E48-33E11795A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EA976C-FC1E-2B0E-C437-B0C09D658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C38830-AB9B-91FF-AD1D-7414872AC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32F0-5C6F-45D2-8429-F4E4C294131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641C2-8B6D-1F75-72E5-B670E9895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EF76DA-3948-91D2-E0E3-3070B2715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7C488-8703-43D6-945F-31370E60CE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0885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7970E-BB98-921D-BF75-8FBC288EE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F921B3-19BC-556E-574D-A360418A0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4F8DDA-CC68-5C31-97F5-077E800FE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32F0-5C6F-45D2-8429-F4E4C294131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8EC606-F7A2-783F-45FE-E99328456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21900E-E021-1943-C91F-650FDF59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7C488-8703-43D6-945F-31370E60CE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932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1202C4-B8C7-CAE5-D215-A10086901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DEEBF9-B47B-F001-D7D2-CD7107F42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6D0101-7663-112C-D639-4C4CBF8D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32F0-5C6F-45D2-8429-F4E4C294131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D924D6-956B-560F-D280-376C7CBD7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DA510B-D3C9-BACA-9B28-14B18FD93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7C488-8703-43D6-945F-31370E60CE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4680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7B8B8-B9A1-FB36-05BA-2F09BA535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FF5A9C-3A78-BCC2-C29D-AABF19EA9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49F766-0299-4689-835D-8E70E6948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31C976-44B8-6C32-F6F7-CB23A0B31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32F0-5C6F-45D2-8429-F4E4C294131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C26B45-3FF1-A556-F5BD-4461AD45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DA2AEC-6763-BB12-5299-607062821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7C488-8703-43D6-945F-31370E60CE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5289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584AF-5D36-275A-3CD9-EC336E2F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E86345-1F20-36F6-DBD7-65D93104C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855A657-82C0-E5A3-2928-1AEB2BCE3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1E835D-EA48-752E-2075-CF289DC93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65F4354-47B0-5210-062F-D0498DBD0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952A9DB-7817-1AD8-C039-868677492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32F0-5C6F-45D2-8429-F4E4C294131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CF806D2-7C55-116D-BD0E-CAFC4C0E3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E07ECC9-FD30-EFC3-2F17-83543362D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7C488-8703-43D6-945F-31370E60CE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827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BD0FB3-4FEE-FC25-C05C-04D49D5D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1D43A6-33CE-1976-3C42-23190FC4D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32F0-5C6F-45D2-8429-F4E4C294131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3605581-C3FB-9841-975B-23A9A4803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A70DE0-4EFA-1EEC-5EA6-BE94EE8BB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7C488-8703-43D6-945F-31370E60CE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428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D5D2226-0F6E-E113-E074-0B775EF89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32F0-5C6F-45D2-8429-F4E4C294131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116CFEE-E81E-118D-DE9E-2FFF47AD6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DD152B-8085-3F40-4BD2-BA3B9F26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7C488-8703-43D6-945F-31370E60CE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390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EAD3C-F55C-58A4-63BD-3F3CBD73D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499B4C-B07E-11C1-E34E-D3407A181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66DA71-E0AB-61A0-C47E-B979F5215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AF30C2-441F-09FC-7683-02159245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32F0-5C6F-45D2-8429-F4E4C294131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45C2B0-0188-462D-E701-4BB10E78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F6E3A4-4356-99B4-AAA1-FEB8C042E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7C488-8703-43D6-945F-31370E60CE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5587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9C8B92-FC2F-0E3B-EAE2-E14334974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A999816-7AE5-6D21-25FD-9C5353AA85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68C00E-9048-E6EE-1EA7-E30F5826E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05D960-0A8A-2137-FCFB-12DF7E3A5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32F0-5C6F-45D2-8429-F4E4C294131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17D667-EDB6-919F-07D3-CD302FC9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0DBFF1-6757-CDB6-832C-A924411E8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7C488-8703-43D6-945F-31370E60CE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4038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3011E-104E-8E4E-5B49-D3638A214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FEAC491-6136-C3CE-0D37-7373A2E4A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8AF24F-01AD-7827-2362-AD2F2E901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32F0-5C6F-45D2-8429-F4E4C294131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1A14F5-5B1D-1CE5-A2A3-9BB685F53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0048F5-CDDC-48B8-6794-408038AF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7C488-8703-43D6-945F-31370E60CE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7022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7AFCA3-38A3-9426-6FFC-D52CE65B1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8522F9-C8AD-E814-AFA3-207F7015D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5B0F8A-104E-BBA4-E725-02363F16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32F0-5C6F-45D2-8429-F4E4C294131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FA3120-B109-8532-1A3F-EA7DF97E2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ADF72A-5C9B-1729-1947-34A983AB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7C488-8703-43D6-945F-31370E60CE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6471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6EA9E3B-7D30-43F5-208A-61C58862C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56C0D3-414A-0475-0135-E2206AA30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7C1B00-811C-D1FE-EDD8-FDE5AA970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9332F0-5C6F-45D2-8429-F4E4C2941319}" type="datetimeFigureOut">
              <a:rPr lang="es-MX" smtClean="0"/>
              <a:t>09/02/2026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39E934-6E4C-F960-2B5C-776A6C5A4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0B633B-AA93-7D80-F521-53242DBD3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A7C488-8703-43D6-945F-31370E60CE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102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88224F-AD8F-8028-A9E4-3B6A9B860E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sz="4400" b="1"/>
              <a:t>SummaCham / PanelAMCHAM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F94FDB-B5EA-221A-BFAA-5882104618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1800"/>
              <a:t>Backend técnico y algoritmos (resumen paso a paso)</a:t>
            </a:r>
          </a:p>
          <a:p>
            <a:r>
              <a:rPr lang="es-ES" sz="1800"/>
              <a:t>2026-02-09 02:59</a:t>
            </a:r>
          </a:p>
          <a:p>
            <a:r>
              <a:rPr lang="es-ES" sz="1800"/>
              <a:t>Version: 4.1.0</a:t>
            </a:r>
            <a:endParaRPr lang="es-MX" sz="180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FD7532-E8C5-268C-AA37-904D97265FA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000" y="2794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636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3DA9437-5740-58F2-4FAC-6E25A5A0706C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Agenda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6E51CCE-8F13-D2EC-11D9-E4D0CBB61FDE}"/>
              </a:ext>
            </a:extLst>
          </p:cNvPr>
          <p:cNvSpPr txBox="1"/>
          <p:nvPr/>
        </p:nvSpPr>
        <p:spPr>
          <a:xfrm>
            <a:off x="508000" y="939800"/>
            <a:ext cx="11176000" cy="258532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Arquitectura (UI &lt;-&gt; API &lt;-&gt; datos)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Servidor Express (CORS, sesiones, middleware)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Seguridad: autenticación (JWT/sesión) + autorización (permisos)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Persistencia: SQLite (modelo + backups)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Integración Firebird (Aspel COI)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Algoritmos: contabilización y acumulados (Real vs Plan)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Layouts + fórmulas + reportes Summary/Resumen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Colaboración (borradores, comentarios, notificaciones)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Operación (diagnóstico y checklist)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022EB0E-5C8F-09E5-FBDD-1509D78C6807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README.md</a:t>
            </a:r>
          </a:p>
        </p:txBody>
      </p:sp>
    </p:spTree>
    <p:extLst>
      <p:ext uri="{BB962C8B-B14F-4D97-AF65-F5344CB8AC3E}">
        <p14:creationId xmlns:p14="http://schemas.microsoft.com/office/powerpoint/2010/main" val="583373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084697B-404E-1853-7E80-C1162A2CF25F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Arquitectura (alto nivel)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DE83B6D-56CB-BAF1-7F43-893C2FE728FA}"/>
              </a:ext>
            </a:extLst>
          </p:cNvPr>
          <p:cNvSpPr txBox="1"/>
          <p:nvPr/>
        </p:nvSpPr>
        <p:spPr>
          <a:xfrm>
            <a:off x="508000" y="9398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B53CB03-F3C1-4412-B246-36FB6A0914B7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main.js | src/server.js | src/db/sqlite.js | src/services/firebirdService.js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D4DC69B-E5D3-55FF-410E-D2063F3FA9AC}"/>
              </a:ext>
            </a:extLst>
          </p:cNvPr>
          <p:cNvSpPr/>
          <p:nvPr/>
        </p:nvSpPr>
        <p:spPr>
          <a:xfrm>
            <a:off x="508000" y="1778000"/>
            <a:ext cx="3302000" cy="1092200"/>
          </a:xfrm>
          <a:prstGeom prst="roundRect">
            <a:avLst/>
          </a:prstGeom>
          <a:solidFill>
            <a:srgbClr val="E6F0FF"/>
          </a:solidFill>
          <a:ln>
            <a:solidFill>
              <a:srgbClr val="0D4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/>
              <a:t>Electron UI</a:t>
            </a:r>
          </a:p>
          <a:p>
            <a:pPr algn="ctr"/>
            <a:r>
              <a:rPr lang="es-MX" b="1"/>
              <a:t>(vistas/*)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6050D07F-6A23-F1AF-1D0E-58DEEF6B7228}"/>
              </a:ext>
            </a:extLst>
          </p:cNvPr>
          <p:cNvSpPr/>
          <p:nvPr/>
        </p:nvSpPr>
        <p:spPr>
          <a:xfrm>
            <a:off x="3962400" y="2159000"/>
            <a:ext cx="863600" cy="330200"/>
          </a:xfrm>
          <a:prstGeom prst="rightArrow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999BFA9-C220-88B8-ADDC-A3C14BF47F36}"/>
              </a:ext>
            </a:extLst>
          </p:cNvPr>
          <p:cNvSpPr/>
          <p:nvPr/>
        </p:nvSpPr>
        <p:spPr>
          <a:xfrm>
            <a:off x="5029200" y="1778000"/>
            <a:ext cx="3302000" cy="1092200"/>
          </a:xfrm>
          <a:prstGeom prst="roundRect">
            <a:avLst/>
          </a:prstGeom>
          <a:solidFill>
            <a:srgbClr val="E6F0FF"/>
          </a:solidFill>
          <a:ln>
            <a:solidFill>
              <a:srgbClr val="0D4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Express API</a:t>
            </a:r>
          </a:p>
          <a:p>
            <a:pPr algn="ctr"/>
            <a:r>
              <a:rPr lang="en-US" b="1"/>
              <a:t>(src/server.js)</a:t>
            </a:r>
            <a:endParaRPr lang="es-MX" b="1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DF0172A4-E7A7-0A56-86B3-A94268C0EC74}"/>
              </a:ext>
            </a:extLst>
          </p:cNvPr>
          <p:cNvSpPr/>
          <p:nvPr/>
        </p:nvSpPr>
        <p:spPr>
          <a:xfrm>
            <a:off x="8483600" y="2159000"/>
            <a:ext cx="863600" cy="330200"/>
          </a:xfrm>
          <a:prstGeom prst="rightArrow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5524A5F-6735-22E7-9F97-63D6FC4F189A}"/>
              </a:ext>
            </a:extLst>
          </p:cNvPr>
          <p:cNvSpPr/>
          <p:nvPr/>
        </p:nvSpPr>
        <p:spPr>
          <a:xfrm>
            <a:off x="8382000" y="1498600"/>
            <a:ext cx="3302000" cy="889000"/>
          </a:xfrm>
          <a:prstGeom prst="roundRect">
            <a:avLst/>
          </a:prstGeom>
          <a:solidFill>
            <a:srgbClr val="E6F0FF"/>
          </a:solidFill>
          <a:ln>
            <a:solidFill>
              <a:srgbClr val="374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/>
              <a:t>SQLite</a:t>
            </a:r>
          </a:p>
          <a:p>
            <a:pPr algn="ctr"/>
            <a:r>
              <a:rPr lang="es-MX" sz="1600" b="1"/>
              <a:t>(panel.sqlite)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43E296D-F463-DC79-85B4-88411D753735}"/>
              </a:ext>
            </a:extLst>
          </p:cNvPr>
          <p:cNvSpPr/>
          <p:nvPr/>
        </p:nvSpPr>
        <p:spPr>
          <a:xfrm>
            <a:off x="8382000" y="2565400"/>
            <a:ext cx="3302000" cy="889000"/>
          </a:xfrm>
          <a:prstGeom prst="roundRect">
            <a:avLst/>
          </a:prstGeom>
          <a:solidFill>
            <a:srgbClr val="E6F0FF"/>
          </a:solidFill>
          <a:ln>
            <a:solidFill>
              <a:srgbClr val="3741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/>
              <a:t>Firebird (Aspel COI)</a:t>
            </a:r>
          </a:p>
          <a:p>
            <a:pPr algn="ctr"/>
            <a:r>
              <a:rPr lang="it-IT" sz="1600" b="1"/>
              <a:t>(COI*.FDB)</a:t>
            </a:r>
            <a:endParaRPr lang="es-MX" sz="1600" b="1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7454953-848B-78BF-ED9A-0BA74DD6B461}"/>
              </a:ext>
            </a:extLst>
          </p:cNvPr>
          <p:cNvSpPr txBox="1"/>
          <p:nvPr/>
        </p:nvSpPr>
        <p:spPr>
          <a:xfrm>
            <a:off x="508000" y="3302000"/>
            <a:ext cx="11176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/>
              <a:t>1) UI (Electron) sirve HTML/JS desde /vistas y consume /api/*.</a:t>
            </a:r>
          </a:p>
          <a:p>
            <a:pPr marL="342900" indent="-342900">
              <a:buFont typeface="+mj-lt"/>
              <a:buAutoNum type="arabicPeriod"/>
            </a:pPr>
            <a:r>
              <a:rPr lang="es-MX"/>
              <a:t>2) Express gestiona sesiones/JWT, permisos, workflows y reportes.</a:t>
            </a:r>
          </a:p>
          <a:p>
            <a:pPr marL="342900" indent="-342900">
              <a:buFont typeface="+mj-lt"/>
              <a:buAutoNum type="arabicPeriod"/>
            </a:pPr>
            <a:r>
              <a:rPr lang="es-MX"/>
              <a:t>3) SQLite: usuarios, permisos, layouts, borradores, comentarios, backups.</a:t>
            </a:r>
          </a:p>
          <a:p>
            <a:pPr marL="342900" indent="-342900">
              <a:buFont typeface="+mj-lt"/>
              <a:buAutoNum type="arabicPeriod"/>
            </a:pPr>
            <a:r>
              <a:rPr lang="es-MX"/>
              <a:t>4) Firebird: saldos, catálogo de cuentas y presupuestos por ejercicio.</a:t>
            </a:r>
          </a:p>
        </p:txBody>
      </p:sp>
    </p:spTree>
    <p:extLst>
      <p:ext uri="{BB962C8B-B14F-4D97-AF65-F5344CB8AC3E}">
        <p14:creationId xmlns:p14="http://schemas.microsoft.com/office/powerpoint/2010/main" val="3114466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686CC0-055D-6F88-B185-0974D8E2509D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Arquitectura general (diagrama)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9C310F-7AD4-1CFE-6A14-3B7BB6E83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0" y="939800"/>
            <a:ext cx="6299200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BA0DAE8-359C-9189-434C-9F924D5DA086}"/>
              </a:ext>
            </a:extLst>
          </p:cNvPr>
          <p:cNvSpPr txBox="1"/>
          <p:nvPr/>
        </p:nvSpPr>
        <p:spPr>
          <a:xfrm>
            <a:off x="508000" y="4978400"/>
            <a:ext cx="111760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Electron arranca backend + UI.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Express expone /api/* y sirve /vistas/*.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SQLite: usuarios/permisos/layouts/borradores/backups.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Firebird: saldos/cuentas/presupuestos (Aspel COI).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54C4CAF-439E-09F7-078F-AC4B62E1AF90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000">
                <a:solidFill>
                  <a:srgbClr val="6B7280"/>
                </a:solidFill>
              </a:rPr>
              <a:t>Refs: docs/image/diagrams/arquitectura-general.png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03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651D9C9-2C0F-9156-C5A5-818FCC75F628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Flujo general de uso (diagrama)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29F901-2B40-1878-54A5-77D4C4709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333" y="939800"/>
            <a:ext cx="5249333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5592CEE-90BF-693D-9494-7D8CA206F4A2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Login -&gt; sesión -&gt; empresa activa -&gt; módulos.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Edición -&gt; revisión/aprobación -&gt; guardado.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Reportes: layouts + datos COI.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BC11F1-CE2A-3B11-AF9F-E999437D01DB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docs/image/diagrams/flujo-general-uso.png</a:t>
            </a:r>
          </a:p>
        </p:txBody>
      </p:sp>
    </p:spTree>
    <p:extLst>
      <p:ext uri="{BB962C8B-B14F-4D97-AF65-F5344CB8AC3E}">
        <p14:creationId xmlns:p14="http://schemas.microsoft.com/office/powerpoint/2010/main" val="7040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4345C1C-C274-06C7-8D49-923539BD7936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Tecnologías clave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CB321A2-259B-FEFE-BBF7-CDD892A36A28}"/>
              </a:ext>
            </a:extLst>
          </p:cNvPr>
          <p:cNvSpPr txBox="1"/>
          <p:nvPr/>
        </p:nvSpPr>
        <p:spPr>
          <a:xfrm>
            <a:off x="508000" y="939800"/>
            <a:ext cx="11176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Electron (app escritorio) + Express (API HTTP)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SQLite (better-sqlite3) para persistencia local multi-usuario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Firebird (node-firebird) para datos Aspel COI: SALDOS/CUENTAS/CATCTA/PRESUP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Seguridad: helmet, express-session, bcrypt, JWT (access/refresh)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Reportes/exportación: xlsx + generación de gráficas en Excel (COM)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A280C08-120C-3C4B-0AAE-29E35F8E159D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package.json | main.js | src/server.js</a:t>
            </a:r>
          </a:p>
        </p:txBody>
      </p:sp>
    </p:spTree>
    <p:extLst>
      <p:ext uri="{BB962C8B-B14F-4D97-AF65-F5344CB8AC3E}">
        <p14:creationId xmlns:p14="http://schemas.microsoft.com/office/powerpoint/2010/main" val="3738488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31722D2-09D8-9117-96AF-D08BE542228B}"/>
              </a:ext>
            </a:extLst>
          </p:cNvPr>
          <p:cNvSpPr txBox="1"/>
          <p:nvPr/>
        </p:nvSpPr>
        <p:spPr>
          <a:xfrm>
            <a:off x="762000" y="2413000"/>
            <a:ext cx="10668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MX" sz="4800" b="1">
                <a:solidFill>
                  <a:srgbClr val="0D47A1"/>
                </a:solidFill>
              </a:rPr>
              <a:t>Stack y dependencias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E27EC97-8C05-B774-24BC-B7692E397429}"/>
              </a:ext>
            </a:extLst>
          </p:cNvPr>
          <p:cNvSpPr txBox="1"/>
          <p:nvPr/>
        </p:nvSpPr>
        <p:spPr>
          <a:xfrm>
            <a:off x="1143000" y="3302000"/>
            <a:ext cx="990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MX" sz="2000">
                <a:solidFill>
                  <a:srgbClr val="374151"/>
                </a:solidFill>
              </a:rPr>
              <a:t>Tecnologías, librerías y configuración</a:t>
            </a:r>
          </a:p>
        </p:txBody>
      </p:sp>
    </p:spTree>
    <p:extLst>
      <p:ext uri="{BB962C8B-B14F-4D97-AF65-F5344CB8AC3E}">
        <p14:creationId xmlns:p14="http://schemas.microsoft.com/office/powerpoint/2010/main" val="3699760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9811E04-191A-2263-F4E1-4017E2837E36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Librerías backend (NPM runtime)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8D75657-E2F6-CD06-094D-C0C12A15823F}"/>
              </a:ext>
            </a:extLst>
          </p:cNvPr>
          <p:cNvSpPr txBox="1"/>
          <p:nvPr/>
        </p:nvSpPr>
        <p:spPr>
          <a:xfrm>
            <a:off x="508000" y="939800"/>
            <a:ext cx="11176000" cy="424731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auto-launch ^5.0.6 - Auto-inicio del servicio en SO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bcryptjs ^3.0.3 - Hash de contraseñas (bcrypt)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better-sqlite3 ^12.5.0 - SQLite embebido (alta performance)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better-sqlite3-session-store ^0.1.0 - Store de sesiones en SQLite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cookie-parser ^1.4.7 - Lectura/parseo de cookies en Express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csv-parse ^6.1.0 - Parseo CSV (importaciones/exportaciones)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electron-updater ^6.6.2 - Auto-actualizaciones (desktop)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express ^5.1.0 - Servidor HTTP + enrutamiento /api/*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express-session ^1.18.2 - Sesiones server-side (cookie sid)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helmet ^8.1.0 - Hardening de headers HTTP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joi ^18.0.1 - Validación de payloads/params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jsonwebtoken ^9.0.3 - JWT (firmar/verificar access/refresh)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node-firebird ^1.1.9 - Cliente Firebird (Aspel COI)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nodemailer ^7.0.10 - SMTP para notificaciones por correo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xlsx ^0.18.5 - Lectura/escritura Excel (exports)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620CD75-8B1B-D559-5F73-3F7202ACE279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package.json</a:t>
            </a:r>
          </a:p>
        </p:txBody>
      </p:sp>
    </p:spTree>
    <p:extLst>
      <p:ext uri="{BB962C8B-B14F-4D97-AF65-F5344CB8AC3E}">
        <p14:creationId xmlns:p14="http://schemas.microsoft.com/office/powerpoint/2010/main" val="4224038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829D5F4-8CFE-3F85-9A7F-4A917184CC84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Librerías build/dev (NPM)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ECC7154-6F20-684A-6313-CE7F23C6DB68}"/>
              </a:ext>
            </a:extLst>
          </p:cNvPr>
          <p:cNvSpPr txBox="1"/>
          <p:nvPr/>
        </p:nvSpPr>
        <p:spPr>
          <a:xfrm>
            <a:off x="508000" y="939800"/>
            <a:ext cx="11176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cross-env ^7.0.3 - Variables de entorno cross-platform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electron ^39.2.7 - Runtime desktop (Chromium + Node)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electron-builder ^25.1.8 - Empaquetado/instaladores (asar, nsis, portable)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electron-rebuild ^3.2.9 - Rebuild módulos nativos para Electron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esbuild ^0.27.1 - Bundling/transpilación (herramienta)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EA49FD4-1AB3-660A-5569-C5C383AFA431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package.json</a:t>
            </a:r>
          </a:p>
        </p:txBody>
      </p:sp>
    </p:spTree>
    <p:extLst>
      <p:ext uri="{BB962C8B-B14F-4D97-AF65-F5344CB8AC3E}">
        <p14:creationId xmlns:p14="http://schemas.microsoft.com/office/powerpoint/2010/main" val="744846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9DC9778-E85A-D599-63E6-7593B8B6C3D2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Librerías frontend (CDN en vistas/*.html)</a:t>
            </a:r>
            <a:endParaRPr lang="es-MX" sz="3200" b="1">
              <a:solidFill>
                <a:srgbClr val="0D47A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1696325-E27A-2EC8-01C3-04F48EA8FDA8}"/>
              </a:ext>
            </a:extLst>
          </p:cNvPr>
          <p:cNvSpPr txBox="1"/>
          <p:nvPr/>
        </p:nvSpPr>
        <p:spPr>
          <a:xfrm>
            <a:off x="508000" y="939800"/>
            <a:ext cx="11176000" cy="34163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bootstrap 5.3.0 - UI framework (CSS/JS)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bootstrap 5.3.3 - UI framework (CSS/JS)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bootstrap-icons 1.11.3 - Iconos para UI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chart.js 4.4.1 - Gráficas (Canvas)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exceljs 4.4.0 - Excel (frontend) para exportaciones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html2canvas 1.4.1 - Captura DOM -&gt; imagen (frontend)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jspdf 2.5.1 - Exportación a PDF (frontend)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jspdf-autotable 3.8.2 - Tablas PDF (frontend)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xlsx 0.18.5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xlsx-js-style 1.2.0 - XLSX con estilos/colores (frontend)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Nota: al cargar desde CDN se requiere acceso a internet; en app empaquetada puede sustituirse por recursos locales.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F8C924-3342-96B6-A5AA-14C54ACE91A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vistas/*.html</a:t>
            </a:r>
          </a:p>
        </p:txBody>
      </p:sp>
    </p:spTree>
    <p:extLst>
      <p:ext uri="{BB962C8B-B14F-4D97-AF65-F5344CB8AC3E}">
        <p14:creationId xmlns:p14="http://schemas.microsoft.com/office/powerpoint/2010/main" val="3434821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BC48A29-3FE9-CDD5-B25E-CFB4B3A64672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Variables de entorno (inventario) - parte 1/2</a:t>
            </a:r>
            <a:endParaRPr lang="es-MX" sz="3200" b="1">
              <a:solidFill>
                <a:srgbClr val="0D47A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BEDDD66-9CA8-967C-3570-EBE01E1E01A3}"/>
              </a:ext>
            </a:extLst>
          </p:cNvPr>
          <p:cNvSpPr txBox="1"/>
          <p:nvPr/>
        </p:nvSpPr>
        <p:spPr>
          <a:xfrm>
            <a:off x="508000" y="939800"/>
            <a:ext cx="11176000" cy="50783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ASPEL_COI_BASE - Base path COI / referencias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BACKUP_ENABLED - Habilitar backups automáticos (true/false)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BACKUP_INTERVAL_MINUTES - Intervalo backups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BACKUP_MAX_BACKUPS - Retención backups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BACKUP_PATH - Directorio destino backups (opcional)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COOKIE_DOMAIN - Dominio de cookie (túnel HTTPS)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FIREBIRD_HOST - Host Firebird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FIREBIRD_PASSWORD - Password Firebird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FIREBIRD_PORT - Puerto Firebird (default 3050)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FIREBIRD_USER - Usuario Firebird (sysdba)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ICONET_PASSWORD - Password inicial seed (solo despliegues controlados)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NODE_ENV - development|production (controla cookies, logs, CSP, etc.)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PANELAMCHAM_ACCESS_TTL - TTL access token (ej. 1h)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PANELAMCHAM_ADMIN_PASSWORD - Password inicial admin seed (solo despliegues controlados)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PANELAMCHAM_ALLOW_ORIGINS - Allowlist CORS (incluye origin null/file://)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PANELAMCHAM_DATA_DIR - Directorio de datos (panel.sqlite, backups, config)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PANELAMCHAM_JWT_SECRET - Secreto JWT (access)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PANELAMCHAM_REFRESH_SECRET - Secreto JWT (refresh)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4C85E7-BD94-04D9-A4BD-44104022AF4E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main.js | src/config/env-config.js | src/server.js | src/utils/secretsManager.js</a:t>
            </a:r>
          </a:p>
        </p:txBody>
      </p:sp>
    </p:spTree>
    <p:extLst>
      <p:ext uri="{BB962C8B-B14F-4D97-AF65-F5344CB8AC3E}">
        <p14:creationId xmlns:p14="http://schemas.microsoft.com/office/powerpoint/2010/main" val="279050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FA7234A-92D6-FF7D-1CA7-ECF8A42A2D28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Variables de entorno (inventario) - parte 2/2</a:t>
            </a:r>
            <a:endParaRPr lang="es-MX" sz="3200" b="1">
              <a:solidFill>
                <a:srgbClr val="0D47A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0EBD37-CD84-FB56-83AC-A9569A6B2295}"/>
              </a:ext>
            </a:extLst>
          </p:cNvPr>
          <p:cNvSpPr txBox="1"/>
          <p:nvPr/>
        </p:nvSpPr>
        <p:spPr>
          <a:xfrm>
            <a:off x="508000" y="939800"/>
            <a:ext cx="11176000" cy="36933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PANELAMCHAM_REFRESH_TTL - TTL refresh token (ej. 7d)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PANELAMCHAM_SEED_DB - Ruta opcional a DB semilla panel.sqlite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PORT - Puerto alterno (fallback en server.js)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SEED_OPERACIONES - Seeding de operaciones predefinidas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SERVER_PORT - Puerto del backend (Electron lo usa para cargar http://localhost:&lt;PORT&gt;)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SESSION_SECRET - Secreto de sesión (express-session)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SMTP_FROM - Remitente SMTP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SMTP_HOST - Servidor SMTP (notificaciones)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SMTP_PASS - Password SMTP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SMTP_PORT - Puerto SMTP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SMTP_SECURE - SMTP TLS (true/false)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SMTP_USER - Usuario SMTP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SystemRoot - Windows: ruta base del sistema (resuelve powershell.exe)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C82270E-6624-A667-63B2-B02DFD6E3CDE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main.js | src/config/env-config.js | src/server.js | src/utils/secretsManager.js</a:t>
            </a:r>
          </a:p>
        </p:txBody>
      </p:sp>
    </p:spTree>
    <p:extLst>
      <p:ext uri="{BB962C8B-B14F-4D97-AF65-F5344CB8AC3E}">
        <p14:creationId xmlns:p14="http://schemas.microsoft.com/office/powerpoint/2010/main" val="3659944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29370F1-7A67-010F-C735-EC4C5E92BAB6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Estructura del proyecto (carpetas)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7A681F-BC78-8B49-98B7-FC4955888BE6}"/>
              </a:ext>
            </a:extLst>
          </p:cNvPr>
          <p:cNvSpPr txBox="1"/>
          <p:nvPr/>
        </p:nvSpPr>
        <p:spPr>
          <a:xfrm>
            <a:off x="508000" y="939800"/>
            <a:ext cx="11176000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main.js: proceso principal Electron (secretos, entorno, arranque del backend)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src/server.js: servidor Express (middlewares, estáticos, routers)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src/routes/*: endpoints /api/* por dominio (auth, usuarios, layouts, reportes...)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src/services/*: lógica de negocio (Firebird, reportes, layouts, backups...)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src/db/sqlite.js: esquema + migraciones + seeding (panel.sqlite)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vistas/*: UI (HTML/CSS/JS) servida como estático por Express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476A20A-FDDE-0D96-6A63-6DDA852F967B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main.js | src/server.js | src/db/sqlite.js</a:t>
            </a:r>
          </a:p>
        </p:txBody>
      </p:sp>
    </p:spTree>
    <p:extLst>
      <p:ext uri="{BB962C8B-B14F-4D97-AF65-F5344CB8AC3E}">
        <p14:creationId xmlns:p14="http://schemas.microsoft.com/office/powerpoint/2010/main" val="3777356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B6C0CDC-B337-C74D-8EB2-9FABBEA81EF9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Arranque (paso a paso)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6EF32D7-6548-A746-FB8C-421C4930EFA5}"/>
              </a:ext>
            </a:extLst>
          </p:cNvPr>
          <p:cNvSpPr txBox="1"/>
          <p:nvPr/>
        </p:nvSpPr>
        <p:spPr>
          <a:xfrm>
            <a:off x="508000" y="939800"/>
            <a:ext cx="11176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>
                <a:solidFill>
                  <a:srgbClr val="111827"/>
                </a:solidFill>
              </a:rPr>
              <a:t>1) Electron calcula PANELAMCHAM_DATA_DIR (userData/appData/datos).</a:t>
            </a:r>
          </a:p>
          <a:p>
            <a:r>
              <a:rPr lang="es-MX">
                <a:solidFill>
                  <a:srgbClr val="111827"/>
                </a:solidFill>
              </a:rPr>
              <a:t>2) SecretsManager genera/carga .env.secrets (JWT/SESSION/REFRESH).</a:t>
            </a:r>
          </a:p>
          <a:p>
            <a:r>
              <a:rPr lang="es-MX">
                <a:solidFill>
                  <a:srgbClr val="111827"/>
                </a:solidFill>
              </a:rPr>
              <a:t>3) env-config carga .env.development/.env.production y defaults.</a:t>
            </a:r>
          </a:p>
          <a:p>
            <a:r>
              <a:rPr lang="es-MX">
                <a:solidFill>
                  <a:srgbClr val="111827"/>
                </a:solidFill>
              </a:rPr>
              <a:t>4) Inicia Express (src/server.js) y el servicio de backups.</a:t>
            </a:r>
          </a:p>
          <a:p>
            <a:r>
              <a:rPr lang="es-MX">
                <a:solidFill>
                  <a:srgbClr val="111827"/>
                </a:solidFill>
              </a:rPr>
              <a:t>5) Crea ventana + tray y carga http://localhost:PORT.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063739-E2A3-79D5-C749-AA8E18F332C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main.js | src/utils/secretsManager.js | src/config/env-config.js | src/server.js</a:t>
            </a:r>
          </a:p>
        </p:txBody>
      </p:sp>
    </p:spTree>
    <p:extLst>
      <p:ext uri="{BB962C8B-B14F-4D97-AF65-F5344CB8AC3E}">
        <p14:creationId xmlns:p14="http://schemas.microsoft.com/office/powerpoint/2010/main" val="2296355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544E422-F3F9-389B-DD69-7BE30A08EF48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Configuración y secretos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D5D4AAC-545C-6F7D-8C71-DD3F5E758D58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>
                <a:solidFill>
                  <a:srgbClr val="111827"/>
                </a:solidFill>
              </a:rPr>
              <a:t>1) .env.* define host/puerto Firebird y puerto del servidor (SERVER_PORT/PORT).</a:t>
            </a:r>
          </a:p>
          <a:p>
            <a:r>
              <a:rPr lang="es-ES">
                <a:solidFill>
                  <a:srgbClr val="111827"/>
                </a:solidFill>
              </a:rPr>
              <a:t>2) En Electron, secretos se guardan en userData/.env.secrets (permiso 600).</a:t>
            </a:r>
          </a:p>
          <a:p>
            <a:r>
              <a:rPr lang="es-ES">
                <a:solidFill>
                  <a:srgbClr val="111827"/>
                </a:solidFill>
              </a:rPr>
              <a:t>3) server.js valida que PANELAMCHAM_JWT_SECRET y SESSION_SECRET no sean defaults.</a:t>
            </a:r>
          </a:p>
          <a:p>
            <a:r>
              <a:rPr lang="es-ES">
                <a:solidFill>
                  <a:srgbClr val="111827"/>
                </a:solidFill>
              </a:rPr>
              <a:t>4) En producción (no Electron), falta de secretos lanza error para evitar arranque inseguro.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015BF81-2E5F-DBC5-CB3E-A1CBB67EC580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src/config/env-config.js | src/utils/secretsManager.js | src/server.js</a:t>
            </a:r>
          </a:p>
        </p:txBody>
      </p:sp>
    </p:spTree>
    <p:extLst>
      <p:ext uri="{BB962C8B-B14F-4D97-AF65-F5344CB8AC3E}">
        <p14:creationId xmlns:p14="http://schemas.microsoft.com/office/powerpoint/2010/main" val="2061104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125E89A-A611-0F66-2247-E42053663578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Servidor Express: middleware y estáticos</a:t>
            </a:r>
            <a:endParaRPr lang="es-MX" sz="3200" b="1">
              <a:solidFill>
                <a:srgbClr val="0D47A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AA173B7-CEBD-F1BC-F0B1-5B887201F4FA}"/>
              </a:ext>
            </a:extLst>
          </p:cNvPr>
          <p:cNvSpPr txBox="1"/>
          <p:nvPr/>
        </p:nvSpPr>
        <p:spPr>
          <a:xfrm>
            <a:off x="508000" y="939800"/>
            <a:ext cx="11176000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>
                <a:solidFill>
                  <a:srgbClr val="111827"/>
                </a:solidFill>
              </a:rPr>
              <a:t>1) trust proxy=1 para túneles HTTPS (ngrok/cloudflare).</a:t>
            </a:r>
          </a:p>
          <a:p>
            <a:r>
              <a:rPr lang="es-MX">
                <a:solidFill>
                  <a:srgbClr val="111827"/>
                </a:solidFill>
              </a:rPr>
              <a:t>2) CORS por allowlist (incluye origin null/file:// para Electron).</a:t>
            </a:r>
          </a:p>
          <a:p>
            <a:r>
              <a:rPr lang="es-MX">
                <a:solidFill>
                  <a:srgbClr val="111827"/>
                </a:solidFill>
              </a:rPr>
              <a:t>3) Sesiones: express-session + store SQLite (better-sqlite3-session-store).</a:t>
            </a:r>
          </a:p>
          <a:p>
            <a:r>
              <a:rPr lang="es-MX">
                <a:solidFill>
                  <a:srgbClr val="111827"/>
                </a:solidFill>
              </a:rPr>
              <a:t>4) Cookies: httpOnly, rolling, maxAge 30 min; sameSite/secure según NODE_ENV.</a:t>
            </a:r>
          </a:p>
          <a:p>
            <a:r>
              <a:rPr lang="es-MX">
                <a:solidFill>
                  <a:srgbClr val="111827"/>
                </a:solidFill>
              </a:rPr>
              <a:t>5) helmet activo (CSP deshabilitado por compatibilidad con UI).</a:t>
            </a:r>
          </a:p>
          <a:p>
            <a:r>
              <a:rPr lang="es-MX">
                <a:solidFill>
                  <a:srgbClr val="111827"/>
                </a:solidFill>
              </a:rPr>
              <a:t>6) / sirve app.html solo con sesión; si no, redirige a login.html.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0E962F9-C497-DBD6-E40D-AE1FF7DEB5C3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</a:t>
            </a:r>
          </a:p>
        </p:txBody>
      </p:sp>
    </p:spTree>
    <p:extLst>
      <p:ext uri="{BB962C8B-B14F-4D97-AF65-F5344CB8AC3E}">
        <p14:creationId xmlns:p14="http://schemas.microsoft.com/office/powerpoint/2010/main" val="1734802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EDAE1DA-C8E2-535D-22B8-DD415B08E1F7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API: routers principales (/api/*)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4325FED-408B-B2EC-F0CA-63168C91177C}"/>
              </a:ext>
            </a:extLst>
          </p:cNvPr>
          <p:cNvSpPr txBox="1"/>
          <p:nvPr/>
        </p:nvSpPr>
        <p:spPr>
          <a:xfrm>
            <a:off x="508000" y="939800"/>
            <a:ext cx="5448300" cy="166199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700">
                <a:solidFill>
                  <a:srgbClr val="111827"/>
                </a:solidFill>
              </a:rPr>
              <a:t>auth: login/refresh/logout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700">
                <a:solidFill>
                  <a:srgbClr val="111827"/>
                </a:solidFill>
              </a:rPr>
              <a:t>usuarios: CRUD + permisos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700">
                <a:solidFill>
                  <a:srgbClr val="111827"/>
                </a:solidFill>
              </a:rPr>
              <a:t>empresas/modulos: catálogos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700">
                <a:solidFill>
                  <a:srgbClr val="111827"/>
                </a:solidFill>
              </a:rPr>
              <a:t>presupuestos: workflow + lectura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700">
                <a:solidFill>
                  <a:srgbClr val="111827"/>
                </a:solidFill>
              </a:rPr>
              <a:t>planeacion: datos por cuenta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700">
                <a:solidFill>
                  <a:srgbClr val="111827"/>
                </a:solidFill>
              </a:rPr>
              <a:t>layouts/layoutRoutes: plantillas por año/capítulo</a:t>
            </a:r>
            <a:endParaRPr lang="es-MX" sz="1700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71993CE-F62A-FEB8-E3E2-AC38219CA9F8}"/>
              </a:ext>
            </a:extLst>
          </p:cNvPr>
          <p:cNvSpPr txBox="1"/>
          <p:nvPr/>
        </p:nvSpPr>
        <p:spPr>
          <a:xfrm>
            <a:off x="6235700" y="939800"/>
            <a:ext cx="5448300" cy="166199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700">
                <a:solidFill>
                  <a:srgbClr val="111827"/>
                </a:solidFill>
              </a:rPr>
              <a:t>reportes: summary/resumen + excel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700">
                <a:solidFill>
                  <a:srgbClr val="111827"/>
                </a:solidFill>
              </a:rPr>
              <a:t>borradores: autosave + historial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700">
                <a:solidFill>
                  <a:srgbClr val="111827"/>
                </a:solidFill>
              </a:rPr>
              <a:t>comentarios/notificaciones: colaboración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700">
                <a:solidFill>
                  <a:srgbClr val="111827"/>
                </a:solidFill>
              </a:rPr>
              <a:t>saldos/cuentas: consultas Firebird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700">
                <a:solidFill>
                  <a:srgbClr val="111827"/>
                </a:solidFill>
              </a:rPr>
              <a:t>backups: listar/restaurar SQLite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700">
                <a:solidFill>
                  <a:srgbClr val="111827"/>
                </a:solidFill>
              </a:rPr>
              <a:t>firebird-config/graficas-config: configuración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A588B76-C445-5D66-D89F-9C8766ECC67C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000">
                <a:solidFill>
                  <a:srgbClr val="6B7280"/>
                </a:solidFill>
              </a:rPr>
              <a:t>Refs: src/server.js | src/routes/*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118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C5CA469-AD4A-8C79-C277-F526E4F1B40D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Interfaces (UI) y comunicación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7046F2-2B99-2350-2D90-225937C492EE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>
                <a:solidFill>
                  <a:srgbClr val="111827"/>
                </a:solidFill>
              </a:rPr>
              <a:t>1) Express sirve /vistas como archivos estáticos (sin caché en dev).</a:t>
            </a:r>
          </a:p>
          <a:p>
            <a:r>
              <a:rPr lang="es-MX">
                <a:solidFill>
                  <a:srgbClr val="111827"/>
                </a:solidFill>
              </a:rPr>
              <a:t>2) UI consume JSON con fetch a /api/* (credenciales habilitadas).</a:t>
            </a:r>
          </a:p>
          <a:p>
            <a:r>
              <a:rPr lang="es-MX">
                <a:solidFill>
                  <a:srgbClr val="111827"/>
                </a:solidFill>
              </a:rPr>
              <a:t>3) Root / redirige a login si no existe req.session.usuario.</a:t>
            </a:r>
          </a:p>
          <a:p>
            <a:r>
              <a:rPr lang="es-MX">
                <a:solidFill>
                  <a:srgbClr val="111827"/>
                </a:solidFill>
              </a:rPr>
              <a:t>4) Headers usados: X-Usuario-Actual, X-Empresa-Activa, Authorization.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493F9BB-4486-D607-E3D8-8FB5E3A2CABF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000">
                <a:solidFill>
                  <a:srgbClr val="6B7280"/>
                </a:solidFill>
              </a:rPr>
              <a:t>Refs: src/server.js | vistas/*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134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E31D090-FE7C-63FA-3D17-60EFFF7B803F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UI -&gt; API: ejemplo de request autenticado (fetch)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0E07612-FF80-BDE0-CC5A-474AE6DB60AD}"/>
              </a:ext>
            </a:extLst>
          </p:cNvPr>
          <p:cNvSpPr/>
          <p:nvPr/>
        </p:nvSpPr>
        <p:spPr>
          <a:xfrm>
            <a:off x="508000" y="939800"/>
            <a:ext cx="11176000" cy="38100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// Base (Electron): http://localhost:3005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const API_BASE = 'http://localhost:3005/api';</a:t>
            </a:r>
          </a:p>
          <a:p>
            <a:pPr algn="ctr"/>
            <a:endParaRPr lang="es-MX" sz="1300">
              <a:solidFill>
                <a:srgbClr val="111827"/>
              </a:solidFill>
              <a:latin typeface="Consolas" panose="020B0609020204030204" pitchFamily="49" charset="0"/>
            </a:endParaRP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// sesion.js arma headers estándar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const headers = {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'Content-Type': 'application/json',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...Sesion.headersAutenticacion(), // Authorization + X-Empresa-Activa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};</a:t>
            </a:r>
          </a:p>
          <a:p>
            <a:pPr algn="ctr"/>
            <a:endParaRPr lang="es-MX" sz="1300">
              <a:solidFill>
                <a:srgbClr val="111827"/>
              </a:solidFill>
              <a:latin typeface="Consolas" panose="020B0609020204030204" pitchFamily="49" charset="0"/>
            </a:endParaRP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const res = await fetch(${API_BASE}/usuarios, {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method: 'GET',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headers,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credentials: 'include', // envía cookie panelamcham.sid / tokenAcceso si existe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});</a:t>
            </a:r>
          </a:p>
          <a:p>
            <a:pPr algn="ctr"/>
            <a:endParaRPr lang="es-MX" sz="1300">
              <a:solidFill>
                <a:srgbClr val="111827"/>
              </a:solidFill>
              <a:latin typeface="Consolas" panose="020B0609020204030204" pitchFamily="49" charset="0"/>
            </a:endParaRP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if (res.status === 401) {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// Patrón típico: cerrar sesión y redirigir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Sesion.cerrar();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}</a:t>
            </a:r>
          </a:p>
          <a:p>
            <a:pPr algn="ctr"/>
            <a:endParaRPr lang="es-MX" sz="1300">
              <a:solidFill>
                <a:srgbClr val="111827"/>
              </a:solidFill>
              <a:latin typeface="Consolas" panose="020B0609020204030204" pitchFamily="49" charset="0"/>
            </a:endParaRP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const data = await res.json();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44EE1E5-8F64-EFA1-378A-408EF2657BA5}"/>
              </a:ext>
            </a:extLst>
          </p:cNvPr>
          <p:cNvSpPr txBox="1"/>
          <p:nvPr/>
        </p:nvSpPr>
        <p:spPr>
          <a:xfrm>
            <a:off x="508000" y="48514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Backend (requireAuth) valida en orden: sesión -&gt; cookie tokenAcceso -&gt; Authorization: Bearer.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CORS permite credenciales y orígenes en allowlist (incluye origin null/file:// para Electron).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03F8606-C436-DC5E-3FA1-2613F6B4CC69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vistas/js/sesion.js | src/middleware/auth.js | src/server.js</a:t>
            </a:r>
          </a:p>
        </p:txBody>
      </p:sp>
    </p:spTree>
    <p:extLst>
      <p:ext uri="{BB962C8B-B14F-4D97-AF65-F5344CB8AC3E}">
        <p14:creationId xmlns:p14="http://schemas.microsoft.com/office/powerpoint/2010/main" val="3606766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238DA32-C224-9D8D-1198-9809A01836DC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UI: Login (captura)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CAEF03E-0871-6BFF-2928-D5306E59FDA1}"/>
              </a:ext>
            </a:extLst>
          </p:cNvPr>
          <p:cNvSpPr txBox="1"/>
          <p:nvPr/>
        </p:nvSpPr>
        <p:spPr>
          <a:xfrm>
            <a:off x="508000" y="939800"/>
            <a:ext cx="4902200" cy="19236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700">
                <a:solidFill>
                  <a:srgbClr val="111827"/>
                </a:solidFill>
              </a:rPr>
              <a:t>POST /api/auth/login -&gt; recibe tokens + sesión (usuario, empresaActiva, permisosPorEmpresa).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700">
                <a:solidFill>
                  <a:srgbClr val="111827"/>
                </a:solidFill>
              </a:rPr>
              <a:t>La UI guarda sesión en localStorage (sesionUsuario) y redirige a app.html.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700">
                <a:solidFill>
                  <a:srgbClr val="111827"/>
                </a:solidFill>
              </a:rPr>
              <a:t>En file://, API_BASE apunta a http://localhost:3005/api.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5CD0690-B434-8E4A-ABBB-6E871FFB3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600" y="1797050"/>
            <a:ext cx="5994400" cy="37465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9B2553D-CA96-1281-1CE7-7BFAF4D5DC9C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vistas/login.html | vistas/js/sesion.js | src/routes/auth.js</a:t>
            </a:r>
          </a:p>
        </p:txBody>
      </p:sp>
    </p:spTree>
    <p:extLst>
      <p:ext uri="{BB962C8B-B14F-4D97-AF65-F5344CB8AC3E}">
        <p14:creationId xmlns:p14="http://schemas.microsoft.com/office/powerpoint/2010/main" val="288640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031A3A5-0756-2700-6FBB-5A3F21238F30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UI: Panel principal (captura)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8D43CA-C721-9ED4-90DA-39A05332C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0" y="939800"/>
            <a:ext cx="6299200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A503162-6493-10CF-BF57-7B871009B8F2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Valida sesión de forma sincrónica (localStorage) antes de mostrar contenido.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Sidebar agrupa módulos y habilita accesos según permisos del usuario.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La empresa activa se envía en X-Empresa-Activa en cada request.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ED7AE81-B090-7DEB-A34C-8EF46B609217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vistas/app.html | vistas/js/sesion.js</a:t>
            </a:r>
          </a:p>
        </p:txBody>
      </p:sp>
    </p:spTree>
    <p:extLst>
      <p:ext uri="{BB962C8B-B14F-4D97-AF65-F5344CB8AC3E}">
        <p14:creationId xmlns:p14="http://schemas.microsoft.com/office/powerpoint/2010/main" val="2911767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118D09B-BDDE-7604-F618-36D733FF483B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UI: RESUMEN (captura)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48892DB-3459-00DB-8C95-348E841AA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308" y="939800"/>
            <a:ext cx="9847384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CE0E8E3-33F6-8AC1-E6E3-C5F8F19EBD23}"/>
              </a:ext>
            </a:extLst>
          </p:cNvPr>
          <p:cNvSpPr txBox="1"/>
          <p:nvPr/>
        </p:nvSpPr>
        <p:spPr>
          <a:xfrm>
            <a:off x="508000" y="49784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Renderiza árbol de secciones + totales (mes/YTD).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Fuente: layouts (SQLite) + COI (Firebird) vía /api/reportes/*.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CC525E8-146C-377D-9199-65CE9283C4FC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vistas/RESUMEN.html | src/routes/reportes.js</a:t>
            </a:r>
          </a:p>
        </p:txBody>
      </p:sp>
    </p:spTree>
    <p:extLst>
      <p:ext uri="{BB962C8B-B14F-4D97-AF65-F5344CB8AC3E}">
        <p14:creationId xmlns:p14="http://schemas.microsoft.com/office/powerpoint/2010/main" val="1441209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0400C12-05A3-F028-81E1-326E53615717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UI: Gestor de plantillas (captura)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7AE00A5-C1EB-D4E2-CB2C-8C3325A7B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691" y="939800"/>
            <a:ext cx="7526617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7CE36B6-C852-C0EE-5D94-902692766A0B}"/>
              </a:ext>
            </a:extLst>
          </p:cNvPr>
          <p:cNvSpPr txBox="1"/>
          <p:nvPr/>
        </p:nvSpPr>
        <p:spPr>
          <a:xfrm>
            <a:off x="508000" y="49784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Administra layout_cuentas/layout_secciones/layout_operaciones por empresa+módulo+año+capítulo.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Base para reportes, overlays y fórmulas.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820DA2F-681D-D5C7-000E-260AB2C98BD4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vistas/plantillas.html | src/routes/layoutRoutes.js | src/services/layoutService.js</a:t>
            </a:r>
          </a:p>
        </p:txBody>
      </p:sp>
    </p:spTree>
    <p:extLst>
      <p:ext uri="{BB962C8B-B14F-4D97-AF65-F5344CB8AC3E}">
        <p14:creationId xmlns:p14="http://schemas.microsoft.com/office/powerpoint/2010/main" val="1479886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FFE92CB-2D2F-F477-B1D8-6AD66C4E2B9C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Autenticación: login (paso a paso)</a:t>
            </a:r>
            <a:endParaRPr lang="es-MX" sz="3200" b="1">
              <a:solidFill>
                <a:srgbClr val="0D47A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60A532-F517-F2F1-F830-F29B10B4D19F}"/>
              </a:ext>
            </a:extLst>
          </p:cNvPr>
          <p:cNvSpPr txBox="1"/>
          <p:nvPr/>
        </p:nvSpPr>
        <p:spPr>
          <a:xfrm>
            <a:off x="508000" y="939800"/>
            <a:ext cx="11176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>
                <a:solidFill>
                  <a:srgbClr val="111827"/>
                </a:solidFill>
              </a:rPr>
              <a:t>1) POST /api/auth/login valida payload (Joi) y aplica rate-limit por IP.</a:t>
            </a:r>
          </a:p>
          <a:p>
            <a:r>
              <a:rPr lang="es-MX">
                <a:solidFill>
                  <a:srgbClr val="111827"/>
                </a:solidFill>
              </a:rPr>
              <a:t>2) Busca usuario en SQLite (tabla usuarios) y verifica bcrypt hash.</a:t>
            </a:r>
          </a:p>
          <a:p>
            <a:r>
              <a:rPr lang="es-MX">
                <a:solidFill>
                  <a:srgbClr val="111827"/>
                </a:solidFill>
              </a:rPr>
              <a:t>3) Construye sesión: permisos_modulo -&gt; mapa por empresa/módulo.</a:t>
            </a:r>
          </a:p>
          <a:p>
            <a:r>
              <a:rPr lang="es-MX">
                <a:solidFill>
                  <a:srgbClr val="111827"/>
                </a:solidFill>
              </a:rPr>
              <a:t>4) Selecciona empresa activa y prueba conexión Firebird (probarConexion).</a:t>
            </a:r>
          </a:p>
          <a:p>
            <a:r>
              <a:rPr lang="es-MX">
                <a:solidFill>
                  <a:srgbClr val="111827"/>
                </a:solidFill>
              </a:rPr>
              <a:t>5) Emite JWT (access/refresh) y guarda sesión (req.session.userId).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7C3ABB-C0C7-E45D-C64B-86C2C76915ED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src/routes/auth.js | src/middleware/auth.js | src/db/sqlite.js</a:t>
            </a:r>
          </a:p>
        </p:txBody>
      </p:sp>
    </p:spTree>
    <p:extLst>
      <p:ext uri="{BB962C8B-B14F-4D97-AF65-F5344CB8AC3E}">
        <p14:creationId xmlns:p14="http://schemas.microsoft.com/office/powerpoint/2010/main" val="1619605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7DADF3E-7A65-DDA1-1903-E1DE0A92BB2D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D47A1"/>
                </a:solidFill>
              </a:rPr>
              <a:t>API Auth: POST /api/auth/login (flujo)</a:t>
            </a:r>
            <a:endParaRPr lang="es-MX" sz="3200" b="1">
              <a:solidFill>
                <a:srgbClr val="0D47A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E357780-87C7-96A7-F40B-E19A2A6B4C36}"/>
              </a:ext>
            </a:extLst>
          </p:cNvPr>
          <p:cNvSpPr txBox="1"/>
          <p:nvPr/>
        </p:nvSpPr>
        <p:spPr>
          <a:xfrm>
            <a:off x="508000" y="939800"/>
            <a:ext cx="4902200" cy="19236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700">
                <a:solidFill>
                  <a:srgbClr val="111827"/>
                </a:solidFill>
              </a:rPr>
              <a:t>Entrada: { usuario, contrasena }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700">
                <a:solidFill>
                  <a:srgbClr val="111827"/>
                </a:solidFill>
              </a:rPr>
              <a:t>Salida: { usuario, empresaActiva, empresasDisponibles, tokenAcceso, tokenRefresco }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700">
                <a:solidFill>
                  <a:srgbClr val="111827"/>
                </a:solidFill>
              </a:rPr>
              <a:t>Side-effects: cookie tokenAcceso + req.session.userId + registro de intentos fallidos.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FD37A4-1CD9-289F-FB54-4746D33B0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600" y="2145059"/>
            <a:ext cx="5994400" cy="305048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C2ED4B3-A4B3-4B26-A659-FBBF29B3E9BA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src/routes/auth.js | docs/image/flows-api/flow-api-auth_js-post-_login.png</a:t>
            </a:r>
          </a:p>
        </p:txBody>
      </p:sp>
    </p:spTree>
    <p:extLst>
      <p:ext uri="{BB962C8B-B14F-4D97-AF65-F5344CB8AC3E}">
        <p14:creationId xmlns:p14="http://schemas.microsoft.com/office/powerpoint/2010/main" val="1224678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1C92A22-F284-A0AE-BDFE-83B6824A5E52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Ejemplo: login (request/response)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8261E14-419F-1526-3197-E04B0F6DF0C2}"/>
              </a:ext>
            </a:extLst>
          </p:cNvPr>
          <p:cNvSpPr/>
          <p:nvPr/>
        </p:nvSpPr>
        <p:spPr>
          <a:xfrm>
            <a:off x="508000" y="939800"/>
            <a:ext cx="11176000" cy="38100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POST /api/auth/login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Content-Type: application/json</a:t>
            </a:r>
          </a:p>
          <a:p>
            <a:pPr algn="ctr"/>
            <a:endParaRPr lang="es-MX" sz="1300">
              <a:solidFill>
                <a:srgbClr val="111827"/>
              </a:solidFill>
              <a:latin typeface="Consolas" panose="020B0609020204030204" pitchFamily="49" charset="0"/>
            </a:endParaRP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{ \"usuario\": \"ICONET\", \"contrasena\": \"********\" }</a:t>
            </a:r>
          </a:p>
          <a:p>
            <a:pPr algn="ctr"/>
            <a:endParaRPr lang="es-MX" sz="1300">
              <a:solidFill>
                <a:srgbClr val="111827"/>
              </a:solidFill>
              <a:latin typeface="Consolas" panose="020B0609020204030204" pitchFamily="49" charset="0"/>
            </a:endParaRP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200 OK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{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\"usuario\": {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  \"id\": 1,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  \"usuario\": \"ICONET\",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  \"esAdminGlobal\": true,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  \"permisosGenerales\": { \"puedeAgregar\": true, \"puedeModificar\": true, \"puedeEliminar\": true },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  \"permisosPorEmpresa\": { /* empresa1 -&gt; modulos -&gt; acciones */ }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},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\"empresaActiva\": { \"id\": \"empresa1\", \"nombre\": \"Ciudad de México\" },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\"tokenAcceso\": \"eyJ...\",\n  \"tokenRefresco\": \"eyJ...\"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6B42044-2B9A-0520-C16A-539D0E860882}"/>
              </a:ext>
            </a:extLst>
          </p:cNvPr>
          <p:cNvSpPr txBox="1"/>
          <p:nvPr/>
        </p:nvSpPr>
        <p:spPr>
          <a:xfrm>
            <a:off x="508000" y="48514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El backend usa bcrypt para validar contraseña y JWT para firmar tokens.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La UI guarda sesión completa en localStorage (sesionUsuario).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2E7EDE-AA72-1997-8888-15BD73ABE5A4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src/routes/auth.js | vistas/js/sesion.js</a:t>
            </a:r>
          </a:p>
        </p:txBody>
      </p:sp>
    </p:spTree>
    <p:extLst>
      <p:ext uri="{BB962C8B-B14F-4D97-AF65-F5344CB8AC3E}">
        <p14:creationId xmlns:p14="http://schemas.microsoft.com/office/powerpoint/2010/main" val="4024799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E4EFD22-B07B-179F-55A4-4F3916806580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D47A1"/>
                </a:solidFill>
              </a:rPr>
              <a:t>API Auth: POST /api/auth/refresh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EF7874-7A38-35FB-2477-920B73914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769" y="939800"/>
            <a:ext cx="7736463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53BCC8C-45D1-6936-58F8-44936AC72CEE}"/>
              </a:ext>
            </a:extLst>
          </p:cNvPr>
          <p:cNvSpPr txBox="1"/>
          <p:nvPr/>
        </p:nvSpPr>
        <p:spPr>
          <a:xfrm>
            <a:off x="508000" y="49784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Entrada: tokenRefresco (body/header).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Salida: nuevos tokens + sesión refrescada.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C0E1CC-0F1E-39BE-A80F-7218F95810A1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src/routes/auth.js | docs/image/flows-api/flow-api-auth_js-post-_refresh.png</a:t>
            </a:r>
          </a:p>
        </p:txBody>
      </p:sp>
    </p:spTree>
    <p:extLst>
      <p:ext uri="{BB962C8B-B14F-4D97-AF65-F5344CB8AC3E}">
        <p14:creationId xmlns:p14="http://schemas.microsoft.com/office/powerpoint/2010/main" val="1471081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379706F-E16E-DA38-6065-E0B28F303B81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D47A1"/>
                </a:solidFill>
              </a:rPr>
              <a:t>API Auth: POST /api/auth/logout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30E338-7F23-0CBB-6C4A-5B9BAB377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769" y="939800"/>
            <a:ext cx="7736463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094CA3B-D439-0AAB-4347-2C98862043DF}"/>
              </a:ext>
            </a:extLst>
          </p:cNvPr>
          <p:cNvSpPr txBox="1"/>
          <p:nvPr/>
        </p:nvSpPr>
        <p:spPr>
          <a:xfrm>
            <a:off x="508000" y="4978400"/>
            <a:ext cx="1117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Destruye sesión server-side y limpia cookies (panelamcham.sid, tokenAcceso).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4681400-BF02-3F91-5EE7-F841F83EFB15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src/routes/auth.js | docs/image/flows-api/flow-api-auth_js-post-_logout.png</a:t>
            </a:r>
          </a:p>
        </p:txBody>
      </p:sp>
    </p:spTree>
    <p:extLst>
      <p:ext uri="{BB962C8B-B14F-4D97-AF65-F5344CB8AC3E}">
        <p14:creationId xmlns:p14="http://schemas.microsoft.com/office/powerpoint/2010/main" val="2658015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6A626B7-F257-9846-1018-DC65F59BABE5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Sesiones + JWT (requireAuth)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BD84C8-9242-CFAA-B71B-D09C99C9B86A}"/>
              </a:ext>
            </a:extLst>
          </p:cNvPr>
          <p:cNvSpPr txBox="1"/>
          <p:nvPr/>
        </p:nvSpPr>
        <p:spPr>
          <a:xfrm>
            <a:off x="508000" y="939800"/>
            <a:ext cx="11176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>
                <a:solidFill>
                  <a:srgbClr val="111827"/>
                </a:solidFill>
              </a:rPr>
              <a:t>1) Extrae token en este orden: sesión -&gt; cookie tokenAcceso -&gt; Authorization: Bearer.</a:t>
            </a:r>
          </a:p>
          <a:p>
            <a:r>
              <a:rPr lang="es-MX">
                <a:solidFill>
                  <a:srgbClr val="111827"/>
                </a:solidFill>
              </a:rPr>
              <a:t>2) Si sesión: carga usuario por id (SQLite) y construye contexto.</a:t>
            </a:r>
          </a:p>
          <a:p>
            <a:r>
              <a:rPr lang="es-MX">
                <a:solidFill>
                  <a:srgbClr val="111827"/>
                </a:solidFill>
              </a:rPr>
              <a:t>3) Si JWT: verifica firma/exp y carga usuario por sub.</a:t>
            </a:r>
          </a:p>
          <a:p>
            <a:r>
              <a:rPr lang="es-MX">
                <a:solidFill>
                  <a:srgbClr val="111827"/>
                </a:solidFill>
              </a:rPr>
              <a:t>4) Adjunta req.usuarioActual, req.esAdmin, req.mapaPermisos.</a:t>
            </a:r>
          </a:p>
          <a:p>
            <a:r>
              <a:rPr lang="es-MX">
                <a:solidFill>
                  <a:srgbClr val="111827"/>
                </a:solidFill>
              </a:rPr>
              <a:t>5) Refresh: POST /api/auth/refresh valida refresh token y renueva sesión.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BC215EB-6581-DA15-BEA6-F4D4C94F85AF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src/middleware/auth.js | src/routes/auth.js</a:t>
            </a:r>
          </a:p>
        </p:txBody>
      </p:sp>
    </p:spTree>
    <p:extLst>
      <p:ext uri="{BB962C8B-B14F-4D97-AF65-F5344CB8AC3E}">
        <p14:creationId xmlns:p14="http://schemas.microsoft.com/office/powerpoint/2010/main" val="4132457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8DAE068-8C1D-BD52-FEEE-EFFB8F8CC3D9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UI: Sesión (requerirSesion + headersAutenticacion)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D24A17-482D-9468-267C-8DBD69758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36664E6-6667-D69C-10CA-EFAEB6D4E279}"/>
              </a:ext>
            </a:extLst>
          </p:cNvPr>
          <p:cNvSpPr txBox="1"/>
          <p:nvPr/>
        </p:nvSpPr>
        <p:spPr>
          <a:xfrm>
            <a:off x="508000" y="49784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requerirSesion(): si no hay tokenAcceso en localStorage -&gt; redirige a login.html.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headersAutenticacion(): agrega Authorization: Bearer &lt;token&gt; y X-Empresa-Activa.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2097944-9C68-AC00-156D-B3A278CC6E97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vistas/js/sesion.js | docs/image/flows-js/flow-ui-sesion_js.png</a:t>
            </a:r>
          </a:p>
        </p:txBody>
      </p:sp>
    </p:spTree>
    <p:extLst>
      <p:ext uri="{BB962C8B-B14F-4D97-AF65-F5344CB8AC3E}">
        <p14:creationId xmlns:p14="http://schemas.microsoft.com/office/powerpoint/2010/main" val="41002895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419311-A98C-85C7-AB91-843847ED4B8A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Permisos y autorización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20BB517-17C3-8F6B-520E-9C413E8CBE6B}"/>
              </a:ext>
            </a:extLst>
          </p:cNvPr>
          <p:cNvSpPr txBox="1"/>
          <p:nvPr/>
        </p:nvSpPr>
        <p:spPr>
          <a:xfrm>
            <a:off x="508000" y="939800"/>
            <a:ext cx="11176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>
                <a:solidFill>
                  <a:srgbClr val="111827"/>
                </a:solidFill>
              </a:rPr>
              <a:t>1) Roles: admin global (incluye usuario ICONET) vs usuarios con permisos parciales.</a:t>
            </a:r>
          </a:p>
          <a:p>
            <a:r>
              <a:rPr lang="es-ES">
                <a:solidFill>
                  <a:srgbClr val="111827"/>
                </a:solidFill>
              </a:rPr>
              <a:t>2) Permisos por empresa/módulo en SQLite: permisos_modulo (Ver/Cargar/Revisar/Aprobar).</a:t>
            </a:r>
          </a:p>
          <a:p>
            <a:r>
              <a:rPr lang="es-ES">
                <a:solidFill>
                  <a:srgbClr val="111827"/>
                </a:solidFill>
              </a:rPr>
              <a:t>3) Normalización: empresaId tipo EMPRESA01 -&gt; empresa1; módulos se normalizan (acentos/espacios).</a:t>
            </a:r>
          </a:p>
          <a:p>
            <a:r>
              <a:rPr lang="es-ES">
                <a:solidFill>
                  <a:srgbClr val="111827"/>
                </a:solidFill>
              </a:rPr>
              <a:t>4) TienePermisoModulo resuelve acción; algunos módulos pueden tratarse como universales en lectura.</a:t>
            </a:r>
          </a:p>
          <a:p>
            <a:r>
              <a:rPr lang="es-ES">
                <a:solidFill>
                  <a:srgbClr val="111827"/>
                </a:solidFill>
              </a:rPr>
              <a:t>5) Gestor de plantillas usa permisos_edicion_capitulo para edición granular por capítulo.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87C6CAB-B213-0FCE-5C9A-A259AC15B934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src/middleware/auth.js | src/routes/usuarios.js | src/db/sqlite.js | src/config/modulos.js</a:t>
            </a:r>
          </a:p>
        </p:txBody>
      </p:sp>
    </p:spTree>
    <p:extLst>
      <p:ext uri="{BB962C8B-B14F-4D97-AF65-F5344CB8AC3E}">
        <p14:creationId xmlns:p14="http://schemas.microsoft.com/office/powerpoint/2010/main" val="25707303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31ADAFB-CC12-7A09-8136-8B9057E9532A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Ejemplo: permisosPorEmpresa (estructura en sesión UI)</a:t>
            </a:r>
            <a:endParaRPr lang="es-MX" sz="3200" b="1">
              <a:solidFill>
                <a:srgbClr val="0D47A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3AC6C1E-8981-5AAB-5EE8-78802105F49B}"/>
              </a:ext>
            </a:extLst>
          </p:cNvPr>
          <p:cNvSpPr/>
          <p:nvPr/>
        </p:nvSpPr>
        <p:spPr>
          <a:xfrm>
            <a:off x="508000" y="939800"/>
            <a:ext cx="11176000" cy="38100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permisosPorEmpresa: {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\"empresa1\": {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  \"Finanzas\": { \"Ver\": true, \"Cargar y guardar\": true, \"Revisar\": false, \"Aprobar\": false },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  \"RESUMEN\":  { \"Ver\": true, \"Cargar y guardar\": false, \"Revisar\": false, \"Aprobar\": false }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},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\"empresa2\": { /* ... */ }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D854F3F-7E54-71D8-F4C3-D81EFFE8815E}"/>
              </a:ext>
            </a:extLst>
          </p:cNvPr>
          <p:cNvSpPr txBox="1"/>
          <p:nvPr/>
        </p:nvSpPr>
        <p:spPr>
          <a:xfrm>
            <a:off x="508000" y="4851400"/>
            <a:ext cx="1117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El backend persiste estos permisos como filas (permisos_modulo) y los agrupa al construir sesión.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33AB0EC-86F0-4699-6DDA-20F5D1893AB9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000">
                <a:solidFill>
                  <a:srgbClr val="6B7280"/>
                </a:solidFill>
              </a:rPr>
              <a:t>Refs: src/services/permisosService.js | src/routes/auth.js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312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09D9930-1CC8-FBEA-8F88-906565DBF57C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permisosService (flujo)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F21170-0061-F55D-8E87-F53BA00E7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5E7751B-19F9-4377-6422-B696BC4AAA36}"/>
              </a:ext>
            </a:extLst>
          </p:cNvPr>
          <p:cNvSpPr txBox="1"/>
          <p:nvPr/>
        </p:nvSpPr>
        <p:spPr>
          <a:xfrm>
            <a:off x="508000" y="4978400"/>
            <a:ext cx="1117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Convierte filas de permisos_modulo -&gt; mapa { empresaId -&gt; modulo -&gt; acciones }.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8FA8D5D-573A-2832-CBF1-5A700C6C7519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src/services/permisosService.js | docs/image/flows-services/flow-service-permisosservice_js.png</a:t>
            </a:r>
          </a:p>
        </p:txBody>
      </p:sp>
    </p:spTree>
    <p:extLst>
      <p:ext uri="{BB962C8B-B14F-4D97-AF65-F5344CB8AC3E}">
        <p14:creationId xmlns:p14="http://schemas.microsoft.com/office/powerpoint/2010/main" val="23122162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6616FA0-C7E4-425F-2185-3A19CD2AF2C9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Perfil: lectura + cambio de contraseña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29809E-B6E1-E241-063F-C601C78188F8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>
                <a:solidFill>
                  <a:srgbClr val="111827"/>
                </a:solidFill>
              </a:rPr>
              <a:t>1) Router /api/perfil aplica requireAuth (sesión server-side o JWT).</a:t>
            </a:r>
          </a:p>
          <a:p>
            <a:r>
              <a:rPr lang="es-MX">
                <a:solidFill>
                  <a:srgbClr val="111827"/>
                </a:solidFill>
              </a:rPr>
              <a:t>2) GET /api/perfil consulta tabla usuarios y agrega permisosPorEmpresa desde permisos_modulo.</a:t>
            </a:r>
          </a:p>
          <a:p>
            <a:r>
              <a:rPr lang="es-MX">
                <a:solidFill>
                  <a:srgbClr val="111827"/>
                </a:solidFill>
              </a:rPr>
              <a:t>3) PATCH /api/perfil/password valida con Joi y verifica contrasenaActual con bcrypt.</a:t>
            </a:r>
          </a:p>
          <a:p>
            <a:r>
              <a:rPr lang="es-MX">
                <a:solidFill>
                  <a:srgbClr val="111827"/>
                </a:solidFill>
              </a:rPr>
              <a:t>4) El backend nunca devuelve hashes; solo confirma éxito o error.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6BEE433-3D92-8064-C209-17D699A3D8FA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src/routes/perfil.js | src/middleware/auth.js</a:t>
            </a:r>
          </a:p>
        </p:txBody>
      </p:sp>
    </p:spTree>
    <p:extLst>
      <p:ext uri="{BB962C8B-B14F-4D97-AF65-F5344CB8AC3E}">
        <p14:creationId xmlns:p14="http://schemas.microsoft.com/office/powerpoint/2010/main" val="2547740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A7B69A7-E719-0A33-01EF-844583B57CA8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UI: Perfil (permisos y password) (captura)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9D1649-27A0-2FD2-A2E6-91A43E35A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0" y="939800"/>
            <a:ext cx="6299200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C2F9198-744B-0710-E961-69AE866CF9AA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Muestra permisos generales y permisos por empresa del usuario activo.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Permite actualizar contraseña (PATCH /api/perfil/password).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Si falla la API, usa datos almacenados en la sesión (fallback).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8ACA76-6CD7-CC4C-1E06-887EB2FF5767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vistas/perfil.html | src/routes/perfil.js | vistas/js/sesion.js</a:t>
            </a:r>
          </a:p>
        </p:txBody>
      </p:sp>
    </p:spTree>
    <p:extLst>
      <p:ext uri="{BB962C8B-B14F-4D97-AF65-F5344CB8AC3E}">
        <p14:creationId xmlns:p14="http://schemas.microsoft.com/office/powerpoint/2010/main" val="30397532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EC62F9C-F121-1C84-F99C-A4F8C31DD0FB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3200" b="1">
                <a:solidFill>
                  <a:srgbClr val="0D47A1"/>
                </a:solidFill>
              </a:rPr>
              <a:t>Rate-limit de login (auth.js)</a:t>
            </a:r>
            <a:endParaRPr lang="es-MX" sz="3200" b="1">
              <a:solidFill>
                <a:srgbClr val="0D47A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255D05-B537-FA01-3CA6-CC2011349D32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>
                <a:solidFill>
                  <a:srgbClr val="111827"/>
                </a:solidFill>
              </a:rPr>
              <a:t>Ventana: 10 min; máximo: 10 intentos; bloqueo: 5 min.</a:t>
            </a:r>
          </a:p>
          <a:p>
            <a:pPr marL="342900" indent="-342900">
              <a:buFont typeface="+mj-lt"/>
              <a:buAutoNum type="arabicPeriod"/>
            </a:pPr>
            <a:r>
              <a:rPr lang="es-ES">
                <a:solidFill>
                  <a:srgbClr val="111827"/>
                </a:solidFill>
              </a:rPr>
              <a:t>Clave: IP (x-forwarded-for o req.ip).</a:t>
            </a:r>
          </a:p>
          <a:p>
            <a:pPr marL="342900" indent="-342900">
              <a:buFont typeface="+mj-lt"/>
              <a:buAutoNum type="arabicPeriod"/>
            </a:pPr>
            <a:r>
              <a:rPr lang="es-ES">
                <a:solidFill>
                  <a:srgbClr val="111827"/>
                </a:solidFill>
              </a:rPr>
              <a:t>Implementación in-memory (Map) -&gt; reinicia con el proceso.</a:t>
            </a:r>
          </a:p>
          <a:p>
            <a:pPr marL="342900" indent="-342900">
              <a:buFont typeface="+mj-lt"/>
              <a:buAutoNum type="arabicPeriod"/>
            </a:pPr>
            <a:r>
              <a:rPr lang="es-ES">
                <a:solidFill>
                  <a:srgbClr val="111827"/>
                </a:solidFill>
              </a:rPr>
              <a:t>Respuesta típica: 429 cuando está bloqueada.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6B69F2B-4B4C-5B8F-894C-BA77AE3DC978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000">
                <a:solidFill>
                  <a:srgbClr val="6B7280"/>
                </a:solidFill>
              </a:rPr>
              <a:t>Refs: src/routes/auth.js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7876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EFB97FE-41C9-1346-065D-4FEE4673944D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API Usuarios: GET /api/usuarios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51DB62F-BCFE-BDE1-1E23-F49B6E52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769" y="939800"/>
            <a:ext cx="7736463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C80826A-53E3-6A89-655A-2A4B19A3F081}"/>
              </a:ext>
            </a:extLst>
          </p:cNvPr>
          <p:cNvSpPr txBox="1"/>
          <p:nvPr/>
        </p:nvSpPr>
        <p:spPr>
          <a:xfrm>
            <a:off x="508000" y="49784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Protegido: requireAuth + permisos de administración de usuarios.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Devuelve lista + permisosPorEmpresa agregados.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319A762-690C-D8A9-EAFA-5A969AA2CEFB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src/routes/usuarios.js | docs/image/flows-api/flow-api-usuarios_js-get-.png</a:t>
            </a:r>
          </a:p>
        </p:txBody>
      </p:sp>
    </p:spTree>
    <p:extLst>
      <p:ext uri="{BB962C8B-B14F-4D97-AF65-F5344CB8AC3E}">
        <p14:creationId xmlns:p14="http://schemas.microsoft.com/office/powerpoint/2010/main" val="12506332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D9E684C-6BB8-E47D-81E1-B8B383831286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API Usuarios: POST /api/usuarios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532BD9-6E3E-C83F-9185-CC15D9A10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769" y="939800"/>
            <a:ext cx="7736463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EC37A64-237A-A534-4EAE-99FA9430A841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Valida payload (Joi).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Hash de contraseña (bcrypt).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Inserta usuario + persiste permisos en permisos_modulo.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DE05C65-007A-BECD-6C62-823718D644B6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src/routes/usuarios.js | docs/image/flows-api/flow-api-usuarios_js-post-.png</a:t>
            </a:r>
          </a:p>
        </p:txBody>
      </p:sp>
    </p:spTree>
    <p:extLst>
      <p:ext uri="{BB962C8B-B14F-4D97-AF65-F5344CB8AC3E}">
        <p14:creationId xmlns:p14="http://schemas.microsoft.com/office/powerpoint/2010/main" val="23526333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8EF5CAC-6549-4BCF-3013-91385F63CD19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API Usuarios: PUT /api/usuarios/:id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78AE520-5061-48F4-1ADC-B4C2A3D22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769" y="939800"/>
            <a:ext cx="7736463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4D156B8-3F42-250B-52F0-48F31511ACA4}"/>
              </a:ext>
            </a:extLst>
          </p:cNvPr>
          <p:cNvSpPr txBox="1"/>
          <p:nvPr/>
        </p:nvSpPr>
        <p:spPr>
          <a:xfrm>
            <a:off x="508000" y="49784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Protege ICONET (no permitir modificar por terceros).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Permite actualizar permisos y rotar contraseña (opcional).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E48B0B6-BDE4-6C10-12AD-0E713372623F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src/routes/usuarios.js | docs/image/flows-api/flow-api-usuarios_js-put-_id.png</a:t>
            </a:r>
          </a:p>
        </p:txBody>
      </p:sp>
    </p:spTree>
    <p:extLst>
      <p:ext uri="{BB962C8B-B14F-4D97-AF65-F5344CB8AC3E}">
        <p14:creationId xmlns:p14="http://schemas.microsoft.com/office/powerpoint/2010/main" val="9734478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389F53A-1F29-6E88-6780-25B25608E99F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Ejemplo: crear usuario (payload mínimo)</a:t>
            </a:r>
            <a:endParaRPr lang="es-MX" sz="3200" b="1">
              <a:solidFill>
                <a:srgbClr val="0D47A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E192CBA-0CA6-62E9-56E3-9018928A78AD}"/>
              </a:ext>
            </a:extLst>
          </p:cNvPr>
          <p:cNvSpPr/>
          <p:nvPr/>
        </p:nvSpPr>
        <p:spPr>
          <a:xfrm>
            <a:off x="508000" y="939800"/>
            <a:ext cx="11176000" cy="38100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POST /api/usuarios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{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\"usuario\": \"ANALISTA01\",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\"nombres\": \"Ana\",\n  \"apellidoPrimero\": \"Pérez\",\n  \"apellidoSegundo\": \"\",\n  \"correo\": \"ana@example.com\",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\"contrasena\": \"********\",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\"esAdminGlobal\": false,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\"permisosGenerales\": { \"puedeAgregar\": false, \"puedeModificar\": false, \"puedeEliminar\": false },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\"permisos\": {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  \"empresa1\": { \"Finanzas\": { \"Ver\": true, \"Cargar y guardar\": false, \"Revisar\": false, \"Aprobar\": false } }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  }</a:t>
            </a:r>
          </a:p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4287F8-69E4-EDBC-504C-FDD9BE5E53AE}"/>
              </a:ext>
            </a:extLst>
          </p:cNvPr>
          <p:cNvSpPr txBox="1"/>
          <p:nvPr/>
        </p:nvSpPr>
        <p:spPr>
          <a:xfrm>
            <a:off x="508000" y="4851400"/>
            <a:ext cx="1117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Regla: si hay permisos de acción (Cargar/Revisar/Aprobar), el backend fuerza Ver/Lectura.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96435FA-1B10-CF29-921F-281F605E4B46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src/routes/usuarios.js</a:t>
            </a:r>
          </a:p>
        </p:txBody>
      </p:sp>
    </p:spTree>
    <p:extLst>
      <p:ext uri="{BB962C8B-B14F-4D97-AF65-F5344CB8AC3E}">
        <p14:creationId xmlns:p14="http://schemas.microsoft.com/office/powerpoint/2010/main" val="42494503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1B0917C-CAA4-36D9-8D0E-DCBFF48AE091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UI: Administración de usuarios (captura)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26D22C5-D986-72D4-B821-80E1BAE81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0" y="939800"/>
            <a:ext cx="6299200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33ED958-87E9-D6A2-5167-0B13A02D5457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Acceso restringido: requiere admin global o permisosGenerales completos.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Lista usuarios y muestra empresas activas (badges) según permisos por empresa.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Acciones: editar (crear_usuario.html?editar=id) y eliminar (DELETE /api/usuarios/:id).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97F3ACA-1D3C-B5AF-D8D5-A3E9FBBBFA98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vistas/usuarios.html | vistas/crear_usuario.html | src/routes/usuarios.js</a:t>
            </a:r>
          </a:p>
        </p:txBody>
      </p:sp>
    </p:spTree>
    <p:extLst>
      <p:ext uri="{BB962C8B-B14F-4D97-AF65-F5344CB8AC3E}">
        <p14:creationId xmlns:p14="http://schemas.microsoft.com/office/powerpoint/2010/main" val="26952339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21910D1-5AFD-CBAF-55B3-08CAB8C6417E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UI: Crear/editar usuario (captura)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1C8E13E-CAB5-BB81-79B9-0AE228B80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0" y="939800"/>
            <a:ext cx="6299200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56F7169-7F14-B433-1446-BFD71CAF5C80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Formulario valida usuario/correo/contraseña y construye permisos por empresa+módulo.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Modo editar: carga usuario por id y permite rotar contraseña (opcional).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Persistencia: usuarios + permisos_modulo (y permisosGenerales).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5715D0B-C61E-4B59-D3E8-50CD30E21935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B7280"/>
                </a:solidFill>
              </a:rPr>
              <a:t>Refs: vistas/crear_usuario.html | src/routes/usuarios.js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5067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2765380-8FAA-2A5B-D7A1-F1E588E5911D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SQLite: modelo de datos (tablas clave)</a:t>
            </a:r>
            <a:endParaRPr lang="es-MX" sz="3200" b="1">
              <a:solidFill>
                <a:srgbClr val="0D47A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75F4883-E18C-44A7-B346-98376CF20649}"/>
              </a:ext>
            </a:extLst>
          </p:cNvPr>
          <p:cNvSpPr txBox="1"/>
          <p:nvPr/>
        </p:nvSpPr>
        <p:spPr>
          <a:xfrm>
            <a:off x="508000" y="939800"/>
            <a:ext cx="11176000" cy="2031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usuarios (bcrypt hash, flags admin + permisos generales)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permisos_modulo + permisos_edicion_capitulo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presupuestos_estado + presupuestos_estado_historial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presupuestos_guardados + PLAN_BORRADORES(+ historial)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layout_cuentas / layout_operaciones / layout_secciones + layout_bitacora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comentarios_celdas + notificaciones + graficas_config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Sesiones: store better-sqlite3-session-store (cookie panelamcham.sid)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D4E2D1-8B6A-2F28-F7AA-CFEE14E839E5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src/db/sqlite.js | src/server.js</a:t>
            </a:r>
          </a:p>
        </p:txBody>
      </p:sp>
    </p:spTree>
    <p:extLst>
      <p:ext uri="{BB962C8B-B14F-4D97-AF65-F5344CB8AC3E}">
        <p14:creationId xmlns:p14="http://schemas.microsoft.com/office/powerpoint/2010/main" val="24305762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94F5460-2CA2-D7DF-2D63-EF25B0C7F477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SQLite: concurrencia + backups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00F8CBB-8076-4FA8-B8A0-27CA1187A9C8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>
                <a:solidFill>
                  <a:srgbClr val="111827"/>
                </a:solidFill>
              </a:rPr>
              <a:t>1) DB en modo WAL + busy_timeout para soportar multi-usuario.</a:t>
            </a:r>
          </a:p>
          <a:p>
            <a:r>
              <a:rPr lang="es-MX">
                <a:solidFill>
                  <a:srgbClr val="111827"/>
                </a:solidFill>
              </a:rPr>
              <a:t>2) BackupService copia panel.sqlite a &lt;dataDir&gt;/backups con timestamp y checksum SHA256.</a:t>
            </a:r>
          </a:p>
          <a:p>
            <a:r>
              <a:rPr lang="es-MX">
                <a:solidFill>
                  <a:srgbClr val="111827"/>
                </a:solidFill>
              </a:rPr>
              <a:t>3) Retención: conserva los últimos N backups (por default 24).</a:t>
            </a:r>
          </a:p>
          <a:p>
            <a:r>
              <a:rPr lang="es-MX">
                <a:solidFill>
                  <a:srgbClr val="111827"/>
                </a:solidFill>
              </a:rPr>
              <a:t>4) Restore: crea .bak de seguridad y reemplaza la DB activa.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7B40A7C-D4CB-C948-BE89-3BB873BAF324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src/db/sqlite.js | src/services/backupService.js</a:t>
            </a:r>
          </a:p>
        </p:txBody>
      </p:sp>
    </p:spTree>
    <p:extLst>
      <p:ext uri="{BB962C8B-B14F-4D97-AF65-F5344CB8AC3E}">
        <p14:creationId xmlns:p14="http://schemas.microsoft.com/office/powerpoint/2010/main" val="16967619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EAEBC2F-6702-A414-AEC0-2E6F18241975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BackupService (flujo)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B3F3A2-F4FC-8353-064F-71C910F34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13ED216-5993-C2B1-C57A-EC0A942CA14C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Se inicializa al arrancar el servidor (intervalo/retención configurables).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Backup inicial + backups periódicos.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Verifica integridad por tamaño + checksum.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1DC1C69-30B7-8C12-F3A1-B1E9B957BB24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6B7280"/>
                </a:solidFill>
              </a:rPr>
              <a:t>Refs: src/services/backupService.js | docs/image/flows-services/flow-service-backupservice_js.png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3864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74579BA-9B35-B9AD-0A78-7793B69B3582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Firebird (Aspel COI): conexión y configuración</a:t>
            </a:r>
            <a:endParaRPr lang="es-MX" sz="3200" b="1">
              <a:solidFill>
                <a:srgbClr val="0D47A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1BF2AB8-FE7B-5E02-5C28-83A498760721}"/>
              </a:ext>
            </a:extLst>
          </p:cNvPr>
          <p:cNvSpPr txBox="1"/>
          <p:nvPr/>
        </p:nvSpPr>
        <p:spPr>
          <a:xfrm>
            <a:off x="508000" y="939800"/>
            <a:ext cx="11176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>
                <a:solidFill>
                  <a:srgbClr val="111827"/>
                </a:solidFill>
              </a:rPr>
              <a:t>1) firebirdService crea opciones base (host/port/user/pass) desde firebirdConfigService.</a:t>
            </a:r>
          </a:p>
          <a:p>
            <a:r>
              <a:rPr lang="es-MX">
                <a:solidFill>
                  <a:srgbClr val="111827"/>
                </a:solidFill>
              </a:rPr>
              <a:t>2) Detecta remoto vs local y ajusta timeouts/reintentos.</a:t>
            </a:r>
          </a:p>
          <a:p>
            <a:r>
              <a:rPr lang="es-MX">
                <a:solidFill>
                  <a:srgbClr val="111827"/>
                </a:solidFill>
              </a:rPr>
              <a:t>3) Por empresa: resuelve ruta .FDB (config/empresas + overrides) y hace attach por consulta.</a:t>
            </a:r>
          </a:p>
          <a:p>
            <a:r>
              <a:rPr lang="es-MX">
                <a:solidFill>
                  <a:srgbClr val="111827"/>
                </a:solidFill>
              </a:rPr>
              <a:t>4) Ejecuta SQL con parámetros y registra queries lentas (&gt;2s).</a:t>
            </a:r>
          </a:p>
          <a:p>
            <a:r>
              <a:rPr lang="es-MX">
                <a:solidFill>
                  <a:srgbClr val="111827"/>
                </a:solidFill>
              </a:rPr>
              <a:t>5) /api/firebird-config permite a admin global ajustar host y rutas por empresa.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21975AF-FDD4-D605-2437-9CEC1C5FDFA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src/services/firebirdService.js | src/services/firebirdConfigService.js | src/config/empresas.js | src/routes/firebird-config.js</a:t>
            </a:r>
          </a:p>
        </p:txBody>
      </p:sp>
    </p:spTree>
    <p:extLst>
      <p:ext uri="{BB962C8B-B14F-4D97-AF65-F5344CB8AC3E}">
        <p14:creationId xmlns:p14="http://schemas.microsoft.com/office/powerpoint/2010/main" val="23908711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CC8AE61-109A-964B-4F74-18D21ADEE363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COI: modelo simplificado (referencia)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600BBBB-71CF-2B0C-95D1-DD07E77E0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445" y="939800"/>
            <a:ext cx="6999111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2BC064A-CD5D-E12F-22F8-041507AA4420}"/>
              </a:ext>
            </a:extLst>
          </p:cNvPr>
          <p:cNvSpPr txBox="1"/>
          <p:nvPr/>
        </p:nvSpPr>
        <p:spPr>
          <a:xfrm>
            <a:off x="508000" y="49784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Tablas por ejercicio: SALDOSyy, CUENTASyy, CATCTAyy, PRESUPyy.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Estructura de cuenta: segmentos + nivel (1..4) para agregación.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FAE0900-B760-C785-5FD4-DC2038F746C1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000">
                <a:solidFill>
                  <a:srgbClr val="6B7280"/>
                </a:solidFill>
              </a:rPr>
              <a:t>Refs: docs/image/diagrams/modelo-coi-simplificado.png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1636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7570C3A-3919-B9C7-06AF-F68EC75E20AA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firebirdService (flujo)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2245D7-6F9A-A9A8-C097-99BFA9FE7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8590CAD-E1C8-09CD-CE3C-428CA1F7FE0D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attach -&gt; query -&gt; detach por operación.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Timeouts y retry para conexión remota.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Log de queries lentas (&gt;2s).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29E31DB-9AF5-4F19-0540-D6897B61162D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src/services/firebirdService.js | docs/image/flows-services/flow-service-firebirdservice_js.png</a:t>
            </a:r>
          </a:p>
        </p:txBody>
      </p:sp>
    </p:spTree>
    <p:extLst>
      <p:ext uri="{BB962C8B-B14F-4D97-AF65-F5344CB8AC3E}">
        <p14:creationId xmlns:p14="http://schemas.microsoft.com/office/powerpoint/2010/main" val="11854503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965A92F-A499-4011-5C9B-574BF59A1F57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D47A1"/>
                </a:solidFill>
              </a:rPr>
              <a:t>API Firebird-config: GET /api/firebird-config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08F5E0-0269-C476-F633-A1E886C82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769" y="939800"/>
            <a:ext cx="7736463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922726A-5420-18DD-D454-85A421E59389}"/>
              </a:ext>
            </a:extLst>
          </p:cNvPr>
          <p:cNvSpPr txBox="1"/>
          <p:nvPr/>
        </p:nvSpPr>
        <p:spPr>
          <a:xfrm>
            <a:off x="508000" y="49784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Solo admin global.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Devuelve config base + overrides por empresa + ruta del archivo de config.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87FAC91-EBF7-9A7D-6D8F-D755533FE259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src/routes/firebird-config.js | docs/image/flows-api/flow-api-firebird-config_js-get-.png</a:t>
            </a:r>
          </a:p>
        </p:txBody>
      </p:sp>
    </p:spTree>
    <p:extLst>
      <p:ext uri="{BB962C8B-B14F-4D97-AF65-F5344CB8AC3E}">
        <p14:creationId xmlns:p14="http://schemas.microsoft.com/office/powerpoint/2010/main" val="41254910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42C2CE3-41E8-8FC2-C07D-FC0A2B2856F1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UI: Firebird-config (captura)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3E5E1A-221C-12C0-2529-E954688465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0" y="939800"/>
            <a:ext cx="6299200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947B42B-4CFC-E73E-E93D-A52E1F6E37E5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Permite ver host/puerto/usuario y rutas .FDB por empresa.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Edición restringida a admin global (seguridad operacional).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Guarda overrides sin tocar código (POST/PUT /api/firebird-config).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1EB2368-788E-59DF-1A73-B15FC7B89DBB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vistas/firebird-config.html | src/routes/firebird-config.js</a:t>
            </a:r>
          </a:p>
        </p:txBody>
      </p:sp>
    </p:spTree>
    <p:extLst>
      <p:ext uri="{BB962C8B-B14F-4D97-AF65-F5344CB8AC3E}">
        <p14:creationId xmlns:p14="http://schemas.microsoft.com/office/powerpoint/2010/main" val="6258467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512D7F5-C76B-C4F6-29E6-AF50EBF228B0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Empresas y rutas COI*.FDB (paso a paso)</a:t>
            </a:r>
            <a:endParaRPr lang="es-MX" sz="3200" b="1">
              <a:solidFill>
                <a:srgbClr val="0D47A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526872-1458-CF18-2CFD-9E5A7EDB7181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>
                <a:solidFill>
                  <a:srgbClr val="111827"/>
                </a:solidFill>
              </a:rPr>
              <a:t>1) Se lista COIxx.xx en la instalación de Aspel y se ordena por versión.</a:t>
            </a:r>
          </a:p>
          <a:p>
            <a:r>
              <a:rPr lang="es-ES">
                <a:solidFill>
                  <a:srgbClr val="111827"/>
                </a:solidFill>
              </a:rPr>
              <a:t>2) Para cada empresa (1..4), se busca el .FDB existente de la versión más alta.</a:t>
            </a:r>
          </a:p>
          <a:p>
            <a:r>
              <a:rPr lang="es-ES">
                <a:solidFill>
                  <a:srgbClr val="111827"/>
                </a:solidFill>
              </a:rPr>
              <a:t>3) Empresas comparativas (9..12) usan rutas conocidas + fallback por versión.</a:t>
            </a:r>
          </a:p>
          <a:p>
            <a:r>
              <a:rPr lang="es-ES">
                <a:solidFill>
                  <a:srgbClr val="111827"/>
                </a:solidFill>
              </a:rPr>
              <a:t>4) Firebird-config puede sobreescribir rutas por empresa sin tocar el código.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6420B71-9DCF-C1AC-F6C9-02E0E066B717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src/config/empresas.js | src/routes/firebird-config.js</a:t>
            </a:r>
          </a:p>
        </p:txBody>
      </p:sp>
    </p:spTree>
    <p:extLst>
      <p:ext uri="{BB962C8B-B14F-4D97-AF65-F5344CB8AC3E}">
        <p14:creationId xmlns:p14="http://schemas.microsoft.com/office/powerpoint/2010/main" val="9056179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2B52249-636F-42B0-21CE-5D97CE5FBE12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Contabilización: normalización y cálculo (algoritmo)</a:t>
            </a:r>
            <a:endParaRPr lang="es-MX" sz="3200" b="1">
              <a:solidFill>
                <a:srgbClr val="0D47A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F31001E-AB93-216A-F955-7828FA69DF23}"/>
              </a:ext>
            </a:extLst>
          </p:cNvPr>
          <p:cNvSpPr txBox="1"/>
          <p:nvPr/>
        </p:nvSpPr>
        <p:spPr>
          <a:xfrm>
            <a:off x="508000" y="939800"/>
            <a:ext cx="11176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>
                <a:solidFill>
                  <a:srgbClr val="111827"/>
                </a:solidFill>
              </a:rPr>
              <a:t>1) Normaliza cuenta al formato canónico Aspel (21 chars) + nivel deducido.</a:t>
            </a:r>
          </a:p>
          <a:p>
            <a:r>
              <a:rPr lang="es-ES">
                <a:solidFill>
                  <a:srgbClr val="111827"/>
                </a:solidFill>
              </a:rPr>
              <a:t>2) Determina naturaleza (D/A) por prefijo o campo NATURALEZA.</a:t>
            </a:r>
          </a:p>
          <a:p>
            <a:r>
              <a:rPr lang="es-ES">
                <a:solidFill>
                  <a:srgbClr val="111827"/>
                </a:solidFill>
              </a:rPr>
              <a:t>3) Lee SALDOSyy: CARGOm/ABONOm y acumulados (sumatoria hasta periodo).</a:t>
            </a:r>
          </a:p>
          <a:p>
            <a:r>
              <a:rPr lang="es-ES">
                <a:solidFill>
                  <a:srgbClr val="111827"/>
                </a:solidFill>
              </a:rPr>
              <a:t>4) Calcula REAL: si D -&gt; cargos - abonos; si A -&gt; abonos - cargos.</a:t>
            </a:r>
          </a:p>
          <a:p>
            <a:r>
              <a:rPr lang="es-ES">
                <a:solidFill>
                  <a:srgbClr val="111827"/>
                </a:solidFill>
              </a:rPr>
              <a:t>5) Lee PRESUPyy y calcula presupuesto mensual + YTD (suma PRESUP01..PRESUPmm).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4A338CE-504F-A153-13D6-1084B648CF6B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src/services/planeacionCuentasService.js | src/services/saldosService.js</a:t>
            </a:r>
          </a:p>
        </p:txBody>
      </p:sp>
    </p:spTree>
    <p:extLst>
      <p:ext uri="{BB962C8B-B14F-4D97-AF65-F5344CB8AC3E}">
        <p14:creationId xmlns:p14="http://schemas.microsoft.com/office/powerpoint/2010/main" val="10235018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20E20A6-BEB0-64BF-A550-5677E8629092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Flujo: datos reales vs presupuesto (diagrama)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BDA4EE-011A-4861-D043-0765C997A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0" y="939800"/>
            <a:ext cx="6299200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F6A6F2A-5212-418A-E757-575CD5766CD1}"/>
              </a:ext>
            </a:extLst>
          </p:cNvPr>
          <p:cNvSpPr txBox="1"/>
          <p:nvPr/>
        </p:nvSpPr>
        <p:spPr>
          <a:xfrm>
            <a:off x="508000" y="49784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Real: SALDOS (cargos/abonos) + naturaleza -&gt; signo final.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Plan: PRESUP (mensual) + sumatoria -&gt; YTD.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4E1F24B-0490-63ED-B6B8-6C5952D45C88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B7280"/>
                </a:solidFill>
              </a:rPr>
              <a:t>Refs: docs/image/diagrams/flujo-datos-reales-presupuestos.png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2519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9F02B57-CF24-65FA-B64F-01B618B2FD23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planeacionCuentasService (flujo)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56BC620-2EF5-92CD-1AA2-EE2A606A5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218A507-0718-9B29-F599-F14CCEE613C4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Normaliza lista de cuentas.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Consulta Firebird: CUENTASyy + SALDOSyy + PRESUPyy.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Devuelve Real/Plan/Anterior por mes y acumulado.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2A535D8-6D8A-A5DF-2147-AE3A5716F903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src/services/planeacionCuentasService.js | docs/image/flows-services/flow-service-planeacioncuentasservice_js.png</a:t>
            </a:r>
          </a:p>
        </p:txBody>
      </p:sp>
    </p:spTree>
    <p:extLst>
      <p:ext uri="{BB962C8B-B14F-4D97-AF65-F5344CB8AC3E}">
        <p14:creationId xmlns:p14="http://schemas.microsoft.com/office/powerpoint/2010/main" val="13073646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C1DCE4A-697A-DAD2-92B4-236225DF4534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200" b="1">
                <a:solidFill>
                  <a:srgbClr val="0D47A1"/>
                </a:solidFill>
              </a:rPr>
              <a:t>Ejemplo: cálculo de Real (naturaleza D/A)</a:t>
            </a:r>
            <a:endParaRPr lang="es-MX" sz="3200" b="1">
              <a:solidFill>
                <a:srgbClr val="0D47A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7453D4B-E3C5-7919-6DA3-86C8DAD5AD5A}"/>
              </a:ext>
            </a:extLst>
          </p:cNvPr>
          <p:cNvSpPr/>
          <p:nvPr/>
        </p:nvSpPr>
        <p:spPr>
          <a:xfrm>
            <a:off x="508000" y="939800"/>
            <a:ext cx="11176000" cy="38100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300">
                <a:solidFill>
                  <a:srgbClr val="111827"/>
                </a:solidFill>
                <a:latin typeface="Consolas" panose="020B0609020204030204" pitchFamily="49" charset="0"/>
              </a:rPr>
              <a:t>Si NATZ = 'D' (deudora):</a:t>
            </a:r>
          </a:p>
          <a:p>
            <a:pPr algn="ctr"/>
            <a:r>
              <a:rPr lang="es-ES" sz="1300">
                <a:solidFill>
                  <a:srgbClr val="111827"/>
                </a:solidFill>
                <a:latin typeface="Consolas" panose="020B0609020204030204" pitchFamily="49" charset="0"/>
              </a:rPr>
              <a:t>  REAL_MES = CARGO_MES - ABONO_MES</a:t>
            </a:r>
          </a:p>
          <a:p>
            <a:pPr algn="ctr"/>
            <a:r>
              <a:rPr lang="es-ES" sz="1300">
                <a:solidFill>
                  <a:srgbClr val="111827"/>
                </a:solidFill>
                <a:latin typeface="Consolas" panose="020B0609020204030204" pitchFamily="49" charset="0"/>
              </a:rPr>
              <a:t>  REAL_YTD = CARGOS_ACUM - ABONOS_ACUM</a:t>
            </a:r>
          </a:p>
          <a:p>
            <a:pPr algn="ctr"/>
            <a:endParaRPr lang="es-ES" sz="1300">
              <a:solidFill>
                <a:srgbClr val="111827"/>
              </a:solidFill>
              <a:latin typeface="Consolas" panose="020B0609020204030204" pitchFamily="49" charset="0"/>
            </a:endParaRPr>
          </a:p>
          <a:p>
            <a:pPr algn="ctr"/>
            <a:r>
              <a:rPr lang="es-ES" sz="1300">
                <a:solidFill>
                  <a:srgbClr val="111827"/>
                </a:solidFill>
                <a:latin typeface="Consolas" panose="020B0609020204030204" pitchFamily="49" charset="0"/>
              </a:rPr>
              <a:t>Si NATZ = 'A' (acreedora):</a:t>
            </a:r>
          </a:p>
          <a:p>
            <a:pPr algn="ctr"/>
            <a:r>
              <a:rPr lang="es-ES" sz="1300">
                <a:solidFill>
                  <a:srgbClr val="111827"/>
                </a:solidFill>
                <a:latin typeface="Consolas" panose="020B0609020204030204" pitchFamily="49" charset="0"/>
              </a:rPr>
              <a:t>  REAL_MES = ABONO_MES - CARGO_MES</a:t>
            </a:r>
          </a:p>
          <a:p>
            <a:pPr algn="ctr"/>
            <a:r>
              <a:rPr lang="es-ES" sz="1300">
                <a:solidFill>
                  <a:srgbClr val="111827"/>
                </a:solidFill>
                <a:latin typeface="Consolas" panose="020B0609020204030204" pitchFamily="49" charset="0"/>
              </a:rPr>
              <a:t>  REAL_YTD = ABONOS_ACUM - CARGOS_ACUM</a:t>
            </a:r>
            <a:endParaRPr lang="es-MX" sz="1300">
              <a:solidFill>
                <a:srgbClr val="111827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DD7574-5202-DC2A-2F0F-115255475BBA}"/>
              </a:ext>
            </a:extLst>
          </p:cNvPr>
          <p:cNvSpPr txBox="1"/>
          <p:nvPr/>
        </p:nvSpPr>
        <p:spPr>
          <a:xfrm>
            <a:off x="508000" y="4851400"/>
            <a:ext cx="1117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Esto evita signos invertidos al sumar ingresos y restar gastos.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A5A3976-F2B4-4D28-FF21-992610595601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src/services/planeacionCuentasService.js</a:t>
            </a:r>
          </a:p>
        </p:txBody>
      </p:sp>
    </p:spTree>
    <p:extLst>
      <p:ext uri="{BB962C8B-B14F-4D97-AF65-F5344CB8AC3E}">
        <p14:creationId xmlns:p14="http://schemas.microsoft.com/office/powerpoint/2010/main" val="22065397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9028380-91BF-FC1D-644B-089BC48496B7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Presupuestos: workflow de autorización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A8E3D6-1B35-2C88-906D-C3C6C46965F6}"/>
              </a:ext>
            </a:extLst>
          </p:cNvPr>
          <p:cNvSpPr txBox="1"/>
          <p:nvPr/>
        </p:nvSpPr>
        <p:spPr>
          <a:xfrm>
            <a:off x="508000" y="939800"/>
            <a:ext cx="11176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>
                <a:solidFill>
                  <a:srgbClr val="111827"/>
                </a:solidFill>
              </a:rPr>
              <a:t>1) Estado se guarda por empresa/módulo/año/capítulo en SQLite (presupuestos_estado).</a:t>
            </a:r>
          </a:p>
          <a:p>
            <a:r>
              <a:rPr lang="es-ES">
                <a:solidFill>
                  <a:srgbClr val="111827"/>
                </a:solidFill>
              </a:rPr>
              <a:t>2) Transiciones: cargar -&gt; editar, revisar -&gt; revisado, autorizar -&gt; aprobado, guardar -&gt; guardado.</a:t>
            </a:r>
          </a:p>
          <a:p>
            <a:r>
              <a:rPr lang="es-ES">
                <a:solidFill>
                  <a:srgbClr val="111827"/>
                </a:solidFill>
              </a:rPr>
              <a:t>3) Cada acción requiere permiso (Cargar y guardar / Revisar / Aprobar).</a:t>
            </a:r>
          </a:p>
          <a:p>
            <a:r>
              <a:rPr lang="es-ES">
                <a:solidFill>
                  <a:srgbClr val="111827"/>
                </a:solidFill>
              </a:rPr>
              <a:t>4) Historial se registra en presupuestos_estado_historial (últimos eventos).</a:t>
            </a:r>
          </a:p>
          <a:p>
            <a:r>
              <a:rPr lang="es-ES">
                <a:solidFill>
                  <a:srgbClr val="111827"/>
                </a:solidFill>
              </a:rPr>
              <a:t>5) Se disparan notificaciones del workflow (notificacionesService).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11F5013-4D5D-B093-B070-678D910EA99E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src/routes/presupuestos.js | src/db/sqlite.js | src/services/notificacionesService.js</a:t>
            </a:r>
          </a:p>
        </p:txBody>
      </p:sp>
    </p:spTree>
    <p:extLst>
      <p:ext uri="{BB962C8B-B14F-4D97-AF65-F5344CB8AC3E}">
        <p14:creationId xmlns:p14="http://schemas.microsoft.com/office/powerpoint/2010/main" val="18721824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B16694-C283-3853-9AEE-26B4D9F258B0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UI: Presupuestos (captura)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6B59F55-630C-90AC-2576-023FBF953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0" y="939800"/>
            <a:ext cx="6299200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3516D42-E18C-2D42-FCE0-99A3C517C5AE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Vista comparativa Plan vs Real por mes + acumulados; tabla con encabezados sticky.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Acciones de workflow se habilitan por estado + permisos (Revisar/Aprobar).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Exporta a Excel/PDF y soporta comentarios por celda.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0A3A093-594E-A730-B264-1ED9E57EC3A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>
                <a:solidFill>
                  <a:srgbClr val="6B7280"/>
                </a:solidFill>
              </a:rPr>
              <a:t>Refs: vistas/Presupuestos.html | src/routes/presupuestos.js | vistas/js/flujo-autorizacion.js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7526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650E39E-2B4D-ECDA-4DAE-BC00260E34C8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UI: flujo de autorización (referencia)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42A7F50-CD49-AE84-B0BB-BE1E23982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ADA64AB-41B0-06ED-3881-6795D174B929}"/>
              </a:ext>
            </a:extLst>
          </p:cNvPr>
          <p:cNvSpPr txBox="1"/>
          <p:nvPr/>
        </p:nvSpPr>
        <p:spPr>
          <a:xfrm>
            <a:off x="508000" y="49784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El front controla botones/acciones según estado y permisos.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El backend valida transiciones y registra historial.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8C6C67C-1160-867D-3924-5A3C12671CF0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vistas/js/presupuesto-vista.js | docs/image/flows-js/flow-ui-flujo-autorizacion_js.png</a:t>
            </a:r>
          </a:p>
        </p:txBody>
      </p:sp>
    </p:spTree>
    <p:extLst>
      <p:ext uri="{BB962C8B-B14F-4D97-AF65-F5344CB8AC3E}">
        <p14:creationId xmlns:p14="http://schemas.microsoft.com/office/powerpoint/2010/main" val="33154243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3E889F1-03FA-5771-50D8-6D8FA2856808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API Presupuestos: GET /estado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F80C00-3495-2DE6-29C5-35CAF58B9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570" y="939800"/>
            <a:ext cx="6866861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F7C3165-3012-5C40-273D-FFE3DE66F2D5}"/>
              </a:ext>
            </a:extLst>
          </p:cNvPr>
          <p:cNvSpPr txBox="1"/>
          <p:nvPr/>
        </p:nvSpPr>
        <p:spPr>
          <a:xfrm>
            <a:off x="508000" y="4978400"/>
            <a:ext cx="1117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Devuelve estado actual + historial reciente (últimos 10).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425B677-8B9E-DE31-398C-9073D0B44836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src/routes/presupuestos.js | docs/image/flows-api/flow-api-presupuestos_js-get-_estado.png</a:t>
            </a:r>
          </a:p>
        </p:txBody>
      </p:sp>
    </p:spTree>
    <p:extLst>
      <p:ext uri="{BB962C8B-B14F-4D97-AF65-F5344CB8AC3E}">
        <p14:creationId xmlns:p14="http://schemas.microsoft.com/office/powerpoint/2010/main" val="648023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C898941-4283-9F9F-A5BC-AAD2B43F166B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API Presupuestos: POST /estado (transición)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E347BA7-3BD6-AD59-EEAE-FF28D7C6D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570" y="939800"/>
            <a:ext cx="6866861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475E879-CE81-5BDD-E832-C83C8D762590}"/>
              </a:ext>
            </a:extLst>
          </p:cNvPr>
          <p:cNvSpPr txBox="1"/>
          <p:nvPr/>
        </p:nvSpPr>
        <p:spPr>
          <a:xfrm>
            <a:off x="508000" y="49784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Valida transición + verifica permiso requerido por acción.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Actualiza presupuestos_estado y agrega fila a presupuestos_estado_historial.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E0E54B-EEC1-0AA3-3AF3-660A06C61FFA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src/routes/presupuestos.js | docs/image/flows-api/flow-api-presupuestos_js-post-_estado.png</a:t>
            </a:r>
          </a:p>
        </p:txBody>
      </p:sp>
    </p:spTree>
    <p:extLst>
      <p:ext uri="{BB962C8B-B14F-4D97-AF65-F5344CB8AC3E}">
        <p14:creationId xmlns:p14="http://schemas.microsoft.com/office/powerpoint/2010/main" val="13145442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2EF7F8D-D44B-BF65-E2CE-47BC8CCAA205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SummaryService: resumen por cuentas (algoritmo)</a:t>
            </a:r>
            <a:endParaRPr lang="es-MX" sz="3200" b="1">
              <a:solidFill>
                <a:srgbClr val="0D47A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38F358-EE85-98BA-0CF5-47FB7DB71367}"/>
              </a:ext>
            </a:extLst>
          </p:cNvPr>
          <p:cNvSpPr txBox="1"/>
          <p:nvPr/>
        </p:nvSpPr>
        <p:spPr>
          <a:xfrm>
            <a:off x="508000" y="939800"/>
            <a:ext cx="11176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>
                <a:solidFill>
                  <a:srgbClr val="111827"/>
                </a:solidFill>
              </a:rPr>
              <a:t>1) Recibe empresa/año/periodo + lista de códigos de cuenta.</a:t>
            </a:r>
          </a:p>
          <a:p>
            <a:r>
              <a:rPr lang="es-ES">
                <a:solidFill>
                  <a:srgbClr val="111827"/>
                </a:solidFill>
              </a:rPr>
              <a:t>2) Consulta SALDOS con SELECT construido (saldosResumenHelper) para mes y YTD.</a:t>
            </a:r>
          </a:p>
          <a:p>
            <a:r>
              <a:rPr lang="es-ES">
                <a:solidFill>
                  <a:srgbClr val="111827"/>
                </a:solidFill>
              </a:rPr>
              <a:t>3) En paralelo, trae presupuesto por cuentas (PRESUPyy) para año actual y comparativo.</a:t>
            </a:r>
          </a:p>
          <a:p>
            <a:r>
              <a:rPr lang="es-ES">
                <a:solidFill>
                  <a:srgbClr val="111827"/>
                </a:solidFill>
              </a:rPr>
              <a:t>4) Calcula: mesActual, mesPlan, mesAnterior, acumulados (Actual/Plan/Anterior).</a:t>
            </a:r>
          </a:p>
          <a:p>
            <a:r>
              <a:rPr lang="es-ES">
                <a:solidFill>
                  <a:srgbClr val="111827"/>
                </a:solidFill>
              </a:rPr>
              <a:t>5) Devuelve payload listo para UI: detalle + totales por ejercicio.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381364F-059D-EBD5-CD0F-6DBF7E569DEB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src/services/summaryService.js | src/services/saldosResumenHelper.js | src/services/planeacionCuentasService.js</a:t>
            </a:r>
          </a:p>
        </p:txBody>
      </p:sp>
    </p:spTree>
    <p:extLst>
      <p:ext uri="{BB962C8B-B14F-4D97-AF65-F5344CB8AC3E}">
        <p14:creationId xmlns:p14="http://schemas.microsoft.com/office/powerpoint/2010/main" val="19967839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E458808-DD13-0858-67CB-9685C9ABE64D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SummaryService (flujo)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3DE6D77-F660-01EF-59D1-594D45953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285D2C3-8DDF-7338-A7DE-38AA0887B29A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Construye consultas por ejercicio (actual y comparativo).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Enlaza presupuesto (PRESUPyy) para mes y acumulado.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Devuelve { detalle, ejercicios, ejerciciosDisponibles }.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391F265-48E5-218F-70C1-ED51E2100EAE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6B7280"/>
                </a:solidFill>
              </a:rPr>
              <a:t>Refs: src/services/summaryService.js | docs/image/flows-services/flow-service-summaryservice_js.png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1692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D5444E7-25EB-6DAD-840B-C4592FE4235E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Reportes Summary/Resumen: motor unificado</a:t>
            </a:r>
            <a:endParaRPr lang="es-MX" sz="3200" b="1">
              <a:solidFill>
                <a:srgbClr val="0D47A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D0CAF5F-B9F3-BD0D-C04D-DA7526273C47}"/>
              </a:ext>
            </a:extLst>
          </p:cNvPr>
          <p:cNvSpPr txBox="1"/>
          <p:nvPr/>
        </p:nvSpPr>
        <p:spPr>
          <a:xfrm>
            <a:off x="508000" y="939800"/>
            <a:ext cx="11176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>
                <a:solidFill>
                  <a:srgbClr val="111827"/>
                </a:solidFill>
              </a:rPr>
              <a:t>1) planeacionReportesEngine carga layouts por módulo/capítulo desde SQLite.</a:t>
            </a:r>
          </a:p>
          <a:p>
            <a:r>
              <a:rPr lang="es-ES">
                <a:solidFill>
                  <a:srgbClr val="111827"/>
                </a:solidFill>
              </a:rPr>
              <a:t>2) Normaliza cuentas y arma secciones (principal/secundaria) para UI.</a:t>
            </a:r>
          </a:p>
          <a:p>
            <a:r>
              <a:rPr lang="es-ES">
                <a:solidFill>
                  <a:srgbClr val="111827"/>
                </a:solidFill>
              </a:rPr>
              <a:t>3) Llama obtenerDatosPlaneacionResumen para traer Real/Plan/Anterior por cuenta.</a:t>
            </a:r>
          </a:p>
          <a:p>
            <a:r>
              <a:rPr lang="es-ES">
                <a:solidFill>
                  <a:srgbClr val="111827"/>
                </a:solidFill>
              </a:rPr>
              <a:t>4) Calcula totales por sección y aplica factores/operaciones (incluye fórmulas).</a:t>
            </a:r>
          </a:p>
          <a:p>
            <a:r>
              <a:rPr lang="es-ES">
                <a:solidFill>
                  <a:srgbClr val="111827"/>
                </a:solidFill>
              </a:rPr>
              <a:t>5) Retorna JSON: detalle (árbol con children) + resumen (totales).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24DEEB3-2A90-ADEC-9211-1351B11113C3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src/services/reportes/planeacionReportesEngine.js | src/services/layoutService.js | src/services/planeacionCuentasService.js | src/routes/reportes.js</a:t>
            </a:r>
          </a:p>
        </p:txBody>
      </p:sp>
    </p:spTree>
    <p:extLst>
      <p:ext uri="{BB962C8B-B14F-4D97-AF65-F5344CB8AC3E}">
        <p14:creationId xmlns:p14="http://schemas.microsoft.com/office/powerpoint/2010/main" val="3097306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CFD1B9-9723-CDEB-CA7E-6ACAE9B388A1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D47A1"/>
                </a:solidFill>
              </a:rPr>
              <a:t>API Reportes: GET /api/reportes/summary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F698C5-3429-19AC-6062-E3F13172E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C8B9353-FB80-62AC-CFB9-258281CFF9AA}"/>
              </a:ext>
            </a:extLst>
          </p:cNvPr>
          <p:cNvSpPr txBox="1"/>
          <p:nvPr/>
        </p:nvSpPr>
        <p:spPr>
          <a:xfrm>
            <a:off x="508000" y="49784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Protegido por requireAuth + permiso de empresa + permiso de módulo.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Devuelve JSON listo para UI (detalle + resumen).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EF8F73F-E985-623A-53F8-CDD41098E14E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src/routes/reportes.js | docs/image/flows-api/flow-api-reportes_js-get-_summary.png</a:t>
            </a:r>
          </a:p>
        </p:txBody>
      </p:sp>
    </p:spTree>
    <p:extLst>
      <p:ext uri="{BB962C8B-B14F-4D97-AF65-F5344CB8AC3E}">
        <p14:creationId xmlns:p14="http://schemas.microsoft.com/office/powerpoint/2010/main" val="38614902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2A75CF4-C32D-E5C8-50E3-86DE99725E30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Reportes: GET /api/reportes/resumen (flujo)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D09865-22B8-47FE-4026-E17C07AA8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78CF8B1-50FF-D13C-6293-955AD5D116D9}"/>
              </a:ext>
            </a:extLst>
          </p:cNvPr>
          <p:cNvSpPr txBox="1"/>
          <p:nvPr/>
        </p:nvSpPr>
        <p:spPr>
          <a:xfrm>
            <a:off x="508000" y="4978400"/>
            <a:ext cx="1117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Mismo motor unificado; cambia reportKey a RESUMEN.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912065F-077F-75D1-6716-52055668F2FD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src/routes/reportes.js | docs/image/flows-api/flow-api-reportes_js-get-_resumen.png</a:t>
            </a:r>
          </a:p>
        </p:txBody>
      </p:sp>
    </p:spTree>
    <p:extLst>
      <p:ext uri="{BB962C8B-B14F-4D97-AF65-F5344CB8AC3E}">
        <p14:creationId xmlns:p14="http://schemas.microsoft.com/office/powerpoint/2010/main" val="22520231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738920A-3FBB-F250-7890-A90B3B582026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Layouts + fórmulas (Gestor de plantillas)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D5458C5-689D-D2BF-6058-E8D5FFE05DDF}"/>
              </a:ext>
            </a:extLst>
          </p:cNvPr>
          <p:cNvSpPr txBox="1"/>
          <p:nvPr/>
        </p:nvSpPr>
        <p:spPr>
          <a:xfrm>
            <a:off x="508000" y="939800"/>
            <a:ext cx="11176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>
                <a:solidFill>
                  <a:srgbClr val="111827"/>
                </a:solidFill>
              </a:rPr>
              <a:t>1) layout_cuentas define catálogo de cuentas por empresa/módulo/año/capítulo.</a:t>
            </a:r>
          </a:p>
          <a:p>
            <a:r>
              <a:rPr lang="es-ES">
                <a:solidFill>
                  <a:srgbClr val="111827"/>
                </a:solidFill>
              </a:rPr>
              <a:t>2) layout_secciones define jerarquía de secciones y orden.</a:t>
            </a:r>
          </a:p>
          <a:p>
            <a:r>
              <a:rPr lang="es-ES">
                <a:solidFill>
                  <a:srgbClr val="111827"/>
                </a:solidFill>
              </a:rPr>
              <a:t>3) layout_operaciones define operaciones (sumas) + orden/visible + formula_json.</a:t>
            </a:r>
          </a:p>
          <a:p>
            <a:r>
              <a:rPr lang="es-ES">
                <a:solidFill>
                  <a:srgbClr val="111827"/>
                </a:solidFill>
              </a:rPr>
              <a:t>4) formula_json se parsea a formula_terms y signos para evaluar operaciones por secciones.</a:t>
            </a:r>
          </a:p>
          <a:p>
            <a:r>
              <a:rPr lang="es-ES">
                <a:solidFill>
                  <a:srgbClr val="111827"/>
                </a:solidFill>
              </a:rPr>
              <a:t>5) layout_bitacora registra cambios (quién/cuándo/qué) para auditoría.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F82754E-9DE6-E36C-468B-D299159581B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src/db/sqlite.js | src/services/layoutService.js | src/routes/layoutRoutes.js</a:t>
            </a:r>
          </a:p>
        </p:txBody>
      </p:sp>
    </p:spTree>
    <p:extLst>
      <p:ext uri="{BB962C8B-B14F-4D97-AF65-F5344CB8AC3E}">
        <p14:creationId xmlns:p14="http://schemas.microsoft.com/office/powerpoint/2010/main" val="322381285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F5E24D8-188C-7970-108C-4ABD3A782F00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layoutService (flujo)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9CA2F8-BB72-EB04-DA21-DCA3B69FE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46B6A27-95A8-D930-879E-A4CF6F7FB9EF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Lee layout_* desde SQLite y reconstruye operaciones/secciones.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Parsea formula_json a formula_terms y signos (+1/-1).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Ordena por orden_presentacion/orden y respeta visible.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BC7EEB9-112C-3786-55C8-67AA917B20CF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6B7280"/>
                </a:solidFill>
              </a:rPr>
              <a:t>Refs: src/services/layoutService.js | docs/image/flows-services/flow-service-layoutservice_js.png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666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20A605-A211-FFBA-F095-1EA630E3FF5F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UI: Formula Builder (flujo)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2E7A21E-FB7D-4108-C37A-EFF8F0911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94A2C75-51AD-0F53-DF1E-86B74C74AC75}"/>
              </a:ext>
            </a:extLst>
          </p:cNvPr>
          <p:cNvSpPr txBox="1"/>
          <p:nvPr/>
        </p:nvSpPr>
        <p:spPr>
          <a:xfrm>
            <a:off x="508000" y="49784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Define términos: section / account / operation / constant.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Guarda como formula_terms y/o formula_json para persistencia.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D41307B-0D6F-0B90-AEFC-4ADC3B547B60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vistas/js/formula-builder.js | docs/image/flows-js/flow-ui-formula-builder_js.png</a:t>
            </a:r>
          </a:p>
        </p:txBody>
      </p:sp>
    </p:spTree>
    <p:extLst>
      <p:ext uri="{BB962C8B-B14F-4D97-AF65-F5344CB8AC3E}">
        <p14:creationId xmlns:p14="http://schemas.microsoft.com/office/powerpoint/2010/main" val="38722600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C0AD602-0657-83A9-F004-067B25762711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Ejemplo: formula_terms (JSON)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00A06EF-AF69-1CAE-8466-CA01C6FB90C9}"/>
              </a:ext>
            </a:extLst>
          </p:cNvPr>
          <p:cNvSpPr/>
          <p:nvPr/>
        </p:nvSpPr>
        <p:spPr>
          <a:xfrm>
            <a:off x="508000" y="939800"/>
            <a:ext cx="11176000" cy="3810000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MX" sz="1300">
                <a:solidFill>
                  <a:srgbClr val="111827"/>
                </a:solidFill>
                <a:latin typeface="Consolas" panose="020B0609020204030204" pitchFamily="49" charset="0"/>
              </a:rPr>
              <a:t>[\n  { \"operator\": \"+\", \"type\": \"section\", \"value\": \"INGRESOS\" },\n  { \"operator\": \"-\", \"type\": \"section\", \"value\": \"GASTOS\" },\n  { \"operator\": \"+\", \"type\": \"constant\", \"constant\": 1000 }\n]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8FB335A-63FC-DFA6-8CBF-28300930E389}"/>
              </a:ext>
            </a:extLst>
          </p:cNvPr>
          <p:cNvSpPr txBox="1"/>
          <p:nvPr/>
        </p:nvSpPr>
        <p:spPr>
          <a:xfrm>
            <a:off x="508000" y="4851400"/>
            <a:ext cx="1117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El backend usa estos términos para sumar/restar secciones al generar reportes.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9180394-04B1-607E-992C-49E099E2BEC0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vistas/js/formula-builder.js | src/services/layoutService.js</a:t>
            </a:r>
          </a:p>
        </p:txBody>
      </p:sp>
    </p:spTree>
    <p:extLst>
      <p:ext uri="{BB962C8B-B14F-4D97-AF65-F5344CB8AC3E}">
        <p14:creationId xmlns:p14="http://schemas.microsoft.com/office/powerpoint/2010/main" val="10005213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893483A-CC6F-8959-A4D3-1E1036EFFAAA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Borradores, comentarios y notificaciones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09BFEB-19C9-58C8-0D38-A1EF39869C89}"/>
              </a:ext>
            </a:extLst>
          </p:cNvPr>
          <p:cNvSpPr txBox="1"/>
          <p:nvPr/>
        </p:nvSpPr>
        <p:spPr>
          <a:xfrm>
            <a:off x="508000" y="939800"/>
            <a:ext cx="11176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>
                <a:solidFill>
                  <a:srgbClr val="111827"/>
                </a:solidFill>
              </a:rPr>
              <a:t>1) PLAN_BORRADORES guarda capturas parciales por empresa/módulo/año/capítulo.</a:t>
            </a:r>
          </a:p>
          <a:p>
            <a:r>
              <a:rPr lang="es-ES">
                <a:solidFill>
                  <a:srgbClr val="111827"/>
                </a:solidFill>
              </a:rPr>
              <a:t>2) PLAN_BORRADORES_HISTORIAL almacena versiones recientes para recuperar cambios.</a:t>
            </a:r>
          </a:p>
          <a:p>
            <a:r>
              <a:rPr lang="es-ES">
                <a:solidFill>
                  <a:srgbClr val="111827"/>
                </a:solidFill>
              </a:rPr>
              <a:t>3) comentarios_celdas permite notas por celda (colaboración y revisión).</a:t>
            </a:r>
          </a:p>
          <a:p>
            <a:r>
              <a:rPr lang="es-ES">
                <a:solidFill>
                  <a:srgbClr val="111827"/>
                </a:solidFill>
              </a:rPr>
              <a:t>4) notificaciones registra eventos (workflow, avisos) por usuario.</a:t>
            </a:r>
          </a:p>
          <a:p>
            <a:r>
              <a:rPr lang="es-ES">
                <a:solidFill>
                  <a:srgbClr val="111827"/>
                </a:solidFill>
              </a:rPr>
              <a:t>5) Endpoints: /api/borradores, /api/comentarios, /api/notificaciones.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81F8377-5DE1-F92D-BB40-14107C08D957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src/db/sqlite.js | src/routes/borradores.js | src/routes/comentarios.js | src/routes/notificaciones.js</a:t>
            </a:r>
          </a:p>
        </p:txBody>
      </p:sp>
    </p:spTree>
    <p:extLst>
      <p:ext uri="{BB962C8B-B14F-4D97-AF65-F5344CB8AC3E}">
        <p14:creationId xmlns:p14="http://schemas.microsoft.com/office/powerpoint/2010/main" val="413390547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B4E71E4-91F6-F17D-204B-6FA8723B73C9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BorradoresService (flujo)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CF3809-EAE6-FAF7-1669-B57A0BD8A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42F9AB3-C5DC-28E0-668B-0A029EF49D0D}"/>
              </a:ext>
            </a:extLst>
          </p:cNvPr>
          <p:cNvSpPr txBox="1"/>
          <p:nvPr/>
        </p:nvSpPr>
        <p:spPr>
          <a:xfrm>
            <a:off x="508000" y="49784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Guarda autosave por empresa+módulo+año+capítulo.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Permite historial para recuperación de cambios.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466616E-C945-DAC0-EE26-DBB8AF66A0AF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src/services/borradoresService.js | docs/image/flows-services/flow-service-borradoresservice_js.png</a:t>
            </a:r>
          </a:p>
        </p:txBody>
      </p:sp>
    </p:spTree>
    <p:extLst>
      <p:ext uri="{BB962C8B-B14F-4D97-AF65-F5344CB8AC3E}">
        <p14:creationId xmlns:p14="http://schemas.microsoft.com/office/powerpoint/2010/main" val="13697583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933E592-1950-4F25-CC53-DF3E088EE5F6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ComentariosService (flujo)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720C676-1575-965B-8B4D-E94052167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E5EC9A0-DB52-44BD-9B54-20864A9D0CA0}"/>
              </a:ext>
            </a:extLst>
          </p:cNvPr>
          <p:cNvSpPr txBox="1"/>
          <p:nvPr/>
        </p:nvSpPr>
        <p:spPr>
          <a:xfrm>
            <a:off x="508000" y="4978400"/>
            <a:ext cx="1117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CRUD de comentarios por celda (celda_id) + contexto (empresa/módulo/año/capítulo).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6F216C-24AA-D557-48E4-F9D3EAB4F793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src/services/comentariosService.js | docs/image/flows-services/flow-service-comentariosservice_js.png</a:t>
            </a:r>
          </a:p>
        </p:txBody>
      </p:sp>
    </p:spTree>
    <p:extLst>
      <p:ext uri="{BB962C8B-B14F-4D97-AF65-F5344CB8AC3E}">
        <p14:creationId xmlns:p14="http://schemas.microsoft.com/office/powerpoint/2010/main" val="3032921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71F895C-84A6-9FD5-3020-7CB4C2A2D98E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NotificacionesService (flujo)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E2C7E3-BB37-05D0-C233-39890DDB6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6628B21-2BD0-18E5-A032-B93B4E98D662}"/>
              </a:ext>
            </a:extLst>
          </p:cNvPr>
          <p:cNvSpPr txBox="1"/>
          <p:nvPr/>
        </p:nvSpPr>
        <p:spPr>
          <a:xfrm>
            <a:off x="508000" y="4978400"/>
            <a:ext cx="11176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Registra avisos por usuario (workflow, mensajes informativos).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La UI consume /api/notificaciones para mostrar pendientes.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3B1EE52-07B0-F6E2-3672-D89B4C223B04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src/services/notificacionesService.js | docs/image/flows-services/flow-service-notificacionesservice_js.png</a:t>
            </a:r>
          </a:p>
        </p:txBody>
      </p:sp>
    </p:spTree>
    <p:extLst>
      <p:ext uri="{BB962C8B-B14F-4D97-AF65-F5344CB8AC3E}">
        <p14:creationId xmlns:p14="http://schemas.microsoft.com/office/powerpoint/2010/main" val="39016297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BFADD38-6C1D-FAA2-5E7C-0E0C2DEC7D84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Graficas-config: configuración persistida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764708-7C03-48BD-2431-0FF94868407C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>
                <a:solidFill>
                  <a:srgbClr val="111827"/>
                </a:solidFill>
              </a:rPr>
              <a:t>1) Tabla graficas_config guarda JSON por empresa (config_json).</a:t>
            </a:r>
          </a:p>
          <a:p>
            <a:r>
              <a:rPr lang="es-ES">
                <a:solidFill>
                  <a:srgbClr val="111827"/>
                </a:solidFill>
              </a:rPr>
              <a:t>2) GET /api/graficas-config devuelve config para la empresa activa (X-Empresa-Activa).</a:t>
            </a:r>
          </a:p>
          <a:p>
            <a:r>
              <a:rPr lang="es-ES">
                <a:solidFill>
                  <a:srgbClr val="111827"/>
                </a:solidFill>
              </a:rPr>
              <a:t>3) POST /api/graficas-config requiere admin y hace upsert por empresa.</a:t>
            </a:r>
          </a:p>
          <a:p>
            <a:r>
              <a:rPr lang="es-ES">
                <a:solidFill>
                  <a:srgbClr val="111827"/>
                </a:solidFill>
              </a:rPr>
              <a:t>4) UI usa esta config para etiquetas/colores en gráficas, PDF y Excel.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BDB7E3D-4ED5-B630-C9E2-0F486654C650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src/routes/graficas-config.js | src/db/sqlite.js | vistas/graficas-config.html</a:t>
            </a:r>
          </a:p>
        </p:txBody>
      </p:sp>
    </p:spTree>
    <p:extLst>
      <p:ext uri="{BB962C8B-B14F-4D97-AF65-F5344CB8AC3E}">
        <p14:creationId xmlns:p14="http://schemas.microsoft.com/office/powerpoint/2010/main" val="6648429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987D731-ABC2-0908-2BC1-3379DA4D82E4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UI: Gestor de graficas (captura)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69D3BD0-FB7F-8AC7-4241-B7FA6C4EC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400" y="939800"/>
            <a:ext cx="6299200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0E3533C-F100-B35D-0475-E81AF441CE85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Permite ajustar etiquetas/colores y activar series.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Edición protegida por req.esAdmin (backend) y UI deshabilita campos si no es admin.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Los cambios aplican a la vista de gráficas y exportaciones.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F1CB9B3-F8AE-CAA2-CD7E-F61AF1D16258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000">
                <a:solidFill>
                  <a:srgbClr val="6B7280"/>
                </a:solidFill>
              </a:rPr>
              <a:t>Refs: vistas/graficas-config.html | src/routes/graficas-config.js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9087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19DC19F-3252-F727-7E60-FDD72D695649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Exportaciones: Excel y gráficas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9FDF366-2862-FB9B-C0C2-505F679D4B42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>
                <a:solidFill>
                  <a:srgbClr val="111827"/>
                </a:solidFill>
              </a:rPr>
              <a:t>1) /api/reportes/* expone reportes JSON y generación de Excel (native/JSON).</a:t>
            </a:r>
          </a:p>
          <a:p>
            <a:r>
              <a:rPr lang="es-MX">
                <a:solidFill>
                  <a:srgbClr val="111827"/>
                </a:solidFill>
              </a:rPr>
              <a:t>2) Generación de gráficas usa Excel COM (scripts/export-*-charts.ps1).</a:t>
            </a:r>
          </a:p>
          <a:p>
            <a:r>
              <a:rPr lang="es-MX">
                <a:solidFill>
                  <a:srgbClr val="111827"/>
                </a:solidFill>
              </a:rPr>
              <a:t>3) Exportaciones operativas/resumen usan servicios en src/services/reportes/*.</a:t>
            </a:r>
          </a:p>
          <a:p>
            <a:r>
              <a:rPr lang="es-MX">
                <a:solidFill>
                  <a:srgbClr val="111827"/>
                </a:solidFill>
              </a:rPr>
              <a:t>4) Scripts disponibles: npm run ppt:from-excel (imágenes de gráficas -&gt; PPT).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9322F0B-E3B4-B19E-6A13-36149E68E2C8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6B7280"/>
                </a:solidFill>
              </a:rPr>
              <a:t>Refs: src/routes/reportes.js | scripts/export-operativo-charts.ps1 | scripts/export-resumen-charts.ps1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0774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6AAC644-A0B4-7CB2-29D2-CE31D587EF0B}"/>
              </a:ext>
            </a:extLst>
          </p:cNvPr>
          <p:cNvSpPr txBox="1"/>
          <p:nvPr/>
        </p:nvSpPr>
        <p:spPr>
          <a:xfrm>
            <a:off x="762000" y="2413000"/>
            <a:ext cx="10668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MX" sz="4800" b="1">
                <a:solidFill>
                  <a:srgbClr val="0D47A1"/>
                </a:solidFill>
              </a:rPr>
              <a:t>Anexo: API (por dominio)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E843E4A-11B6-19F1-F85B-C84C1AE7F61E}"/>
              </a:ext>
            </a:extLst>
          </p:cNvPr>
          <p:cNvSpPr txBox="1"/>
          <p:nvPr/>
        </p:nvSpPr>
        <p:spPr>
          <a:xfrm>
            <a:off x="1143000" y="3302000"/>
            <a:ext cx="990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2000">
                <a:solidFill>
                  <a:srgbClr val="374151"/>
                </a:solidFill>
              </a:rPr>
              <a:t>Diagramas de flujo y comportamiento</a:t>
            </a:r>
            <a:endParaRPr lang="es-MX" sz="2000">
              <a:solidFill>
                <a:srgbClr val="3741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65664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781D0D8-211C-1F8D-F6C2-9CE9299C8C3E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3200" b="1">
                <a:solidFill>
                  <a:srgbClr val="0D47A1"/>
                </a:solidFill>
              </a:rPr>
              <a:t>API Empresas: GET /api/empresas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C4D348-D11E-3866-C483-BE9B35731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769" y="939800"/>
            <a:ext cx="7736463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A2E9152-CB4E-74F3-AB2E-CA666590443C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Protegido por requireAuth.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Devuelve catálogo de empresas y metadata (id/nombre/etiqueta).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La UI usa empresaActiva (X-Empresa-Activa) para consultas Firebird.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5AF2E82-6F97-8EF7-E8B3-50110E10E27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src/routes/empresas.js | docs/image/flows-api/flow-api-empresas_js-get-.png</a:t>
            </a:r>
          </a:p>
        </p:txBody>
      </p:sp>
    </p:spTree>
    <p:extLst>
      <p:ext uri="{BB962C8B-B14F-4D97-AF65-F5344CB8AC3E}">
        <p14:creationId xmlns:p14="http://schemas.microsoft.com/office/powerpoint/2010/main" val="422205110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D5019C7-6B1F-34C8-9CA8-F14A3C738EB6}"/>
              </a:ext>
            </a:extLst>
          </p:cNvPr>
          <p:cNvSpPr txBox="1"/>
          <p:nvPr/>
        </p:nvSpPr>
        <p:spPr>
          <a:xfrm>
            <a:off x="508000" y="228600"/>
            <a:ext cx="1117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Módulos: POST /api/modulos/summary-resumen-e (flujo)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ACA7C9-3A00-FAFC-880D-CC3111308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570" y="939800"/>
            <a:ext cx="6866861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0967FEB-0A0D-8649-5FC8-88BD07D4DFF9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Valida: empresaId/anio/periodo/codigos.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Combina Real (Firebird SALDOSyy) + Plan (Firebird PRESUPyy) + comparativo.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Retorna detalle listo para tablas y gráficas (mes/YTD).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1F68184-46CD-EBB1-097E-8C0857186491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src/routes/modulos.js | src/services/summaryService.js | docs/image/flows-api/flow-api-modulos_js-post-_summary-resumen-e.png</a:t>
            </a:r>
          </a:p>
        </p:txBody>
      </p:sp>
    </p:spTree>
    <p:extLst>
      <p:ext uri="{BB962C8B-B14F-4D97-AF65-F5344CB8AC3E}">
        <p14:creationId xmlns:p14="http://schemas.microsoft.com/office/powerpoint/2010/main" val="34859201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671250E-9053-FCB8-F23F-54EBBCB589BB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API Planeación: POST /api/planeacion/cuentas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7C3CAC-77E5-C2C6-9C25-37317F8CA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33184C7-0E32-FCF3-00FC-A7DA142B4EDA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Recibe lista de cuentas y devuelve planeación/presupuesto por cuenta.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Protegido por requireAuth + permiso de empresa.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Se usa como base para RESUMEN/SUMMARY y vistas por módulo.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1C390EC-F76A-FBF1-9BAF-00D7EB7F69BC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src/routes/planeacion.js | src/services/planeacionCuentasService.js | docs/image/flows-api/flow-api-planeacion_js-post-_cuentas.png</a:t>
            </a:r>
          </a:p>
        </p:txBody>
      </p:sp>
    </p:spTree>
    <p:extLst>
      <p:ext uri="{BB962C8B-B14F-4D97-AF65-F5344CB8AC3E}">
        <p14:creationId xmlns:p14="http://schemas.microsoft.com/office/powerpoint/2010/main" val="93371601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47F690E-53EC-8B21-A728-7C9A838552CB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API Saldos: GET /api/saldos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9C2953-FCC4-B68C-75D2-97D500A38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769" y="939800"/>
            <a:ext cx="7736463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F38ADC0-31EB-8CC1-886E-DC25809C7AAD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Consulta saldos por cuentas (Firebird SALDOSyy) para una empresa+ejercicio.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Respuesta incluye meses y estructura lista para serie temporal.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Usado en módulos de análisis y validación de datos.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0D957E-9303-3B82-DED1-577037EE3884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src/routes/saldos.js | src/services/saldosService.js | docs/image/flows-api/flow-api-saldos_js-get-.png</a:t>
            </a:r>
          </a:p>
        </p:txBody>
      </p:sp>
    </p:spTree>
    <p:extLst>
      <p:ext uri="{BB962C8B-B14F-4D97-AF65-F5344CB8AC3E}">
        <p14:creationId xmlns:p14="http://schemas.microsoft.com/office/powerpoint/2010/main" val="284855431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56E4DF8-18E9-954C-0519-E42F3E440C40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Comités: GET /api/comites/movimientos (flujo)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A1B2782-A34E-E2AC-F23B-732B4466E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9A51964-A5BF-DEA4-30CE-71A7D8BB3AEA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Devuelve movimientos/meses para cuentas seleccionadas.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Valida empresaId/anio/cuentas y aplica requireAuth.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Se usa para análisis de comités y dashboards.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64AF5CC-9982-41B4-135A-BC8A89A5F0F3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src/routes/comitesRoutes.js | src/services/comitesService.js | docs/image/flows-api/flow-api-comitesroutes_js-get-_movimientos.png</a:t>
            </a:r>
          </a:p>
        </p:txBody>
      </p:sp>
    </p:spTree>
    <p:extLst>
      <p:ext uri="{BB962C8B-B14F-4D97-AF65-F5344CB8AC3E}">
        <p14:creationId xmlns:p14="http://schemas.microsoft.com/office/powerpoint/2010/main" val="62036433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06E841D-8037-FC36-459B-36B5812F7468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D47A1"/>
                </a:solidFill>
              </a:rPr>
              <a:t>API Backups: POST /api/backups/restore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E18F40-CC41-81F1-B896-E1350BCB7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F2C1E66-3E3D-6CB4-A4DF-9C1524149D8A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Restaura un backup de panel.sqlite.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Antes de restaurar crea copia de seguridad (.bak).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Requiere auth; usado para recuperación ante corrupción o rollback.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A64E95C-33C8-BDA8-2119-C1B7B198958E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src/routes/backups.js | src/services/backupService.js | docs/image/flows-api/flow-api-backups_js-post-_restore.png</a:t>
            </a:r>
          </a:p>
        </p:txBody>
      </p:sp>
    </p:spTree>
    <p:extLst>
      <p:ext uri="{BB962C8B-B14F-4D97-AF65-F5344CB8AC3E}">
        <p14:creationId xmlns:p14="http://schemas.microsoft.com/office/powerpoint/2010/main" val="247849657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52E771D-1402-B821-BD8E-E4B6C85A7E78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D47A1"/>
                </a:solidFill>
              </a:rPr>
              <a:t>API Firebird-config: GET /api/firebird-config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96F44CD-90ED-8C14-13A3-21122A6FE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769" y="939800"/>
            <a:ext cx="7736463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A7D505A-9B10-CF82-A6EF-25822E172423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Requiere admin global.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Devuelve config base (host/port/user) + overrides por empresa.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UI permite ajustar rutas FDB por empresa y probar conexión.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A0E35A1-8629-64F2-C643-E6A790FFED4E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src/routes/firebird-config.js | src/services/firebirdConfigService.js | docs/image/flows-api/flow-api-firebird-config_js-get-.png</a:t>
            </a:r>
          </a:p>
        </p:txBody>
      </p:sp>
    </p:spTree>
    <p:extLst>
      <p:ext uri="{BB962C8B-B14F-4D97-AF65-F5344CB8AC3E}">
        <p14:creationId xmlns:p14="http://schemas.microsoft.com/office/powerpoint/2010/main" val="318520799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4A843B-DF9B-C724-011E-007DCF8B34F8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Gráficas-config: POST /api/graficas-config (flujo)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1E1107-157C-D6B2-C858-C2EC176BE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769" y="939800"/>
            <a:ext cx="7736463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8531251-B90A-87F3-9BE3-23DA766D46C8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Guarda configuración JSON por empresa (colores/series/gráficas).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Upsert en SQLite (tabla graficas_config).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Impacta UI de gráficas, PDF y exportaciones Excel.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3E2E543-1471-D2C6-CB50-2BC9154B754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src/routes/graficas-config.js | src/db/sqlite.js | docs/image/flows-api/flow-api-graficas-config_js-post-.png</a:t>
            </a:r>
          </a:p>
        </p:txBody>
      </p:sp>
    </p:spTree>
    <p:extLst>
      <p:ext uri="{BB962C8B-B14F-4D97-AF65-F5344CB8AC3E}">
        <p14:creationId xmlns:p14="http://schemas.microsoft.com/office/powerpoint/2010/main" val="13099125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DBDF3C2-424B-A8AA-1490-1A87A15D769D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API Inserción: POST /api/insercion/validar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0A38D84-3E12-63D4-4409-D906D4596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7255506-5526-97EE-377C-0EF502D9CF95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Valida jerarquía (SUMMARY/RESUMEN/MÓDULOS) y evita duplicados.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Valida formato de cuenta (21 dígitos vs XXX-XXX-XXX-XX).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Se usa antes de insertar cuentas/secciones/operaciones.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2AF83CE-0ED3-62BB-C462-13CE09D90641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src/routes/insercion.js | docs/image/flows-api/flow-api-insercion_js-post-_validar.png</a:t>
            </a:r>
          </a:p>
        </p:txBody>
      </p:sp>
    </p:spTree>
    <p:extLst>
      <p:ext uri="{BB962C8B-B14F-4D97-AF65-F5344CB8AC3E}">
        <p14:creationId xmlns:p14="http://schemas.microsoft.com/office/powerpoint/2010/main" val="251178973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8A09350-A908-76E2-463C-D99BADC9837A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API Estructura: POST /api/cuentas/agregar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6BA8108-BE07-E0C4-8F42-E7545551C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5" y="939800"/>
            <a:ext cx="8858249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274DB8D-D606-D47F-EAA5-64E78448BB9B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Permite modificar estructura SUMMARY/RESUMEN almacenada como JSON (layoutConfigStore).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Protegido por requireAuth; valida campos mínimos antes de persistir.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1600">
                <a:solidFill>
                  <a:srgbClr val="111827"/>
                </a:solidFill>
              </a:rPr>
              <a:t>Usado por herramientas administrativas de estructura.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1B813C0-F7F4-982A-2E4C-26F1B27901CF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src/routes/estructuraRoutes.js | src/services/layoutConfigStore.js | docs/image/flows-api/flow-api-estructuraroutes_js-post-_cuentas_agregar.png</a:t>
            </a:r>
          </a:p>
        </p:txBody>
      </p:sp>
    </p:spTree>
    <p:extLst>
      <p:ext uri="{BB962C8B-B14F-4D97-AF65-F5344CB8AC3E}">
        <p14:creationId xmlns:p14="http://schemas.microsoft.com/office/powerpoint/2010/main" val="31602687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36D28FC-AFB5-DF6A-2190-ECD206B33AB2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Comentarios: POST /api/comentarios (flujo)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D03B38-0B63-CC77-97AF-C314DF511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769" y="939800"/>
            <a:ext cx="7736463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F38EDC1-C324-1ED9-1644-9AFEF5AC241E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Crea comentario por celda (hilos con parent_id).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Persistencia en SQLite: comentarios_celdas.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Permite colaboración y trazabilidad en presupuestos.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F7D74B7-250F-B588-FDA8-DAE12328DBAA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src/routes/comentarios.js | src/db/sqlite.js | docs/image/flows-api/flow-api-comentarios_js-post-.png</a:t>
            </a:r>
          </a:p>
        </p:txBody>
      </p:sp>
    </p:spTree>
    <p:extLst>
      <p:ext uri="{BB962C8B-B14F-4D97-AF65-F5344CB8AC3E}">
        <p14:creationId xmlns:p14="http://schemas.microsoft.com/office/powerpoint/2010/main" val="232281260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EB33276-2EB3-642B-41C7-67D3AA75877E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3200" b="1">
                <a:solidFill>
                  <a:srgbClr val="0D47A1"/>
                </a:solidFill>
              </a:rPr>
              <a:t>API Notificaciones: GET /api/notificaciones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F95B6A4-975E-9602-BEE2-1E18F23C0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769" y="939800"/>
            <a:ext cx="7736463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65A1936-3164-E9F0-DC1B-1B74062FDB09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Lista notificaciones por usuario (no leídas / últimas N).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Persistencia en SQLite: notificaciones.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Opcionalmente envía correo vía SMTP si está configurado.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3A07FE0-700E-4575-E4E1-F034949893CE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src/routes/notificaciones.js | src/services/notificacionesService.js | docs/image/flows-api/flow-api-notificaciones_js-get-.png</a:t>
            </a:r>
          </a:p>
        </p:txBody>
      </p:sp>
    </p:spTree>
    <p:extLst>
      <p:ext uri="{BB962C8B-B14F-4D97-AF65-F5344CB8AC3E}">
        <p14:creationId xmlns:p14="http://schemas.microsoft.com/office/powerpoint/2010/main" val="221714145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E1EBC0-1775-A10E-F843-235B0D308417}"/>
              </a:ext>
            </a:extLst>
          </p:cNvPr>
          <p:cNvSpPr txBox="1"/>
          <p:nvPr/>
        </p:nvSpPr>
        <p:spPr>
          <a:xfrm>
            <a:off x="508000" y="228600"/>
            <a:ext cx="11176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0D47A1"/>
                </a:solidFill>
              </a:rPr>
              <a:t>API Layouts: GET /api/layouts/:modulo/:anio/:capitulo (flujo)</a:t>
            </a:r>
            <a:endParaRPr lang="es-MX" sz="3200" b="1">
              <a:solidFill>
                <a:srgbClr val="0D47A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E06A49-1A64-7319-DCD0-869A355D9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769" y="939800"/>
            <a:ext cx="7736463" cy="3937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7668341-620A-AD37-7293-39E37DCE783B}"/>
              </a:ext>
            </a:extLst>
          </p:cNvPr>
          <p:cNvSpPr txBox="1"/>
          <p:nvPr/>
        </p:nvSpPr>
        <p:spPr>
          <a:xfrm>
            <a:off x="508000" y="4978400"/>
            <a:ext cx="11176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Carga layout por empresa+módulo+año+capítulo desde SQLite (layout_*).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Devuelve cuentas+secciones+operaciones con orden/visible/fórmulas.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>
                <a:solidFill>
                  <a:srgbClr val="111827"/>
                </a:solidFill>
              </a:rPr>
              <a:t>Base del Gestor de plantillas y de la generación de reportes.</a:t>
            </a:r>
            <a:endParaRPr lang="es-MX" sz="1600">
              <a:solidFill>
                <a:srgbClr val="111827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FB2FAC8-7423-4637-2C61-4208DA730A54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src/routes/layoutRoutes.js | src/services/layoutService.js | docs/image/flows-api/flow-api-layoutroutes_js-get-_modulo_anio_capitulo.png</a:t>
            </a:r>
          </a:p>
        </p:txBody>
      </p:sp>
    </p:spTree>
    <p:extLst>
      <p:ext uri="{BB962C8B-B14F-4D97-AF65-F5344CB8AC3E}">
        <p14:creationId xmlns:p14="http://schemas.microsoft.com/office/powerpoint/2010/main" val="274474993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DDC7A47-6809-150D-E99D-7D68F762B6B0}"/>
              </a:ext>
            </a:extLst>
          </p:cNvPr>
          <p:cNvSpPr txBox="1"/>
          <p:nvPr/>
        </p:nvSpPr>
        <p:spPr>
          <a:xfrm>
            <a:off x="762000" y="2413000"/>
            <a:ext cx="10668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MX" sz="4800" b="1">
                <a:solidFill>
                  <a:srgbClr val="0D47A1"/>
                </a:solidFill>
              </a:rPr>
              <a:t>Anexo: Inventario de endpoints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FC9B4CF-477C-438F-CC75-340B6EF0ACA3}"/>
              </a:ext>
            </a:extLst>
          </p:cNvPr>
          <p:cNvSpPr txBox="1"/>
          <p:nvPr/>
        </p:nvSpPr>
        <p:spPr>
          <a:xfrm>
            <a:off x="1143000" y="3302000"/>
            <a:ext cx="990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2000">
                <a:solidFill>
                  <a:srgbClr val="374151"/>
                </a:solidFill>
              </a:rPr>
              <a:t>Auto-generado desde src/server.js + src/routes/*</a:t>
            </a:r>
            <a:endParaRPr lang="es-MX" sz="2000">
              <a:solidFill>
                <a:srgbClr val="3741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41579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A8A044B-4107-8854-7811-CE48E9C6E966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Endpoints definidos en server.js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482555-A266-9210-C160-E70184FFABC3}"/>
              </a:ext>
            </a:extLst>
          </p:cNvPr>
          <p:cNvSpPr txBox="1"/>
          <p:nvPr/>
        </p:nvSpPr>
        <p:spPr>
          <a:xfrm>
            <a:off x="508000" y="939800"/>
            <a:ext cx="111760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GET /api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GET /api/cuentas-activas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GET /api/salud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999C0FF-5464-A25C-C801-954353146D59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</a:t>
            </a:r>
          </a:p>
        </p:txBody>
      </p:sp>
    </p:spTree>
    <p:extLst>
      <p:ext uri="{BB962C8B-B14F-4D97-AF65-F5344CB8AC3E}">
        <p14:creationId xmlns:p14="http://schemas.microsoft.com/office/powerpoint/2010/main" val="136822141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2D94855-21A1-56D5-7A04-C477D4C1AC83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auth (parte 1/4)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1E9B7A6-4F53-AE77-8202-F9DEC61860BA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/api/auth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público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src\\routes\\auth.js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/debug/user/:usuario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617247-DE86-BF53-F9DC-12F0F3DDF32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src\\routes\\auth.js</a:t>
            </a:r>
          </a:p>
        </p:txBody>
      </p:sp>
    </p:spTree>
    <p:extLst>
      <p:ext uri="{BB962C8B-B14F-4D97-AF65-F5344CB8AC3E}">
        <p14:creationId xmlns:p14="http://schemas.microsoft.com/office/powerpoint/2010/main" val="348903435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2BE0C6F-7EF9-FFDF-F4D9-60827AECFFC6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auth (parte 2/4)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1607D44-DC84-B6F3-EADC-9C668BE7F00E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/api/auth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público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src\\routes\\auth.js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/login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CA2FEAA-F4A8-FD6F-0D8C-A9D940138A80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src\\routes\\auth.js</a:t>
            </a:r>
          </a:p>
        </p:txBody>
      </p:sp>
    </p:spTree>
    <p:extLst>
      <p:ext uri="{BB962C8B-B14F-4D97-AF65-F5344CB8AC3E}">
        <p14:creationId xmlns:p14="http://schemas.microsoft.com/office/powerpoint/2010/main" val="201902411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8E0BEC5-C37F-34FA-C8E5-B96CD1FA1F2A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auth (parte 3/4)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0B13171-ED99-C7D4-1FCC-E1C46EBA9A59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/api/auth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público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src\\routes\\auth.js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/logout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6BFDA0-8D00-C39A-EAF1-45B41113DBAB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src\\routes\\auth.js</a:t>
            </a:r>
          </a:p>
        </p:txBody>
      </p:sp>
    </p:spTree>
    <p:extLst>
      <p:ext uri="{BB962C8B-B14F-4D97-AF65-F5344CB8AC3E}">
        <p14:creationId xmlns:p14="http://schemas.microsoft.com/office/powerpoint/2010/main" val="30062917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BCE0969-5BA0-8786-20DE-22BD91B3C411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auth (parte 4/4)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D52CA22-99ED-CD6B-98AC-8F4A69C2FA73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/api/auth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público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src\\routes\\auth.js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/refresh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35F226A-778D-4235-0702-AD2C8A8DB518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src\\routes\\auth.js</a:t>
            </a:r>
          </a:p>
        </p:txBody>
      </p:sp>
    </p:spTree>
    <p:extLst>
      <p:ext uri="{BB962C8B-B14F-4D97-AF65-F5344CB8AC3E}">
        <p14:creationId xmlns:p14="http://schemas.microsoft.com/office/powerpoint/2010/main" val="125330078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55C2DDD-B587-2596-97AA-39BC3C0891FF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backups (parte 1/6)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D0C21F1-BDB1-2A8D-0BD4-F63A38BD4AA8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/api/backups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src\\routes\\backups.js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GET /download/:fileName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D64E2F-A42A-7B1F-258E-77FB23DBB18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6B7280"/>
                </a:solidFill>
              </a:rPr>
              <a:t>Refs: src/server.js | src\\routes\\backups.js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03951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F521F0F-FE96-DE04-773B-E470B699F2EB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backups (parte 2/6)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1DBBF0-C6C4-3E59-49FB-855A98D7127E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/api/backups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src\\routes\\backups.js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GET /list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E7DE02E-72D6-04A3-E74E-A65B911B8C4E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6B7280"/>
                </a:solidFill>
              </a:rPr>
              <a:t>Refs: src/server.js | src\\routes\\backups.js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18048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90372B9-03B7-D31B-4C31-F48ECEE51038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backups (parte 3/6)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D5D39A3-B5B6-3DA0-52EA-133FD4E68915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/api/backups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src\\routes\\backups.js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GET /status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3A5F442-DB54-3272-8C8B-909567730908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6B7280"/>
                </a:solidFill>
              </a:rPr>
              <a:t>Refs: src/server.js | src\\routes\\backups.js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06283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E2FDDF8-17A2-5E1C-1CCE-C8A9DE1DEF62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backups (parte 4/6)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163F5D2-14A6-F22B-0AF8-F0ED312959D7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/api/backups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src\\routes\\backups.js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POST /create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ABFF4E2-B8CD-C9A6-5601-523C85C6732C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6B7280"/>
                </a:solidFill>
              </a:rPr>
              <a:t>Refs: src/server.js | src\\routes\\backups.js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74814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671F513-1ADB-BD1D-A306-5A7BC2C81DBF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backups (parte 5/6)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DDEBF5C-455E-4C2D-2C55-912217FC6F25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/api/backups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src\\routes\\backups.js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POST /restore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629E274-A54C-43EF-7815-B5FE6633049A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6B7280"/>
                </a:solidFill>
              </a:rPr>
              <a:t>Refs: src/server.js | src\\routes\\backups.js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08451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2DF97C2-E49D-6715-346C-793F108941EA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backups (parte 6/6)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5732216-CACC-0B0E-423A-77C6CC41735F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/api/backups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src\\routes\\backups.js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PUT /config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FF7DDB-C39D-B041-F891-B9C9BC3D0E87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6B7280"/>
                </a:solidFill>
              </a:rPr>
              <a:t>Refs: src/server.js | src\\routes\\backups.js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67677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166570-F863-91BD-EB82-F80677BC9D94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borradores (parte 1/14)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32E310C-9B44-D9DA-FDC5-C6F24E5C4C85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/api/borradores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src\\routes\\borradores.js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/detalle/:id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CBFFD60-B767-E5C4-ABCF-3C80EAA84D93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src\\routes\\borradores.js</a:t>
            </a:r>
          </a:p>
        </p:txBody>
      </p:sp>
    </p:spTree>
    <p:extLst>
      <p:ext uri="{BB962C8B-B14F-4D97-AF65-F5344CB8AC3E}">
        <p14:creationId xmlns:p14="http://schemas.microsoft.com/office/powerpoint/2010/main" val="167465455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8DA174-1EC5-4937-458D-976451B77493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borradores (parte 2/14)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6CD7DB9-355B-800C-9027-A4ED028C4007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/api/borradores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src\\routes\\borradores.js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/estado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6E734C-07D8-9A60-41C2-856BA2BDA0E8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src\\routes\\borradores.js</a:t>
            </a:r>
          </a:p>
        </p:txBody>
      </p:sp>
    </p:spTree>
    <p:extLst>
      <p:ext uri="{BB962C8B-B14F-4D97-AF65-F5344CB8AC3E}">
        <p14:creationId xmlns:p14="http://schemas.microsoft.com/office/powerpoint/2010/main" val="278185929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1BECE93-E585-FBB2-E8EA-04B82D6AE648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borradores (parte 3/14)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26B6A42-4329-A952-9844-ACB8A69CC961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/api/borradores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src\\routes\\borradores.js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/historial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C807CB1-FBCD-C683-C294-A70199085536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src\\routes\\borradores.js</a:t>
            </a:r>
          </a:p>
        </p:txBody>
      </p:sp>
    </p:spTree>
    <p:extLst>
      <p:ext uri="{BB962C8B-B14F-4D97-AF65-F5344CB8AC3E}">
        <p14:creationId xmlns:p14="http://schemas.microsoft.com/office/powerpoint/2010/main" val="107507703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06426DA-6D48-120D-1BAB-45FE8B371384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borradores (parte 4/14)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3A84006-2847-12EC-C1E6-B3D9F6E7D249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/api/borradores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src\\routes\\borradores.js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/listar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6EF516B-9AF3-912F-CAE6-4F9EF60348CE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src\\routes\\borradores.js</a:t>
            </a:r>
          </a:p>
        </p:txBody>
      </p:sp>
    </p:spTree>
    <p:extLst>
      <p:ext uri="{BB962C8B-B14F-4D97-AF65-F5344CB8AC3E}">
        <p14:creationId xmlns:p14="http://schemas.microsoft.com/office/powerpoint/2010/main" val="90310148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67FFB9B-8333-1A05-93B6-1A39F73C9D6E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borradores (parte 5/14)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694F21B-0DCD-A271-CE96-841F7F87E8DB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/api/borradores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src\\routes\\borradores.js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/progreso/:id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4770EC-524B-1A92-A8B0-8DC3A0C7635E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src\\routes\\borradores.js</a:t>
            </a:r>
          </a:p>
        </p:txBody>
      </p:sp>
    </p:spTree>
    <p:extLst>
      <p:ext uri="{BB962C8B-B14F-4D97-AF65-F5344CB8AC3E}">
        <p14:creationId xmlns:p14="http://schemas.microsoft.com/office/powerpoint/2010/main" val="23987313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75E1CE3-F2AF-3F93-AAE7-B3974E450C45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borradores (parte 6/14)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86C969-7159-7553-B082-EC3035542C97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/api/borradores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src\\routes\\borradores.js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/autorizar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2079AA6-95E4-092D-F77B-319E48168ACA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src\\routes\\borradores.js</a:t>
            </a:r>
          </a:p>
        </p:txBody>
      </p:sp>
    </p:spTree>
    <p:extLst>
      <p:ext uri="{BB962C8B-B14F-4D97-AF65-F5344CB8AC3E}">
        <p14:creationId xmlns:p14="http://schemas.microsoft.com/office/powerpoint/2010/main" val="271902067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615DFE1-81B0-226D-8F62-1B018C064E67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borradores (parte 7/14)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2AC383E-540C-4F29-545E-7EA8ACE1E1A0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/api/borradores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src\\routes\\borradores.js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/descartar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354D3A0-7BB1-8797-F62D-B15F9A2C1709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src\\routes\\borradores.js</a:t>
            </a:r>
          </a:p>
        </p:txBody>
      </p:sp>
    </p:spTree>
    <p:extLst>
      <p:ext uri="{BB962C8B-B14F-4D97-AF65-F5344CB8AC3E}">
        <p14:creationId xmlns:p14="http://schemas.microsoft.com/office/powerpoint/2010/main" val="254209372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9B6188F-D6EA-2F15-021F-54C2C00771E2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borradores (parte 8/14)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A8913DC-B18E-7F43-02DA-FD2F81C01595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/api/borradores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src\\routes\\borradores.js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/enviar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E16E7E5-F7C3-4FCD-DEC8-F1E81C182B55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src\\routes\\borradores.js</a:t>
            </a:r>
          </a:p>
        </p:txBody>
      </p:sp>
    </p:spTree>
    <p:extLst>
      <p:ext uri="{BB962C8B-B14F-4D97-AF65-F5344CB8AC3E}">
        <p14:creationId xmlns:p14="http://schemas.microsoft.com/office/powerpoint/2010/main" val="24560181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DAC12F7-150A-8C7C-986F-34247DF9CA91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borradores (parte 9/14)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229DE0-7010-D3BB-9A78-FE9D37034ED1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/api/borradores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src\\routes\\borradores.js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/finalizar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4B52D9D-609C-1E69-60DF-BD7200E0FF8D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src\\routes\\borradores.js</a:t>
            </a:r>
          </a:p>
        </p:txBody>
      </p:sp>
    </p:spTree>
    <p:extLst>
      <p:ext uri="{BB962C8B-B14F-4D97-AF65-F5344CB8AC3E}">
        <p14:creationId xmlns:p14="http://schemas.microsoft.com/office/powerpoint/2010/main" val="344351739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C3A03AE-F0A3-7AF4-9A38-D5E9BB5DA864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borradores (parte 10/14)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7D0D8DB-6D68-8017-8FFF-22F0947F7573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/api/borradores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src\\routes\\borradores.js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/guardar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C7C0A4D-6B2B-6F6C-2FB7-2D8EDC866A3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src\\routes\\borradores.js</a:t>
            </a:r>
          </a:p>
        </p:txBody>
      </p:sp>
    </p:spTree>
    <p:extLst>
      <p:ext uri="{BB962C8B-B14F-4D97-AF65-F5344CB8AC3E}">
        <p14:creationId xmlns:p14="http://schemas.microsoft.com/office/powerpoint/2010/main" val="325667424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124095C-64BB-AA5D-B9E1-C0B17CA62C64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borradores (parte 11/14)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C10C343-27AE-0A30-5EFE-3049AB800C8C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/api/borradores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src\\routes\\borradores.js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/rechazar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07227A9-3753-8C84-78BB-6D1BF8B4B2CB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src\\routes\\borradores.js</a:t>
            </a:r>
          </a:p>
        </p:txBody>
      </p:sp>
    </p:spTree>
    <p:extLst>
      <p:ext uri="{BB962C8B-B14F-4D97-AF65-F5344CB8AC3E}">
        <p14:creationId xmlns:p14="http://schemas.microsoft.com/office/powerpoint/2010/main" val="218588985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F0C7B4D-B670-037C-7337-E2396F61B70D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borradores (parte 12/14)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A9D94C6-DAEF-D352-B8F2-C8641FD44A0D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/api/borradores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src\\routes\\borradores.js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/recontabilizar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FE51A77-4881-5EDC-C680-2314D20B6F23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src\\routes\\borradores.js</a:t>
            </a:r>
          </a:p>
        </p:txBody>
      </p:sp>
    </p:spTree>
    <p:extLst>
      <p:ext uri="{BB962C8B-B14F-4D97-AF65-F5344CB8AC3E}">
        <p14:creationId xmlns:p14="http://schemas.microsoft.com/office/powerpoint/2010/main" val="160047245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79A1445-5D79-169A-1BA1-620436859AB0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borradores (parte 13/14)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6DB9784-2D62-4C73-B94E-A7FFCB9BFFDB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/api/borradores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src\\routes\\borradores.js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/recontabilizar/todas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B7A277-DBC0-A84B-3F8B-47E9EF408D10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src\\routes\\borradores.js</a:t>
            </a:r>
          </a:p>
        </p:txBody>
      </p:sp>
    </p:spTree>
    <p:extLst>
      <p:ext uri="{BB962C8B-B14F-4D97-AF65-F5344CB8AC3E}">
        <p14:creationId xmlns:p14="http://schemas.microsoft.com/office/powerpoint/2010/main" val="313983373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B2E54B7-F3E6-0CD3-6F19-C1DB038396E9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borradores (parte 14/14)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FA55295-783F-BECC-A281-25AA81345096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/api/borradores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src\\routes\\borradores.js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/revisar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790A6FD-C8A9-75A6-79B3-3BAC41DD9993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src\\routes\\borradores.js</a:t>
            </a:r>
          </a:p>
        </p:txBody>
      </p:sp>
    </p:spTree>
    <p:extLst>
      <p:ext uri="{BB962C8B-B14F-4D97-AF65-F5344CB8AC3E}">
        <p14:creationId xmlns:p14="http://schemas.microsoft.com/office/powerpoint/2010/main" val="158998350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62FB107-F68A-795C-118F-CBCF573E3997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comentarios (parte 1/4)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7237A3B-6612-2DBF-D3F5-180B312A0F14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/api/comentarios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src\\routes\\comentarios.js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06F728B-C895-DED9-985C-D08C70469BB5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src\\routes\\comentarios.js</a:t>
            </a:r>
          </a:p>
        </p:txBody>
      </p:sp>
    </p:spTree>
    <p:extLst>
      <p:ext uri="{BB962C8B-B14F-4D97-AF65-F5344CB8AC3E}">
        <p14:creationId xmlns:p14="http://schemas.microsoft.com/office/powerpoint/2010/main" val="348072123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708199B-E2F4-E3A4-5302-1C2964CEEF94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comentarios (parte 2/4)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298B906-E8A2-77B8-7B19-55EEE67E9A91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/api/comentarios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src\\routes\\comentarios.js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GET /resumen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E91343D-98BA-F45A-679C-49F8FB625157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src\\routes\\comentarios.js</a:t>
            </a:r>
          </a:p>
        </p:txBody>
      </p:sp>
    </p:spTree>
    <p:extLst>
      <p:ext uri="{BB962C8B-B14F-4D97-AF65-F5344CB8AC3E}">
        <p14:creationId xmlns:p14="http://schemas.microsoft.com/office/powerpoint/2010/main" val="146111951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731CC75-994B-FEDE-2F05-2AC7A448ECB8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comentarios (parte 3/4)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4EA0954-7B79-ABB7-4A54-F4B3768C5D3D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/api/comentarios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src\\routes\\comentarios.js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PATCH /:id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0C40E35-8E62-216A-AD85-BBEC81A0136D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src\\routes\\comentarios.js</a:t>
            </a:r>
          </a:p>
        </p:txBody>
      </p:sp>
    </p:spTree>
    <p:extLst>
      <p:ext uri="{BB962C8B-B14F-4D97-AF65-F5344CB8AC3E}">
        <p14:creationId xmlns:p14="http://schemas.microsoft.com/office/powerpoint/2010/main" val="215970739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B440B3F-3B75-5E7F-DEBD-F70E8DBB850D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comentarios (parte 4/4)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329DE92-0A78-4FB1-6C31-F9DD2F14D9FA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/api/comentarios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src\\routes\\comentarios.js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02307E8-BBD1-E819-985F-C848C4B16FAD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src\\routes\\comentarios.js</a:t>
            </a:r>
          </a:p>
        </p:txBody>
      </p:sp>
    </p:spTree>
    <p:extLst>
      <p:ext uri="{BB962C8B-B14F-4D97-AF65-F5344CB8AC3E}">
        <p14:creationId xmlns:p14="http://schemas.microsoft.com/office/powerpoint/2010/main" val="312852127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8CB4618-85C2-5306-FA87-26B8BFE0992B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comitesRoutes (parte 1/4)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CDA3D05-B3D6-239A-9305-3510C01B4BA9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/api/comites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src\\routes\\comitesRoutes.js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/anios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FA4E8AA-A612-AB05-9A78-A639F1B2B4F0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src\\routes\\comitesRoutes.js</a:t>
            </a:r>
          </a:p>
        </p:txBody>
      </p:sp>
    </p:spTree>
    <p:extLst>
      <p:ext uri="{BB962C8B-B14F-4D97-AF65-F5344CB8AC3E}">
        <p14:creationId xmlns:p14="http://schemas.microsoft.com/office/powerpoint/2010/main" val="105769099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79B1363-39CA-8DD2-F95D-CD88B41A5242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comitesRoutes (parte 2/4)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514B587-E3FF-163C-8CCA-25F9960CD5EF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/api/comites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src\\routes\\comitesRoutes.js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/cuentas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33EDCEA-F9A8-1F8F-C3DB-51E3B404301C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src\\routes\\comitesRoutes.js</a:t>
            </a:r>
          </a:p>
        </p:txBody>
      </p:sp>
    </p:spTree>
    <p:extLst>
      <p:ext uri="{BB962C8B-B14F-4D97-AF65-F5344CB8AC3E}">
        <p14:creationId xmlns:p14="http://schemas.microsoft.com/office/powerpoint/2010/main" val="363460885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F1841B9-ACC4-6CEC-6109-B9B53573D32B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comitesRoutes (parte 3/4)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DB4FE01-5A02-E250-EAED-7F213090D8EB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/api/comites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src\\routes\\comitesRoutes.js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/lista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16D57ED-DC7A-8B62-4A7C-EA13289B4BC3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src\\routes\\comitesRoutes.js</a:t>
            </a:r>
          </a:p>
        </p:txBody>
      </p:sp>
    </p:spTree>
    <p:extLst>
      <p:ext uri="{BB962C8B-B14F-4D97-AF65-F5344CB8AC3E}">
        <p14:creationId xmlns:p14="http://schemas.microsoft.com/office/powerpoint/2010/main" val="203692096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5D3CB0A-C6AE-E0CE-3F59-B5DC87D5FDF5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comitesRoutes (parte 4/4)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5177B9D-38C8-9DC5-668F-5E167A5C3930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/api/comites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src\\routes\\comitesRoutes.js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/movimientos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517BE38-CA76-EBC6-E009-55F6D530448E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src\\routes\\comitesRoutes.js</a:t>
            </a:r>
          </a:p>
        </p:txBody>
      </p:sp>
    </p:spTree>
    <p:extLst>
      <p:ext uri="{BB962C8B-B14F-4D97-AF65-F5344CB8AC3E}">
        <p14:creationId xmlns:p14="http://schemas.microsoft.com/office/powerpoint/2010/main" val="339089789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46AEAAB-82E9-B423-2B5E-6537B0DF4398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cuentas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CDCC602-B76E-C0DF-D691-0137B21C9871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/api/cuentas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público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src\\routes\\cuentas.js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/catalogo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06A60CD-FABF-3904-6836-9155AB3CB1FA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src\\routes\\cuentas.js</a:t>
            </a:r>
          </a:p>
        </p:txBody>
      </p:sp>
    </p:spTree>
    <p:extLst>
      <p:ext uri="{BB962C8B-B14F-4D97-AF65-F5344CB8AC3E}">
        <p14:creationId xmlns:p14="http://schemas.microsoft.com/office/powerpoint/2010/main" val="1176748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FC85B20-7E84-C414-B3DD-D4B6A6EB8696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empresas (parte 1/3)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11EC4BF-C385-E9E1-F566-D01572962D6E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/api/empresas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src\\routes\\empresas.js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DA73160-6BEA-FDD9-D17C-B7AB89BAE1BE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src\\routes\\empresas.js</a:t>
            </a:r>
          </a:p>
        </p:txBody>
      </p:sp>
    </p:spTree>
    <p:extLst>
      <p:ext uri="{BB962C8B-B14F-4D97-AF65-F5344CB8AC3E}">
        <p14:creationId xmlns:p14="http://schemas.microsoft.com/office/powerpoint/2010/main" val="327960512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334E625-A0E2-BF74-044C-FB243E8BF05A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empresas (parte 2/3)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BD07013-705D-1BFD-5920-DCC7EF58A819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/api/empresas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src\\routes\\empresas.js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/:id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316481D-BC5D-95C1-7078-F7AAB945B3A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src\\routes\\empresas.js</a:t>
            </a:r>
          </a:p>
        </p:txBody>
      </p:sp>
    </p:spTree>
    <p:extLst>
      <p:ext uri="{BB962C8B-B14F-4D97-AF65-F5344CB8AC3E}">
        <p14:creationId xmlns:p14="http://schemas.microsoft.com/office/powerpoint/2010/main" val="259001041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132986C-C80D-BDF3-E38A-F0312BEBC86D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empresas (parte 3/3)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DB4AFD9-BE30-4CF6-AB2E-0AF2D1D58867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/api/empresas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src\\routes\\empresas.js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/:id/conexion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E87BD22-174D-53B9-F16D-19531420BA57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src\\routes\\empresas.js</a:t>
            </a:r>
          </a:p>
        </p:txBody>
      </p:sp>
    </p:spTree>
    <p:extLst>
      <p:ext uri="{BB962C8B-B14F-4D97-AF65-F5344CB8AC3E}">
        <p14:creationId xmlns:p14="http://schemas.microsoft.com/office/powerpoint/2010/main" val="347732371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74C5C2F-D6E2-0ECD-6F47-F38AAD2EA387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estructuraRoutes (parte 1/6)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46938E-A9B9-E6AA-F8D7-407ABD57B0AC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src\\routes\\estructuraRoutes.js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DELETE /cuentas/eliminar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429611-D617-B1A5-BD21-922CCA4341D1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000">
                <a:solidFill>
                  <a:srgbClr val="6B7280"/>
                </a:solidFill>
              </a:rPr>
              <a:t>Refs: src/server.js | src\\routes\\estructuraRoutes.js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27867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5B05D7C-26F5-1897-8545-A920FDC2F112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estructuraRoutes (parte 2/6)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7BA3652-766F-7BA2-E941-E43CD938F505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src\\routes\\estructuraRoutes.js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/estructura/secciones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4D8CE42-62D4-08A5-2929-DFB76E9F1978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000">
                <a:solidFill>
                  <a:srgbClr val="6B7280"/>
                </a:solidFill>
              </a:rPr>
              <a:t>Refs: src/server.js | src\\routes\\estructuraRoutes.js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76843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2293898-5B0F-0D26-C590-A89804476A92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estructuraRoutes (parte 3/6)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716EA0F-6261-834C-CFCA-4B3A8C8E84AE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src\\routes\\estructuraRoutes.js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/cuentas/agregar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431584-7AEC-8B28-FC93-7A792EFF0295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000">
                <a:solidFill>
                  <a:srgbClr val="6B7280"/>
                </a:solidFill>
              </a:rPr>
              <a:t>Refs: src/server.js | src\\routes\\estructuraRoutes.js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76496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2AE9A0A-CCA8-6D1E-372E-2F9682F36F77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estructuraRoutes (parte 4/6)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51BFD6C-23DD-FBD4-3610-8B869B5B90BA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src\\routes\\estructuraRoutes.js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/operaciones/agregar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FECFE4-2477-35A9-5C50-E529C3529B8F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000">
                <a:solidFill>
                  <a:srgbClr val="6B7280"/>
                </a:solidFill>
              </a:rPr>
              <a:t>Refs: src/server.js | src\\routes\\estructuraRoutes.js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37998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8BB2B3B-418B-8623-2B5D-0FFF04E43480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estructuraRoutes (parte 5/6)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5332F2E-1199-41E9-6AD6-D41D193CFA95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src\\routes\\estructuraRoutes.js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/secciones/agregar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2D41B59-19F6-E923-2111-A7701C8D20E5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000">
                <a:solidFill>
                  <a:srgbClr val="6B7280"/>
                </a:solidFill>
              </a:rPr>
              <a:t>Refs: src/server.js | src\\routes\\estructuraRoutes.js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64541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CDF629-E966-365C-D2B2-3AF8D36D88C1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estructuraRoutes (parte 6/6)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A3E4DFB-9BE9-0E92-C48B-6C5226095F0A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src\\routes\\estructuraRoutes.js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PUT /cuentas/editar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E5CA102-4E60-D2F7-AD83-8B9B607F72AF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000">
                <a:solidFill>
                  <a:srgbClr val="6B7280"/>
                </a:solidFill>
              </a:rPr>
              <a:t>Refs: src/server.js | src\\routes\\estructuraRoutes.js</a:t>
            </a:r>
            <a:endParaRPr lang="es-MX" sz="1000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22337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97B827F-4352-1771-9C4F-39994AD1228C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firebird-config (parte 1/5)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E81CF38-B22A-18B8-92E0-97F960B24815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/api/firebird-config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 + requireAdminGlobal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src\\routes\\firebird-config.js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DELETE /empresa/:id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C7E9ECB-1B2D-676F-6352-71CF2586407C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src\\routes\\firebird-config.js</a:t>
            </a:r>
          </a:p>
        </p:txBody>
      </p:sp>
    </p:spTree>
    <p:extLst>
      <p:ext uri="{BB962C8B-B14F-4D97-AF65-F5344CB8AC3E}">
        <p14:creationId xmlns:p14="http://schemas.microsoft.com/office/powerpoint/2010/main" val="386678221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C31EB99-492A-96D5-A19D-B81F094758C2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firebird-config (parte 2/5)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AFBEABB-38DE-8996-35AC-B8CD2DD0407A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/api/firebird-config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(router) + requireAdminGlobal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src\\routes\\firebird-config.js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GET /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B790300-D3A8-1EFB-33E8-4559F4B0BAAA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src\\routes\\firebird-config.js</a:t>
            </a:r>
          </a:p>
        </p:txBody>
      </p:sp>
    </p:spTree>
    <p:extLst>
      <p:ext uri="{BB962C8B-B14F-4D97-AF65-F5344CB8AC3E}">
        <p14:creationId xmlns:p14="http://schemas.microsoft.com/office/powerpoint/2010/main" val="246128680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F49CE29-BF9E-D706-CF0A-17F4648BFB9E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firebird-config (parte 3/5)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48BA1C3-8A22-963E-86C4-3EF4D155702B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/api/firebird-config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 + requireAdminGlobal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src\\routes\\firebird-config.js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/test/:id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D7D169A-4CCE-48F8-A120-430572E6139B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src\\routes\\firebird-config.js</a:t>
            </a:r>
          </a:p>
        </p:txBody>
      </p:sp>
    </p:spTree>
    <p:extLst>
      <p:ext uri="{BB962C8B-B14F-4D97-AF65-F5344CB8AC3E}">
        <p14:creationId xmlns:p14="http://schemas.microsoft.com/office/powerpoint/2010/main" val="211000921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EB1DF86-D523-2108-7183-2A5E45C94E94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firebird-config (parte 4/5)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B19512E-2B24-CAF3-9F1B-2ADF101DEC80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/api/firebird-config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(router) + requireAdminGlobal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src\\routes\\firebird-config.js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PUT /base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35C1FD2-1A14-5616-5CF2-4C855F4F709D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src\\routes\\firebird-config.js</a:t>
            </a:r>
          </a:p>
        </p:txBody>
      </p:sp>
    </p:spTree>
    <p:extLst>
      <p:ext uri="{BB962C8B-B14F-4D97-AF65-F5344CB8AC3E}">
        <p14:creationId xmlns:p14="http://schemas.microsoft.com/office/powerpoint/2010/main" val="106270128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5203852-DD09-8977-C35D-B1E4C289A2AC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firebird-config (parte 5/5)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D4FD24-90BF-6D32-20F0-8C984D333A7B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/api/firebird-config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 + requireAdminGlobal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src\\routes\\firebird-config.js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PUT /empresa/:id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95FB2D-6E47-1900-EFB2-957FA63F7ACE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src\\routes\\firebird-config.js</a:t>
            </a:r>
          </a:p>
        </p:txBody>
      </p:sp>
    </p:spTree>
    <p:extLst>
      <p:ext uri="{BB962C8B-B14F-4D97-AF65-F5344CB8AC3E}">
        <p14:creationId xmlns:p14="http://schemas.microsoft.com/office/powerpoint/2010/main" val="325114860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E454886-678F-A2A4-A254-7E920BA5BCEF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graficas-config (parte 1/3)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184CAFF-73D7-DAC8-B2B4-9F440FC2147F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>
                <a:solidFill>
                  <a:srgbClr val="111827"/>
                </a:solidFill>
              </a:rPr>
              <a:t>Bases: /api/graficas-config</a:t>
            </a:r>
          </a:p>
          <a:p>
            <a:pPr marL="342900" indent="-342900">
              <a:buFont typeface="+mj-lt"/>
              <a:buAutoNum type="arabicPeriod"/>
            </a:pPr>
            <a:r>
              <a:rPr lang="pt-BR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pt-BR">
                <a:solidFill>
                  <a:srgbClr val="111827"/>
                </a:solidFill>
              </a:rPr>
              <a:t>Archivo: src\\routes\\graficas-config.js</a:t>
            </a:r>
          </a:p>
          <a:p>
            <a:pPr marL="342900" indent="-342900">
              <a:buFont typeface="+mj-lt"/>
              <a:buAutoNum type="arabicPeriod"/>
            </a:pPr>
            <a:r>
              <a:rPr lang="pt-BR">
                <a:solidFill>
                  <a:srgbClr val="111827"/>
                </a:solidFill>
              </a:rPr>
              <a:t>DELETE /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2C9DB74-AE16-DD18-4A0F-A278CFA0529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src\\routes\\graficas-config.js</a:t>
            </a:r>
          </a:p>
        </p:txBody>
      </p:sp>
    </p:spTree>
    <p:extLst>
      <p:ext uri="{BB962C8B-B14F-4D97-AF65-F5344CB8AC3E}">
        <p14:creationId xmlns:p14="http://schemas.microsoft.com/office/powerpoint/2010/main" val="75864954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6BF69CA-E769-44D2-60CB-BD6F40F4D730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graficas-config (parte 2/3)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3B2BDB8-1C3A-4313-5DF6-270E5C521ED6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>
                <a:solidFill>
                  <a:srgbClr val="111827"/>
                </a:solidFill>
              </a:rPr>
              <a:t>Bases: /api/graficas-config</a:t>
            </a:r>
          </a:p>
          <a:p>
            <a:pPr marL="342900" indent="-342900">
              <a:buFont typeface="+mj-lt"/>
              <a:buAutoNum type="arabicPeriod"/>
            </a:pPr>
            <a:r>
              <a:rPr lang="pt-BR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pt-BR">
                <a:solidFill>
                  <a:srgbClr val="111827"/>
                </a:solidFill>
              </a:rPr>
              <a:t>Archivo: src\\routes\\graficas-config.js</a:t>
            </a:r>
          </a:p>
          <a:p>
            <a:pPr marL="342900" indent="-342900">
              <a:buFont typeface="+mj-lt"/>
              <a:buAutoNum type="arabicPeriod"/>
            </a:pPr>
            <a:r>
              <a:rPr lang="pt-BR">
                <a:solidFill>
                  <a:srgbClr val="111827"/>
                </a:solidFill>
              </a:rPr>
              <a:t>GET /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6B442DD-8766-0059-E76B-CF95B510E1D4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src\\routes\\graficas-config.js</a:t>
            </a:r>
          </a:p>
        </p:txBody>
      </p:sp>
    </p:spTree>
    <p:extLst>
      <p:ext uri="{BB962C8B-B14F-4D97-AF65-F5344CB8AC3E}">
        <p14:creationId xmlns:p14="http://schemas.microsoft.com/office/powerpoint/2010/main" val="241953094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A2C620C-4901-83FC-426C-C3BDFC620813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graficas-config (parte 3/3)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925FE4C-2338-991D-9D27-46E3B51E2525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>
                <a:solidFill>
                  <a:srgbClr val="111827"/>
                </a:solidFill>
              </a:rPr>
              <a:t>Bases: /api/graficas-config</a:t>
            </a:r>
          </a:p>
          <a:p>
            <a:pPr marL="342900" indent="-342900">
              <a:buFont typeface="+mj-lt"/>
              <a:buAutoNum type="arabicPeriod"/>
            </a:pPr>
            <a:r>
              <a:rPr lang="pt-BR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pt-BR">
                <a:solidFill>
                  <a:srgbClr val="111827"/>
                </a:solidFill>
              </a:rPr>
              <a:t>Archivo: src\\routes\\graficas-config.js</a:t>
            </a:r>
          </a:p>
          <a:p>
            <a:pPr marL="342900" indent="-342900">
              <a:buFont typeface="+mj-lt"/>
              <a:buAutoNum type="arabicPeriod"/>
            </a:pPr>
            <a:r>
              <a:rPr lang="pt-BR">
                <a:solidFill>
                  <a:srgbClr val="111827"/>
                </a:solidFill>
              </a:rPr>
              <a:t>POST /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0FF0C5-DE09-E565-8660-B2A547C19969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src\\routes\\graficas-config.js</a:t>
            </a:r>
          </a:p>
        </p:txBody>
      </p:sp>
    </p:spTree>
    <p:extLst>
      <p:ext uri="{BB962C8B-B14F-4D97-AF65-F5344CB8AC3E}">
        <p14:creationId xmlns:p14="http://schemas.microsoft.com/office/powerpoint/2010/main" val="99286767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765C3F6-F213-8E9D-161F-95CE881FCD71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insercion (parte 1/6)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6384C4E-7F1F-4B3C-4F6D-10D8C10F65CD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/api/insercion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src\\routes\\insercion.js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/opciones/:nivel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682159-E024-88A9-B56B-32A160BB0387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src\\routes\\insercion.js</a:t>
            </a:r>
          </a:p>
        </p:txBody>
      </p:sp>
    </p:spTree>
    <p:extLst>
      <p:ext uri="{BB962C8B-B14F-4D97-AF65-F5344CB8AC3E}">
        <p14:creationId xmlns:p14="http://schemas.microsoft.com/office/powerpoint/2010/main" val="163935615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DA27483-7C9C-FCC5-9BF0-A278D04F329C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insercion (parte 2/6)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D4A55AE-DF50-6469-F567-0155065BF144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/api/insercion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src\\routes\\insercion.js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/cuenta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BD3114B-3ED4-88F2-944D-67FDCE2677F5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src\\routes\\insercion.js</a:t>
            </a:r>
          </a:p>
        </p:txBody>
      </p:sp>
    </p:spTree>
    <p:extLst>
      <p:ext uri="{BB962C8B-B14F-4D97-AF65-F5344CB8AC3E}">
        <p14:creationId xmlns:p14="http://schemas.microsoft.com/office/powerpoint/2010/main" val="391359457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7A09CB3-CE6E-8B06-AD1D-ED0D2700AE0F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insercion (parte 3/6)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78A048B-6A1E-F205-6AF5-49B1DF608651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/api/insercion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src\\routes\\insercion.js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/operacion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23E8A14-4896-9746-BC44-13213055E6FE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src\\routes\\insercion.js</a:t>
            </a:r>
          </a:p>
        </p:txBody>
      </p:sp>
    </p:spTree>
    <p:extLst>
      <p:ext uri="{BB962C8B-B14F-4D97-AF65-F5344CB8AC3E}">
        <p14:creationId xmlns:p14="http://schemas.microsoft.com/office/powerpoint/2010/main" val="48971967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CC7D98E-1A04-5C9B-AC1D-5B3043A147E2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insercion (parte 4/6)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3BA8D2B-7D5F-A42C-1D34-CF0FFDC872E7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/api/insercion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src\\routes\\insercion.js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POST /operacion-sumas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11B77CE-14B2-BE3A-6AC6-029DA452D2A8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src\\routes\\insercion.js</a:t>
            </a:r>
          </a:p>
        </p:txBody>
      </p:sp>
    </p:spTree>
    <p:extLst>
      <p:ext uri="{BB962C8B-B14F-4D97-AF65-F5344CB8AC3E}">
        <p14:creationId xmlns:p14="http://schemas.microsoft.com/office/powerpoint/2010/main" val="406393928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5F4E12-8A6C-D181-B266-8B6AB2E24E81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insercion (parte 5/6)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B158FDD-D47D-1EB2-54B2-0E90C023CF7C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/api/insercion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src\\routes\\insercion.js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/seccion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2F804B-41F9-FD80-C2ED-0EF743AF26CC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src\\routes\\insercion.js</a:t>
            </a:r>
          </a:p>
        </p:txBody>
      </p:sp>
    </p:spTree>
    <p:extLst>
      <p:ext uri="{BB962C8B-B14F-4D97-AF65-F5344CB8AC3E}">
        <p14:creationId xmlns:p14="http://schemas.microsoft.com/office/powerpoint/2010/main" val="1988631403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3E1FE59-8CBA-0B21-D33E-55E9D4BE84E2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insercion (parte 6/6)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B92EB51-B1C3-AAF2-F708-B9F7A06411CE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/api/insercion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src\\routes\\insercion.js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/validar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114981C-B016-0712-A863-6C2E55F06A51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src\\routes\\insercion.js</a:t>
            </a:r>
          </a:p>
        </p:txBody>
      </p:sp>
    </p:spTree>
    <p:extLst>
      <p:ext uri="{BB962C8B-B14F-4D97-AF65-F5344CB8AC3E}">
        <p14:creationId xmlns:p14="http://schemas.microsoft.com/office/powerpoint/2010/main" val="315611385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A7F0792-3863-8637-B1B3-7AFD6D4BD33F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layoutRoutes (parte 1/2)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C99EFDC-DFFB-948A-EB39-1E1E1833C67F}"/>
              </a:ext>
            </a:extLst>
          </p:cNvPr>
          <p:cNvSpPr txBox="1"/>
          <p:nvPr/>
        </p:nvSpPr>
        <p:spPr>
          <a:xfrm>
            <a:off x="508000" y="939800"/>
            <a:ext cx="11176000" cy="48013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/api/layouts | /api/layouts-config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src\\routes\\layoutRoutes.js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DELETE /:modulo/:anio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DELETE /:modulo/:anio/:capitulo/cuenta/:cuenta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DELETE /:modulo/:anio/operacion/:clase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/:modulo/:anio/:capitulo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/:modulo/:anio/:capitulo/bitacora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/:modulo/:anio/capitulos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/:modulo/:anio/completo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/:modulo/:anio/estadisticas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/:modulo/:anio/existe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/:modulo/:anio/exportar-json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/:modulo/anios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/operaciones-predefinidas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/permisos/capitulos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/:modulo/:anio/:capitulo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9446C00-C8F3-1A10-FCAF-9E0A2B258B96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src\\routes\\layoutRoutes.js</a:t>
            </a:r>
          </a:p>
        </p:txBody>
      </p:sp>
    </p:spTree>
    <p:extLst>
      <p:ext uri="{BB962C8B-B14F-4D97-AF65-F5344CB8AC3E}">
        <p14:creationId xmlns:p14="http://schemas.microsoft.com/office/powerpoint/2010/main" val="341145213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8354C51-2AD2-EB4E-02BE-28EE6786CCF6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layoutRoutes (parte 2/2)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532951-4195-9442-096D-C11A56F0510B}"/>
              </a:ext>
            </a:extLst>
          </p:cNvPr>
          <p:cNvSpPr txBox="1"/>
          <p:nvPr/>
        </p:nvSpPr>
        <p:spPr>
          <a:xfrm>
            <a:off x="508000" y="939800"/>
            <a:ext cx="11176000" cy="452431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/api/layouts | /api/layouts-config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(por ruta)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src\\routes\\layoutRoutes.js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/:modulo/:anio/:capitulo/cuentas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/:modulo/:anio/:capitulo/reordenar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/:modulo/:anio/:capitulo/seccion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/:modulo/:anio/demo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/:modulo/:anio/operaciones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/:modulo/:anio/reseed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/:modulo/:anio/seed-operaciones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/:modulo/copiar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/bitacora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/permisos/capitulos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PUT /:modulo/:anio/:capitulo/cuenta/:cuenta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PUT /:modulo/:anio/:capitulo/seccion/:nombre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PUT /:modulo/:anio/operacion/:clase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7E4DC9-AA07-DA23-8848-9E18227CB470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src\\routes\\layoutRoutes.js</a:t>
            </a:r>
          </a:p>
        </p:txBody>
      </p:sp>
    </p:spTree>
    <p:extLst>
      <p:ext uri="{BB962C8B-B14F-4D97-AF65-F5344CB8AC3E}">
        <p14:creationId xmlns:p14="http://schemas.microsoft.com/office/powerpoint/2010/main" val="891918107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F5BD89B-0866-BBE9-BF62-7FDB37CE0B7C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layouts (parte 1/3)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1EB37FD-A76B-8F10-D481-DC8C84030693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/api/layouts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src\\routes\\layouts.js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DELETE /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DCD958A-05E4-6312-A2BC-E4FB0C30E427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src\\routes\\layouts.js</a:t>
            </a:r>
          </a:p>
        </p:txBody>
      </p:sp>
    </p:spTree>
    <p:extLst>
      <p:ext uri="{BB962C8B-B14F-4D97-AF65-F5344CB8AC3E}">
        <p14:creationId xmlns:p14="http://schemas.microsoft.com/office/powerpoint/2010/main" val="258382642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E89231E-55D8-009A-DEC2-47A0E5562A7E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layouts (parte 2/3)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5B3151-B7C8-0B9B-90D7-D3DBF335C30A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/api/layouts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src\\routes\\layouts.js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GET /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0EF80BA-2D75-7E16-D7B7-0DDE724B22C6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src\\routes\\layouts.js</a:t>
            </a:r>
          </a:p>
        </p:txBody>
      </p:sp>
    </p:spTree>
    <p:extLst>
      <p:ext uri="{BB962C8B-B14F-4D97-AF65-F5344CB8AC3E}">
        <p14:creationId xmlns:p14="http://schemas.microsoft.com/office/powerpoint/2010/main" val="20963383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76D8FD7-6706-AEE5-1F89-BA820D866287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layouts (parte 3/3)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1C2A05-2E31-835E-EFF5-33E74DCA4B45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/api/layouts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src\\routes\\layouts.js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POST /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307BF50-5CAA-DBDC-B31F-47A0E9CD6489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src\\routes\\layouts.js</a:t>
            </a:r>
          </a:p>
        </p:txBody>
      </p:sp>
    </p:spTree>
    <p:extLst>
      <p:ext uri="{BB962C8B-B14F-4D97-AF65-F5344CB8AC3E}">
        <p14:creationId xmlns:p14="http://schemas.microsoft.com/office/powerpoint/2010/main" val="191029229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013014-41AC-E20B-CD11-CED68AA84AEB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modulos (parte 1/4)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1C8A59-9C44-DC17-4546-4D4223149C48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/api/modulos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src\\routes\\modulos.js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GET /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FC42B5F-8B06-293A-A0F3-A120E53393BE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src\\routes\\modulos.js</a:t>
            </a:r>
          </a:p>
        </p:txBody>
      </p:sp>
    </p:spTree>
    <p:extLst>
      <p:ext uri="{BB962C8B-B14F-4D97-AF65-F5344CB8AC3E}">
        <p14:creationId xmlns:p14="http://schemas.microsoft.com/office/powerpoint/2010/main" val="416510441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EAE976C-8B2D-D7EA-D0CB-FE5E6520F1D4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modulos (parte 2/4)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7009860-6064-FA91-BB34-5929A6058517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/api/modulos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src\\routes\\modulos.js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/:moduloId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58A1C5A-5EA8-A479-9555-62E9E9684CE8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src\\routes\\modulos.js</a:t>
            </a:r>
          </a:p>
        </p:txBody>
      </p:sp>
    </p:spTree>
    <p:extLst>
      <p:ext uri="{BB962C8B-B14F-4D97-AF65-F5344CB8AC3E}">
        <p14:creationId xmlns:p14="http://schemas.microsoft.com/office/powerpoint/2010/main" val="118189694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79EC183-5DE4-58C6-F9FC-24103F70B781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modulos (parte 3/4)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126825-DD80-9199-648F-D4DA9C65CAC0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/api/modulos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src\\routes\\modulos.js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/summary-anios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20F6205-02A8-9BCE-C33F-8FEEF7E4AD5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src\\routes\\modulos.js</a:t>
            </a:r>
          </a:p>
        </p:txBody>
      </p:sp>
    </p:spTree>
    <p:extLst>
      <p:ext uri="{BB962C8B-B14F-4D97-AF65-F5344CB8AC3E}">
        <p14:creationId xmlns:p14="http://schemas.microsoft.com/office/powerpoint/2010/main" val="280838509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1097573-C15F-36B4-6234-E9D9CC14319D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modulos (parte 4/4)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533164-9B93-84A9-3D28-5052F6BF0EBF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/api/modulos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src\\routes\\modulos.js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/summary-resumen-e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6AF509F-864B-6213-A460-0E97C6A8E89B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src\\routes\\modulos.js</a:t>
            </a:r>
          </a:p>
        </p:txBody>
      </p:sp>
    </p:spTree>
    <p:extLst>
      <p:ext uri="{BB962C8B-B14F-4D97-AF65-F5344CB8AC3E}">
        <p14:creationId xmlns:p14="http://schemas.microsoft.com/office/powerpoint/2010/main" val="298095625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DF77380-CF5B-7ED8-E10E-0F5B1BB8E3E2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notificaciones (parte 1/3)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50BB5A-93D6-D254-B0D8-E5FAE8C37EB1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/api/notificaciones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src\\routes\\notificaciones.js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5A01AA-0B77-7B78-8C07-422927257437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src\\routes\\notificaciones.js</a:t>
            </a:r>
          </a:p>
        </p:txBody>
      </p:sp>
    </p:spTree>
    <p:extLst>
      <p:ext uri="{BB962C8B-B14F-4D97-AF65-F5344CB8AC3E}">
        <p14:creationId xmlns:p14="http://schemas.microsoft.com/office/powerpoint/2010/main" val="2590665378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81134D9-5998-528B-39A5-DC7E3EE93D56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notificaciones (parte 2/3)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2236E34-51CA-8CE1-0CE3-BF687320B5AD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/api/notificaciones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src\\routes\\notificaciones.js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PATCH /:id/leida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D574BB9-AA99-67BB-DD7E-74031D4C61E6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src\\routes\\notificaciones.js</a:t>
            </a:r>
          </a:p>
        </p:txBody>
      </p:sp>
    </p:spTree>
    <p:extLst>
      <p:ext uri="{BB962C8B-B14F-4D97-AF65-F5344CB8AC3E}">
        <p14:creationId xmlns:p14="http://schemas.microsoft.com/office/powerpoint/2010/main" val="176358345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C394A17-764C-453A-1569-CA207D62954B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notificaciones (parte 3/3)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71825EE-49E1-DD6C-FED6-668A52BD64D8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/api/notificaciones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src\\routes\\notificaciones.js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PATCH /limpiar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3BD1B58-3537-4404-7827-F623DD6D5C19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src\\routes\\notificaciones.js</a:t>
            </a:r>
          </a:p>
        </p:txBody>
      </p:sp>
    </p:spTree>
    <p:extLst>
      <p:ext uri="{BB962C8B-B14F-4D97-AF65-F5344CB8AC3E}">
        <p14:creationId xmlns:p14="http://schemas.microsoft.com/office/powerpoint/2010/main" val="251473382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F04D6CF-B994-6A8C-8183-9D8B75CD6DF0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perfil (parte 1/2)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AB94AE2-19F9-D315-9AE0-39668591C205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/api/perfil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src\\routes\\perfil.js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GET /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4D59DB1-8856-0B03-60A4-94C9D7E29791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src\\routes\\perfil.js</a:t>
            </a:r>
          </a:p>
        </p:txBody>
      </p:sp>
    </p:spTree>
    <p:extLst>
      <p:ext uri="{BB962C8B-B14F-4D97-AF65-F5344CB8AC3E}">
        <p14:creationId xmlns:p14="http://schemas.microsoft.com/office/powerpoint/2010/main" val="345024783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9CF53F7-67AE-95E2-1B02-EA474ED3395C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perfil (parte 2/2)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BFBE1F4-96A2-0417-BEEC-E51D035EC13C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/api/perfil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src\\routes\\perfil.js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PATCH /password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5499C9D-194F-3C5D-6B38-9683DD048DFC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src\\routes\\perfil.js</a:t>
            </a:r>
          </a:p>
        </p:txBody>
      </p:sp>
    </p:spTree>
    <p:extLst>
      <p:ext uri="{BB962C8B-B14F-4D97-AF65-F5344CB8AC3E}">
        <p14:creationId xmlns:p14="http://schemas.microsoft.com/office/powerpoint/2010/main" val="1383689998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E1FD457-E7AD-E573-2CED-ECF3AA2C3010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planeacion (parte 1/2)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21C2166-A72C-2EAA-363B-335312A97071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/api/planeacion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src\\routes\\planeacion.js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/catalogo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63CC2E-6C60-9BEA-093F-F5B63B798CD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src\\routes\\planeacion.js</a:t>
            </a:r>
          </a:p>
        </p:txBody>
      </p:sp>
    </p:spTree>
    <p:extLst>
      <p:ext uri="{BB962C8B-B14F-4D97-AF65-F5344CB8AC3E}">
        <p14:creationId xmlns:p14="http://schemas.microsoft.com/office/powerpoint/2010/main" val="1531864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6BF2376-DD15-60DE-CBC7-0EB82569CB90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planeacion (parte 2/2)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3581AD-92FC-98A7-8121-ECF11A1174C3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/api/planeacion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src\\routes\\planeacion.js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/cuentas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2556128-1FA4-C7C8-F839-9140D9CA34C3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src\\routes\\planeacion.js</a:t>
            </a:r>
          </a:p>
        </p:txBody>
      </p:sp>
    </p:spTree>
    <p:extLst>
      <p:ext uri="{BB962C8B-B14F-4D97-AF65-F5344CB8AC3E}">
        <p14:creationId xmlns:p14="http://schemas.microsoft.com/office/powerpoint/2010/main" val="208591963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A7F7F37-71ED-8EDD-A371-449A214276DC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presupuestos (parte 1/7)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195BDF6-76CF-F261-7796-0F44E23D7CA1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/api/presupuestos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src\\routes\\presupuestos.js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1DFF131-3C1D-4823-EC4C-CA1B72681A26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src\\routes\\presupuestos.js</a:t>
            </a:r>
          </a:p>
        </p:txBody>
      </p:sp>
    </p:spTree>
    <p:extLst>
      <p:ext uri="{BB962C8B-B14F-4D97-AF65-F5344CB8AC3E}">
        <p14:creationId xmlns:p14="http://schemas.microsoft.com/office/powerpoint/2010/main" val="32406097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B2E9866-814E-B827-EFF1-9F0DCEC09E67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presupuestos (parte 2/7)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91814A-F9E4-43CC-4405-B54988F1C4D4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/api/presupuestos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src\\routes\\presupuestos.js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/anios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051AF2E-C9A5-D7AB-1185-3F57B711F3AF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src\\routes\\presupuestos.js</a:t>
            </a:r>
          </a:p>
        </p:txBody>
      </p:sp>
    </p:spTree>
    <p:extLst>
      <p:ext uri="{BB962C8B-B14F-4D97-AF65-F5344CB8AC3E}">
        <p14:creationId xmlns:p14="http://schemas.microsoft.com/office/powerpoint/2010/main" val="3874385436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ABCF74F-908C-7B0A-2F64-7A69DEED26D5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presupuestos (parte 3/7)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488BC57-9E15-BD0C-5340-1B95E0E4316C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/api/presupuestos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src\\routes\\presupuestos.js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/estado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A8EAA4-C16D-B16E-9F8E-9B9C222D6B1A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src\\routes\\presupuestos.js</a:t>
            </a:r>
          </a:p>
        </p:txBody>
      </p:sp>
    </p:spTree>
    <p:extLst>
      <p:ext uri="{BB962C8B-B14F-4D97-AF65-F5344CB8AC3E}">
        <p14:creationId xmlns:p14="http://schemas.microsoft.com/office/powerpoint/2010/main" val="3955899122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0297DB2-5A09-BFB1-556B-05D1C1F0795D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presupuestos (parte 4/7)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6C9A092-9B45-FAB8-889F-6269A6096FF4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/api/presupuestos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src\\routes\\presupuestos.js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/totales-capitulo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6BD2BFD-172E-A2EC-7275-0AFA4B133B90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src\\routes\\presupuestos.js</a:t>
            </a:r>
          </a:p>
        </p:txBody>
      </p:sp>
    </p:spTree>
    <p:extLst>
      <p:ext uri="{BB962C8B-B14F-4D97-AF65-F5344CB8AC3E}">
        <p14:creationId xmlns:p14="http://schemas.microsoft.com/office/powerpoint/2010/main" val="355533299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F92F0EF-0624-6A43-AFC8-F49CE17B2261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presupuestos (parte 5/7)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66CEA9F-27E9-1763-B683-F88C403AD222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/api/presupuestos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src\\routes\\presupuestos.js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/actualizar-consolidados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0A357DF-8876-1616-5ABF-B4CCD9A5F409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src\\routes\\presupuestos.js</a:t>
            </a:r>
          </a:p>
        </p:txBody>
      </p:sp>
    </p:spTree>
    <p:extLst>
      <p:ext uri="{BB962C8B-B14F-4D97-AF65-F5344CB8AC3E}">
        <p14:creationId xmlns:p14="http://schemas.microsoft.com/office/powerpoint/2010/main" val="81505520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647B308-6B70-BD64-5C09-DA26870D7A30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presupuestos (parte 6/7)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229E7BC-0276-884A-73F4-3C6C60244A20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/api/presupuestos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src\\routes\\presupuestos.js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/estado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1BEE8FD-6780-D7E9-1046-81C78B9A790F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src\\routes\\presupuestos.js</a:t>
            </a:r>
          </a:p>
        </p:txBody>
      </p:sp>
    </p:spTree>
    <p:extLst>
      <p:ext uri="{BB962C8B-B14F-4D97-AF65-F5344CB8AC3E}">
        <p14:creationId xmlns:p14="http://schemas.microsoft.com/office/powerpoint/2010/main" val="164303581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42407C1-434B-3D82-9564-6D05284F2C0C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presupuestos (parte 7/7)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1EC440B-F063-A36D-C4A2-5F69044C428F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/api/presupuestos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src\\routes\\presupuestos.js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/guardar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4D1D40-D42C-19AF-DA10-1E83235B36D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src\\routes\\presupuestos.js</a:t>
            </a:r>
          </a:p>
        </p:txBody>
      </p:sp>
    </p:spTree>
    <p:extLst>
      <p:ext uri="{BB962C8B-B14F-4D97-AF65-F5344CB8AC3E}">
        <p14:creationId xmlns:p14="http://schemas.microsoft.com/office/powerpoint/2010/main" val="3025175476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6DC1EF4-82E3-EC46-33E6-34ADE862C828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reportes (parte 1/6)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C60F0E5-41D7-1563-69AA-E5F07DBE2471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/api/reportes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src\\routes\\reportes.js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/diagnostico-firebird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C33989-D8E4-39B7-9610-D2D6A840D4A6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src\\routes\\reportes.js</a:t>
            </a:r>
          </a:p>
        </p:txBody>
      </p:sp>
    </p:spTree>
    <p:extLst>
      <p:ext uri="{BB962C8B-B14F-4D97-AF65-F5344CB8AC3E}">
        <p14:creationId xmlns:p14="http://schemas.microsoft.com/office/powerpoint/2010/main" val="3916322887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D8D92E1-B506-5EFE-A284-47B8F2492205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reportes (parte 2/6)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AF6B09D-213E-8A77-3F1B-6D2B2D319FD6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/api/reportes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src\\routes\\reportes.js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GET /resumen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7585D3B-39D7-A0B8-A595-0D46BC579908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src\\routes\\reportes.js</a:t>
            </a:r>
          </a:p>
        </p:txBody>
      </p:sp>
    </p:spTree>
    <p:extLst>
      <p:ext uri="{BB962C8B-B14F-4D97-AF65-F5344CB8AC3E}">
        <p14:creationId xmlns:p14="http://schemas.microsoft.com/office/powerpoint/2010/main" val="667211621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638A768-67FB-9132-9052-86D88539FCF9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reportes (parte 3/6)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C019D8A-8242-F8B8-439A-FD41C128D834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/api/reportes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src\\routes\\reportes.js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GET /summary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F330E28-9CA3-02C1-03CE-E58836081D6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src\\routes\\reportes.js</a:t>
            </a:r>
          </a:p>
        </p:txBody>
      </p:sp>
    </p:spTree>
    <p:extLst>
      <p:ext uri="{BB962C8B-B14F-4D97-AF65-F5344CB8AC3E}">
        <p14:creationId xmlns:p14="http://schemas.microsoft.com/office/powerpoint/2010/main" val="1761204024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B745F46-160C-E0BF-0D33-DEEC8BB2AEBB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reportes (parte 4/6)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0EF7781-3804-C896-073B-A4AB0FF08A79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/api/reportes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src\\routes\\reportes.js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/operativo-excel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FF988B2-6EBF-9287-69A8-4F3541CBBEC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src\\routes\\reportes.js</a:t>
            </a:r>
          </a:p>
        </p:txBody>
      </p:sp>
    </p:spTree>
    <p:extLst>
      <p:ext uri="{BB962C8B-B14F-4D97-AF65-F5344CB8AC3E}">
        <p14:creationId xmlns:p14="http://schemas.microsoft.com/office/powerpoint/2010/main" val="64483884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B168D38-B701-C3DE-29F5-EBE64BA06BB5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reportes (parte 5/6)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13D7C1E-8DC3-C55C-9DD5-9FD8347419DF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/api/reportes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src\\routes\\reportes.js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/operativo-excel-native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3D072A8-FC17-3A5C-80EF-8159AD7FB33F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src\\routes\\reportes.js</a:t>
            </a:r>
          </a:p>
        </p:txBody>
      </p:sp>
    </p:spTree>
    <p:extLst>
      <p:ext uri="{BB962C8B-B14F-4D97-AF65-F5344CB8AC3E}">
        <p14:creationId xmlns:p14="http://schemas.microsoft.com/office/powerpoint/2010/main" val="3115623275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DCA8201-4F2A-E870-F0DF-8A4A157031E8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reportes (parte 6/6)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A5C33A6-D5C4-3C7F-464E-51E0D0B45F62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/api/reportes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src\\routes\\reportes.js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/resumen-excel-native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B76DA70-6724-4B9A-5DAD-12272425F6AD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src\\routes\\reportes.js</a:t>
            </a:r>
          </a:p>
        </p:txBody>
      </p:sp>
    </p:spTree>
    <p:extLst>
      <p:ext uri="{BB962C8B-B14F-4D97-AF65-F5344CB8AC3E}">
        <p14:creationId xmlns:p14="http://schemas.microsoft.com/office/powerpoint/2010/main" val="3838276571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158C6BD-A2DA-1113-9BBB-39412A8B8FB6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saldos (parte 1/4)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FC58172-8330-E186-5C78-DC4E5DDCD488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/api/saldos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src\\routes\\saldos.js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GET /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7678E7-113A-20C5-78BB-8F42316327A9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src\\routes\\saldos.js</a:t>
            </a:r>
          </a:p>
        </p:txBody>
      </p:sp>
    </p:spTree>
    <p:extLst>
      <p:ext uri="{BB962C8B-B14F-4D97-AF65-F5344CB8AC3E}">
        <p14:creationId xmlns:p14="http://schemas.microsoft.com/office/powerpoint/2010/main" val="3536681585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0835094-99AC-1401-9292-54E592737411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saldos (parte 2/4)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EC9CC29-68A7-7918-065B-19EAF8326AB1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/api/saldos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src\\routes\\saldos.js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/anios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04A5DCA-1B9B-E6E6-6146-0EAAE49FCBE0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src\\routes\\saldos.js</a:t>
            </a:r>
          </a:p>
        </p:txBody>
      </p:sp>
    </p:spTree>
    <p:extLst>
      <p:ext uri="{BB962C8B-B14F-4D97-AF65-F5344CB8AC3E}">
        <p14:creationId xmlns:p14="http://schemas.microsoft.com/office/powerpoint/2010/main" val="215499205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64707EF-E2F5-8669-9736-67CE6F727DF4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saldos (parte 3/4)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E1754DC-1B29-8355-8046-3A600E9EA226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/api/saldos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src\\routes\\saldos.js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/catalogo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1C83C5D-5C61-08D0-E84D-5A5C509410B6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src\\routes\\saldos.js</a:t>
            </a:r>
          </a:p>
        </p:txBody>
      </p:sp>
    </p:spTree>
    <p:extLst>
      <p:ext uri="{BB962C8B-B14F-4D97-AF65-F5344CB8AC3E}">
        <p14:creationId xmlns:p14="http://schemas.microsoft.com/office/powerpoint/2010/main" val="1936144816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1C93530-7FD5-D4C1-DBEE-770BEA0C035F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saldos (parte 4/4)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0D2AA0-CA9A-EDCA-BB12-748386EBFFC8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/api/saldos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src\\routes\\saldos.js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/cuentas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3617C01-9A05-ABBE-DF78-541C22AE936F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src\\routes\\saldos.js</a:t>
            </a:r>
          </a:p>
        </p:txBody>
      </p:sp>
    </p:spTree>
    <p:extLst>
      <p:ext uri="{BB962C8B-B14F-4D97-AF65-F5344CB8AC3E}">
        <p14:creationId xmlns:p14="http://schemas.microsoft.com/office/powerpoint/2010/main" val="1396613608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AAD7B8D-EEB7-FC06-202C-E2BE9CE6B264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usuarios (parte 1/6)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AD634CA-41C5-CB56-79CB-071A54118AF2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/api/usuarios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src\\routes\\usuarios.js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DELETE /:id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36187D8-E5D5-7A58-1852-948852DA8BAC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src\\routes\\usuarios.js</a:t>
            </a:r>
          </a:p>
        </p:txBody>
      </p:sp>
    </p:spTree>
    <p:extLst>
      <p:ext uri="{BB962C8B-B14F-4D97-AF65-F5344CB8AC3E}">
        <p14:creationId xmlns:p14="http://schemas.microsoft.com/office/powerpoint/2010/main" val="2246306831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4FB4285-78F7-0232-B71B-285088A3BD46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usuarios (parte 2/6)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3049929-8DCE-D959-2CD1-73D69A6B3D51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Bases: /api/usuarios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Archivo: src\\routes\\usuarios.js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rgbClr val="111827"/>
                </a:solidFill>
              </a:rPr>
              <a:t>GET /</a:t>
            </a:r>
            <a:endParaRPr lang="es-MX">
              <a:solidFill>
                <a:srgbClr val="111827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0C4ACF-6421-C644-CF71-BD46EBE532A2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src\\routes\\usuarios.js</a:t>
            </a:r>
          </a:p>
        </p:txBody>
      </p:sp>
    </p:spTree>
    <p:extLst>
      <p:ext uri="{BB962C8B-B14F-4D97-AF65-F5344CB8AC3E}">
        <p14:creationId xmlns:p14="http://schemas.microsoft.com/office/powerpoint/2010/main" val="3580947197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6847E9C-58CA-ABE0-7666-0112ABC41B52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usuarios (parte 3/6)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195868-EC18-2ECF-411D-0CD5C8486D7A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/api/usuarios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src\\routes\\usuarios.js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GET /:id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3021848-F46E-8DCC-B241-6654379B5585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src\\routes\\usuarios.js</a:t>
            </a:r>
          </a:p>
        </p:txBody>
      </p:sp>
    </p:spTree>
    <p:extLst>
      <p:ext uri="{BB962C8B-B14F-4D97-AF65-F5344CB8AC3E}">
        <p14:creationId xmlns:p14="http://schemas.microsoft.com/office/powerpoint/2010/main" val="262056938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0E4C319-0597-5572-CBD1-AFE6F060E27D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usuarios (parte 4/6)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FA35FBC-3FF9-4E52-BA8F-8663439C4424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/api/usuarios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src\\routes\\usuarios.js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0E90906-275F-8A4D-A64F-D5CE6F7B0DEA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src\\routes\\usuarios.js</a:t>
            </a:r>
          </a:p>
        </p:txBody>
      </p:sp>
    </p:spTree>
    <p:extLst>
      <p:ext uri="{BB962C8B-B14F-4D97-AF65-F5344CB8AC3E}">
        <p14:creationId xmlns:p14="http://schemas.microsoft.com/office/powerpoint/2010/main" val="1108726272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7841F60-7768-3D4A-C94B-2C068E8EBC54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usuarios (parte 5/6)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B8C806-5749-98AE-2BA2-7914B65A81ED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/api/usuarios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src\\routes\\usuarios.js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POST /:id/restablecer-contrasena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940DBBC-2A80-AA00-8339-678A26FC0BF9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src\\routes\\usuarios.js</a:t>
            </a:r>
          </a:p>
        </p:txBody>
      </p:sp>
    </p:spTree>
    <p:extLst>
      <p:ext uri="{BB962C8B-B14F-4D97-AF65-F5344CB8AC3E}">
        <p14:creationId xmlns:p14="http://schemas.microsoft.com/office/powerpoint/2010/main" val="764933838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3887717-8F58-3460-549C-1C20D1914AB6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API usuarios (parte 6/6)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42EFDB5-B0C1-6149-1DCB-18FFD578A8A1}"/>
              </a:ext>
            </a:extLst>
          </p:cNvPr>
          <p:cNvSpPr txBox="1"/>
          <p:nvPr/>
        </p:nvSpPr>
        <p:spPr>
          <a:xfrm>
            <a:off x="508000" y="939800"/>
            <a:ext cx="11176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Bases: /api/usuarios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Auth: requireAuth (router)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Archivo: src\\routes\\usuarios.js</a:t>
            </a:r>
          </a:p>
          <a:p>
            <a:pPr marL="342900" indent="-342900">
              <a:buFont typeface="+mj-lt"/>
              <a:buAutoNum type="arabicPeriod"/>
            </a:pPr>
            <a:r>
              <a:rPr lang="es-MX">
                <a:solidFill>
                  <a:srgbClr val="111827"/>
                </a:solidFill>
              </a:rPr>
              <a:t>PUT /:id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FD6FFE-CB34-D426-C54F-B3FEA6D7512E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src\\routes\\usuarios.js</a:t>
            </a:r>
          </a:p>
        </p:txBody>
      </p:sp>
    </p:spTree>
    <p:extLst>
      <p:ext uri="{BB962C8B-B14F-4D97-AF65-F5344CB8AC3E}">
        <p14:creationId xmlns:p14="http://schemas.microsoft.com/office/powerpoint/2010/main" val="3384646492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974B989-04D5-A514-CCFD-D1B51FBF4C57}"/>
              </a:ext>
            </a:extLst>
          </p:cNvPr>
          <p:cNvSpPr txBox="1"/>
          <p:nvPr/>
        </p:nvSpPr>
        <p:spPr>
          <a:xfrm>
            <a:off x="508000" y="228600"/>
            <a:ext cx="11176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3200" b="1">
                <a:solidFill>
                  <a:srgbClr val="0D47A1"/>
                </a:solidFill>
              </a:rPr>
              <a:t>Checklist de operación / debug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031A36-B90C-27EB-273C-3B659BDDBBCF}"/>
              </a:ext>
            </a:extLst>
          </p:cNvPr>
          <p:cNvSpPr txBox="1"/>
          <p:nvPr/>
        </p:nvSpPr>
        <p:spPr>
          <a:xfrm>
            <a:off x="508000" y="939800"/>
            <a:ext cx="11176000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>
                <a:solidFill>
                  <a:srgbClr val="111827"/>
                </a:solidFill>
              </a:rPr>
              <a:t>1) Salud: GET /api/salud (servidor ok).</a:t>
            </a:r>
          </a:p>
          <a:p>
            <a:r>
              <a:rPr lang="es-MX">
                <a:solidFill>
                  <a:srgbClr val="111827"/>
                </a:solidFill>
              </a:rPr>
              <a:t>2) Sesión: expira tras 30 min de inactividad (cookie rolling).</a:t>
            </a:r>
          </a:p>
          <a:p>
            <a:r>
              <a:rPr lang="es-MX">
                <a:solidFill>
                  <a:srgbClr val="111827"/>
                </a:solidFill>
              </a:rPr>
              <a:t>3) Firebird: /api/reportes/diagnostico-firebird?empresaId=empresa1.</a:t>
            </a:r>
          </a:p>
          <a:p>
            <a:r>
              <a:rPr lang="es-MX">
                <a:solidFill>
                  <a:srgbClr val="111827"/>
                </a:solidFill>
              </a:rPr>
              <a:t>4) Secrets: asegurar PANELAMCHAM_JWT_SECRET y SESSION_SECRET seguros en producción.</a:t>
            </a:r>
          </a:p>
          <a:p>
            <a:r>
              <a:rPr lang="es-MX">
                <a:solidFill>
                  <a:srgbClr val="111827"/>
                </a:solidFill>
              </a:rPr>
              <a:t>5) Backups: verificar carpeta de backups y retención.</a:t>
            </a:r>
          </a:p>
          <a:p>
            <a:r>
              <a:rPr lang="es-MX">
                <a:solidFill>
                  <a:srgbClr val="111827"/>
                </a:solidFill>
              </a:rPr>
              <a:t>6) Logs: revisar consola (queries lentas Firebird &gt;2s, errores de rutas/404).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3D926C9-9E34-A824-5F50-8F677CD07135}"/>
              </a:ext>
            </a:extLst>
          </p:cNvPr>
          <p:cNvSpPr txBox="1"/>
          <p:nvPr/>
        </p:nvSpPr>
        <p:spPr>
          <a:xfrm>
            <a:off x="508000" y="6527800"/>
            <a:ext cx="1117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MX" sz="1000">
                <a:solidFill>
                  <a:srgbClr val="6B7280"/>
                </a:solidFill>
              </a:rPr>
              <a:t>Refs: src/server.js | src/routes/reportes.js | src/services/firebirdService.js | src/services/backupService.js</a:t>
            </a:r>
          </a:p>
        </p:txBody>
      </p:sp>
    </p:spTree>
    <p:extLst>
      <p:ext uri="{BB962C8B-B14F-4D97-AF65-F5344CB8AC3E}">
        <p14:creationId xmlns:p14="http://schemas.microsoft.com/office/powerpoint/2010/main" val="33816712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11884</Words>
  <Application>Microsoft Office PowerPoint</Application>
  <PresentationFormat>Panorámica</PresentationFormat>
  <Paragraphs>1196</Paragraphs>
  <Slides>188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188</vt:i4>
      </vt:variant>
    </vt:vector>
  </HeadingPairs>
  <TitlesOfParts>
    <vt:vector size="193" baseType="lpstr">
      <vt:lpstr>Aptos</vt:lpstr>
      <vt:lpstr>Aptos Display</vt:lpstr>
      <vt:lpstr>Arial</vt:lpstr>
      <vt:lpstr>Consolas</vt:lpstr>
      <vt:lpstr>Tema de Office</vt:lpstr>
      <vt:lpstr>SummaCham / PanelAMCHAM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sophie guevara</dc:creator>
  <cp:lastModifiedBy>sophie guevara</cp:lastModifiedBy>
  <cp:revision>1</cp:revision>
  <dcterms:created xsi:type="dcterms:W3CDTF">2026-02-09T09:00:27Z</dcterms:created>
  <dcterms:modified xsi:type="dcterms:W3CDTF">2026-02-09T09:00:27Z</dcterms:modified>
</cp:coreProperties>
</file>